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4" r:id="rId5"/>
    <p:sldMasterId id="2147483676" r:id="rId6"/>
    <p:sldMasterId id="2147483702" r:id="rId7"/>
    <p:sldMasterId id="2147483710" r:id="rId8"/>
  </p:sldMasterIdLst>
  <p:notesMasterIdLst>
    <p:notesMasterId r:id="rId73"/>
  </p:notesMasterIdLst>
  <p:sldIdLst>
    <p:sldId id="463" r:id="rId9"/>
    <p:sldId id="337" r:id="rId10"/>
    <p:sldId id="267" r:id="rId11"/>
    <p:sldId id="257" r:id="rId12"/>
    <p:sldId id="264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65" r:id="rId22"/>
    <p:sldId id="366" r:id="rId23"/>
    <p:sldId id="367" r:id="rId24"/>
    <p:sldId id="368" r:id="rId25"/>
    <p:sldId id="369" r:id="rId26"/>
    <p:sldId id="370" r:id="rId27"/>
    <p:sldId id="371" r:id="rId28"/>
    <p:sldId id="379" r:id="rId29"/>
    <p:sldId id="372" r:id="rId30"/>
    <p:sldId id="376" r:id="rId31"/>
    <p:sldId id="373" r:id="rId32"/>
    <p:sldId id="380" r:id="rId33"/>
    <p:sldId id="381" r:id="rId34"/>
    <p:sldId id="382" r:id="rId35"/>
    <p:sldId id="383" r:id="rId36"/>
    <p:sldId id="384" r:id="rId37"/>
    <p:sldId id="385" r:id="rId38"/>
    <p:sldId id="386" r:id="rId39"/>
    <p:sldId id="387" r:id="rId40"/>
    <p:sldId id="388" r:id="rId41"/>
    <p:sldId id="389" r:id="rId42"/>
    <p:sldId id="390" r:id="rId43"/>
    <p:sldId id="391" r:id="rId44"/>
    <p:sldId id="392" r:id="rId45"/>
    <p:sldId id="393" r:id="rId46"/>
    <p:sldId id="394" r:id="rId47"/>
    <p:sldId id="395" r:id="rId48"/>
    <p:sldId id="396" r:id="rId49"/>
    <p:sldId id="397" r:id="rId50"/>
    <p:sldId id="398" r:id="rId51"/>
    <p:sldId id="399" r:id="rId52"/>
    <p:sldId id="400" r:id="rId53"/>
    <p:sldId id="401" r:id="rId54"/>
    <p:sldId id="402" r:id="rId55"/>
    <p:sldId id="403" r:id="rId56"/>
    <p:sldId id="413" r:id="rId57"/>
    <p:sldId id="404" r:id="rId58"/>
    <p:sldId id="405" r:id="rId59"/>
    <p:sldId id="406" r:id="rId60"/>
    <p:sldId id="414" r:id="rId61"/>
    <p:sldId id="407" r:id="rId62"/>
    <p:sldId id="408" r:id="rId63"/>
    <p:sldId id="409" r:id="rId64"/>
    <p:sldId id="410" r:id="rId65"/>
    <p:sldId id="415" r:id="rId66"/>
    <p:sldId id="411" r:id="rId67"/>
    <p:sldId id="345" r:id="rId68"/>
    <p:sldId id="412" r:id="rId69"/>
    <p:sldId id="346" r:id="rId70"/>
    <p:sldId id="464" r:id="rId71"/>
    <p:sldId id="472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33"/>
    <p:restoredTop sz="96327"/>
  </p:normalViewPr>
  <p:slideViewPr>
    <p:cSldViewPr snapToGrid="0" snapToObjects="1">
      <p:cViewPr varScale="1">
        <p:scale>
          <a:sx n="71" d="100"/>
          <a:sy n="71" d="100"/>
        </p:scale>
        <p:origin x="3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66" Type="http://schemas.openxmlformats.org/officeDocument/2006/relationships/slide" Target="slides/slide58.xml"/><Relationship Id="rId7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3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3.xml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36A25-89F4-4E2D-8D17-0A9EF927B107}" type="datetimeFigureOut">
              <a:rPr lang="en-ID" smtClean="0"/>
              <a:t>20/12/2023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2E9AD-08BB-4150-A087-642B8EDADF4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8164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72637-8648-AF49-A532-95E8F83F8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930399"/>
            <a:ext cx="9144000" cy="78523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NAMA MATA KULIAH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0F29F-14E9-8045-958D-7B9C96AAE4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773074"/>
            <a:ext cx="9144000" cy="461962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KODE MATA KULIAH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F2286C-2C6B-7A46-B205-0BB38DF6B179}"/>
              </a:ext>
            </a:extLst>
          </p:cNvPr>
          <p:cNvSpPr txBox="1">
            <a:spLocks/>
          </p:cNvSpPr>
          <p:nvPr userDrawn="1"/>
        </p:nvSpPr>
        <p:spPr>
          <a:xfrm>
            <a:off x="1524000" y="3528146"/>
            <a:ext cx="9144000" cy="5518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US" sz="2800" dirty="0"/>
              <a:t>NAMA PERTEMUAN / SUBJUDUL MATAKULIAH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0E5DE40-7032-E849-BEDA-016DBAA06593}"/>
              </a:ext>
            </a:extLst>
          </p:cNvPr>
          <p:cNvSpPr txBox="1">
            <a:spLocks/>
          </p:cNvSpPr>
          <p:nvPr userDrawn="1"/>
        </p:nvSpPr>
        <p:spPr>
          <a:xfrm>
            <a:off x="1524000" y="4080019"/>
            <a:ext cx="91440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7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NOMOR SESI/PERTEMUAN/MODUL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4DC31E5-7896-CD4C-91F8-1E1F2B251C11}"/>
              </a:ext>
            </a:extLst>
          </p:cNvPr>
          <p:cNvSpPr txBox="1">
            <a:spLocks/>
          </p:cNvSpPr>
          <p:nvPr userDrawn="1"/>
        </p:nvSpPr>
        <p:spPr>
          <a:xfrm>
            <a:off x="1524000" y="4730894"/>
            <a:ext cx="9144000" cy="5518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US" sz="2000" dirty="0"/>
              <a:t>NAMA SME / NARASUMBER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18F7360-E5CF-7E4D-8A71-F79011F9E1AB}"/>
              </a:ext>
            </a:extLst>
          </p:cNvPr>
          <p:cNvSpPr txBox="1">
            <a:spLocks/>
          </p:cNvSpPr>
          <p:nvPr userDrawn="1"/>
        </p:nvSpPr>
        <p:spPr>
          <a:xfrm>
            <a:off x="1524000" y="5282767"/>
            <a:ext cx="91440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7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KODE DOSEN / JABATAN</a:t>
            </a:r>
          </a:p>
        </p:txBody>
      </p:sp>
    </p:spTree>
    <p:extLst>
      <p:ext uri="{BB962C8B-B14F-4D97-AF65-F5344CB8AC3E}">
        <p14:creationId xmlns:p14="http://schemas.microsoft.com/office/powerpoint/2010/main" val="131447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1CE2E-7266-F84B-BEFD-06BFE8429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0A4D0-BC95-2341-919A-07F39E414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64" y="1825625"/>
            <a:ext cx="10753435" cy="4408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7205F-7181-0A4B-8B94-4F272C7AF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5E8B2-123E-6A47-A1EB-5965D8E1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3B4B9-FE13-004F-B983-B0CEC26F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F0F53-5AB4-964B-9E29-767BDCAC1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798619"/>
            <a:ext cx="10515600" cy="87745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80F4-AC72-544F-84EA-858401862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12009"/>
            <a:ext cx="10515600" cy="49977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9021D-776E-F540-881F-506506A6C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A9BA2-6E02-FE45-9378-51228F4B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2C050-9EC0-8848-8B41-384789A9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48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C3CA-2E99-DB48-A0FC-CE6EBC50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26FEA-C949-E04F-B799-ABA400FD6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7AEB6-3582-2146-9592-E7654D39A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9DD0B-C101-0A41-9ADD-7ABF81AAB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6865F-3405-1645-AC1E-2487504BF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06A12-68E8-3543-9FB9-03E9BE60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5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C35E-6C5E-0341-A89C-55B74ABE9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06EF0-5DBC-2547-BD07-3D6792C8B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3E1B0-0DEE-0243-8DD5-845193E2B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E5B99-9DF0-0E4A-8E42-226752943E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CE1378-6463-A741-A6FC-09199D849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EDF72-728D-F544-9AA9-6C3350DF0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CABC5A-715C-C046-A8D0-CA76B26D7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B1DA6-D7C7-CA44-B1B0-B491F24C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52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C4B8-E6A2-E949-B141-622F68A98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E9838-6081-D449-B314-1AE494F2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CFB88-4741-EC49-AF14-85DF7F0ED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E8621E-0E35-D443-BE8F-7FFAFF66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51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8A321A-7A0E-AC40-B613-3B26F13C0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2B5CB8-9C5B-D643-A8C4-8A861F7CC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1FF3D-2E71-884F-AC33-2E0490F2F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43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DAC1-BC7A-AA46-98A5-77B6CA39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365" y="1897785"/>
            <a:ext cx="4399394" cy="106838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0F21D-808C-B542-8B64-9DE6C8100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31E1F-393F-DA46-8C6A-8171B323D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3541" y="2966172"/>
            <a:ext cx="4399394" cy="289487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22EB5-FB60-8B4D-8DEB-257AEBA2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A9FFD-CDE4-7A42-8D5D-D0EFED53F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D5188-783E-B54F-B415-F147DD57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39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270A-1840-B24C-8EFA-337C6D4F0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534391"/>
            <a:ext cx="3932237" cy="106838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2B019C-335F-D842-A4EF-104B2FF8A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D077E-B69A-AB45-862B-C17AC2107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33964"/>
            <a:ext cx="3932237" cy="3135023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DC79F-8AF6-D947-98C3-9BD9DB4C7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A69DE-4962-F54E-9CB1-DFD1AD74C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4F83F-580A-EE4E-9DA2-3D5D5B772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9D286-710B-4431-AA7C-95CB8D2880B9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390681" y="541271"/>
            <a:ext cx="1097153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390681" y="1684270"/>
            <a:ext cx="10971531" cy="452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E9ED95-923D-3548-823B-31E4248CF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811939" y="6154457"/>
            <a:ext cx="4568123" cy="566787"/>
          </a:xfrm>
          <a:prstGeom prst="rect">
            <a:avLst/>
          </a:prstGeom>
          <a:ln w="3175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1711B1-0CB2-3642-B322-BB9057DC06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33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9D286-710B-4431-AA7C-95CB8D2880B9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390681" y="541271"/>
            <a:ext cx="1097153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390681" y="1684270"/>
            <a:ext cx="10971531" cy="452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E9ED95-923D-3548-823B-31E4248CF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811939" y="6154457"/>
            <a:ext cx="4568123" cy="566787"/>
          </a:xfrm>
          <a:prstGeom prst="rect">
            <a:avLst/>
          </a:prstGeom>
          <a:ln w="3175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1711B1-0CB2-3642-B322-BB9057DC06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06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9D286-710B-4431-AA7C-95CB8D2880B9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390681" y="541271"/>
            <a:ext cx="1097153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390681" y="1684270"/>
            <a:ext cx="10971531" cy="452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E9ED95-923D-3548-823B-31E4248CF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811939" y="6154457"/>
            <a:ext cx="4568123" cy="566787"/>
          </a:xfrm>
          <a:prstGeom prst="rect">
            <a:avLst/>
          </a:prstGeom>
          <a:ln w="3175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1711B1-0CB2-3642-B322-BB9057DC06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74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72637-8648-AF49-A532-95E8F83F8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930399"/>
            <a:ext cx="9144000" cy="78523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NAMA MATA KULIAH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0F29F-14E9-8045-958D-7B9C96AAE4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773074"/>
            <a:ext cx="9144000" cy="461962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KODE MATA KULIAH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F2286C-2C6B-7A46-B205-0BB38DF6B179}"/>
              </a:ext>
            </a:extLst>
          </p:cNvPr>
          <p:cNvSpPr txBox="1">
            <a:spLocks/>
          </p:cNvSpPr>
          <p:nvPr userDrawn="1"/>
        </p:nvSpPr>
        <p:spPr>
          <a:xfrm>
            <a:off x="1524000" y="3528146"/>
            <a:ext cx="9144000" cy="5518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US" sz="2800" dirty="0"/>
              <a:t>NAMA PERTEMUAN / SUBJUDUL MATAKULIAH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0E5DE40-7032-E849-BEDA-016DBAA06593}"/>
              </a:ext>
            </a:extLst>
          </p:cNvPr>
          <p:cNvSpPr txBox="1">
            <a:spLocks/>
          </p:cNvSpPr>
          <p:nvPr userDrawn="1"/>
        </p:nvSpPr>
        <p:spPr>
          <a:xfrm>
            <a:off x="1524000" y="4080019"/>
            <a:ext cx="91440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7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NOMOR SESI/PERTEMUAN/MODUL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4DC31E5-7896-CD4C-91F8-1E1F2B251C11}"/>
              </a:ext>
            </a:extLst>
          </p:cNvPr>
          <p:cNvSpPr txBox="1">
            <a:spLocks/>
          </p:cNvSpPr>
          <p:nvPr userDrawn="1"/>
        </p:nvSpPr>
        <p:spPr>
          <a:xfrm>
            <a:off x="1524000" y="4730894"/>
            <a:ext cx="9144000" cy="5518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US" sz="2000" dirty="0"/>
              <a:t>NAMA SME / NARASUMBER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18F7360-E5CF-7E4D-8A71-F79011F9E1AB}"/>
              </a:ext>
            </a:extLst>
          </p:cNvPr>
          <p:cNvSpPr txBox="1">
            <a:spLocks/>
          </p:cNvSpPr>
          <p:nvPr userDrawn="1"/>
        </p:nvSpPr>
        <p:spPr>
          <a:xfrm>
            <a:off x="1524000" y="5282767"/>
            <a:ext cx="9144000" cy="36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7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2">
                    <a:lumMod val="25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KODE DOSEN / JABATAN</a:t>
            </a:r>
          </a:p>
        </p:txBody>
      </p:sp>
    </p:spTree>
    <p:extLst>
      <p:ext uri="{BB962C8B-B14F-4D97-AF65-F5344CB8AC3E}">
        <p14:creationId xmlns:p14="http://schemas.microsoft.com/office/powerpoint/2010/main" val="2748656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1CE2E-7266-F84B-BEFD-06BFE8429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0A4D0-BC95-2341-919A-07F39E414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64" y="1825625"/>
            <a:ext cx="10753435" cy="4408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7205F-7181-0A4B-8B94-4F272C7AF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5E8B2-123E-6A47-A1EB-5965D8E1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3B4B9-FE13-004F-B983-B0CEC26F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194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F0F53-5AB4-964B-9E29-767BDCAC1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798619"/>
            <a:ext cx="10515600" cy="87745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80F4-AC72-544F-84EA-858401862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12009"/>
            <a:ext cx="10515600" cy="49977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9021D-776E-F540-881F-506506A6C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A9BA2-6E02-FE45-9378-51228F4B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2C050-9EC0-8848-8B41-384789A9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56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C3CA-2E99-DB48-A0FC-CE6EBC50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26FEA-C949-E04F-B799-ABA400FD6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7AEB6-3582-2146-9592-E7654D39A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9DD0B-C101-0A41-9ADD-7ABF81AAB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6865F-3405-1645-AC1E-2487504BF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06A12-68E8-3543-9FB9-03E9BE60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26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C35E-6C5E-0341-A89C-55B74ABE9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06EF0-5DBC-2547-BD07-3D6792C8B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3E1B0-0DEE-0243-8DD5-845193E2B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E5B99-9DF0-0E4A-8E42-226752943E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CE1378-6463-A741-A6FC-09199D849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EDF72-728D-F544-9AA9-6C3350DF0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CABC5A-715C-C046-A8D0-CA76B26D7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B1DA6-D7C7-CA44-B1B0-B491F24C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125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C4B8-E6A2-E949-B141-622F68A98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E9838-6081-D449-B314-1AE494F2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CFB88-4741-EC49-AF14-85DF7F0ED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E8621E-0E35-D443-BE8F-7FFAFF66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5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8A321A-7A0E-AC40-B613-3B26F13C0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2B5CB8-9C5B-D643-A8C4-8A861F7CC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1FF3D-2E71-884F-AC33-2E0490F2F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12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DAC1-BC7A-AA46-98A5-77B6CA39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365" y="1897785"/>
            <a:ext cx="4399394" cy="106838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0F21D-808C-B542-8B64-9DE6C8100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31E1F-393F-DA46-8C6A-8171B323D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3541" y="2966172"/>
            <a:ext cx="4399394" cy="289487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22EB5-FB60-8B4D-8DEB-257AEBA2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A9FFD-CDE4-7A42-8D5D-D0EFED53F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D5188-783E-B54F-B415-F147DD57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222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270A-1840-B24C-8EFA-337C6D4F0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534391"/>
            <a:ext cx="3932237" cy="106838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2B019C-335F-D842-A4EF-104B2FF8A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D077E-B69A-AB45-862B-C17AC2107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33964"/>
            <a:ext cx="3932237" cy="3135023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DC79F-8AF6-D947-98C3-9BD9DB4C7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8DF9-0BD0-A14A-B253-89C572C3D3A1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A69DE-4962-F54E-9CB1-DFD1AD74C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4F83F-580A-EE4E-9DA2-3D5D5B772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CD4A4-80CA-A04E-BD63-9CECCE369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57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51E76-B2BA-69FA-93B6-AD8358C1C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1CFBA-1BD8-F5EF-6DD9-403A40CD427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93673-2D99-7A56-305E-7EEC60626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3398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4353155" y="4840195"/>
            <a:ext cx="2588850" cy="179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431"/>
              <a:t>UNIVERSITAS</a:t>
            </a:r>
            <a:r>
              <a:rPr sz="1431" b="1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5842000" y="5304279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0193" tIns="20193" rIns="20193" bIns="20193" anchor="ctr"/>
          <a:lstStyle/>
          <a:p>
            <a:pPr defTabSz="32813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72"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4353155" y="4840195"/>
            <a:ext cx="2588850" cy="179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431"/>
              <a:t>UNIVERSITAS</a:t>
            </a:r>
            <a:r>
              <a:rPr sz="1431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842000" y="5304279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0193" tIns="20193" rIns="20193" bIns="20193" anchor="ctr"/>
          <a:lstStyle/>
          <a:p>
            <a:pPr defTabSz="32813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7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2" y="3377425"/>
            <a:ext cx="10985501" cy="952501"/>
          </a:xfrm>
          <a:prstGeom prst="rect">
            <a:avLst/>
          </a:prstGeom>
        </p:spPr>
        <p:txBody>
          <a:bodyPr/>
          <a:lstStyle>
            <a:lvl1pPr marL="0" indent="0" algn="ctr" defTabSz="328133">
              <a:lnSpc>
                <a:spcPct val="100000"/>
              </a:lnSpc>
              <a:spcBef>
                <a:spcPts val="0"/>
              </a:spcBef>
              <a:buSzTx/>
              <a:buNone/>
              <a:defRPr kumimoji="0" sz="1988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18173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2pPr>
            <a:lvl3pPr marL="0" indent="36347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3pPr>
            <a:lvl4pPr marL="0" indent="54520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4pPr>
            <a:lvl5pPr marL="0" indent="72694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195891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477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Prese</a:t>
            </a:r>
            <a:r>
              <a:rPr lang="en-ID"/>
              <a:t>n</a:t>
            </a:r>
            <a:r>
              <a:rPr err="1"/>
              <a:t>tation</a:t>
            </a:r>
            <a:r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29096" y="5769292"/>
            <a:ext cx="2106346" cy="372944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5029096" y="5550413"/>
            <a:ext cx="1622239" cy="13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1113"/>
              <a:t>SUBJECT MATTER EXPERT</a:t>
            </a:r>
            <a:endParaRPr sz="1113" b="1"/>
          </a:p>
        </p:txBody>
      </p:sp>
    </p:spTree>
    <p:extLst>
      <p:ext uri="{BB962C8B-B14F-4D97-AF65-F5344CB8AC3E}">
        <p14:creationId xmlns:p14="http://schemas.microsoft.com/office/powerpoint/2010/main" val="971628109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4353155" y="4840195"/>
            <a:ext cx="2614498" cy="179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431"/>
              <a:t>UNIVERSITAS</a:t>
            </a:r>
            <a:r>
              <a:rPr sz="1431" b="1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5842000" y="5304279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0193" tIns="20193" rIns="20193" bIns="20193" anchor="ctr"/>
          <a:lstStyle/>
          <a:p>
            <a:pPr defTabSz="32813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72"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4353155" y="4840195"/>
            <a:ext cx="2588850" cy="179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431"/>
              <a:t>UNIVERSITAS</a:t>
            </a:r>
            <a:r>
              <a:rPr sz="1431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842000" y="5304279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0193" tIns="20193" rIns="20193" bIns="20193" anchor="ctr"/>
          <a:lstStyle/>
          <a:p>
            <a:pPr defTabSz="32813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7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2" y="3377425"/>
            <a:ext cx="10985501" cy="952501"/>
          </a:xfrm>
          <a:prstGeom prst="rect">
            <a:avLst/>
          </a:prstGeom>
        </p:spPr>
        <p:txBody>
          <a:bodyPr/>
          <a:lstStyle>
            <a:lvl1pPr marL="0" indent="0" algn="ctr" defTabSz="328133">
              <a:lnSpc>
                <a:spcPct val="100000"/>
              </a:lnSpc>
              <a:spcBef>
                <a:spcPts val="0"/>
              </a:spcBef>
              <a:buSzTx/>
              <a:buNone/>
              <a:defRPr kumimoji="0" sz="1988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18173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2pPr>
            <a:lvl3pPr marL="0" indent="36347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3pPr>
            <a:lvl4pPr marL="0" indent="54520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4pPr>
            <a:lvl5pPr marL="0" indent="72694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195891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477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Prese</a:t>
            </a:r>
            <a:r>
              <a:rPr lang="en-ID"/>
              <a:t>n</a:t>
            </a:r>
            <a:r>
              <a:rPr err="1"/>
              <a:t>tation</a:t>
            </a:r>
            <a:r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29096" y="5769292"/>
            <a:ext cx="2106346" cy="372944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5029096" y="5550413"/>
            <a:ext cx="1622239" cy="13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1113"/>
              <a:t>SUBJECT MATTER EXPERT</a:t>
            </a:r>
            <a:endParaRPr sz="1113" b="1"/>
          </a:p>
        </p:txBody>
      </p:sp>
    </p:spTree>
    <p:extLst>
      <p:ext uri="{BB962C8B-B14F-4D97-AF65-F5344CB8AC3E}">
        <p14:creationId xmlns:p14="http://schemas.microsoft.com/office/powerpoint/2010/main" val="124140793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1181505"/>
            <a:ext cx="12192000" cy="571808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6029"/>
            <a:ext cx="7357785" cy="255141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43465" y="2667216"/>
            <a:ext cx="6857470" cy="2261132"/>
          </a:xfrm>
        </p:spPr>
        <p:txBody>
          <a:bodyPr>
            <a:normAutofit/>
          </a:bodyPr>
          <a:lstStyle>
            <a:lvl1pPr marL="106012" indent="-106012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354005" indent="-111691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84329" indent="-99703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49991" indent="-123050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80314" indent="-111060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967004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4353155" y="4840195"/>
            <a:ext cx="2588850" cy="179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431"/>
              <a:t>UNIVERSITAS</a:t>
            </a:r>
            <a:r>
              <a:rPr sz="1431" b="1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5842000" y="5304279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0193" tIns="20193" rIns="20193" bIns="20193" anchor="ctr"/>
          <a:lstStyle/>
          <a:p>
            <a:pPr defTabSz="32813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72"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4353155" y="4840195"/>
            <a:ext cx="2588850" cy="179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431"/>
              <a:t>UNIVERSITAS</a:t>
            </a:r>
            <a:r>
              <a:rPr sz="1431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842000" y="5304279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0193" tIns="20193" rIns="20193" bIns="20193" anchor="ctr"/>
          <a:lstStyle/>
          <a:p>
            <a:pPr defTabSz="32813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7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2" y="3377425"/>
            <a:ext cx="10985501" cy="952501"/>
          </a:xfrm>
          <a:prstGeom prst="rect">
            <a:avLst/>
          </a:prstGeom>
        </p:spPr>
        <p:txBody>
          <a:bodyPr/>
          <a:lstStyle>
            <a:lvl1pPr marL="0" indent="0" algn="ctr" defTabSz="328133">
              <a:lnSpc>
                <a:spcPct val="100000"/>
              </a:lnSpc>
              <a:spcBef>
                <a:spcPts val="0"/>
              </a:spcBef>
              <a:buSzTx/>
              <a:buNone/>
              <a:defRPr kumimoji="0" sz="1988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18173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2pPr>
            <a:lvl3pPr marL="0" indent="36347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3pPr>
            <a:lvl4pPr marL="0" indent="54520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4pPr>
            <a:lvl5pPr marL="0" indent="72694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3248" y="1287496"/>
            <a:ext cx="10985502" cy="195891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477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Prese</a:t>
            </a:r>
            <a:r>
              <a:rPr lang="en-ID"/>
              <a:t>n</a:t>
            </a:r>
            <a:r>
              <a:rPr err="1"/>
              <a:t>tation</a:t>
            </a:r>
            <a:r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29096" y="5769292"/>
            <a:ext cx="2106346" cy="372944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5029096" y="5550413"/>
            <a:ext cx="1622239" cy="13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1113"/>
              <a:t>SUBJECT MATTER EXPERT</a:t>
            </a:r>
            <a:endParaRPr sz="1113" b="1"/>
          </a:p>
        </p:txBody>
      </p:sp>
    </p:spTree>
    <p:extLst>
      <p:ext uri="{BB962C8B-B14F-4D97-AF65-F5344CB8AC3E}">
        <p14:creationId xmlns:p14="http://schemas.microsoft.com/office/powerpoint/2010/main" val="533946730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8" y="379105"/>
            <a:ext cx="957475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 algn="ctr">
              <a:defRPr kumimoji="0" sz="3975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31204366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 algn="ctr">
              <a:defRPr kumimoji="0" sz="3975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147298775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 algn="ctr">
              <a:defRPr kumimoji="0" sz="3975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4951119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 algn="ctr">
              <a:defRPr kumimoji="0" sz="3975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23196292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 algn="ctr">
              <a:defRPr kumimoji="0" sz="3975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638554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28422" y="-12700"/>
            <a:ext cx="12248844" cy="68834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 algn="ctr">
              <a:defRPr kumimoji="0" sz="3975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4338867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28422" y="-12700"/>
            <a:ext cx="12248844" cy="68834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3248" y="2266950"/>
            <a:ext cx="10985502" cy="2324100"/>
          </a:xfrm>
          <a:prstGeom prst="rect">
            <a:avLst/>
          </a:prstGeom>
        </p:spPr>
        <p:txBody>
          <a:bodyPr anchor="ctr"/>
          <a:lstStyle>
            <a:lvl1pPr algn="ctr">
              <a:defRPr kumimoji="0" sz="3975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7233384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1181505"/>
            <a:ext cx="12192000" cy="571808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3090908" y="2662576"/>
            <a:ext cx="7681170" cy="261703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1083691" y="2662576"/>
            <a:ext cx="2272829" cy="26170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25908" y="2497901"/>
            <a:ext cx="6898089" cy="602113"/>
          </a:xfrm>
        </p:spPr>
        <p:txBody>
          <a:bodyPr>
            <a:noAutofit/>
          </a:bodyPr>
          <a:lstStyle>
            <a:lvl1pPr marL="0" indent="0">
              <a:buNone/>
              <a:defRPr kumimoji="0" lang="en-US" sz="95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7032" y="2497901"/>
            <a:ext cx="1686141" cy="602113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13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3090908" y="4039481"/>
            <a:ext cx="7681170" cy="261703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1083691" y="4039481"/>
            <a:ext cx="2272829" cy="26170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25908" y="3874806"/>
            <a:ext cx="6898089" cy="602113"/>
          </a:xfrm>
        </p:spPr>
        <p:txBody>
          <a:bodyPr>
            <a:noAutofit/>
          </a:bodyPr>
          <a:lstStyle>
            <a:lvl1pPr marL="0" indent="0">
              <a:buNone/>
              <a:defRPr kumimoji="0" lang="en-US" sz="95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7032" y="3874806"/>
            <a:ext cx="1686141" cy="602113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13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3090908" y="5416385"/>
            <a:ext cx="7681170" cy="261703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1083691" y="5416385"/>
            <a:ext cx="2272829" cy="26170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25908" y="5251710"/>
            <a:ext cx="6898089" cy="602113"/>
          </a:xfrm>
        </p:spPr>
        <p:txBody>
          <a:bodyPr>
            <a:noAutofit/>
          </a:bodyPr>
          <a:lstStyle>
            <a:lvl1pPr marL="0" indent="0">
              <a:buNone/>
              <a:defRPr kumimoji="0" lang="en-US" sz="95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7032" y="5251710"/>
            <a:ext cx="1686141" cy="602113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13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6029"/>
            <a:ext cx="7357785" cy="255141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213146339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6928" y="1180175"/>
            <a:ext cx="12198928" cy="5718089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743465" y="2667216"/>
            <a:ext cx="6857470" cy="2261132"/>
          </a:xfrm>
        </p:spPr>
        <p:txBody>
          <a:bodyPr>
            <a:normAutofit/>
          </a:bodyPr>
          <a:lstStyle>
            <a:lvl1pPr marL="106012" indent="-106012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354005" indent="-111691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84329" indent="-99703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49991" indent="-123050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80314" indent="-111060">
              <a:lnSpc>
                <a:spcPct val="100000"/>
              </a:lnSpc>
              <a:tabLst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0148541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6928" y="1180175"/>
            <a:ext cx="12198928" cy="5718089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3690" y="4668676"/>
            <a:ext cx="2379633" cy="1157753"/>
          </a:xfrm>
        </p:spPr>
        <p:txBody>
          <a:bodyPr>
            <a:noAutofit/>
          </a:bodyPr>
          <a:lstStyle>
            <a:lvl1pPr marL="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2672" y="4668676"/>
            <a:ext cx="2379633" cy="1157753"/>
          </a:xfrm>
        </p:spPr>
        <p:txBody>
          <a:bodyPr>
            <a:noAutofit/>
          </a:bodyPr>
          <a:lstStyle>
            <a:lvl1pPr marL="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21655" y="4668676"/>
            <a:ext cx="2379633" cy="1157753"/>
          </a:xfrm>
        </p:spPr>
        <p:txBody>
          <a:bodyPr>
            <a:noAutofit/>
          </a:bodyPr>
          <a:lstStyle>
            <a:lvl1pPr marL="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83690" y="2148648"/>
            <a:ext cx="2379633" cy="208617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02672" y="2148648"/>
            <a:ext cx="2379633" cy="208617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21655" y="2148648"/>
            <a:ext cx="2379633" cy="208617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3100777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6928" y="1180175"/>
            <a:ext cx="12198928" cy="5718089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3699170" y="3405870"/>
            <a:ext cx="786820" cy="46987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1083689" y="3534709"/>
            <a:ext cx="2462400" cy="24569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97124" y="2850923"/>
            <a:ext cx="1947882" cy="1650380"/>
          </a:xfrm>
        </p:spPr>
        <p:txBody>
          <a:bodyPr>
            <a:noAutofit/>
          </a:bodyPr>
          <a:lstStyle>
            <a:lvl1pPr marL="0" indent="0">
              <a:buNone/>
              <a:defRPr kumimoji="0" lang="en-US" sz="1272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4639069" y="3534709"/>
            <a:ext cx="2462400" cy="24569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8194450" y="3534709"/>
            <a:ext cx="2462400" cy="24569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9854" y="2850923"/>
            <a:ext cx="1947882" cy="1650380"/>
          </a:xfrm>
        </p:spPr>
        <p:txBody>
          <a:bodyPr>
            <a:noAutofit/>
          </a:bodyPr>
          <a:lstStyle>
            <a:lvl1pPr marL="0" indent="0">
              <a:buNone/>
              <a:defRPr kumimoji="0" lang="en-US" sz="1272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41473" y="2850923"/>
            <a:ext cx="1947882" cy="1650380"/>
          </a:xfrm>
        </p:spPr>
        <p:txBody>
          <a:bodyPr>
            <a:noAutofit/>
          </a:bodyPr>
          <a:lstStyle>
            <a:lvl1pPr marL="0" indent="0">
              <a:buNone/>
              <a:defRPr kumimoji="0" lang="en-US" sz="1272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74947" y="5222649"/>
            <a:ext cx="9519074" cy="850977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13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7254550" y="3405870"/>
            <a:ext cx="786820" cy="46987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2120925" y="2050418"/>
            <a:ext cx="387928" cy="332620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72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5639831" y="2050418"/>
            <a:ext cx="387928" cy="332620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72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9231685" y="2050418"/>
            <a:ext cx="387928" cy="332620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72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20047454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6928" y="1180175"/>
            <a:ext cx="12198928" cy="5718089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83689" y="3278460"/>
            <a:ext cx="4884454" cy="2787805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3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9966" y="2105316"/>
            <a:ext cx="4549529" cy="3960949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83470" y="2105025"/>
            <a:ext cx="4884438" cy="1019556"/>
          </a:xfrm>
        </p:spPr>
        <p:txBody>
          <a:bodyPr>
            <a:normAutofit/>
          </a:bodyPr>
          <a:lstStyle>
            <a:lvl1pPr marL="0" indent="0">
              <a:buNone/>
              <a:defRPr sz="1749">
                <a:solidFill>
                  <a:schemeClr val="bg1"/>
                </a:solidFill>
              </a:defRPr>
            </a:lvl1pPr>
            <a:lvl5pPr marL="969254" indent="0" algn="l">
              <a:buFont typeface="Arial" panose="020B0604020202020204" pitchFamily="34" charset="0"/>
              <a:buNone/>
              <a:defRPr sz="174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201729154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6928" y="1180175"/>
            <a:ext cx="12198928" cy="5718089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3740653" y="3975920"/>
            <a:ext cx="4572000" cy="33262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6026653" y="3975920"/>
            <a:ext cx="11048" cy="2452311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3740653" y="4142230"/>
            <a:ext cx="4572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3470" y="2009364"/>
            <a:ext cx="2341962" cy="1800000"/>
          </a:xfrm>
        </p:spPr>
        <p:txBody>
          <a:bodyPr>
            <a:normAutofit/>
          </a:bodyPr>
          <a:lstStyle>
            <a:lvl1pPr marL="0" indent="0">
              <a:buNone/>
              <a:defRPr sz="1113">
                <a:solidFill>
                  <a:schemeClr val="bg1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28476" y="3647408"/>
            <a:ext cx="1897701" cy="375631"/>
          </a:xfrm>
        </p:spPr>
        <p:txBody>
          <a:bodyPr>
            <a:normAutofit/>
          </a:bodyPr>
          <a:lstStyle>
            <a:lvl1pPr marL="0" indent="0" algn="ctr">
              <a:buNone/>
              <a:defRPr sz="1113">
                <a:solidFill>
                  <a:srgbClr val="002060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28476" y="4308658"/>
            <a:ext cx="1897701" cy="375631"/>
          </a:xfrm>
        </p:spPr>
        <p:txBody>
          <a:bodyPr>
            <a:normAutofit/>
          </a:bodyPr>
          <a:lstStyle>
            <a:lvl1pPr marL="0" indent="0" algn="ctr">
              <a:buNone/>
              <a:defRPr sz="1113">
                <a:solidFill>
                  <a:srgbClr val="002060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2872" y="3649151"/>
            <a:ext cx="1897701" cy="375631"/>
          </a:xfrm>
        </p:spPr>
        <p:txBody>
          <a:bodyPr>
            <a:normAutofit/>
          </a:bodyPr>
          <a:lstStyle>
            <a:lvl1pPr marL="0" indent="0" algn="ctr">
              <a:buNone/>
              <a:defRPr sz="1113">
                <a:solidFill>
                  <a:srgbClr val="002060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4000" y="4297947"/>
            <a:ext cx="1897701" cy="375631"/>
          </a:xfrm>
        </p:spPr>
        <p:txBody>
          <a:bodyPr>
            <a:normAutofit/>
          </a:bodyPr>
          <a:lstStyle>
            <a:lvl1pPr marL="0" indent="0" algn="ctr">
              <a:buNone/>
              <a:defRPr sz="1113">
                <a:solidFill>
                  <a:srgbClr val="002060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3470" y="4469342"/>
            <a:ext cx="2341962" cy="1800000"/>
          </a:xfrm>
        </p:spPr>
        <p:txBody>
          <a:bodyPr>
            <a:normAutofit/>
          </a:bodyPr>
          <a:lstStyle>
            <a:lvl1pPr marL="0" indent="0">
              <a:buNone/>
              <a:defRPr sz="1113">
                <a:solidFill>
                  <a:schemeClr val="bg1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27873" y="2009364"/>
            <a:ext cx="2341962" cy="1800000"/>
          </a:xfrm>
        </p:spPr>
        <p:txBody>
          <a:bodyPr>
            <a:normAutofit/>
          </a:bodyPr>
          <a:lstStyle>
            <a:lvl1pPr marL="0" indent="0">
              <a:buNone/>
              <a:defRPr sz="1113">
                <a:solidFill>
                  <a:schemeClr val="bg1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27873" y="4469342"/>
            <a:ext cx="2341962" cy="1800000"/>
          </a:xfrm>
        </p:spPr>
        <p:txBody>
          <a:bodyPr>
            <a:normAutofit/>
          </a:bodyPr>
          <a:lstStyle>
            <a:lvl1pPr marL="0" indent="0">
              <a:buNone/>
              <a:defRPr sz="1113">
                <a:solidFill>
                  <a:schemeClr val="bg1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4083" y="2499962"/>
            <a:ext cx="968473" cy="968473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8519" y="2484350"/>
            <a:ext cx="979366" cy="979366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52069" y="4857758"/>
            <a:ext cx="848205" cy="848205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8520" y="4855911"/>
            <a:ext cx="850053" cy="85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71107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6928" y="1180175"/>
            <a:ext cx="12198928" cy="5718089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 b="0" i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3470" y="2174876"/>
            <a:ext cx="6048851" cy="1731229"/>
          </a:xfrm>
        </p:spPr>
        <p:txBody>
          <a:bodyPr>
            <a:normAutofit/>
          </a:bodyPr>
          <a:lstStyle>
            <a:lvl1pPr marL="0" indent="0">
              <a:buNone/>
              <a:defRPr sz="1590">
                <a:solidFill>
                  <a:schemeClr val="bg1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3469" y="4469343"/>
            <a:ext cx="9919811" cy="1838121"/>
          </a:xfrm>
        </p:spPr>
        <p:txBody>
          <a:bodyPr>
            <a:normAutofit/>
          </a:bodyPr>
          <a:lstStyle>
            <a:lvl1pPr marL="0" indent="0">
              <a:buNone/>
              <a:defRPr sz="1431">
                <a:solidFill>
                  <a:schemeClr val="bg1"/>
                </a:solidFill>
              </a:defRPr>
            </a:lvl1pPr>
            <a:lvl5pPr marL="969254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1" y="2160059"/>
            <a:ext cx="1767841" cy="176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087513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1180175"/>
            <a:ext cx="12192000" cy="5718089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88376" y="5471412"/>
            <a:ext cx="4261609" cy="722424"/>
          </a:xfrm>
        </p:spPr>
        <p:txBody>
          <a:bodyPr>
            <a:noAutofit/>
          </a:bodyPr>
          <a:lstStyle>
            <a:lvl1pPr marL="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42016" y="5486222"/>
            <a:ext cx="4261609" cy="722424"/>
          </a:xfrm>
        </p:spPr>
        <p:txBody>
          <a:bodyPr>
            <a:noAutofit/>
          </a:bodyPr>
          <a:lstStyle>
            <a:lvl1pPr marL="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88376" y="2291006"/>
            <a:ext cx="4261609" cy="277798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42016" y="2291006"/>
            <a:ext cx="4261609" cy="278873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96349284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1180175"/>
            <a:ext cx="12192000" cy="5718089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5730082" y="1981200"/>
            <a:ext cx="6059488" cy="4541838"/>
          </a:xfrm>
        </p:spPr>
        <p:txBody>
          <a:bodyPr>
            <a:normAutofit/>
          </a:bodyPr>
          <a:lstStyle>
            <a:lvl1pPr marL="0" indent="0">
              <a:buNone/>
              <a:defRPr sz="159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51038" y="1981201"/>
            <a:ext cx="3505200" cy="2029025"/>
          </a:xfrm>
        </p:spPr>
        <p:txBody>
          <a:bodyPr>
            <a:normAutofit/>
          </a:bodyPr>
          <a:lstStyle>
            <a:lvl1pPr marL="0" indent="0">
              <a:buNone/>
              <a:defRPr sz="143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526" y="1981200"/>
            <a:ext cx="701761" cy="701761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1038" y="4430692"/>
            <a:ext cx="3505200" cy="2029025"/>
          </a:xfrm>
        </p:spPr>
        <p:txBody>
          <a:bodyPr>
            <a:normAutofit/>
          </a:bodyPr>
          <a:lstStyle>
            <a:lvl1pPr marL="0" indent="0">
              <a:buNone/>
              <a:defRPr sz="143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3556" y="4324372"/>
            <a:ext cx="701761" cy="70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84170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1180175"/>
            <a:ext cx="12192000" cy="5718089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08180" y="177064"/>
            <a:ext cx="1281775" cy="541936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83691" y="2060259"/>
            <a:ext cx="4734599" cy="428429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73934" y="3231255"/>
            <a:ext cx="4012419" cy="3113301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3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73715" y="2057821"/>
            <a:ext cx="4012406" cy="984213"/>
          </a:xfrm>
        </p:spPr>
        <p:txBody>
          <a:bodyPr>
            <a:normAutofit/>
          </a:bodyPr>
          <a:lstStyle>
            <a:lvl1pPr marL="0" indent="0">
              <a:buNone/>
              <a:defRPr sz="1749">
                <a:solidFill>
                  <a:schemeClr val="bg1"/>
                </a:solidFill>
              </a:defRPr>
            </a:lvl1pPr>
            <a:lvl5pPr marL="969254" indent="0" algn="l">
              <a:buFont typeface="Arial" panose="020B0604020202020204" pitchFamily="34" charset="0"/>
              <a:buNone/>
              <a:defRPr sz="174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56024926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1180175"/>
            <a:ext cx="12192000" cy="5718089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78332" y="-1934"/>
            <a:ext cx="1391955" cy="1007086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691" y="935583"/>
            <a:ext cx="7357785" cy="255588"/>
          </a:xfrm>
        </p:spPr>
        <p:txBody>
          <a:bodyPr>
            <a:normAutofit/>
          </a:bodyPr>
          <a:lstStyle>
            <a:lvl1pPr>
              <a:defRPr kumimoji="0" lang="en-US" sz="1511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3689" y="1209865"/>
            <a:ext cx="4884438" cy="401773"/>
          </a:xfrm>
        </p:spPr>
        <p:txBody>
          <a:bodyPr/>
          <a:lstStyle>
            <a:lvl1pPr marL="0" indent="0">
              <a:buNone/>
              <a:defRPr kumimoji="0" lang="en-US" sz="1272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1062168" y="4644925"/>
            <a:ext cx="3856197" cy="241115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7125" y="3624011"/>
            <a:ext cx="3408691" cy="3113301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7124" y="2734405"/>
            <a:ext cx="713836" cy="713836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5742878" y="2757935"/>
            <a:ext cx="5865542" cy="261703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5742878" y="3607725"/>
            <a:ext cx="5865542" cy="261703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5742878" y="4447118"/>
            <a:ext cx="5865542" cy="261703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5742878" y="5286511"/>
            <a:ext cx="5865542" cy="261703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5742878" y="6125904"/>
            <a:ext cx="5865542" cy="261703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193" tIns="20193" rIns="20193" bIns="20193" numCol="1" spcCol="38100" rtlCol="0" anchor="ctr">
            <a:spAutoFit/>
          </a:bodyPr>
          <a:lstStyle/>
          <a:p>
            <a:pPr marL="0" marR="0" indent="0" algn="ctr" defTabSz="32813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72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68126" y="2718544"/>
            <a:ext cx="5400914" cy="323620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68126" y="3568332"/>
            <a:ext cx="5400914" cy="323620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68126" y="4407725"/>
            <a:ext cx="5400914" cy="323620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68126" y="5247118"/>
            <a:ext cx="5400914" cy="323620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68126" y="6086511"/>
            <a:ext cx="5400914" cy="323620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34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42313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484627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726940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969254" indent="0">
              <a:buNone/>
              <a:defRPr kumimoji="0" lang="en-US" sz="87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0667254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4911607" y="4183049"/>
            <a:ext cx="1742465" cy="119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954"/>
              <a:t>UNIVERSITAS</a:t>
            </a:r>
            <a:r>
              <a:rPr sz="954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842000" y="4512545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0193" tIns="20193" rIns="20193" bIns="20193" anchor="ctr"/>
          <a:lstStyle/>
          <a:p>
            <a:pPr defTabSz="32813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7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8" y="379105"/>
            <a:ext cx="957475" cy="5715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2" y="3719169"/>
            <a:ext cx="10985501" cy="432336"/>
          </a:xfrm>
          <a:prstGeom prst="rect">
            <a:avLst/>
          </a:prstGeom>
        </p:spPr>
        <p:txBody>
          <a:bodyPr/>
          <a:lstStyle>
            <a:lvl1pPr marL="0" indent="0" algn="ctr" defTabSz="328133">
              <a:lnSpc>
                <a:spcPct val="100000"/>
              </a:lnSpc>
              <a:spcBef>
                <a:spcPts val="0"/>
              </a:spcBef>
              <a:buSzTx/>
              <a:buNone/>
              <a:defRPr kumimoji="0" sz="1988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18173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2pPr>
            <a:lvl3pPr marL="0" indent="36347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3pPr>
            <a:lvl4pPr marL="0" indent="54520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4pPr>
            <a:lvl5pPr marL="0" indent="72694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5pPr>
          </a:lstStyle>
          <a:p>
            <a:r>
              <a:t>Presentation </a:t>
            </a:r>
            <a:r>
              <a:rPr lang="en-US"/>
              <a:t>TITLE</a:t>
            </a:r>
            <a:endParaRPr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3248" y="1529380"/>
            <a:ext cx="10985502" cy="187314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477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7787" y="4743382"/>
            <a:ext cx="3111268" cy="179139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71096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43049" y="-28774"/>
            <a:ext cx="12253578" cy="691554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28396" tIns="28396" rIns="28396" bIns="28396" anchor="ctr"/>
          <a:lstStyle/>
          <a:p>
            <a:pPr defTabSz="326556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19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4911607" y="4183049"/>
            <a:ext cx="1742465" cy="119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26556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954"/>
              <a:t>UNIVERSITAS</a:t>
            </a:r>
            <a:r>
              <a:rPr sz="954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842000" y="4512545"/>
            <a:ext cx="508000" cy="4445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0193" tIns="20193" rIns="20193" bIns="20193" anchor="ctr"/>
          <a:lstStyle/>
          <a:p>
            <a:pPr defTabSz="328133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272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0672" y="3719169"/>
            <a:ext cx="10985501" cy="432336"/>
          </a:xfrm>
          <a:prstGeom prst="rect">
            <a:avLst/>
          </a:prstGeom>
        </p:spPr>
        <p:txBody>
          <a:bodyPr/>
          <a:lstStyle>
            <a:lvl1pPr marL="0" indent="0" algn="ctr" defTabSz="328133">
              <a:lnSpc>
                <a:spcPct val="100000"/>
              </a:lnSpc>
              <a:spcBef>
                <a:spcPts val="0"/>
              </a:spcBef>
              <a:buSzTx/>
              <a:buNone/>
              <a:defRPr kumimoji="0" sz="1988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18173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2pPr>
            <a:lvl3pPr marL="0" indent="36347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3pPr>
            <a:lvl4pPr marL="0" indent="545205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4pPr>
            <a:lvl5pPr marL="0" indent="726940" defTabSz="328133">
              <a:lnSpc>
                <a:spcPct val="100000"/>
              </a:lnSpc>
              <a:spcBef>
                <a:spcPts val="0"/>
              </a:spcBef>
              <a:buSzTx/>
              <a:buNone/>
              <a:defRPr sz="2186" b="1"/>
            </a:lvl5pPr>
          </a:lstStyle>
          <a:p>
            <a:r>
              <a:t>Presentation </a:t>
            </a:r>
            <a:r>
              <a:rPr lang="en-US"/>
              <a:t>TITLE</a:t>
            </a:r>
            <a:endParaRPr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3248" y="1529380"/>
            <a:ext cx="10985502" cy="187314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477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7787" y="4743382"/>
            <a:ext cx="3111268" cy="179139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795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3362" y="379105"/>
            <a:ext cx="957486" cy="5715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71141124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39BE2-12B7-4434-89E0-DFE32BB14338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2192000" cy="6852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412411" y="679467"/>
            <a:ext cx="1097153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412411" y="1822467"/>
            <a:ext cx="10971531" cy="452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5317F68B-01F1-E94A-99D3-3F09D8A936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869643" y="6178641"/>
            <a:ext cx="4568123" cy="566787"/>
          </a:xfrm>
          <a:prstGeom prst="rect">
            <a:avLst/>
          </a:prstGeom>
          <a:ln w="3175"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29EBDB-E5DA-C246-981F-4C19F8FC45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86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-13936"/>
            <a:ext cx="12191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5157193"/>
            <a:ext cx="12191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1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8466" y="2060848"/>
            <a:ext cx="9116152" cy="79208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3337"/>
            <a:ext cx="2844801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1" y="6453337"/>
            <a:ext cx="38608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599" y="6605840"/>
            <a:ext cx="209994" cy="212622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2548466" y="3429001"/>
            <a:ext cx="9116152" cy="3040422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2543605" y="2852936"/>
            <a:ext cx="9121013" cy="504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id-ID" sz="2200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6374966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screen">
            <a:alphaModFix/>
          </a:blip>
          <a:srcRect/>
          <a:stretch>
            <a:fillRect/>
          </a:stretch>
        </p:blipFill>
        <p:spPr bwMode="auto">
          <a:xfrm>
            <a:off x="0" y="2879"/>
            <a:ext cx="12192000" cy="6852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9EA64FB5-AD3D-6B4E-9CDC-DAE578F5C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5795078" y="585989"/>
            <a:ext cx="4568123" cy="566787"/>
          </a:xfrm>
          <a:prstGeom prst="rect">
            <a:avLst/>
          </a:prstGeom>
          <a:ln w="3175"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00FE9A-5B56-CC4A-AE9A-C22895A4A6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6482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39BE2-12B7-4434-89E0-DFE32BB14338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2192000" cy="6852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412411" y="679467"/>
            <a:ext cx="1097153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412411" y="1822467"/>
            <a:ext cx="10971531" cy="452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5317F68B-01F1-E94A-99D3-3F09D8A936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869643" y="6178641"/>
            <a:ext cx="4568123" cy="566787"/>
          </a:xfrm>
          <a:prstGeom prst="rect">
            <a:avLst/>
          </a:prstGeom>
          <a:ln w="3175"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29EBDB-E5DA-C246-981F-4C19F8FC45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561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17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086">
                <a:solidFill>
                  <a:schemeClr val="tx1">
                    <a:tint val="75000"/>
                  </a:schemeClr>
                </a:solidFill>
              </a:defRPr>
            </a:lvl1pPr>
            <a:lvl2pPr marL="472839" indent="0">
              <a:buNone/>
              <a:defRPr sz="1904">
                <a:solidFill>
                  <a:schemeClr val="tx1">
                    <a:tint val="75000"/>
                  </a:schemeClr>
                </a:solidFill>
              </a:defRPr>
            </a:lvl2pPr>
            <a:lvl3pPr marL="945677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3pPr>
            <a:lvl4pPr marL="1418516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4pPr>
            <a:lvl5pPr marL="1891354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5pPr>
            <a:lvl6pPr marL="2364194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6pPr>
            <a:lvl7pPr marL="2837033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7pPr>
            <a:lvl8pPr marL="3309871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8pPr>
            <a:lvl9pPr marL="3782710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2EFF39-44C6-4BDD-92E5-47B8BAF3FA74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2044D-538C-4006-A81A-9ADFE14E0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33BA03-3A39-B849-9650-5243CD565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3317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1" y="1600201"/>
            <a:ext cx="5384800" cy="4525963"/>
          </a:xfrm>
        </p:spPr>
        <p:txBody>
          <a:bodyPr/>
          <a:lstStyle>
            <a:lvl1pPr>
              <a:defRPr sz="2902"/>
            </a:lvl1pPr>
            <a:lvl2pPr>
              <a:defRPr sz="2448"/>
            </a:lvl2pPr>
            <a:lvl3pPr>
              <a:defRPr sz="2086"/>
            </a:lvl3pPr>
            <a:lvl4pPr>
              <a:defRPr sz="1904"/>
            </a:lvl4pPr>
            <a:lvl5pPr>
              <a:defRPr sz="1904"/>
            </a:lvl5pPr>
            <a:lvl6pPr>
              <a:defRPr sz="1904"/>
            </a:lvl6pPr>
            <a:lvl7pPr>
              <a:defRPr sz="1904"/>
            </a:lvl7pPr>
            <a:lvl8pPr>
              <a:defRPr sz="1904"/>
            </a:lvl8pPr>
            <a:lvl9pPr>
              <a:defRPr sz="19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2902"/>
            </a:lvl1pPr>
            <a:lvl2pPr>
              <a:defRPr sz="2448"/>
            </a:lvl2pPr>
            <a:lvl3pPr>
              <a:defRPr sz="2086"/>
            </a:lvl3pPr>
            <a:lvl4pPr>
              <a:defRPr sz="1904"/>
            </a:lvl4pPr>
            <a:lvl5pPr>
              <a:defRPr sz="1904"/>
            </a:lvl5pPr>
            <a:lvl6pPr>
              <a:defRPr sz="1904"/>
            </a:lvl6pPr>
            <a:lvl7pPr>
              <a:defRPr sz="1904"/>
            </a:lvl7pPr>
            <a:lvl8pPr>
              <a:defRPr sz="1904"/>
            </a:lvl8pPr>
            <a:lvl9pPr>
              <a:defRPr sz="19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F9992-720A-45E0-AB8C-5B62103ED936}" type="datetime1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04BA8-D676-4613-9C2C-2877DCA64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2192000" cy="6852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390681" y="541271"/>
            <a:ext cx="1097153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3"/>
          </p:nvPr>
        </p:nvSpPr>
        <p:spPr bwMode="auto">
          <a:xfrm>
            <a:off x="1390681" y="1684270"/>
            <a:ext cx="10971531" cy="452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E24EA1D8-E779-9B4C-A906-459512BC2D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821520" y="6116453"/>
            <a:ext cx="4568123" cy="566787"/>
          </a:xfrm>
          <a:prstGeom prst="rect">
            <a:avLst/>
          </a:prstGeom>
          <a:ln w="3175"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C9F73C-0878-E542-8513-40978819055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9050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918182-9607-4469-B7B5-8A382FDCE8F7}" type="datetime1">
              <a:rPr lang="en-US" smtClean="0"/>
              <a:t>12/20/2023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70E03-8071-4189-BFD0-FC7EEE7DCD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390681" y="541271"/>
            <a:ext cx="1097153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"/>
          </p:nvPr>
        </p:nvSpPr>
        <p:spPr bwMode="auto">
          <a:xfrm>
            <a:off x="1390681" y="1684270"/>
            <a:ext cx="10971531" cy="452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0859D3EC-5E23-3B41-9DA0-38316698BC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811939" y="6147547"/>
            <a:ext cx="4568123" cy="566787"/>
          </a:xfrm>
          <a:prstGeom prst="rect">
            <a:avLst/>
          </a:prstGeom>
          <a:ln w="3175"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D22DC1-2584-BA45-ADB4-CB64B76C91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78457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9D286-710B-4431-AA7C-95CB8D2880B9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390681" y="541271"/>
            <a:ext cx="1097153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390681" y="1684270"/>
            <a:ext cx="10971531" cy="452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E9ED95-923D-3548-823B-31E4248CF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811939" y="6154457"/>
            <a:ext cx="4568123" cy="566787"/>
          </a:xfrm>
          <a:prstGeom prst="rect">
            <a:avLst/>
          </a:prstGeom>
          <a:ln w="3175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1711B1-0CB2-3642-B322-BB9057DC06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201" y="239265"/>
            <a:ext cx="1948799" cy="109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2694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064CD7-6888-478A-8C0F-B06BE0AE70F9}" type="datetime1">
              <a:rPr lang="en-US" smtClean="0"/>
              <a:t>12/20/2023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416AF-AB6B-466F-BD3E-24BE387F4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1" descr="Background 01-04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2192000" cy="6852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897142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4763"/>
            <a:ext cx="12185649" cy="646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0" y="5157193"/>
            <a:ext cx="12191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100"/>
          </a:p>
        </p:txBody>
      </p:sp>
      <p:sp>
        <p:nvSpPr>
          <p:cNvPr id="8" name="Rectangle 7"/>
          <p:cNvSpPr/>
          <p:nvPr userDrawn="1"/>
        </p:nvSpPr>
        <p:spPr>
          <a:xfrm>
            <a:off x="2255573" y="1628800"/>
            <a:ext cx="9936425" cy="5229200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1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447594" y="2708921"/>
            <a:ext cx="9505056" cy="1470025"/>
          </a:xfrm>
        </p:spPr>
        <p:txBody>
          <a:bodyPr/>
          <a:lstStyle>
            <a:lvl1pPr eaLnBrk="1" hangingPunct="1">
              <a:defRPr sz="44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sz="3200" b="1" dirty="0">
                <a:solidFill>
                  <a:schemeClr val="bg1"/>
                </a:solidFill>
                <a:latin typeface="Open Sans" pitchFamily="-84" charset="0"/>
                <a:ea typeface="ＭＳ Ｐゴシック" pitchFamily="34" charset="-128"/>
              </a:rPr>
              <a:t>Headline Open Sans Bold 32pt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3659" y="4295528"/>
            <a:ext cx="8534400" cy="576064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3337"/>
            <a:ext cx="2844801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1" y="6453337"/>
            <a:ext cx="38608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599" y="6453337"/>
            <a:ext cx="2844801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391960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-13936"/>
            <a:ext cx="12191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5157193"/>
            <a:ext cx="12191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1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8466" y="2060848"/>
            <a:ext cx="9116152" cy="79208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3337"/>
            <a:ext cx="2844801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1" y="6453337"/>
            <a:ext cx="38608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599" y="6453337"/>
            <a:ext cx="2844801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2548466" y="3429001"/>
            <a:ext cx="9116152" cy="3040422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2543605" y="2852936"/>
            <a:ext cx="9121013" cy="504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id-ID" sz="2200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24144564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5521" y="4406901"/>
            <a:ext cx="9793088" cy="678284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5521" y="2906714"/>
            <a:ext cx="979308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3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4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2058584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59563" y="2636913"/>
            <a:ext cx="4608512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4086" y="2636913"/>
            <a:ext cx="4718314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474224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563" y="1484784"/>
            <a:ext cx="9422837" cy="10081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9563" y="2132856"/>
            <a:ext cx="4608512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7" indent="0">
              <a:buNone/>
              <a:defRPr sz="1800" b="1"/>
            </a:lvl3pPr>
            <a:lvl4pPr marL="1371626" indent="0">
              <a:buNone/>
              <a:defRPr sz="1600" b="1"/>
            </a:lvl4pPr>
            <a:lvl5pPr marL="1828835" indent="0">
              <a:buNone/>
              <a:defRPr sz="1600" b="1"/>
            </a:lvl5pPr>
            <a:lvl6pPr marL="2286044" indent="0">
              <a:buNone/>
              <a:defRPr sz="1600" b="1"/>
            </a:lvl6pPr>
            <a:lvl7pPr marL="2743252" indent="0">
              <a:buNone/>
              <a:defRPr sz="1600" b="1"/>
            </a:lvl7pPr>
            <a:lvl8pPr marL="3200461" indent="0">
              <a:buNone/>
              <a:defRPr sz="1600" b="1"/>
            </a:lvl8pPr>
            <a:lvl9pPr marL="365766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59563" y="2708920"/>
            <a:ext cx="4608512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0096" y="2708920"/>
            <a:ext cx="4622304" cy="34563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6960097" y="2132856"/>
            <a:ext cx="4608512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7" indent="0">
              <a:buNone/>
              <a:defRPr sz="1800" b="1"/>
            </a:lvl3pPr>
            <a:lvl4pPr marL="1371626" indent="0">
              <a:buNone/>
              <a:defRPr sz="1600" b="1"/>
            </a:lvl4pPr>
            <a:lvl5pPr marL="1828835" indent="0">
              <a:buNone/>
              <a:defRPr sz="1600" b="1"/>
            </a:lvl5pPr>
            <a:lvl6pPr marL="2286044" indent="0">
              <a:buNone/>
              <a:defRPr sz="1600" b="1"/>
            </a:lvl6pPr>
            <a:lvl7pPr marL="2743252" indent="0">
              <a:buNone/>
              <a:defRPr sz="1600" b="1"/>
            </a:lvl7pPr>
            <a:lvl8pPr marL="3200461" indent="0">
              <a:buNone/>
              <a:defRPr sz="1600" b="1"/>
            </a:lvl8pPr>
            <a:lvl9pPr marL="365766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65286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0020837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64"/>
            <a:ext cx="12924838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751001" y="2859881"/>
            <a:ext cx="9422837" cy="1143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5506237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3606" y="1628800"/>
            <a:ext cx="9025002" cy="802010"/>
          </a:xfrm>
        </p:spPr>
        <p:txBody>
          <a:bodyPr anchor="b">
            <a:normAutofit/>
          </a:bodyPr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3606" y="2564904"/>
            <a:ext cx="4224470" cy="367240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60096" y="2564904"/>
            <a:ext cx="4573356" cy="367216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9" indent="0">
              <a:buNone/>
              <a:defRPr sz="1200"/>
            </a:lvl2pPr>
            <a:lvl3pPr marL="914417" indent="0">
              <a:buNone/>
              <a:defRPr sz="1000"/>
            </a:lvl3pPr>
            <a:lvl4pPr marL="1371626" indent="0">
              <a:buNone/>
              <a:defRPr sz="900"/>
            </a:lvl4pPr>
            <a:lvl5pPr marL="1828835" indent="0">
              <a:buNone/>
              <a:defRPr sz="900"/>
            </a:lvl5pPr>
            <a:lvl6pPr marL="2286044" indent="0">
              <a:buNone/>
              <a:defRPr sz="900"/>
            </a:lvl6pPr>
            <a:lvl7pPr marL="2743252" indent="0">
              <a:buNone/>
              <a:defRPr sz="900"/>
            </a:lvl7pPr>
            <a:lvl8pPr marL="3200461" indent="0">
              <a:buNone/>
              <a:defRPr sz="900"/>
            </a:lvl8pPr>
            <a:lvl9pPr marL="365766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285412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0"/>
            <a:ext cx="9178891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1916832"/>
            <a:ext cx="9178891" cy="2810742"/>
          </a:xfrm>
        </p:spPr>
        <p:txBody>
          <a:bodyPr/>
          <a:lstStyle>
            <a:lvl1pPr marL="0" indent="0">
              <a:buNone/>
              <a:defRPr sz="3200"/>
            </a:lvl1pPr>
            <a:lvl2pPr marL="457209" indent="0">
              <a:buNone/>
              <a:defRPr sz="2800"/>
            </a:lvl2pPr>
            <a:lvl3pPr marL="914417" indent="0">
              <a:buNone/>
              <a:defRPr sz="2400"/>
            </a:lvl3pPr>
            <a:lvl4pPr marL="1371626" indent="0">
              <a:buNone/>
              <a:defRPr sz="2000"/>
            </a:lvl4pPr>
            <a:lvl5pPr marL="1828835" indent="0">
              <a:buNone/>
              <a:defRPr sz="2000"/>
            </a:lvl5pPr>
            <a:lvl6pPr marL="2286044" indent="0">
              <a:buNone/>
              <a:defRPr sz="2000"/>
            </a:lvl6pPr>
            <a:lvl7pPr marL="2743252" indent="0">
              <a:buNone/>
              <a:defRPr sz="2000"/>
            </a:lvl7pPr>
            <a:lvl8pPr marL="3200461" indent="0">
              <a:buNone/>
              <a:defRPr sz="2000"/>
            </a:lvl8pPr>
            <a:lvl9pPr marL="365766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8"/>
            <a:ext cx="9178891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9" indent="0">
              <a:buNone/>
              <a:defRPr sz="1200"/>
            </a:lvl2pPr>
            <a:lvl3pPr marL="914417" indent="0">
              <a:buNone/>
              <a:defRPr sz="1000"/>
            </a:lvl3pPr>
            <a:lvl4pPr marL="1371626" indent="0">
              <a:buNone/>
              <a:defRPr sz="900"/>
            </a:lvl4pPr>
            <a:lvl5pPr marL="1828835" indent="0">
              <a:buNone/>
              <a:defRPr sz="900"/>
            </a:lvl5pPr>
            <a:lvl6pPr marL="2286044" indent="0">
              <a:buNone/>
              <a:defRPr sz="900"/>
            </a:lvl6pPr>
            <a:lvl7pPr marL="2743252" indent="0">
              <a:buNone/>
              <a:defRPr sz="900"/>
            </a:lvl7pPr>
            <a:lvl8pPr marL="3200461" indent="0">
              <a:buNone/>
              <a:defRPr sz="900"/>
            </a:lvl8pPr>
            <a:lvl9pPr marL="365766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6925099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1799900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199" y="1484784"/>
            <a:ext cx="2743201" cy="46413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91477" y="1484784"/>
            <a:ext cx="7244522" cy="46413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0641571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1_Title and Conten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407900" y="226836"/>
            <a:ext cx="109728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Font typeface="Calibri"/>
              <a:buNone/>
              <a:defRPr sz="3000" b="1">
                <a:solidFill>
                  <a:srgbClr val="E670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000" b="1">
                <a:solidFill>
                  <a:srgbClr val="E6703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000" b="1">
                <a:solidFill>
                  <a:srgbClr val="E6703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000" b="1">
                <a:solidFill>
                  <a:srgbClr val="E6703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000" b="1">
                <a:solidFill>
                  <a:srgbClr val="E6703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000" b="1">
                <a:solidFill>
                  <a:srgbClr val="E6703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000" b="1">
                <a:solidFill>
                  <a:srgbClr val="E6703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000" b="1">
                <a:solidFill>
                  <a:srgbClr val="E6703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000" b="1">
                <a:solidFill>
                  <a:srgbClr val="E67032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9" lvl="0" indent="-342906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1pPr>
            <a:lvl2pPr marL="914417" lvl="1" indent="-342906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/>
            </a:lvl2pPr>
            <a:lvl3pPr marL="1371626" lvl="2" indent="-342906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3pPr>
            <a:lvl4pPr marL="1828835" lvl="3" indent="-34290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/>
            </a:lvl4pPr>
            <a:lvl5pPr marL="2286044" lvl="4" indent="-34290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/>
            </a:lvl5pPr>
            <a:lvl6pPr marL="2743252" lvl="5" indent="-34290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6pPr>
            <a:lvl7pPr marL="3200461" lvl="6" indent="-34290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7pPr>
            <a:lvl8pPr marL="3657669" lvl="7" indent="-34290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8pPr>
            <a:lvl9pPr marL="4114878" lvl="8" indent="-34290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1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9" marR="0" lvl="1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17" marR="0" lvl="2" indent="-88902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26" marR="0" lvl="3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35" marR="0" lvl="4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44" marR="0" lvl="5" indent="-88902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52" marR="0" lvl="6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61" marR="0" lvl="7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69" marR="0" lvl="8" indent="-88902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ftr" idx="11"/>
          </p:nvPr>
        </p:nvSpPr>
        <p:spPr>
          <a:xfrm>
            <a:off x="4165601" y="6356351"/>
            <a:ext cx="3860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88902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457209" marR="0" lvl="1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914417" marR="0" lvl="2" indent="-88902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371626" marR="0" lvl="3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1828835" marR="0" lvl="4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286044" marR="0" lvl="5" indent="-88902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2743252" marR="0" lvl="6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200461" marR="0" lvl="7" indent="-88902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3657669" marR="0" lvl="8" indent="-88902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8737599" y="6356351"/>
            <a:ext cx="2844801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buNone/>
              <a:defRPr/>
            </a:lvl1pPr>
            <a:lvl2pPr marL="0" marR="0" lvl="1" indent="0" algn="r" rtl="0">
              <a:buNone/>
              <a:defRPr/>
            </a:lvl2pPr>
            <a:lvl3pPr marL="0" marR="0" lvl="2" indent="0" algn="r" rtl="0">
              <a:buNone/>
              <a:defRPr/>
            </a:lvl3pPr>
            <a:lvl4pPr marL="0" marR="0" lvl="3" indent="0" algn="r" rtl="0">
              <a:buNone/>
              <a:defRPr/>
            </a:lvl4pPr>
            <a:lvl5pPr marL="0" marR="0" lvl="4" indent="0" algn="r" rtl="0">
              <a:buNone/>
              <a:defRPr/>
            </a:lvl5pPr>
            <a:lvl6pPr marL="0" marR="0" lvl="5" indent="0" algn="r" rtl="0">
              <a:buNone/>
              <a:defRPr/>
            </a:lvl6pPr>
            <a:lvl7pPr marL="0" marR="0" lvl="6" indent="0" algn="r" rtl="0">
              <a:buNone/>
              <a:defRPr/>
            </a:lvl7pPr>
            <a:lvl8pPr marL="0" marR="0" lvl="7" indent="0" algn="r" rtl="0">
              <a:buNone/>
              <a:defRPr/>
            </a:lvl8pPr>
            <a:lvl9pPr marL="0" marR="0" lvl="8" indent="0" algn="r" rtl="0">
              <a:buNone/>
              <a:defRPr/>
            </a:lvl9pPr>
          </a:lstStyle>
          <a:p>
            <a:pPr indent="-88902">
              <a:buSzPts val="1400"/>
              <a:buFontTx/>
              <a:buChar char="●"/>
            </a:pPr>
            <a:endParaRPr lang="en-ID"/>
          </a:p>
          <a:p>
            <a:pPr marL="457209" lvl="1" indent="-88902" algn="l">
              <a:buSzPts val="1400"/>
              <a:buFontTx/>
              <a:buChar char="○"/>
            </a:pPr>
            <a:endParaRPr lang="en-ID"/>
          </a:p>
          <a:p>
            <a:pPr marL="914417" lvl="2" indent="-88902" algn="l">
              <a:buSzPts val="1400"/>
              <a:buFontTx/>
              <a:buChar char="■"/>
            </a:pPr>
            <a:endParaRPr lang="en-ID"/>
          </a:p>
          <a:p>
            <a:pPr marL="1371626" lvl="3" indent="-88902" algn="l">
              <a:buSzPts val="1400"/>
              <a:buFontTx/>
              <a:buChar char="●"/>
            </a:pPr>
            <a:endParaRPr lang="en-ID"/>
          </a:p>
          <a:p>
            <a:pPr marL="1828835" lvl="4" indent="-88902" algn="l">
              <a:buSzPts val="1400"/>
              <a:buFontTx/>
              <a:buChar char="○"/>
            </a:pPr>
            <a:endParaRPr lang="en-ID"/>
          </a:p>
          <a:p>
            <a:pPr marL="2286044" lvl="5" indent="-88902" algn="l">
              <a:buSzPts val="1400"/>
              <a:buFontTx/>
              <a:buChar char="■"/>
            </a:pPr>
            <a:endParaRPr lang="en-ID"/>
          </a:p>
          <a:p>
            <a:pPr marL="2743252" lvl="6" indent="-88902" algn="l">
              <a:buSzPts val="1400"/>
              <a:buFontTx/>
              <a:buChar char="●"/>
            </a:pPr>
            <a:endParaRPr lang="en-ID"/>
          </a:p>
          <a:p>
            <a:pPr marL="3200461" lvl="7" indent="-88902" algn="l">
              <a:buSzPts val="1400"/>
              <a:buFontTx/>
              <a:buChar char="○"/>
            </a:pPr>
            <a:endParaRPr lang="en-ID"/>
          </a:p>
          <a:p>
            <a:pPr marL="3657669" lvl="8" indent="-88902" algn="l">
              <a:buSzPts val="1400"/>
              <a:buFontTx/>
              <a:buChar char="■"/>
            </a:pP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3953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48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9" Type="http://schemas.openxmlformats.org/officeDocument/2006/relationships/image" Target="../media/image26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7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22AF79-146D-3147-9120-FFF00E41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326" y="365125"/>
            <a:ext cx="85274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8CB3F-639F-F741-8D50-7FFF5C286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40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42A78-B844-8741-9929-8DA7911EE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bg2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158DF9-0BD0-A14A-B253-89C572C3D3A1}" type="datetimeFigureOut">
              <a:rPr lang="en-US" smtClean="0"/>
              <a:pPr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7B844-5CAB-8B40-A387-ED7BB6524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chemeClr val="bg2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Mata Kuliah – Sub Judul Mata Kuliah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68FAD-B412-5048-8832-E4BBBD80B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2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BB0CD4A4-80CA-A04E-BD63-9CECCE3695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4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  <p:sldLayoutId id="2147483663" r:id="rId12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bg2">
              <a:lumMod val="25000"/>
            </a:schemeClr>
          </a:solidFill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bg2">
              <a:lumMod val="25000"/>
            </a:schemeClr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i="0" kern="1200">
          <a:solidFill>
            <a:schemeClr val="bg2">
              <a:lumMod val="25000"/>
            </a:schemeClr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i="0" kern="1200">
          <a:solidFill>
            <a:schemeClr val="bg2">
              <a:lumMod val="25000"/>
            </a:schemeClr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bg2">
              <a:lumMod val="25000"/>
            </a:schemeClr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bg2">
              <a:lumMod val="25000"/>
            </a:schemeClr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22AF79-146D-3147-9120-FFF00E41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326" y="365125"/>
            <a:ext cx="85274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8CB3F-639F-F741-8D50-7FFF5C286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40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42A78-B844-8741-9929-8DA7911EE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bg2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158DF9-0BD0-A14A-B253-89C572C3D3A1}" type="datetimeFigureOut">
              <a:rPr lang="en-US" smtClean="0"/>
              <a:pPr/>
              <a:t>12/20/2023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7B844-5CAB-8B40-A387-ED7BB6524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chemeClr val="bg2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Mata Kuliah – Sub Judul Mata Kuliah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68FAD-B412-5048-8832-E4BBBD80B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2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BB0CD4A4-80CA-A04E-BD63-9CECCE3695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8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bg2">
              <a:lumMod val="25000"/>
            </a:schemeClr>
          </a:solidFill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bg2">
              <a:lumMod val="25000"/>
            </a:schemeClr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i="0" kern="1200">
          <a:solidFill>
            <a:schemeClr val="bg2">
              <a:lumMod val="25000"/>
            </a:schemeClr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i="0" kern="1200">
          <a:solidFill>
            <a:schemeClr val="bg2">
              <a:lumMod val="25000"/>
            </a:schemeClr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bg2">
              <a:lumMod val="25000"/>
            </a:schemeClr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i="0" kern="1200">
          <a:solidFill>
            <a:schemeClr val="bg2">
              <a:lumMod val="25000"/>
            </a:schemeClr>
          </a:solidFill>
          <a:latin typeface="Open Sans Semibold" panose="020B0606030504020204" pitchFamily="34" charset="0"/>
          <a:ea typeface="Open Sans Semibold" panose="020B0606030504020204" pitchFamily="34" charset="0"/>
          <a:cs typeface="Open Sans Semibold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10985500" cy="716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2124252"/>
            <a:ext cx="10985500" cy="4128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94692" y="6515178"/>
            <a:ext cx="209994" cy="2126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232217">
              <a:defRPr sz="715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5778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</p:sldLayoutIdLst>
  <p:transition spd="med"/>
  <p:hf hdr="0" ftr="0" dt="0"/>
  <p:txStyles>
    <p:titleStyle>
      <a:lvl1pPr marL="0" marR="0" indent="0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181735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363470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545205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726940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908675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090411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272145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453881" algn="l" defTabSz="969229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79" b="1" i="0" u="none" strike="noStrike" cap="none" spc="-68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242313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484627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726940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969254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1211567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1453881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1696194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1938507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2180820" marR="0" indent="-242313" algn="l" defTabSz="969229" rtl="0" eaLnBrk="1" latinLnBrk="0" hangingPunct="1">
        <a:lnSpc>
          <a:spcPct val="90000"/>
        </a:lnSpc>
        <a:spcBef>
          <a:spcPts val="1789"/>
        </a:spcBef>
        <a:spcAft>
          <a:spcPts val="0"/>
        </a:spcAft>
        <a:buClrTx/>
        <a:buSzPct val="123000"/>
        <a:buFontTx/>
        <a:buChar char="•"/>
        <a:tabLst/>
        <a:defRPr sz="1908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81735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363470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545205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726940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908675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090411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272145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453881" algn="ctr" defTabSz="23221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0" y="0"/>
            <a:ext cx="12192000" cy="6852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368952" y="541271"/>
            <a:ext cx="1097153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68952" y="1684270"/>
            <a:ext cx="10971531" cy="452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0234" y="6357038"/>
            <a:ext cx="2844739" cy="364206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>
              <a:defRPr sz="127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D4E8849-CB45-4FAD-B44C-942F8AD376A7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800" y="6357038"/>
            <a:ext cx="3862400" cy="364206"/>
          </a:xfrm>
          <a:prstGeom prst="rect">
            <a:avLst/>
          </a:prstGeom>
        </p:spPr>
        <p:txBody>
          <a:bodyPr vert="horz" lIns="104287" tIns="52144" rIns="104287" bIns="52144" rtlCol="0" anchor="ctr"/>
          <a:lstStyle>
            <a:lvl1pPr algn="ctr" defTabSz="472839" fontAlgn="auto">
              <a:spcBef>
                <a:spcPts val="0"/>
              </a:spcBef>
              <a:spcAft>
                <a:spcPts val="0"/>
              </a:spcAft>
              <a:defRPr sz="127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027" y="6357038"/>
            <a:ext cx="2844739" cy="364206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r">
              <a:defRPr sz="127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1FCD700-A755-4C30-8B04-5025159A3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89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</p:sldLayoutIdLst>
  <p:hf hdr="0" ftr="0" dt="0"/>
  <p:txStyles>
    <p:titleStyle>
      <a:lvl1pPr algn="l" defTabSz="472171" rtl="0" eaLnBrk="1" fontAlgn="base" hangingPunct="1">
        <a:spcBef>
          <a:spcPct val="0"/>
        </a:spcBef>
        <a:spcAft>
          <a:spcPct val="0"/>
        </a:spcAft>
        <a:defRPr sz="2902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algn="ctr" defTabSz="472171" rtl="0" eaLnBrk="1" fontAlgn="base" hangingPunct="1">
        <a:spcBef>
          <a:spcPct val="0"/>
        </a:spcBef>
        <a:spcAft>
          <a:spcPct val="0"/>
        </a:spcAft>
        <a:defRPr sz="4534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472171" rtl="0" eaLnBrk="1" fontAlgn="base" hangingPunct="1">
        <a:spcBef>
          <a:spcPct val="0"/>
        </a:spcBef>
        <a:spcAft>
          <a:spcPct val="0"/>
        </a:spcAft>
        <a:defRPr sz="4534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472171" rtl="0" eaLnBrk="1" fontAlgn="base" hangingPunct="1">
        <a:spcBef>
          <a:spcPct val="0"/>
        </a:spcBef>
        <a:spcAft>
          <a:spcPct val="0"/>
        </a:spcAft>
        <a:defRPr sz="4534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472171" rtl="0" eaLnBrk="1" fontAlgn="base" hangingPunct="1">
        <a:spcBef>
          <a:spcPct val="0"/>
        </a:spcBef>
        <a:spcAft>
          <a:spcPct val="0"/>
        </a:spcAft>
        <a:defRPr sz="4534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14589" algn="ctr" defTabSz="472171" rtl="0" eaLnBrk="1" fontAlgn="base" hangingPunct="1">
        <a:spcBef>
          <a:spcPct val="0"/>
        </a:spcBef>
        <a:spcAft>
          <a:spcPct val="0"/>
        </a:spcAft>
        <a:defRPr sz="4534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829178" algn="ctr" defTabSz="472171" rtl="0" eaLnBrk="1" fontAlgn="base" hangingPunct="1">
        <a:spcBef>
          <a:spcPct val="0"/>
        </a:spcBef>
        <a:spcAft>
          <a:spcPct val="0"/>
        </a:spcAft>
        <a:defRPr sz="4534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243767" algn="ctr" defTabSz="472171" rtl="0" eaLnBrk="1" fontAlgn="base" hangingPunct="1">
        <a:spcBef>
          <a:spcPct val="0"/>
        </a:spcBef>
        <a:spcAft>
          <a:spcPct val="0"/>
        </a:spcAft>
        <a:defRPr sz="4534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658356" algn="ctr" defTabSz="472171" rtl="0" eaLnBrk="1" fontAlgn="base" hangingPunct="1">
        <a:spcBef>
          <a:spcPct val="0"/>
        </a:spcBef>
        <a:spcAft>
          <a:spcPct val="0"/>
        </a:spcAft>
        <a:defRPr sz="4534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54128" indent="-354128" algn="l" defTabSz="472171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64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marL="767278" indent="-295107" algn="l" defTabSz="472171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902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2pPr>
      <a:lvl3pPr marL="1181867" indent="-236085" algn="l" defTabSz="472171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48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3pPr>
      <a:lvl4pPr marL="1654038" indent="-236085" algn="l" defTabSz="472171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86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4pPr>
      <a:lvl5pPr marL="2127648" indent="-236085" algn="l" defTabSz="472171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86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5pPr>
      <a:lvl6pPr marL="2600613" indent="-236419" algn="l" defTabSz="472839" rtl="0" eaLnBrk="1" latinLnBrk="0" hangingPunct="1">
        <a:spcBef>
          <a:spcPct val="20000"/>
        </a:spcBef>
        <a:buFont typeface="Arial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6pPr>
      <a:lvl7pPr marL="3073452" indent="-236419" algn="l" defTabSz="472839" rtl="0" eaLnBrk="1" latinLnBrk="0" hangingPunct="1">
        <a:spcBef>
          <a:spcPct val="20000"/>
        </a:spcBef>
        <a:buFont typeface="Arial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7pPr>
      <a:lvl8pPr marL="3546291" indent="-236419" algn="l" defTabSz="472839" rtl="0" eaLnBrk="1" latinLnBrk="0" hangingPunct="1">
        <a:spcBef>
          <a:spcPct val="20000"/>
        </a:spcBef>
        <a:buFont typeface="Arial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8pPr>
      <a:lvl9pPr marL="4019129" indent="-236419" algn="l" defTabSz="472839" rtl="0" eaLnBrk="1" latinLnBrk="0" hangingPunct="1">
        <a:spcBef>
          <a:spcPct val="20000"/>
        </a:spcBef>
        <a:buFont typeface="Arial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72839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45677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18516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891354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364194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837033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09871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782710" algn="l" defTabSz="472839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Background 02.jp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4765"/>
            <a:ext cx="12191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157193"/>
            <a:ext cx="12191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1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59563" y="1484785"/>
            <a:ext cx="942283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59563" y="2636913"/>
            <a:ext cx="9422837" cy="348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53337"/>
            <a:ext cx="284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45333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599" y="6453337"/>
            <a:ext cx="2844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29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txStyles>
    <p:titleStyle>
      <a:lvl1pPr algn="ctr" defTabSz="914417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6" indent="-342906" algn="l" defTabSz="91441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64" indent="-285755" algn="l" defTabSz="91441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21" indent="-228604" algn="l" defTabSz="91441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31" indent="-228604" algn="l" defTabSz="91441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39" indent="-228604" algn="l" defTabSz="91441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48" indent="-228604" algn="l" defTabSz="91441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57" indent="-228604" algn="l" defTabSz="91441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65" indent="-228604" algn="l" defTabSz="91441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74" indent="-228604" algn="l" defTabSz="91441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7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6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5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4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2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1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9" algn="l" defTabSz="9144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image" Target="../media/image37.e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jpeg"/><Relationship Id="rId5" Type="http://schemas.openxmlformats.org/officeDocument/2006/relationships/image" Target="../media/image47.wmf"/><Relationship Id="rId4" Type="http://schemas.openxmlformats.org/officeDocument/2006/relationships/oleObject" Target="../embeddings/oleObject5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8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4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53.wmf"/><Relationship Id="rId4" Type="http://schemas.openxmlformats.org/officeDocument/2006/relationships/oleObject" Target="../embeddings/oleObject10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e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693015" y="3240339"/>
            <a:ext cx="8733318" cy="757225"/>
          </a:xfrm>
        </p:spPr>
        <p:txBody>
          <a:bodyPr/>
          <a:lstStyle/>
          <a:p>
            <a:pPr algn="ctr"/>
            <a:r>
              <a:rPr lang="en-US" sz="2226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03 - 04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9762" y="1966888"/>
            <a:ext cx="8733319" cy="1071382"/>
          </a:xfrm>
        </p:spPr>
        <p:txBody>
          <a:bodyPr>
            <a:noAutofit/>
          </a:bodyPr>
          <a:lstStyle/>
          <a:p>
            <a:r>
              <a:rPr lang="en-US" sz="3180" b="1" dirty="0">
                <a:solidFill>
                  <a:schemeClr val="bg1"/>
                </a:solidFill>
                <a:latin typeface="Cambria"/>
                <a:ea typeface="Cambria"/>
                <a:cs typeface="ＭＳ Ｐゴシック" charset="0"/>
              </a:rPr>
              <a:t>Basics Probability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Anom Yudistira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2887" y="1941173"/>
            <a:ext cx="4076796" cy="4492352"/>
          </a:xfrm>
        </p:spPr>
        <p:txBody>
          <a:bodyPr>
            <a:normAutofit/>
          </a:bodyPr>
          <a:lstStyle/>
          <a:p>
            <a:r>
              <a:rPr lang="en-US" sz="2902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Jay L. Devore. (2020).  Probability and Statistics for Engineering and the Sciences, 9E.  </a:t>
            </a:r>
            <a:r>
              <a:rPr lang="en-US" sz="2902" dirty="0" err="1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Cancage</a:t>
            </a:r>
            <a:r>
              <a:rPr lang="en-US" sz="2902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Learning, Boston USA.  ISBN-13: 978-0-538-73352-6</a:t>
            </a:r>
            <a:br>
              <a:rPr lang="en-ID" sz="2539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</a:br>
            <a:endParaRPr lang="id-ID" sz="2539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683482" y="1268760"/>
            <a:ext cx="4565709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ctr" defTabSz="914417"/>
            <a:r>
              <a:rPr lang="en-US" dirty="0"/>
              <a:t>References</a:t>
            </a:r>
            <a:endParaRPr lang="id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182773-2F70-CD24-17F1-7A8B5F459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272" y="1018246"/>
            <a:ext cx="3859277" cy="482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908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FEAED56-4FCA-494C-B6A4-17D2F36F72C9}"/>
              </a:ext>
            </a:extLst>
          </p:cNvPr>
          <p:cNvSpPr txBox="1">
            <a:spLocks/>
          </p:cNvSpPr>
          <p:nvPr/>
        </p:nvSpPr>
        <p:spPr>
          <a:xfrm>
            <a:off x="1787237" y="1850572"/>
            <a:ext cx="10046175" cy="383305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l">
              <a:lnSpc>
                <a:spcPct val="250000"/>
              </a:lnSpc>
              <a:spcBef>
                <a:spcPts val="600"/>
              </a:spcBef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Sub Topics: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Sample Spaces and Events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Axiom, Interpretations, and Properties of Probability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Counting Techniques</a:t>
            </a: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Conditional </a:t>
            </a:r>
            <a:r>
              <a:rPr lang="en-US" sz="2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Probabiity</a:t>
            </a:r>
            <a:endParaRPr lang="en-US" sz="2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Independence</a:t>
            </a:r>
          </a:p>
          <a:p>
            <a:pPr algn="l"/>
            <a:endParaRPr lang="en-US" sz="29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96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20A11EF2-31AD-994B-83FD-F239A63A0121}"/>
              </a:ext>
            </a:extLst>
          </p:cNvPr>
          <p:cNvSpPr txBox="1">
            <a:spLocks/>
          </p:cNvSpPr>
          <p:nvPr/>
        </p:nvSpPr>
        <p:spPr>
          <a:xfrm>
            <a:off x="1241146" y="1470212"/>
            <a:ext cx="9422837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Learning Object</a:t>
            </a:r>
            <a:endParaRPr lang="id-ID" sz="4400" b="1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A92B78-548C-B7A5-CA5D-47B766E1D952}"/>
              </a:ext>
            </a:extLst>
          </p:cNvPr>
          <p:cNvSpPr txBox="1"/>
          <p:nvPr/>
        </p:nvSpPr>
        <p:spPr>
          <a:xfrm>
            <a:off x="1416424" y="3067667"/>
            <a:ext cx="100852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LO 2: Calculate Descriptive Measures, Probability, Discrete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and Continuous Distribution</a:t>
            </a:r>
            <a:endParaRPr lang="en-ID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996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F9F6-3445-B445-8B3E-9E13A7C54E7F}"/>
              </a:ext>
            </a:extLst>
          </p:cNvPr>
          <p:cNvSpPr txBox="1">
            <a:spLocks/>
          </p:cNvSpPr>
          <p:nvPr/>
        </p:nvSpPr>
        <p:spPr>
          <a:xfrm>
            <a:off x="1785103" y="2774502"/>
            <a:ext cx="9116152" cy="79208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14266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B726F16A-E942-5FE9-5547-927CDCD813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9400" y="156882"/>
            <a:ext cx="7239000" cy="12192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969696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a typeface="굴림" charset="-127"/>
              </a:rPr>
              <a:t>What is Probability?</a:t>
            </a:r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FC2D8B6F-5D81-18EC-DEE7-005695B027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45341" y="2151529"/>
            <a:ext cx="9323293" cy="2841811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ko-KR" dirty="0">
                <a:ea typeface="굴림" charset="-127"/>
              </a:rPr>
              <a:t>On the previous slide, we used graphs and numerical measures to describe data sets which were usually</a:t>
            </a:r>
            <a:r>
              <a:rPr lang="en-US" altLang="ko-KR" b="1" dirty="0">
                <a:ea typeface="굴림" charset="-127"/>
              </a:rPr>
              <a:t>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samples</a:t>
            </a:r>
            <a:r>
              <a:rPr lang="en-US" altLang="ko-KR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.</a:t>
            </a:r>
            <a:br>
              <a:rPr lang="en-US" altLang="ko-KR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</a:br>
            <a:endParaRPr lang="en-US" altLang="ko-KR" b="1" dirty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Probability</a:t>
            </a:r>
            <a:r>
              <a:rPr lang="en-US" altLang="ko-KR" dirty="0">
                <a:ea typeface="굴림" charset="-127"/>
              </a:rPr>
              <a:t> is a tool which allows us to evaluate the reliability of our conclusion about the population when you have only sample information.</a:t>
            </a:r>
          </a:p>
          <a:p>
            <a:pPr eaLnBrk="1" hangingPunct="1">
              <a:lnSpc>
                <a:spcPct val="80000"/>
              </a:lnSpc>
              <a:defRPr/>
            </a:pPr>
            <a:endParaRPr lang="ko-KR" altLang="en-US" dirty="0"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DAF475E-4034-E6CC-6B58-C0C0367A90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2153" y="76200"/>
            <a:ext cx="7239000" cy="1219200"/>
          </a:xfrm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969696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a typeface="굴림" charset="-127"/>
              </a:rPr>
              <a:t>What is Probability?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9B8DB4E9-2A63-BF70-0290-D5FBB90CC0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62200" y="914400"/>
            <a:ext cx="8001000" cy="2286000"/>
          </a:xfrm>
        </p:spPr>
        <p:txBody>
          <a:bodyPr/>
          <a:lstStyle/>
          <a:p>
            <a:pPr eaLnBrk="1" hangingPunct="1">
              <a:defRPr/>
            </a:pPr>
            <a:endParaRPr lang="en-US" altLang="ko-KR" b="1" dirty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  <a:p>
            <a:pPr eaLnBrk="1" hangingPunct="1">
              <a:defRPr/>
            </a:pPr>
            <a:r>
              <a:rPr lang="en-US" altLang="ko-KR" dirty="0">
                <a:ea typeface="굴림" charset="-127"/>
              </a:rPr>
              <a:t>We measured “how often” using </a:t>
            </a:r>
          </a:p>
          <a:p>
            <a:pPr eaLnBrk="1" hangingPunct="1">
              <a:defRPr/>
            </a:pPr>
            <a:endParaRPr lang="ko-KR" altLang="en-US" dirty="0">
              <a:ea typeface="굴림" charset="-127"/>
            </a:endParaRP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9D993357-AEED-AF9D-5A70-80E9D28DC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2162735"/>
            <a:ext cx="6096000" cy="52322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</a:rPr>
              <a:t>Relative frequency = </a:t>
            </a:r>
            <a:r>
              <a:rPr lang="en-US" altLang="ko-KR" sz="2800" b="1" i="1">
                <a:solidFill>
                  <a:srgbClr val="333333"/>
                </a:solidFill>
                <a:ea typeface="굴림" panose="020B0600000101010101" pitchFamily="34" charset="-127"/>
              </a:rPr>
              <a:t>f/n</a:t>
            </a:r>
          </a:p>
        </p:txBody>
      </p:sp>
      <p:grpSp>
        <p:nvGrpSpPr>
          <p:cNvPr id="9230" name="Group 14">
            <a:extLst>
              <a:ext uri="{FF2B5EF4-FFF2-40B4-BE49-F238E27FC236}">
                <a16:creationId xmlns:a16="http://schemas.microsoft.com/office/drawing/2014/main" id="{1FDC94B4-A869-6A7F-9ED6-E2AEF748580B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4473387"/>
            <a:ext cx="6705600" cy="1600200"/>
            <a:chOff x="960" y="2880"/>
            <a:chExt cx="3840" cy="1008"/>
          </a:xfrm>
        </p:grpSpPr>
        <p:sp>
          <p:nvSpPr>
            <p:cNvPr id="5132" name="Rectangle 7">
              <a:extLst>
                <a:ext uri="{FF2B5EF4-FFF2-40B4-BE49-F238E27FC236}">
                  <a16:creationId xmlns:a16="http://schemas.microsoft.com/office/drawing/2014/main" id="{C7C0661F-235A-6ACD-C563-7F4EA31D4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880"/>
              <a:ext cx="3840" cy="1008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24" name="Text Box 8">
              <a:extLst>
                <a:ext uri="{FF2B5EF4-FFF2-40B4-BE49-F238E27FC236}">
                  <a16:creationId xmlns:a16="http://schemas.microsoft.com/office/drawing/2014/main" id="{3752D678-9CC2-A174-28DE-68D27445C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976"/>
              <a:ext cx="2015" cy="8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2800" b="1">
                  <a:solidFill>
                    <a:srgbClr val="333333"/>
                  </a:solidFill>
                  <a:ea typeface="굴림" charset="-127"/>
                </a:rPr>
                <a:t>Sample</a:t>
              </a:r>
            </a:p>
            <a:p>
              <a:pPr>
                <a:defRPr/>
              </a:pPr>
              <a:r>
                <a:rPr lang="en-US" altLang="ko-KR" sz="2800" b="1">
                  <a:solidFill>
                    <a:srgbClr val="333333"/>
                  </a:solidFill>
                  <a:ea typeface="굴림" charset="-127"/>
                </a:rPr>
                <a:t>And “How often”</a:t>
              </a:r>
            </a:p>
            <a:p>
              <a:pPr>
                <a:defRPr/>
              </a:pPr>
              <a:r>
                <a:rPr lang="en-US" altLang="ko-KR" sz="2800" b="1">
                  <a:solidFill>
                    <a:srgbClr val="333333"/>
                  </a:solidFill>
                  <a:ea typeface="굴림" charset="-127"/>
                </a:rPr>
                <a:t>= Relative frequency</a:t>
              </a:r>
              <a:r>
                <a:rPr lang="en-US" altLang="ko-KR" sz="2800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 </a:t>
              </a:r>
            </a:p>
          </p:txBody>
        </p:sp>
      </p:grpSp>
      <p:sp>
        <p:nvSpPr>
          <p:cNvPr id="9225" name="Text Box 9">
            <a:extLst>
              <a:ext uri="{FF2B5EF4-FFF2-40B4-BE49-F238E27FC236}">
                <a16:creationId xmlns:a16="http://schemas.microsoft.com/office/drawing/2014/main" id="{A00353EE-99B3-1582-056E-C3C0D502D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4724401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 b="1">
                <a:solidFill>
                  <a:srgbClr val="CC0066"/>
                </a:solidFill>
                <a:ea typeface="굴림" panose="020B0600000101010101" pitchFamily="34" charset="-127"/>
              </a:rPr>
              <a:t>Population</a:t>
            </a:r>
          </a:p>
        </p:txBody>
      </p:sp>
      <p:sp>
        <p:nvSpPr>
          <p:cNvPr id="9226" name="Text Box 10">
            <a:extLst>
              <a:ext uri="{FF2B5EF4-FFF2-40B4-BE49-F238E27FC236}">
                <a16:creationId xmlns:a16="http://schemas.microsoft.com/office/drawing/2014/main" id="{5474AD6E-689A-C0EC-5E29-0B219BD60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5486401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 b="1">
                <a:solidFill>
                  <a:srgbClr val="CC0066"/>
                </a:solidFill>
                <a:ea typeface="굴림" panose="020B0600000101010101" pitchFamily="34" charset="-127"/>
              </a:rPr>
              <a:t>Probability</a:t>
            </a:r>
          </a:p>
        </p:txBody>
      </p:sp>
      <p:sp>
        <p:nvSpPr>
          <p:cNvPr id="9227" name="Line 11">
            <a:extLst>
              <a:ext uri="{FF2B5EF4-FFF2-40B4-BE49-F238E27FC236}">
                <a16:creationId xmlns:a16="http://schemas.microsoft.com/office/drawing/2014/main" id="{941763C7-10C9-0E63-0FD2-7AD9AE3A519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029200"/>
            <a:ext cx="1981200" cy="0"/>
          </a:xfrm>
          <a:prstGeom prst="line">
            <a:avLst/>
          </a:prstGeom>
          <a:noFill/>
          <a:ln w="57150" cmpd="thickThin">
            <a:solidFill>
              <a:srgbClr val="3399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9228" name="Line 12">
            <a:extLst>
              <a:ext uri="{FF2B5EF4-FFF2-40B4-BE49-F238E27FC236}">
                <a16:creationId xmlns:a16="http://schemas.microsoft.com/office/drawing/2014/main" id="{D2AA7018-F39A-120E-E5CC-929B128CD3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5791200"/>
            <a:ext cx="838200" cy="0"/>
          </a:xfrm>
          <a:prstGeom prst="line">
            <a:avLst/>
          </a:prstGeom>
          <a:noFill/>
          <a:ln w="57150" cmpd="thickThin">
            <a:solidFill>
              <a:srgbClr val="3399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EB965850-8DC5-C28B-E192-5C027F96E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787587"/>
            <a:ext cx="3810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ko-KR" sz="3600" dirty="0">
                <a:solidFill>
                  <a:srgbClr val="339933"/>
                </a:solidFill>
                <a:ea typeface="굴림" panose="020B0600000101010101" pitchFamily="34" charset="-127"/>
              </a:rPr>
              <a:t>As </a:t>
            </a:r>
            <a:r>
              <a:rPr lang="en-US" altLang="ko-KR" sz="3600" i="1" dirty="0">
                <a:solidFill>
                  <a:srgbClr val="339933"/>
                </a:solidFill>
                <a:ea typeface="굴림" panose="020B0600000101010101" pitchFamily="34" charset="-127"/>
              </a:rPr>
              <a:t>n</a:t>
            </a:r>
            <a:r>
              <a:rPr lang="en-US" altLang="ko-KR" sz="3600" dirty="0">
                <a:solidFill>
                  <a:srgbClr val="339933"/>
                </a:solidFill>
                <a:ea typeface="굴림" panose="020B0600000101010101" pitchFamily="34" charset="-127"/>
              </a:rPr>
              <a:t> gets larger,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ko-KR" altLang="en-US" sz="3600" dirty="0">
              <a:solidFill>
                <a:srgbClr val="339933"/>
              </a:solidFill>
              <a:ea typeface="굴림" panose="020B0600000101010101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 autoUpdateAnimBg="0"/>
      <p:bldP spid="9222" grpId="0" animBg="1" autoUpdateAnimBg="0"/>
      <p:bldP spid="9225" grpId="0" autoUpdateAnimBg="0"/>
      <p:bldP spid="9226" grpId="0" autoUpdateAnimBg="0"/>
      <p:bldP spid="9229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F9F6-3445-B445-8B3E-9E13A7C54E7F}"/>
              </a:ext>
            </a:extLst>
          </p:cNvPr>
          <p:cNvSpPr txBox="1">
            <a:spLocks/>
          </p:cNvSpPr>
          <p:nvPr/>
        </p:nvSpPr>
        <p:spPr>
          <a:xfrm>
            <a:off x="1785103" y="2774502"/>
            <a:ext cx="9116152" cy="79208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Sample Spaces and Events</a:t>
            </a:r>
          </a:p>
        </p:txBody>
      </p:sp>
    </p:spTree>
    <p:extLst>
      <p:ext uri="{BB962C8B-B14F-4D97-AF65-F5344CB8AC3E}">
        <p14:creationId xmlns:p14="http://schemas.microsoft.com/office/powerpoint/2010/main" val="849700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C29D8AE-D473-EA57-D3A1-52ABC02044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-76200"/>
            <a:ext cx="86106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Basic Concepts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CBDFC6F-050E-62EE-E639-39D6065CF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407459"/>
            <a:ext cx="8229600" cy="4168588"/>
          </a:xfrm>
        </p:spPr>
        <p:txBody>
          <a:bodyPr/>
          <a:lstStyle/>
          <a:p>
            <a:pPr eaLnBrk="1" hangingPunct="1">
              <a:lnSpc>
                <a:spcPct val="100000"/>
              </a:lnSpc>
              <a:defRPr/>
            </a:pPr>
            <a:r>
              <a:rPr lang="en-US" altLang="ko-KR" dirty="0">
                <a:ea typeface="굴림" charset="-127"/>
              </a:rPr>
              <a:t>An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experiment</a:t>
            </a:r>
            <a:r>
              <a:rPr lang="en-US" altLang="ko-KR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</a:t>
            </a:r>
            <a:r>
              <a:rPr lang="en-US" altLang="ko-KR" dirty="0">
                <a:ea typeface="굴림" charset="-127"/>
              </a:rPr>
              <a:t>is the process by which an observation (or measurement) is obtained.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en-US" altLang="ko-KR" dirty="0">
                <a:ea typeface="굴림" charset="-127"/>
              </a:rPr>
              <a:t>An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event</a:t>
            </a:r>
            <a:r>
              <a:rPr lang="en-US" altLang="ko-KR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</a:t>
            </a:r>
            <a:r>
              <a:rPr lang="en-US" altLang="ko-KR" dirty="0">
                <a:ea typeface="굴림" charset="-127"/>
              </a:rPr>
              <a:t>is an outcome of an experiment, usually denoted by a capital letter. 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dirty="0">
                <a:solidFill>
                  <a:srgbClr val="CC0066"/>
                </a:solidFill>
                <a:ea typeface="굴림" charset="-127"/>
              </a:rPr>
              <a:t>The basic element to which probability is applied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dirty="0">
                <a:solidFill>
                  <a:srgbClr val="CC0066"/>
                </a:solidFill>
                <a:ea typeface="굴림" charset="-127"/>
              </a:rPr>
              <a:t>When an experiment is performed, a particular event either happens, or it doesn’t!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bldLvl="2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DCAAF3B-D328-0B55-0724-CABAD8CAC3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6705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ko-KR" sz="4800">
                <a:ea typeface="굴림" charset="-127"/>
              </a:rPr>
              <a:t>Experiments and Events</a:t>
            </a:r>
          </a:p>
        </p:txBody>
      </p:sp>
      <p:sp>
        <p:nvSpPr>
          <p:cNvPr id="11285" name="Rectangle 21">
            <a:extLst>
              <a:ext uri="{FF2B5EF4-FFF2-40B4-BE49-F238E27FC236}">
                <a16:creationId xmlns:a16="http://schemas.microsoft.com/office/drawing/2014/main" id="{5EFE9391-0068-212A-F08B-1284D20A1D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2061883"/>
            <a:ext cx="8229600" cy="36576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Experiment</a:t>
            </a:r>
            <a:r>
              <a:rPr lang="en-US" altLang="ko-KR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: Record an age	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ko-KR" dirty="0">
                <a:ea typeface="굴림" charset="-127"/>
              </a:rPr>
              <a:t>A: person is 30 years old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ko-KR" dirty="0">
                <a:ea typeface="굴림" charset="-127"/>
              </a:rPr>
              <a:t>B: person is older than 65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Experiment</a:t>
            </a:r>
            <a:r>
              <a:rPr lang="en-US" altLang="ko-KR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: Toss a die	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ko-KR" dirty="0">
                <a:ea typeface="굴림" charset="-127"/>
              </a:rPr>
              <a:t>A: observe an odd number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altLang="ko-KR" dirty="0">
                <a:ea typeface="굴림" charset="-127"/>
              </a:rPr>
              <a:t>B: observe a number greater than 2</a:t>
            </a:r>
          </a:p>
        </p:txBody>
      </p:sp>
      <p:grpSp>
        <p:nvGrpSpPr>
          <p:cNvPr id="7173" name="Group 25">
            <a:extLst>
              <a:ext uri="{FF2B5EF4-FFF2-40B4-BE49-F238E27FC236}">
                <a16:creationId xmlns:a16="http://schemas.microsoft.com/office/drawing/2014/main" id="{AD20B9FE-FD83-5924-CCF4-14AC8A245936}"/>
              </a:ext>
            </a:extLst>
          </p:cNvPr>
          <p:cNvGrpSpPr>
            <a:grpSpLocks/>
          </p:cNvGrpSpPr>
          <p:nvPr/>
        </p:nvGrpSpPr>
        <p:grpSpPr bwMode="auto">
          <a:xfrm>
            <a:off x="10336310" y="98610"/>
            <a:ext cx="1752600" cy="1524000"/>
            <a:chOff x="4512" y="96"/>
            <a:chExt cx="1104" cy="960"/>
          </a:xfrm>
        </p:grpSpPr>
        <p:sp>
          <p:nvSpPr>
            <p:cNvPr id="7174" name="Rectangle 23">
              <a:extLst>
                <a:ext uri="{FF2B5EF4-FFF2-40B4-BE49-F238E27FC236}">
                  <a16:creationId xmlns:a16="http://schemas.microsoft.com/office/drawing/2014/main" id="{4948F3A0-848A-868F-5F12-5DF268946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96"/>
              <a:ext cx="1104" cy="960"/>
            </a:xfrm>
            <a:prstGeom prst="rect">
              <a:avLst/>
            </a:prstGeom>
            <a:solidFill>
              <a:srgbClr val="F4ECC6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7175" name="Picture 22" descr="dice">
              <a:extLst>
                <a:ext uri="{FF2B5EF4-FFF2-40B4-BE49-F238E27FC236}">
                  <a16:creationId xmlns:a16="http://schemas.microsoft.com/office/drawing/2014/main" id="{F3DF2D85-CCE8-63CE-FE13-7A4539E90F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4" y="168"/>
              <a:ext cx="960" cy="818"/>
            </a:xfrm>
            <a:prstGeom prst="rect">
              <a:avLst/>
            </a:prstGeom>
            <a:noFill/>
            <a:ln w="9525">
              <a:solidFill>
                <a:srgbClr val="CC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2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2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2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5" name="Rectangle 57">
            <a:extLst>
              <a:ext uri="{FF2B5EF4-FFF2-40B4-BE49-F238E27FC236}">
                <a16:creationId xmlns:a16="http://schemas.microsoft.com/office/drawing/2014/main" id="{9A99F037-54B4-AB2D-6005-6A696BB54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029200"/>
            <a:ext cx="3810000" cy="11430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42" name="Rectangle 54">
            <a:extLst>
              <a:ext uri="{FF2B5EF4-FFF2-40B4-BE49-F238E27FC236}">
                <a16:creationId xmlns:a16="http://schemas.microsoft.com/office/drawing/2014/main" id="{5A7D8EFD-1D53-9161-AA05-F4C71B4F7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886200"/>
            <a:ext cx="7467600" cy="11430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1BC15786-0E71-AFBF-1E59-3B4DE4CF77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152400"/>
            <a:ext cx="8382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b="1">
                <a:ea typeface="굴림" charset="-127"/>
              </a:rPr>
              <a:t>Basic Concepts</a:t>
            </a:r>
          </a:p>
        </p:txBody>
      </p:sp>
      <p:sp>
        <p:nvSpPr>
          <p:cNvPr id="12336" name="Rectangle 48">
            <a:extLst>
              <a:ext uri="{FF2B5EF4-FFF2-40B4-BE49-F238E27FC236}">
                <a16:creationId xmlns:a16="http://schemas.microsoft.com/office/drawing/2014/main" id="{79AA2F03-EC77-4DBF-8793-BB091924B5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8229600" cy="1447800"/>
          </a:xfrm>
        </p:spPr>
        <p:txBody>
          <a:bodyPr/>
          <a:lstStyle/>
          <a:p>
            <a:pPr eaLnBrk="1" hangingPunct="1">
              <a:spcAft>
                <a:spcPts val="600"/>
              </a:spcAft>
              <a:defRPr/>
            </a:pPr>
            <a:r>
              <a:rPr lang="en-US" altLang="ko-KR" dirty="0">
                <a:ea typeface="굴림" charset="-127"/>
              </a:rPr>
              <a:t>Two events are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mutually exclusive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</a:t>
            </a:r>
            <a:r>
              <a:rPr lang="en-US" altLang="ko-KR" dirty="0">
                <a:ea typeface="굴림" charset="-127"/>
              </a:rPr>
              <a:t>if, when one event occurs, the other cannot, and vice versa.</a:t>
            </a:r>
          </a:p>
        </p:txBody>
      </p:sp>
      <p:sp>
        <p:nvSpPr>
          <p:cNvPr id="12337" name="Rectangle 49">
            <a:extLst>
              <a:ext uri="{FF2B5EF4-FFF2-40B4-BE49-F238E27FC236}">
                <a16:creationId xmlns:a16="http://schemas.microsoft.com/office/drawing/2014/main" id="{F450AC73-7EB2-CDE7-ACA4-936339BEA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276600"/>
            <a:ext cx="8153400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en-US" altLang="ko-KR" sz="36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Experiment: Toss a die	</a:t>
            </a:r>
          </a:p>
          <a:p>
            <a:pPr lvl="1">
              <a:buFontTx/>
              <a:buChar char="–"/>
              <a:defRPr/>
            </a:pPr>
            <a:r>
              <a:rPr lang="en-US" altLang="ko-KR" sz="3600">
                <a:solidFill>
                  <a:srgbClr val="CC0066"/>
                </a:solidFill>
                <a:ea typeface="굴림" charset="-127"/>
              </a:rPr>
              <a:t>A: observe an odd number</a:t>
            </a:r>
          </a:p>
          <a:p>
            <a:pPr lvl="1">
              <a:buFontTx/>
              <a:buChar char="–"/>
              <a:defRPr/>
            </a:pPr>
            <a:r>
              <a:rPr lang="en-US" altLang="ko-KR" sz="3600">
                <a:solidFill>
                  <a:srgbClr val="CC0066"/>
                </a:solidFill>
                <a:ea typeface="굴림" charset="-127"/>
              </a:rPr>
              <a:t>B: observe a number greater than 2</a:t>
            </a:r>
          </a:p>
          <a:p>
            <a:pPr lvl="1">
              <a:buFontTx/>
              <a:buChar char="–"/>
              <a:defRPr/>
            </a:pPr>
            <a:r>
              <a:rPr lang="en-US" altLang="ko-KR" sz="3600">
                <a:solidFill>
                  <a:srgbClr val="CC0066"/>
                </a:solidFill>
                <a:ea typeface="굴림" charset="-127"/>
              </a:rPr>
              <a:t>C: observe a 6</a:t>
            </a:r>
          </a:p>
          <a:p>
            <a:pPr lvl="1">
              <a:buFontTx/>
              <a:buChar char="–"/>
              <a:defRPr/>
            </a:pPr>
            <a:r>
              <a:rPr lang="en-US" altLang="ko-KR" sz="3600">
                <a:solidFill>
                  <a:srgbClr val="CC0066"/>
                </a:solidFill>
                <a:ea typeface="굴림" charset="-127"/>
              </a:rPr>
              <a:t>D: observe a 3</a:t>
            </a:r>
          </a:p>
        </p:txBody>
      </p:sp>
      <p:sp>
        <p:nvSpPr>
          <p:cNvPr id="12344" name="Text Box 56">
            <a:extLst>
              <a:ext uri="{FF2B5EF4-FFF2-40B4-BE49-F238E27FC236}">
                <a16:creationId xmlns:a16="http://schemas.microsoft.com/office/drawing/2014/main" id="{C2DAC6D8-279C-BA7A-6A60-052C0FF61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3657601"/>
            <a:ext cx="1905000" cy="66992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800">
                <a:solidFill>
                  <a:srgbClr val="F4ECC6"/>
                </a:solidFill>
                <a:ea typeface="굴림" panose="020B0600000101010101" pitchFamily="34" charset="-127"/>
              </a:rPr>
              <a:t>Not Mutually Exclusive</a:t>
            </a:r>
          </a:p>
        </p:txBody>
      </p:sp>
      <p:sp>
        <p:nvSpPr>
          <p:cNvPr id="12346" name="Text Box 58">
            <a:extLst>
              <a:ext uri="{FF2B5EF4-FFF2-40B4-BE49-F238E27FC236}">
                <a16:creationId xmlns:a16="http://schemas.microsoft.com/office/drawing/2014/main" id="{F60CF4F5-F787-4701-8EC4-DD8FFA4C1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410201"/>
            <a:ext cx="1524000" cy="66992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1800">
                <a:solidFill>
                  <a:srgbClr val="F4ECC6"/>
                </a:solidFill>
                <a:ea typeface="굴림" panose="020B0600000101010101" pitchFamily="34" charset="-127"/>
              </a:rPr>
              <a:t>Mutually Exclusive</a:t>
            </a:r>
          </a:p>
        </p:txBody>
      </p:sp>
      <p:sp>
        <p:nvSpPr>
          <p:cNvPr id="12348" name="Text Box 60">
            <a:extLst>
              <a:ext uri="{FF2B5EF4-FFF2-40B4-BE49-F238E27FC236}">
                <a16:creationId xmlns:a16="http://schemas.microsoft.com/office/drawing/2014/main" id="{27E404AE-A4AB-1882-151C-A6E6A3711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257800"/>
            <a:ext cx="2133600" cy="8509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ko-KR">
                <a:solidFill>
                  <a:srgbClr val="CC0066"/>
                </a:solidFill>
                <a:ea typeface="굴림" panose="020B0600000101010101" pitchFamily="34" charset="-127"/>
              </a:rPr>
              <a:t>B and  C?</a:t>
            </a:r>
          </a:p>
          <a:p>
            <a:pPr algn="ctr" eaLnBrk="1" hangingPunct="1"/>
            <a:r>
              <a:rPr lang="en-US" altLang="ko-KR">
                <a:solidFill>
                  <a:srgbClr val="CC0066"/>
                </a:solidFill>
                <a:ea typeface="굴림" panose="020B0600000101010101" pitchFamily="34" charset="-127"/>
              </a:rPr>
              <a:t>B and D?</a:t>
            </a:r>
          </a:p>
        </p:txBody>
      </p:sp>
      <p:grpSp>
        <p:nvGrpSpPr>
          <p:cNvPr id="8203" name="Group 61">
            <a:extLst>
              <a:ext uri="{FF2B5EF4-FFF2-40B4-BE49-F238E27FC236}">
                <a16:creationId xmlns:a16="http://schemas.microsoft.com/office/drawing/2014/main" id="{648CCDEA-37F1-52B5-48F6-4E8EBED9D6A2}"/>
              </a:ext>
            </a:extLst>
          </p:cNvPr>
          <p:cNvGrpSpPr>
            <a:grpSpLocks/>
          </p:cNvGrpSpPr>
          <p:nvPr/>
        </p:nvGrpSpPr>
        <p:grpSpPr bwMode="auto">
          <a:xfrm>
            <a:off x="10338550" y="96370"/>
            <a:ext cx="1752600" cy="1524000"/>
            <a:chOff x="4512" y="96"/>
            <a:chExt cx="1104" cy="960"/>
          </a:xfrm>
        </p:grpSpPr>
        <p:sp>
          <p:nvSpPr>
            <p:cNvPr id="8204" name="Rectangle 62">
              <a:extLst>
                <a:ext uri="{FF2B5EF4-FFF2-40B4-BE49-F238E27FC236}">
                  <a16:creationId xmlns:a16="http://schemas.microsoft.com/office/drawing/2014/main" id="{97C322EE-20BA-2167-8EE7-49DFD36B4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96"/>
              <a:ext cx="1104" cy="960"/>
            </a:xfrm>
            <a:prstGeom prst="rect">
              <a:avLst/>
            </a:prstGeom>
            <a:solidFill>
              <a:srgbClr val="F4ECC6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8205" name="Picture 63" descr="dice">
              <a:extLst>
                <a:ext uri="{FF2B5EF4-FFF2-40B4-BE49-F238E27FC236}">
                  <a16:creationId xmlns:a16="http://schemas.microsoft.com/office/drawing/2014/main" id="{130DCF7B-98F7-287E-A16F-BB1B7A37A3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4" y="168"/>
              <a:ext cx="960" cy="818"/>
            </a:xfrm>
            <a:prstGeom prst="rect">
              <a:avLst/>
            </a:prstGeom>
            <a:noFill/>
            <a:ln w="9525">
              <a:solidFill>
                <a:srgbClr val="CC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45" grpId="0" animBg="1"/>
      <p:bldP spid="12342" grpId="0" animBg="1"/>
      <p:bldP spid="12337" grpId="0" autoUpdateAnimBg="0"/>
      <p:bldP spid="12344" grpId="0" animBg="1" autoUpdateAnimBg="0"/>
      <p:bldP spid="12346" grpId="0" animBg="1" autoUpdateAnimBg="0"/>
      <p:bldP spid="12348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Rectangle 4">
            <a:extLst>
              <a:ext uri="{FF2B5EF4-FFF2-40B4-BE49-F238E27FC236}">
                <a16:creationId xmlns:a16="http://schemas.microsoft.com/office/drawing/2014/main" id="{D786054E-A0EF-D282-D097-54377B84B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152400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ea typeface="굴림" charset="-127"/>
              </a:rPr>
              <a:t>Basic Concepts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C6083153-4B01-74C7-EC2E-DD09B4AB0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799" y="1600200"/>
            <a:ext cx="8700247" cy="44196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sz="3200" dirty="0">
                <a:ea typeface="굴림" charset="-127"/>
              </a:rPr>
              <a:t>An event that cannot be decomposed is called a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simple event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. </a:t>
            </a:r>
            <a:endParaRPr lang="en-US" altLang="ko-KR" sz="3200" dirty="0">
              <a:ea typeface="굴림" charset="-127"/>
            </a:endParaRPr>
          </a:p>
          <a:p>
            <a:pPr eaLnBrk="1" hangingPunct="1">
              <a:defRPr/>
            </a:pPr>
            <a:r>
              <a:rPr lang="en-US" altLang="ko-KR" sz="3200" dirty="0">
                <a:ea typeface="굴림" charset="-127"/>
              </a:rPr>
              <a:t>Denoted by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a typeface="굴림" charset="-127"/>
              </a:rPr>
              <a:t>E</a:t>
            </a:r>
            <a:r>
              <a:rPr lang="en-US" altLang="ko-KR" sz="3200" dirty="0">
                <a:ea typeface="굴림" charset="-127"/>
              </a:rPr>
              <a:t> with a subscript.</a:t>
            </a:r>
          </a:p>
          <a:p>
            <a:pPr eaLnBrk="1" hangingPunct="1">
              <a:defRPr/>
            </a:pPr>
            <a:r>
              <a:rPr lang="en-US" altLang="ko-KR" sz="3200" dirty="0">
                <a:ea typeface="굴림" charset="-127"/>
              </a:rPr>
              <a:t>Each simple event will be assigned a probability, measuring “how often” it occurs. </a:t>
            </a:r>
            <a:endParaRPr lang="en-US" altLang="ko-KR" sz="3200" dirty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  <a:p>
            <a:pPr eaLnBrk="1" hangingPunct="1">
              <a:defRPr/>
            </a:pPr>
            <a:r>
              <a:rPr lang="en-US" altLang="ko-KR" sz="3200" dirty="0">
                <a:ea typeface="굴림" charset="-127"/>
              </a:rPr>
              <a:t>The set of all simple events of an experiment is called the 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sample space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,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S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.</a:t>
            </a:r>
          </a:p>
        </p:txBody>
      </p:sp>
      <p:grpSp>
        <p:nvGrpSpPr>
          <p:cNvPr id="9221" name="Group 17">
            <a:extLst>
              <a:ext uri="{FF2B5EF4-FFF2-40B4-BE49-F238E27FC236}">
                <a16:creationId xmlns:a16="http://schemas.microsoft.com/office/drawing/2014/main" id="{27DE2939-1080-63CA-0318-1B9583547B8A}"/>
              </a:ext>
            </a:extLst>
          </p:cNvPr>
          <p:cNvGrpSpPr>
            <a:grpSpLocks/>
          </p:cNvGrpSpPr>
          <p:nvPr/>
        </p:nvGrpSpPr>
        <p:grpSpPr bwMode="auto">
          <a:xfrm>
            <a:off x="8953500" y="-19050"/>
            <a:ext cx="1752600" cy="1524000"/>
            <a:chOff x="4512" y="96"/>
            <a:chExt cx="1104" cy="960"/>
          </a:xfrm>
        </p:grpSpPr>
        <p:sp>
          <p:nvSpPr>
            <p:cNvPr id="9222" name="Rectangle 18">
              <a:extLst>
                <a:ext uri="{FF2B5EF4-FFF2-40B4-BE49-F238E27FC236}">
                  <a16:creationId xmlns:a16="http://schemas.microsoft.com/office/drawing/2014/main" id="{6A56508A-A93D-0EBB-E0A6-4AAC30A09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96"/>
              <a:ext cx="1104" cy="960"/>
            </a:xfrm>
            <a:prstGeom prst="rect">
              <a:avLst/>
            </a:prstGeom>
            <a:solidFill>
              <a:srgbClr val="F4ECC6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9223" name="Picture 19" descr="dice">
              <a:extLst>
                <a:ext uri="{FF2B5EF4-FFF2-40B4-BE49-F238E27FC236}">
                  <a16:creationId xmlns:a16="http://schemas.microsoft.com/office/drawing/2014/main" id="{66803BB7-835E-DA8A-CF26-CFC5F606BF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4" y="168"/>
              <a:ext cx="960" cy="818"/>
            </a:xfrm>
            <a:prstGeom prst="rect">
              <a:avLst/>
            </a:prstGeom>
            <a:noFill/>
            <a:ln w="9525">
              <a:solidFill>
                <a:srgbClr val="CC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1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19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19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19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6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1FD7BDE-28CE-605D-8CFE-CAA132A99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152400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ea typeface="굴림" charset="-127"/>
              </a:rPr>
              <a:t>Example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DA88F544-9676-FBAD-3102-9A2BA10BF8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27730" y="1053355"/>
            <a:ext cx="8229600" cy="1447800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altLang="ko-KR" sz="40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The die toss:</a:t>
            </a:r>
          </a:p>
          <a:p>
            <a:pPr eaLnBrk="1" hangingPunct="1">
              <a:defRPr/>
            </a:pPr>
            <a:r>
              <a:rPr lang="en-US" altLang="ko-KR" sz="4000" dirty="0">
                <a:ea typeface="굴림" charset="-127"/>
              </a:rPr>
              <a:t>Simple events:		Sample space:</a:t>
            </a:r>
            <a:r>
              <a:rPr lang="en-US" altLang="ko-KR" sz="4000" dirty="0">
                <a:solidFill>
                  <a:srgbClr val="CC0066"/>
                </a:solidFill>
                <a:ea typeface="굴림" charset="-127"/>
              </a:rPr>
              <a:t> </a:t>
            </a:r>
          </a:p>
        </p:txBody>
      </p:sp>
      <p:grpSp>
        <p:nvGrpSpPr>
          <p:cNvPr id="10245" name="Group 44">
            <a:extLst>
              <a:ext uri="{FF2B5EF4-FFF2-40B4-BE49-F238E27FC236}">
                <a16:creationId xmlns:a16="http://schemas.microsoft.com/office/drawing/2014/main" id="{5BDD2C24-72FB-B0B5-ED5B-22B945D641C9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886200"/>
            <a:ext cx="609600" cy="609600"/>
            <a:chOff x="576" y="2448"/>
            <a:chExt cx="384" cy="384"/>
          </a:xfrm>
        </p:grpSpPr>
        <p:sp>
          <p:nvSpPr>
            <p:cNvPr id="10278" name="Rectangle 9">
              <a:extLst>
                <a:ext uri="{FF2B5EF4-FFF2-40B4-BE49-F238E27FC236}">
                  <a16:creationId xmlns:a16="http://schemas.microsoft.com/office/drawing/2014/main" id="{0C78F732-6F79-1128-878F-2164D8C59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48"/>
              <a:ext cx="384" cy="384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10279" name="Picture 8" descr="onedie">
              <a:extLst>
                <a:ext uri="{FF2B5EF4-FFF2-40B4-BE49-F238E27FC236}">
                  <a16:creationId xmlns:a16="http://schemas.microsoft.com/office/drawing/2014/main" id="{7DF76254-5CE1-B112-2C20-F07A17000D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" y="2496"/>
              <a:ext cx="26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2982" name="Group 38">
            <a:extLst>
              <a:ext uri="{FF2B5EF4-FFF2-40B4-BE49-F238E27FC236}">
                <a16:creationId xmlns:a16="http://schemas.microsoft.com/office/drawing/2014/main" id="{5014D511-71F1-D472-4C9F-C8DF6A221300}"/>
              </a:ext>
            </a:extLst>
          </p:cNvPr>
          <p:cNvGrpSpPr>
            <a:grpSpLocks/>
          </p:cNvGrpSpPr>
          <p:nvPr/>
        </p:nvGrpSpPr>
        <p:grpSpPr bwMode="auto">
          <a:xfrm>
            <a:off x="3048001" y="2438400"/>
            <a:ext cx="1219199" cy="1752600"/>
            <a:chOff x="960" y="1536"/>
            <a:chExt cx="768" cy="1104"/>
          </a:xfrm>
        </p:grpSpPr>
        <p:sp>
          <p:nvSpPr>
            <p:cNvPr id="10276" name="Text Box 13">
              <a:extLst>
                <a:ext uri="{FF2B5EF4-FFF2-40B4-BE49-F238E27FC236}">
                  <a16:creationId xmlns:a16="http://schemas.microsoft.com/office/drawing/2014/main" id="{B4217D6C-CBFB-72F2-1683-D92AD2406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536"/>
              <a:ext cx="336" cy="291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1</a:t>
              </a:r>
            </a:p>
          </p:txBody>
        </p:sp>
        <p:cxnSp>
          <p:nvCxnSpPr>
            <p:cNvPr id="10277" name="AutoShape 19">
              <a:extLst>
                <a:ext uri="{FF2B5EF4-FFF2-40B4-BE49-F238E27FC236}">
                  <a16:creationId xmlns:a16="http://schemas.microsoft.com/office/drawing/2014/main" id="{B2D1B241-684F-94B4-36BC-22EC1FDEA07E}"/>
                </a:ext>
              </a:extLst>
            </p:cNvPr>
            <p:cNvCxnSpPr>
              <a:cxnSpLocks noChangeShapeType="1"/>
              <a:stCxn id="10278" idx="3"/>
              <a:endCxn id="10276" idx="1"/>
            </p:cNvCxnSpPr>
            <p:nvPr/>
          </p:nvCxnSpPr>
          <p:spPr bwMode="auto">
            <a:xfrm flipV="1">
              <a:off x="960" y="1682"/>
              <a:ext cx="432" cy="958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2983" name="Group 39">
            <a:extLst>
              <a:ext uri="{FF2B5EF4-FFF2-40B4-BE49-F238E27FC236}">
                <a16:creationId xmlns:a16="http://schemas.microsoft.com/office/drawing/2014/main" id="{B9E435F7-C09B-F2CC-FB87-A36EBCB44685}"/>
              </a:ext>
            </a:extLst>
          </p:cNvPr>
          <p:cNvGrpSpPr>
            <a:grpSpLocks/>
          </p:cNvGrpSpPr>
          <p:nvPr/>
        </p:nvGrpSpPr>
        <p:grpSpPr bwMode="auto">
          <a:xfrm>
            <a:off x="3048001" y="3048000"/>
            <a:ext cx="1219199" cy="1143000"/>
            <a:chOff x="960" y="1920"/>
            <a:chExt cx="768" cy="720"/>
          </a:xfrm>
        </p:grpSpPr>
        <p:sp>
          <p:nvSpPr>
            <p:cNvPr id="10274" name="Text Box 14">
              <a:extLst>
                <a:ext uri="{FF2B5EF4-FFF2-40B4-BE49-F238E27FC236}">
                  <a16:creationId xmlns:a16="http://schemas.microsoft.com/office/drawing/2014/main" id="{98EA68D4-477B-953C-E683-783CD380A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920"/>
              <a:ext cx="336" cy="291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2</a:t>
              </a:r>
            </a:p>
          </p:txBody>
        </p:sp>
        <p:cxnSp>
          <p:nvCxnSpPr>
            <p:cNvPr id="10275" name="AutoShape 20">
              <a:extLst>
                <a:ext uri="{FF2B5EF4-FFF2-40B4-BE49-F238E27FC236}">
                  <a16:creationId xmlns:a16="http://schemas.microsoft.com/office/drawing/2014/main" id="{55BCE17C-3A8A-43E6-2556-1E624F6FF9EF}"/>
                </a:ext>
              </a:extLst>
            </p:cNvPr>
            <p:cNvCxnSpPr>
              <a:cxnSpLocks noChangeShapeType="1"/>
              <a:stCxn id="10278" idx="3"/>
              <a:endCxn id="10274" idx="1"/>
            </p:cNvCxnSpPr>
            <p:nvPr/>
          </p:nvCxnSpPr>
          <p:spPr bwMode="auto">
            <a:xfrm flipV="1">
              <a:off x="960" y="2066"/>
              <a:ext cx="432" cy="574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2984" name="Group 40">
            <a:extLst>
              <a:ext uri="{FF2B5EF4-FFF2-40B4-BE49-F238E27FC236}">
                <a16:creationId xmlns:a16="http://schemas.microsoft.com/office/drawing/2014/main" id="{7ED774CF-84EE-E6BC-7EAA-DE34EDDE08D2}"/>
              </a:ext>
            </a:extLst>
          </p:cNvPr>
          <p:cNvGrpSpPr>
            <a:grpSpLocks/>
          </p:cNvGrpSpPr>
          <p:nvPr/>
        </p:nvGrpSpPr>
        <p:grpSpPr bwMode="auto">
          <a:xfrm>
            <a:off x="3048001" y="3733805"/>
            <a:ext cx="1219199" cy="461963"/>
            <a:chOff x="960" y="2352"/>
            <a:chExt cx="768" cy="291"/>
          </a:xfrm>
        </p:grpSpPr>
        <p:sp>
          <p:nvSpPr>
            <p:cNvPr id="10272" name="Text Box 15">
              <a:extLst>
                <a:ext uri="{FF2B5EF4-FFF2-40B4-BE49-F238E27FC236}">
                  <a16:creationId xmlns:a16="http://schemas.microsoft.com/office/drawing/2014/main" id="{9AB24E7D-F6F1-0442-6429-0D70B6FC8C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352"/>
              <a:ext cx="336" cy="291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3</a:t>
              </a:r>
            </a:p>
          </p:txBody>
        </p:sp>
        <p:cxnSp>
          <p:nvCxnSpPr>
            <p:cNvPr id="10273" name="AutoShape 21">
              <a:extLst>
                <a:ext uri="{FF2B5EF4-FFF2-40B4-BE49-F238E27FC236}">
                  <a16:creationId xmlns:a16="http://schemas.microsoft.com/office/drawing/2014/main" id="{4459180E-A5C8-94E7-5E16-179BF6D0BCD3}"/>
                </a:ext>
              </a:extLst>
            </p:cNvPr>
            <p:cNvCxnSpPr>
              <a:cxnSpLocks noChangeShapeType="1"/>
              <a:stCxn id="10278" idx="3"/>
              <a:endCxn id="10272" idx="1"/>
            </p:cNvCxnSpPr>
            <p:nvPr/>
          </p:nvCxnSpPr>
          <p:spPr bwMode="auto">
            <a:xfrm flipV="1">
              <a:off x="960" y="2498"/>
              <a:ext cx="432" cy="142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2985" name="Group 41">
            <a:extLst>
              <a:ext uri="{FF2B5EF4-FFF2-40B4-BE49-F238E27FC236}">
                <a16:creationId xmlns:a16="http://schemas.microsoft.com/office/drawing/2014/main" id="{124B96FD-F997-71A4-3E50-B3FBF0246335}"/>
              </a:ext>
            </a:extLst>
          </p:cNvPr>
          <p:cNvGrpSpPr>
            <a:grpSpLocks/>
          </p:cNvGrpSpPr>
          <p:nvPr/>
        </p:nvGrpSpPr>
        <p:grpSpPr bwMode="auto">
          <a:xfrm>
            <a:off x="3048001" y="4191004"/>
            <a:ext cx="1219199" cy="614363"/>
            <a:chOff x="960" y="2640"/>
            <a:chExt cx="768" cy="387"/>
          </a:xfrm>
        </p:grpSpPr>
        <p:sp>
          <p:nvSpPr>
            <p:cNvPr id="10270" name="Text Box 16">
              <a:extLst>
                <a:ext uri="{FF2B5EF4-FFF2-40B4-BE49-F238E27FC236}">
                  <a16:creationId xmlns:a16="http://schemas.microsoft.com/office/drawing/2014/main" id="{B3B2376A-B6F5-7A7A-EDCD-3A3E351955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736"/>
              <a:ext cx="336" cy="291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4</a:t>
              </a:r>
            </a:p>
          </p:txBody>
        </p:sp>
        <p:cxnSp>
          <p:nvCxnSpPr>
            <p:cNvPr id="10271" name="AutoShape 22">
              <a:extLst>
                <a:ext uri="{FF2B5EF4-FFF2-40B4-BE49-F238E27FC236}">
                  <a16:creationId xmlns:a16="http://schemas.microsoft.com/office/drawing/2014/main" id="{A4EB4BEF-E337-2C46-008A-6D7FB75449C5}"/>
                </a:ext>
              </a:extLst>
            </p:cNvPr>
            <p:cNvCxnSpPr>
              <a:cxnSpLocks noChangeShapeType="1"/>
              <a:stCxn id="10278" idx="3"/>
              <a:endCxn id="10270" idx="1"/>
            </p:cNvCxnSpPr>
            <p:nvPr/>
          </p:nvCxnSpPr>
          <p:spPr bwMode="auto">
            <a:xfrm>
              <a:off x="960" y="2640"/>
              <a:ext cx="432" cy="242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2986" name="Group 42">
            <a:extLst>
              <a:ext uri="{FF2B5EF4-FFF2-40B4-BE49-F238E27FC236}">
                <a16:creationId xmlns:a16="http://schemas.microsoft.com/office/drawing/2014/main" id="{6FA7BB92-3E39-7991-1257-3CD2897D3251}"/>
              </a:ext>
            </a:extLst>
          </p:cNvPr>
          <p:cNvGrpSpPr>
            <a:grpSpLocks/>
          </p:cNvGrpSpPr>
          <p:nvPr/>
        </p:nvGrpSpPr>
        <p:grpSpPr bwMode="auto">
          <a:xfrm>
            <a:off x="3048001" y="4191003"/>
            <a:ext cx="1219199" cy="1223963"/>
            <a:chOff x="960" y="2640"/>
            <a:chExt cx="768" cy="771"/>
          </a:xfrm>
        </p:grpSpPr>
        <p:sp>
          <p:nvSpPr>
            <p:cNvPr id="10268" name="Text Box 17">
              <a:extLst>
                <a:ext uri="{FF2B5EF4-FFF2-40B4-BE49-F238E27FC236}">
                  <a16:creationId xmlns:a16="http://schemas.microsoft.com/office/drawing/2014/main" id="{2EDB566E-771F-C680-E75D-A8A1F3DAC6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120"/>
              <a:ext cx="336" cy="291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5</a:t>
              </a:r>
            </a:p>
          </p:txBody>
        </p:sp>
        <p:cxnSp>
          <p:nvCxnSpPr>
            <p:cNvPr id="10269" name="AutoShape 23">
              <a:extLst>
                <a:ext uri="{FF2B5EF4-FFF2-40B4-BE49-F238E27FC236}">
                  <a16:creationId xmlns:a16="http://schemas.microsoft.com/office/drawing/2014/main" id="{3A464039-496D-AAF0-B21B-EB3FD4D7C91E}"/>
                </a:ext>
              </a:extLst>
            </p:cNvPr>
            <p:cNvCxnSpPr>
              <a:cxnSpLocks noChangeShapeType="1"/>
              <a:stCxn id="10278" idx="3"/>
              <a:endCxn id="10268" idx="1"/>
            </p:cNvCxnSpPr>
            <p:nvPr/>
          </p:nvCxnSpPr>
          <p:spPr bwMode="auto">
            <a:xfrm>
              <a:off x="960" y="2640"/>
              <a:ext cx="432" cy="626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2987" name="Group 43">
            <a:extLst>
              <a:ext uri="{FF2B5EF4-FFF2-40B4-BE49-F238E27FC236}">
                <a16:creationId xmlns:a16="http://schemas.microsoft.com/office/drawing/2014/main" id="{EA0E3E14-411F-353A-F44F-FFA831855A70}"/>
              </a:ext>
            </a:extLst>
          </p:cNvPr>
          <p:cNvGrpSpPr>
            <a:grpSpLocks/>
          </p:cNvGrpSpPr>
          <p:nvPr/>
        </p:nvGrpSpPr>
        <p:grpSpPr bwMode="auto">
          <a:xfrm>
            <a:off x="3048001" y="4191002"/>
            <a:ext cx="1219199" cy="1909763"/>
            <a:chOff x="960" y="2640"/>
            <a:chExt cx="768" cy="1203"/>
          </a:xfrm>
        </p:grpSpPr>
        <p:sp>
          <p:nvSpPr>
            <p:cNvPr id="10266" name="Text Box 18">
              <a:extLst>
                <a:ext uri="{FF2B5EF4-FFF2-40B4-BE49-F238E27FC236}">
                  <a16:creationId xmlns:a16="http://schemas.microsoft.com/office/drawing/2014/main" id="{25EFA99D-5CB5-0E33-E9BC-236081E42D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552"/>
              <a:ext cx="336" cy="291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6</a:t>
              </a:r>
            </a:p>
          </p:txBody>
        </p:sp>
        <p:cxnSp>
          <p:nvCxnSpPr>
            <p:cNvPr id="10267" name="AutoShape 24">
              <a:extLst>
                <a:ext uri="{FF2B5EF4-FFF2-40B4-BE49-F238E27FC236}">
                  <a16:creationId xmlns:a16="http://schemas.microsoft.com/office/drawing/2014/main" id="{6A29EFF8-C4C4-6945-827D-94150DC3FBA0}"/>
                </a:ext>
              </a:extLst>
            </p:cNvPr>
            <p:cNvCxnSpPr>
              <a:cxnSpLocks noChangeShapeType="1"/>
              <a:stCxn id="10278" idx="3"/>
              <a:endCxn id="10266" idx="1"/>
            </p:cNvCxnSpPr>
            <p:nvPr/>
          </p:nvCxnSpPr>
          <p:spPr bwMode="auto">
            <a:xfrm>
              <a:off x="960" y="2640"/>
              <a:ext cx="432" cy="1058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82970" name="Text Box 26">
            <a:extLst>
              <a:ext uri="{FF2B5EF4-FFF2-40B4-BE49-F238E27FC236}">
                <a16:creationId xmlns:a16="http://schemas.microsoft.com/office/drawing/2014/main" id="{7BA1BC44-C953-C7D7-883F-1370556B9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414588"/>
            <a:ext cx="1219200" cy="4367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E</a:t>
            </a:r>
            <a:r>
              <a:rPr lang="en-US" altLang="ko-KR" sz="2800" baseline="-25000">
                <a:solidFill>
                  <a:srgbClr val="339933"/>
                </a:solidFill>
                <a:ea typeface="굴림" panose="020B0600000101010101" pitchFamily="34" charset="-127"/>
              </a:rPr>
              <a:t>1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E</a:t>
            </a:r>
            <a:r>
              <a:rPr lang="en-US" altLang="ko-KR" sz="2800" baseline="-25000">
                <a:solidFill>
                  <a:srgbClr val="339933"/>
                </a:solidFill>
                <a:ea typeface="굴림" panose="020B0600000101010101" pitchFamily="34" charset="-127"/>
              </a:rPr>
              <a:t>2</a:t>
            </a:r>
            <a:endParaRPr lang="en-US" altLang="ko-KR" sz="2800">
              <a:solidFill>
                <a:srgbClr val="339933"/>
              </a:solidFill>
              <a:ea typeface="굴림" panose="020B0600000101010101" pitchFamily="34" charset="-127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E</a:t>
            </a:r>
            <a:r>
              <a:rPr lang="en-US" altLang="ko-KR" sz="2800" baseline="-25000">
                <a:solidFill>
                  <a:srgbClr val="339933"/>
                </a:solidFill>
                <a:ea typeface="굴림" panose="020B0600000101010101" pitchFamily="34" charset="-127"/>
              </a:rPr>
              <a:t>3</a:t>
            </a:r>
            <a:endParaRPr lang="en-US" altLang="ko-KR" sz="2800">
              <a:solidFill>
                <a:srgbClr val="339933"/>
              </a:solidFill>
              <a:ea typeface="굴림" panose="020B0600000101010101" pitchFamily="34" charset="-127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E</a:t>
            </a:r>
            <a:r>
              <a:rPr lang="en-US" altLang="ko-KR" sz="2800" baseline="-25000">
                <a:solidFill>
                  <a:srgbClr val="339933"/>
                </a:solidFill>
                <a:ea typeface="굴림" panose="020B0600000101010101" pitchFamily="34" charset="-127"/>
              </a:rPr>
              <a:t>4</a:t>
            </a:r>
            <a:endParaRPr lang="en-US" altLang="ko-KR" sz="2800">
              <a:solidFill>
                <a:srgbClr val="339933"/>
              </a:solidFill>
              <a:ea typeface="굴림" panose="020B0600000101010101" pitchFamily="34" charset="-127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E</a:t>
            </a:r>
            <a:r>
              <a:rPr lang="en-US" altLang="ko-KR" sz="2800" baseline="-25000">
                <a:solidFill>
                  <a:srgbClr val="339933"/>
                </a:solidFill>
                <a:ea typeface="굴림" panose="020B0600000101010101" pitchFamily="34" charset="-127"/>
              </a:rPr>
              <a:t>5</a:t>
            </a:r>
            <a:endParaRPr lang="en-US" altLang="ko-KR" sz="2800">
              <a:solidFill>
                <a:srgbClr val="339933"/>
              </a:solidFill>
              <a:ea typeface="굴림" panose="020B0600000101010101" pitchFamily="34" charset="-127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E</a:t>
            </a:r>
            <a:r>
              <a:rPr lang="en-US" altLang="ko-KR" sz="2800" baseline="-25000">
                <a:solidFill>
                  <a:srgbClr val="339933"/>
                </a:solidFill>
                <a:ea typeface="굴림" panose="020B0600000101010101" pitchFamily="34" charset="-127"/>
              </a:rPr>
              <a:t>6</a:t>
            </a:r>
            <a:endParaRPr lang="en-US" altLang="ko-KR" sz="2800">
              <a:solidFill>
                <a:srgbClr val="339933"/>
              </a:solidFill>
              <a:ea typeface="굴림" panose="020B0600000101010101" pitchFamily="34" charset="-127"/>
            </a:endParaRPr>
          </a:p>
          <a:p>
            <a:pPr eaLnBrk="1" hangingPunct="1">
              <a:spcBef>
                <a:spcPct val="50000"/>
              </a:spcBef>
            </a:pPr>
            <a:endParaRPr lang="ko-KR" altLang="en-US" sz="2800">
              <a:solidFill>
                <a:srgbClr val="339933"/>
              </a:solidFill>
              <a:ea typeface="굴림" panose="020B0600000101010101" pitchFamily="34" charset="-127"/>
            </a:endParaRPr>
          </a:p>
        </p:txBody>
      </p:sp>
      <p:sp>
        <p:nvSpPr>
          <p:cNvPr id="82971" name="Text Box 27">
            <a:extLst>
              <a:ext uri="{FF2B5EF4-FFF2-40B4-BE49-F238E27FC236}">
                <a16:creationId xmlns:a16="http://schemas.microsoft.com/office/drawing/2014/main" id="{E17C749B-3844-72EB-564E-94634B79F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697164"/>
            <a:ext cx="4724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3200" b="1" dirty="0">
                <a:solidFill>
                  <a:srgbClr val="333333"/>
                </a:solidFill>
                <a:ea typeface="굴림" panose="020B0600000101010101" pitchFamily="34" charset="-127"/>
              </a:rPr>
              <a:t>S ={E</a:t>
            </a:r>
            <a:r>
              <a:rPr lang="en-US" altLang="ko-KR" sz="3200" b="1" baseline="-25000" dirty="0">
                <a:solidFill>
                  <a:srgbClr val="333333"/>
                </a:solidFill>
                <a:ea typeface="굴림" panose="020B0600000101010101" pitchFamily="34" charset="-127"/>
              </a:rPr>
              <a:t>1</a:t>
            </a:r>
            <a:r>
              <a:rPr lang="en-US" altLang="ko-KR" sz="3200" b="1" dirty="0">
                <a:solidFill>
                  <a:srgbClr val="333333"/>
                </a:solidFill>
                <a:ea typeface="굴림" panose="020B0600000101010101" pitchFamily="34" charset="-127"/>
              </a:rPr>
              <a:t>, E</a:t>
            </a:r>
            <a:r>
              <a:rPr lang="en-US" altLang="ko-KR" sz="3200" b="1" baseline="-25000" dirty="0">
                <a:solidFill>
                  <a:srgbClr val="333333"/>
                </a:solidFill>
                <a:ea typeface="굴림" panose="020B0600000101010101" pitchFamily="34" charset="-127"/>
              </a:rPr>
              <a:t>2</a:t>
            </a:r>
            <a:r>
              <a:rPr lang="en-US" altLang="ko-KR" sz="3200" b="1" dirty="0">
                <a:solidFill>
                  <a:srgbClr val="333333"/>
                </a:solidFill>
                <a:ea typeface="굴림" panose="020B0600000101010101" pitchFamily="34" charset="-127"/>
              </a:rPr>
              <a:t>, E</a:t>
            </a:r>
            <a:r>
              <a:rPr lang="en-US" altLang="ko-KR" sz="3200" b="1" baseline="-25000" dirty="0">
                <a:solidFill>
                  <a:srgbClr val="333333"/>
                </a:solidFill>
                <a:ea typeface="굴림" panose="020B0600000101010101" pitchFamily="34" charset="-127"/>
              </a:rPr>
              <a:t>3</a:t>
            </a:r>
            <a:r>
              <a:rPr lang="en-US" altLang="ko-KR" sz="3200" b="1" dirty="0">
                <a:solidFill>
                  <a:srgbClr val="333333"/>
                </a:solidFill>
                <a:ea typeface="굴림" panose="020B0600000101010101" pitchFamily="34" charset="-127"/>
              </a:rPr>
              <a:t>, E</a:t>
            </a:r>
            <a:r>
              <a:rPr lang="en-US" altLang="ko-KR" sz="3200" b="1" baseline="-25000" dirty="0">
                <a:solidFill>
                  <a:srgbClr val="333333"/>
                </a:solidFill>
                <a:ea typeface="굴림" panose="020B0600000101010101" pitchFamily="34" charset="-127"/>
              </a:rPr>
              <a:t>4</a:t>
            </a:r>
            <a:r>
              <a:rPr lang="en-US" altLang="ko-KR" sz="3200" b="1" dirty="0">
                <a:solidFill>
                  <a:srgbClr val="333333"/>
                </a:solidFill>
                <a:ea typeface="굴림" panose="020B0600000101010101" pitchFamily="34" charset="-127"/>
              </a:rPr>
              <a:t>, E</a:t>
            </a:r>
            <a:r>
              <a:rPr lang="en-US" altLang="ko-KR" sz="3200" b="1" baseline="-25000" dirty="0">
                <a:solidFill>
                  <a:srgbClr val="333333"/>
                </a:solidFill>
                <a:ea typeface="굴림" panose="020B0600000101010101" pitchFamily="34" charset="-127"/>
              </a:rPr>
              <a:t>5</a:t>
            </a:r>
            <a:r>
              <a:rPr lang="en-US" altLang="ko-KR" sz="3200" b="1" dirty="0">
                <a:solidFill>
                  <a:srgbClr val="333333"/>
                </a:solidFill>
                <a:ea typeface="굴림" panose="020B0600000101010101" pitchFamily="34" charset="-127"/>
              </a:rPr>
              <a:t>, E</a:t>
            </a:r>
            <a:r>
              <a:rPr lang="en-US" altLang="ko-KR" sz="3200" b="1" baseline="-25000" dirty="0">
                <a:solidFill>
                  <a:srgbClr val="333333"/>
                </a:solidFill>
                <a:ea typeface="굴림" panose="020B0600000101010101" pitchFamily="34" charset="-127"/>
              </a:rPr>
              <a:t>6</a:t>
            </a:r>
            <a:r>
              <a:rPr lang="en-US" altLang="ko-KR" sz="3200" b="1" dirty="0">
                <a:solidFill>
                  <a:srgbClr val="333333"/>
                </a:solidFill>
                <a:ea typeface="굴림" panose="020B0600000101010101" pitchFamily="34" charset="-127"/>
              </a:rPr>
              <a:t>}</a:t>
            </a:r>
          </a:p>
        </p:txBody>
      </p:sp>
      <p:grpSp>
        <p:nvGrpSpPr>
          <p:cNvPr id="82981" name="Group 37">
            <a:extLst>
              <a:ext uri="{FF2B5EF4-FFF2-40B4-BE49-F238E27FC236}">
                <a16:creationId xmlns:a16="http://schemas.microsoft.com/office/drawing/2014/main" id="{4E9D8129-124E-FCBD-B808-905EA6717229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3429000"/>
            <a:ext cx="4114800" cy="2667000"/>
            <a:chOff x="2736" y="2160"/>
            <a:chExt cx="2592" cy="1680"/>
          </a:xfrm>
        </p:grpSpPr>
        <p:sp>
          <p:nvSpPr>
            <p:cNvPr id="10258" name="Rectangle 28">
              <a:extLst>
                <a:ext uri="{FF2B5EF4-FFF2-40B4-BE49-F238E27FC236}">
                  <a16:creationId xmlns:a16="http://schemas.microsoft.com/office/drawing/2014/main" id="{AC109FE3-C32A-9154-02BE-CCC98F79E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160"/>
              <a:ext cx="2592" cy="1680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973" name="Text Box 29">
              <a:extLst>
                <a:ext uri="{FF2B5EF4-FFF2-40B4-BE49-F238E27FC236}">
                  <a16:creationId xmlns:a16="http://schemas.microsoft.com/office/drawing/2014/main" id="{0E3C4070-BC1A-0928-9C43-C1D98DD2E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2160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2800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S</a:t>
              </a:r>
            </a:p>
          </p:txBody>
        </p:sp>
        <p:sp>
          <p:nvSpPr>
            <p:cNvPr id="10260" name="Text Box 31">
              <a:extLst>
                <a:ext uri="{FF2B5EF4-FFF2-40B4-BE49-F238E27FC236}">
                  <a16:creationId xmlns:a16="http://schemas.microsoft.com/office/drawing/2014/main" id="{68CD6513-FE70-393E-64E0-9C87DA86E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352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ko-KR" sz="2800" b="1">
                  <a:solidFill>
                    <a:srgbClr val="339933"/>
                  </a:solidFill>
                  <a:ea typeface="굴림" panose="020B0600000101010101" pitchFamily="34" charset="-127"/>
                </a:rPr>
                <a:t>E</a:t>
              </a:r>
              <a:r>
                <a:rPr lang="en-US" altLang="ko-KR" sz="2800" b="1" baseline="-25000">
                  <a:solidFill>
                    <a:srgbClr val="339933"/>
                  </a:solidFill>
                  <a:ea typeface="굴림" panose="020B0600000101010101" pitchFamily="34" charset="-127"/>
                </a:rPr>
                <a:t>1</a:t>
              </a:r>
            </a:p>
          </p:txBody>
        </p:sp>
        <p:sp>
          <p:nvSpPr>
            <p:cNvPr id="10261" name="Text Box 32">
              <a:extLst>
                <a:ext uri="{FF2B5EF4-FFF2-40B4-BE49-F238E27FC236}">
                  <a16:creationId xmlns:a16="http://schemas.microsoft.com/office/drawing/2014/main" id="{EFF1D28B-2CD9-53D1-0F22-D7DC0004F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3168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ko-KR" sz="2800" b="1">
                  <a:solidFill>
                    <a:srgbClr val="339933"/>
                  </a:solidFill>
                  <a:ea typeface="굴림" panose="020B0600000101010101" pitchFamily="34" charset="-127"/>
                </a:rPr>
                <a:t>E</a:t>
              </a:r>
              <a:r>
                <a:rPr lang="en-US" altLang="ko-KR" sz="2800" b="1" baseline="-25000">
                  <a:solidFill>
                    <a:srgbClr val="339933"/>
                  </a:solidFill>
                  <a:ea typeface="굴림" panose="020B0600000101010101" pitchFamily="34" charset="-127"/>
                </a:rPr>
                <a:t>6</a:t>
              </a:r>
            </a:p>
          </p:txBody>
        </p:sp>
        <p:sp>
          <p:nvSpPr>
            <p:cNvPr id="10262" name="Text Box 33">
              <a:extLst>
                <a:ext uri="{FF2B5EF4-FFF2-40B4-BE49-F238E27FC236}">
                  <a16:creationId xmlns:a16="http://schemas.microsoft.com/office/drawing/2014/main" id="{5EBED4BF-460B-6ED9-2CAE-E300467F4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3120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ko-KR" sz="2800" b="1">
                  <a:solidFill>
                    <a:srgbClr val="339933"/>
                  </a:solidFill>
                  <a:ea typeface="굴림" panose="020B0600000101010101" pitchFamily="34" charset="-127"/>
                </a:rPr>
                <a:t>E</a:t>
              </a:r>
              <a:r>
                <a:rPr lang="en-US" altLang="ko-KR" sz="2800" b="1" baseline="-25000">
                  <a:solidFill>
                    <a:srgbClr val="339933"/>
                  </a:solidFill>
                  <a:ea typeface="굴림" panose="020B0600000101010101" pitchFamily="34" charset="-127"/>
                </a:rPr>
                <a:t>2</a:t>
              </a:r>
            </a:p>
          </p:txBody>
        </p:sp>
        <p:sp>
          <p:nvSpPr>
            <p:cNvPr id="10263" name="Text Box 34">
              <a:extLst>
                <a:ext uri="{FF2B5EF4-FFF2-40B4-BE49-F238E27FC236}">
                  <a16:creationId xmlns:a16="http://schemas.microsoft.com/office/drawing/2014/main" id="{FB414E0B-E13E-A26D-C4D8-D01AAB3F11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400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ko-KR" sz="2800" b="1">
                  <a:solidFill>
                    <a:srgbClr val="339933"/>
                  </a:solidFill>
                  <a:ea typeface="굴림" panose="020B0600000101010101" pitchFamily="34" charset="-127"/>
                </a:rPr>
                <a:t>E</a:t>
              </a:r>
              <a:r>
                <a:rPr lang="en-US" altLang="ko-KR" sz="2800" b="1" baseline="-25000">
                  <a:solidFill>
                    <a:srgbClr val="339933"/>
                  </a:solidFill>
                  <a:ea typeface="굴림" panose="020B0600000101010101" pitchFamily="34" charset="-127"/>
                </a:rPr>
                <a:t>3</a:t>
              </a:r>
            </a:p>
          </p:txBody>
        </p:sp>
        <p:sp>
          <p:nvSpPr>
            <p:cNvPr id="10264" name="Text Box 35">
              <a:extLst>
                <a:ext uri="{FF2B5EF4-FFF2-40B4-BE49-F238E27FC236}">
                  <a16:creationId xmlns:a16="http://schemas.microsoft.com/office/drawing/2014/main" id="{EC51BF35-42D4-C5D2-62FF-590B8FB7E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216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ko-KR" sz="2800" b="1">
                  <a:solidFill>
                    <a:srgbClr val="339933"/>
                  </a:solidFill>
                  <a:ea typeface="굴림" panose="020B0600000101010101" pitchFamily="34" charset="-127"/>
                </a:rPr>
                <a:t>E</a:t>
              </a:r>
              <a:r>
                <a:rPr lang="en-US" altLang="ko-KR" sz="2800" b="1" baseline="-25000">
                  <a:solidFill>
                    <a:srgbClr val="339933"/>
                  </a:solidFill>
                  <a:ea typeface="굴림" panose="020B0600000101010101" pitchFamily="34" charset="-127"/>
                </a:rPr>
                <a:t>4</a:t>
              </a:r>
            </a:p>
          </p:txBody>
        </p:sp>
        <p:sp>
          <p:nvSpPr>
            <p:cNvPr id="10265" name="Text Box 36">
              <a:extLst>
                <a:ext uri="{FF2B5EF4-FFF2-40B4-BE49-F238E27FC236}">
                  <a16:creationId xmlns:a16="http://schemas.microsoft.com/office/drawing/2014/main" id="{FDEFDC50-590E-996C-A481-9E9A702564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688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ko-KR" sz="2800" b="1">
                  <a:solidFill>
                    <a:srgbClr val="339933"/>
                  </a:solidFill>
                  <a:ea typeface="굴림" panose="020B0600000101010101" pitchFamily="34" charset="-127"/>
                </a:rPr>
                <a:t>E</a:t>
              </a:r>
              <a:r>
                <a:rPr lang="en-US" altLang="ko-KR" sz="2800" b="1" baseline="-25000">
                  <a:solidFill>
                    <a:srgbClr val="339933"/>
                  </a:solidFill>
                  <a:ea typeface="굴림" panose="020B0600000101010101" pitchFamily="34" charset="-127"/>
                </a:rPr>
                <a:t>5</a:t>
              </a:r>
            </a:p>
          </p:txBody>
        </p:sp>
      </p:grpSp>
      <p:grpSp>
        <p:nvGrpSpPr>
          <p:cNvPr id="10255" name="Group 45">
            <a:extLst>
              <a:ext uri="{FF2B5EF4-FFF2-40B4-BE49-F238E27FC236}">
                <a16:creationId xmlns:a16="http://schemas.microsoft.com/office/drawing/2014/main" id="{B5630C2E-EB89-F9C7-9C38-30EB0A675833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133350"/>
            <a:ext cx="1752600" cy="1524000"/>
            <a:chOff x="4512" y="96"/>
            <a:chExt cx="1104" cy="960"/>
          </a:xfrm>
        </p:grpSpPr>
        <p:sp>
          <p:nvSpPr>
            <p:cNvPr id="10256" name="Rectangle 46">
              <a:extLst>
                <a:ext uri="{FF2B5EF4-FFF2-40B4-BE49-F238E27FC236}">
                  <a16:creationId xmlns:a16="http://schemas.microsoft.com/office/drawing/2014/main" id="{39CC3D0A-54F2-FCCB-A0C6-A11796101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96"/>
              <a:ext cx="1104" cy="960"/>
            </a:xfrm>
            <a:prstGeom prst="rect">
              <a:avLst/>
            </a:prstGeom>
            <a:solidFill>
              <a:srgbClr val="F4ECC6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10257" name="Picture 47" descr="dice">
              <a:extLst>
                <a:ext uri="{FF2B5EF4-FFF2-40B4-BE49-F238E27FC236}">
                  <a16:creationId xmlns:a16="http://schemas.microsoft.com/office/drawing/2014/main" id="{4E1F4D28-2547-D3BB-81AA-4FB181582D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4" y="168"/>
              <a:ext cx="960" cy="818"/>
            </a:xfrm>
            <a:prstGeom prst="rect">
              <a:avLst/>
            </a:prstGeom>
            <a:noFill/>
            <a:ln w="9525">
              <a:solidFill>
                <a:srgbClr val="CC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2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2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2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2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2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70" grpId="0" autoUpdateAnimBg="0"/>
      <p:bldP spid="8297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C20C3450-7E5B-1415-F9D1-86C79B3597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152400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ea typeface="굴림" charset="-127"/>
              </a:rPr>
              <a:t>Basic Concepts</a:t>
            </a: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9DDCACD6-8154-BD01-BB30-27D6750885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229600" cy="1295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>
                <a:ea typeface="굴림" charset="-127"/>
              </a:rPr>
              <a:t>An </a:t>
            </a:r>
            <a:r>
              <a:rPr lang="en-US" altLang="ko-KR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event</a:t>
            </a:r>
            <a:r>
              <a:rPr lang="en-US" altLang="ko-KR">
                <a:ea typeface="굴림" charset="-127"/>
              </a:rPr>
              <a:t> is a collection of one or more </a:t>
            </a:r>
            <a:r>
              <a:rPr lang="en-US" altLang="ko-KR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simple events. </a:t>
            </a:r>
            <a:endParaRPr lang="en-US" altLang="ko-KR">
              <a:ea typeface="굴림" charset="-127"/>
            </a:endParaRPr>
          </a:p>
        </p:txBody>
      </p:sp>
      <p:sp>
        <p:nvSpPr>
          <p:cNvPr id="83976" name="Rectangle 8">
            <a:extLst>
              <a:ext uri="{FF2B5EF4-FFF2-40B4-BE49-F238E27FC236}">
                <a16:creationId xmlns:a16="http://schemas.microsoft.com/office/drawing/2014/main" id="{BB1E35C7-3D0C-1040-D466-4AF2B42CB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048001"/>
            <a:ext cx="3733800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en-US" altLang="ko-KR" sz="36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The die toss:</a:t>
            </a:r>
          </a:p>
          <a:p>
            <a:pPr lvl="1">
              <a:buFontTx/>
              <a:buChar char="–"/>
              <a:defRPr/>
            </a:pPr>
            <a:r>
              <a:rPr lang="en-US" altLang="ko-KR" sz="2800">
                <a:solidFill>
                  <a:srgbClr val="CC0066"/>
                </a:solidFill>
                <a:ea typeface="굴림" charset="-127"/>
              </a:rPr>
              <a:t>A: an odd number</a:t>
            </a:r>
          </a:p>
          <a:p>
            <a:pPr lvl="1">
              <a:buFontTx/>
              <a:buChar char="–"/>
              <a:defRPr/>
            </a:pPr>
            <a:r>
              <a:rPr lang="en-US" altLang="ko-KR" sz="2800">
                <a:solidFill>
                  <a:srgbClr val="CC0066"/>
                </a:solidFill>
                <a:ea typeface="굴림" charset="-127"/>
              </a:rPr>
              <a:t>B: a number &gt; 2</a:t>
            </a:r>
          </a:p>
        </p:txBody>
      </p:sp>
      <p:grpSp>
        <p:nvGrpSpPr>
          <p:cNvPr id="11270" name="Group 40">
            <a:extLst>
              <a:ext uri="{FF2B5EF4-FFF2-40B4-BE49-F238E27FC236}">
                <a16:creationId xmlns:a16="http://schemas.microsoft.com/office/drawing/2014/main" id="{9BA02E8D-D262-F936-5BC4-46006279E64D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438400"/>
            <a:ext cx="4114800" cy="2667000"/>
            <a:chOff x="2880" y="1536"/>
            <a:chExt cx="2592" cy="1680"/>
          </a:xfrm>
        </p:grpSpPr>
        <p:sp>
          <p:nvSpPr>
            <p:cNvPr id="11292" name="Rectangle 10">
              <a:extLst>
                <a:ext uri="{FF2B5EF4-FFF2-40B4-BE49-F238E27FC236}">
                  <a16:creationId xmlns:a16="http://schemas.microsoft.com/office/drawing/2014/main" id="{1BDA9AF2-F3C8-DF18-F84C-1F18C0971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536"/>
              <a:ext cx="2592" cy="1680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3979" name="Text Box 11">
              <a:extLst>
                <a:ext uri="{FF2B5EF4-FFF2-40B4-BE49-F238E27FC236}">
                  <a16:creationId xmlns:a16="http://schemas.microsoft.com/office/drawing/2014/main" id="{85E009C1-E042-3038-C95D-B8F66F63D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1536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sz="2800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S</a:t>
              </a:r>
            </a:p>
          </p:txBody>
        </p:sp>
      </p:grpSp>
      <p:sp>
        <p:nvSpPr>
          <p:cNvPr id="83987" name="Text Box 19">
            <a:extLst>
              <a:ext uri="{FF2B5EF4-FFF2-40B4-BE49-F238E27FC236}">
                <a16:creationId xmlns:a16="http://schemas.microsoft.com/office/drawing/2014/main" id="{E12972D2-8CB7-0B2B-58FD-F8CA68714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724400"/>
            <a:ext cx="3124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A ={E</a:t>
            </a:r>
            <a:r>
              <a:rPr lang="en-US" altLang="ko-KR" sz="3200" b="1" baseline="-25000">
                <a:solidFill>
                  <a:srgbClr val="333333"/>
                </a:solidFill>
                <a:ea typeface="굴림" panose="020B0600000101010101" pitchFamily="34" charset="-127"/>
              </a:rPr>
              <a:t>1</a:t>
            </a: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, E</a:t>
            </a:r>
            <a:r>
              <a:rPr lang="en-US" altLang="ko-KR" sz="3200" b="1" baseline="-25000">
                <a:solidFill>
                  <a:srgbClr val="333333"/>
                </a:solidFill>
                <a:ea typeface="굴림" panose="020B0600000101010101" pitchFamily="34" charset="-127"/>
              </a:rPr>
              <a:t>3</a:t>
            </a: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, E</a:t>
            </a:r>
            <a:r>
              <a:rPr lang="en-US" altLang="ko-KR" sz="3200" b="1" baseline="-25000">
                <a:solidFill>
                  <a:srgbClr val="333333"/>
                </a:solidFill>
                <a:ea typeface="굴림" panose="020B0600000101010101" pitchFamily="34" charset="-127"/>
              </a:rPr>
              <a:t>5</a:t>
            </a: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}</a:t>
            </a:r>
          </a:p>
        </p:txBody>
      </p:sp>
      <p:sp>
        <p:nvSpPr>
          <p:cNvPr id="83988" name="Text Box 20">
            <a:extLst>
              <a:ext uri="{FF2B5EF4-FFF2-40B4-BE49-F238E27FC236}">
                <a16:creationId xmlns:a16="http://schemas.microsoft.com/office/drawing/2014/main" id="{B8353F64-3311-F367-E3ED-5BED10EE8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5486400"/>
            <a:ext cx="3505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B ={E</a:t>
            </a:r>
            <a:r>
              <a:rPr lang="en-US" altLang="ko-KR" sz="3200" b="1" baseline="-25000">
                <a:solidFill>
                  <a:srgbClr val="333333"/>
                </a:solidFill>
                <a:ea typeface="굴림" panose="020B0600000101010101" pitchFamily="34" charset="-127"/>
              </a:rPr>
              <a:t>3</a:t>
            </a: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, E</a:t>
            </a:r>
            <a:r>
              <a:rPr lang="en-US" altLang="ko-KR" sz="3200" b="1" baseline="-25000">
                <a:solidFill>
                  <a:srgbClr val="333333"/>
                </a:solidFill>
                <a:ea typeface="굴림" panose="020B0600000101010101" pitchFamily="34" charset="-127"/>
              </a:rPr>
              <a:t>4</a:t>
            </a: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, E</a:t>
            </a:r>
            <a:r>
              <a:rPr lang="en-US" altLang="ko-KR" sz="3200" b="1" baseline="-25000">
                <a:solidFill>
                  <a:srgbClr val="333333"/>
                </a:solidFill>
                <a:ea typeface="굴림" panose="020B0600000101010101" pitchFamily="34" charset="-127"/>
              </a:rPr>
              <a:t>5</a:t>
            </a: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,</a:t>
            </a:r>
            <a:r>
              <a:rPr lang="en-US" altLang="ko-KR" sz="3200" b="1" baseline="-25000">
                <a:solidFill>
                  <a:srgbClr val="333333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E</a:t>
            </a:r>
            <a:r>
              <a:rPr lang="en-US" altLang="ko-KR" sz="3200" b="1" baseline="-25000">
                <a:solidFill>
                  <a:srgbClr val="333333"/>
                </a:solidFill>
                <a:ea typeface="굴림" panose="020B0600000101010101" pitchFamily="34" charset="-127"/>
              </a:rPr>
              <a:t>6</a:t>
            </a: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}</a:t>
            </a:r>
          </a:p>
        </p:txBody>
      </p:sp>
      <p:grpSp>
        <p:nvGrpSpPr>
          <p:cNvPr id="84007" name="Group 39">
            <a:extLst>
              <a:ext uri="{FF2B5EF4-FFF2-40B4-BE49-F238E27FC236}">
                <a16:creationId xmlns:a16="http://schemas.microsoft.com/office/drawing/2014/main" id="{62B5DEA7-C2E7-4F29-34AE-70D24E4AB1E3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2590801"/>
            <a:ext cx="4114800" cy="3186113"/>
            <a:chOff x="2736" y="1632"/>
            <a:chExt cx="2592" cy="2007"/>
          </a:xfrm>
        </p:grpSpPr>
        <p:grpSp>
          <p:nvGrpSpPr>
            <p:cNvPr id="11288" name="Group 37">
              <a:extLst>
                <a:ext uri="{FF2B5EF4-FFF2-40B4-BE49-F238E27FC236}">
                  <a16:creationId xmlns:a16="http://schemas.microsoft.com/office/drawing/2014/main" id="{237090F2-D55A-2BBB-130A-006D4D319E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632"/>
              <a:ext cx="1632" cy="1536"/>
              <a:chOff x="3696" y="1632"/>
              <a:chExt cx="1632" cy="1536"/>
            </a:xfrm>
          </p:grpSpPr>
          <p:sp>
            <p:nvSpPr>
              <p:cNvPr id="11290" name="Oval 22" descr="Light downward diagonal">
                <a:extLst>
                  <a:ext uri="{FF2B5EF4-FFF2-40B4-BE49-F238E27FC236}">
                    <a16:creationId xmlns:a16="http://schemas.microsoft.com/office/drawing/2014/main" id="{42EE9081-077E-6FE4-8FF3-8C21522013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632"/>
                <a:ext cx="1632" cy="1536"/>
              </a:xfrm>
              <a:prstGeom prst="ellipse">
                <a:avLst/>
              </a:prstGeom>
              <a:pattFill prst="ltDnDiag">
                <a:fgClr>
                  <a:srgbClr val="339933"/>
                </a:fgClr>
                <a:bgClr>
                  <a:srgbClr val="FFFFFF"/>
                </a:bgClr>
              </a:pattFill>
              <a:ln w="9525">
                <a:solidFill>
                  <a:srgbClr val="3399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3991" name="Text Box 23">
                <a:extLst>
                  <a:ext uri="{FF2B5EF4-FFF2-40B4-BE49-F238E27FC236}">
                    <a16:creationId xmlns:a16="http://schemas.microsoft.com/office/drawing/2014/main" id="{E673BF90-FAE9-3004-0F7C-247AB94409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2256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sz="2800" b="1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B</a:t>
                </a:r>
              </a:p>
            </p:txBody>
          </p:sp>
        </p:grpSp>
        <p:cxnSp>
          <p:nvCxnSpPr>
            <p:cNvPr id="11289" name="AutoShape 26">
              <a:extLst>
                <a:ext uri="{FF2B5EF4-FFF2-40B4-BE49-F238E27FC236}">
                  <a16:creationId xmlns:a16="http://schemas.microsoft.com/office/drawing/2014/main" id="{C789BABB-81F4-B426-6239-D1FAA6F48C2B}"/>
                </a:ext>
              </a:extLst>
            </p:cNvPr>
            <p:cNvCxnSpPr>
              <a:cxnSpLocks noChangeShapeType="1"/>
              <a:stCxn id="83988" idx="3"/>
              <a:endCxn id="11290" idx="3"/>
            </p:cNvCxnSpPr>
            <p:nvPr/>
          </p:nvCxnSpPr>
          <p:spPr bwMode="auto">
            <a:xfrm flipV="1">
              <a:off x="2736" y="2943"/>
              <a:ext cx="1199" cy="696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4006" name="Group 38">
            <a:extLst>
              <a:ext uri="{FF2B5EF4-FFF2-40B4-BE49-F238E27FC236}">
                <a16:creationId xmlns:a16="http://schemas.microsoft.com/office/drawing/2014/main" id="{0B27626B-E02E-CABC-10B4-A78696E4CCD7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514601"/>
            <a:ext cx="3962400" cy="2500313"/>
            <a:chOff x="2448" y="1584"/>
            <a:chExt cx="2496" cy="1575"/>
          </a:xfrm>
        </p:grpSpPr>
        <p:grpSp>
          <p:nvGrpSpPr>
            <p:cNvPr id="11284" name="Group 36">
              <a:extLst>
                <a:ext uri="{FF2B5EF4-FFF2-40B4-BE49-F238E27FC236}">
                  <a16:creationId xmlns:a16="http://schemas.microsoft.com/office/drawing/2014/main" id="{840CFF73-21DF-9358-CF77-54929AD27E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584"/>
              <a:ext cx="1920" cy="1056"/>
              <a:chOff x="3024" y="1584"/>
              <a:chExt cx="1920" cy="1056"/>
            </a:xfrm>
          </p:grpSpPr>
          <p:sp>
            <p:nvSpPr>
              <p:cNvPr id="11286" name="Oval 21">
                <a:extLst>
                  <a:ext uri="{FF2B5EF4-FFF2-40B4-BE49-F238E27FC236}">
                    <a16:creationId xmlns:a16="http://schemas.microsoft.com/office/drawing/2014/main" id="{390CD942-1066-DE7B-6922-669C2B7D14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584"/>
                <a:ext cx="1920" cy="1056"/>
              </a:xfrm>
              <a:prstGeom prst="ellipse">
                <a:avLst/>
              </a:prstGeom>
              <a:solidFill>
                <a:srgbClr val="F0D27E">
                  <a:alpha val="50195"/>
                </a:srgbClr>
              </a:solidFill>
              <a:ln w="28575">
                <a:solidFill>
                  <a:srgbClr val="339933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3992" name="Text Box 24">
                <a:extLst>
                  <a:ext uri="{FF2B5EF4-FFF2-40B4-BE49-F238E27FC236}">
                    <a16:creationId xmlns:a16="http://schemas.microsoft.com/office/drawing/2014/main" id="{D38EF14F-E6C6-C444-4A90-8176C7A830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4" y="2064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ko-KR" sz="2800" b="1">
                    <a:solidFill>
                      <a:srgbClr val="333333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굴림" charset="-127"/>
                  </a:rPr>
                  <a:t>A</a:t>
                </a:r>
              </a:p>
            </p:txBody>
          </p:sp>
        </p:grpSp>
        <p:cxnSp>
          <p:nvCxnSpPr>
            <p:cNvPr id="11285" name="AutoShape 25">
              <a:extLst>
                <a:ext uri="{FF2B5EF4-FFF2-40B4-BE49-F238E27FC236}">
                  <a16:creationId xmlns:a16="http://schemas.microsoft.com/office/drawing/2014/main" id="{54896D6E-2165-859F-B409-37FE831AE17B}"/>
                </a:ext>
              </a:extLst>
            </p:cNvPr>
            <p:cNvCxnSpPr>
              <a:cxnSpLocks noChangeShapeType="1"/>
              <a:stCxn id="83987" idx="3"/>
              <a:endCxn id="11286" idx="2"/>
            </p:cNvCxnSpPr>
            <p:nvPr/>
          </p:nvCxnSpPr>
          <p:spPr bwMode="auto">
            <a:xfrm flipV="1">
              <a:off x="2448" y="2112"/>
              <a:ext cx="567" cy="1047"/>
            </a:xfrm>
            <a:prstGeom prst="curvedConnector3">
              <a:avLst>
                <a:gd name="adj1" fmla="val 50792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1275" name="Text Box 12">
            <a:extLst>
              <a:ext uri="{FF2B5EF4-FFF2-40B4-BE49-F238E27FC236}">
                <a16:creationId xmlns:a16="http://schemas.microsoft.com/office/drawing/2014/main" id="{7BA81591-12B1-4A1B-1A29-42892A7C8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27432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 sz="2800" b="1">
                <a:solidFill>
                  <a:srgbClr val="339933"/>
                </a:solidFill>
                <a:ea typeface="굴림" panose="020B0600000101010101" pitchFamily="34" charset="-127"/>
              </a:rPr>
              <a:t>E</a:t>
            </a:r>
            <a:r>
              <a:rPr lang="en-US" altLang="ko-KR" sz="2800" b="1" baseline="-25000">
                <a:solidFill>
                  <a:srgbClr val="339933"/>
                </a:solidFill>
                <a:ea typeface="굴림" panose="020B0600000101010101" pitchFamily="34" charset="-127"/>
              </a:rPr>
              <a:t>1</a:t>
            </a:r>
          </a:p>
        </p:txBody>
      </p:sp>
      <p:sp>
        <p:nvSpPr>
          <p:cNvPr id="11276" name="Text Box 13">
            <a:extLst>
              <a:ext uri="{FF2B5EF4-FFF2-40B4-BE49-F238E27FC236}">
                <a16:creationId xmlns:a16="http://schemas.microsoft.com/office/drawing/2014/main" id="{C26D8DB8-5D29-AF3D-74A0-4313802BD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0" y="40386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 sz="2800" b="1">
                <a:solidFill>
                  <a:srgbClr val="339933"/>
                </a:solidFill>
                <a:ea typeface="굴림" panose="020B0600000101010101" pitchFamily="34" charset="-127"/>
              </a:rPr>
              <a:t>E</a:t>
            </a:r>
            <a:r>
              <a:rPr lang="en-US" altLang="ko-KR" sz="2800" b="1" baseline="-25000">
                <a:solidFill>
                  <a:srgbClr val="339933"/>
                </a:solidFill>
                <a:ea typeface="굴림" panose="020B0600000101010101" pitchFamily="34" charset="-127"/>
              </a:rPr>
              <a:t>6</a:t>
            </a:r>
          </a:p>
        </p:txBody>
      </p:sp>
      <p:sp>
        <p:nvSpPr>
          <p:cNvPr id="11277" name="Text Box 14">
            <a:extLst>
              <a:ext uri="{FF2B5EF4-FFF2-40B4-BE49-F238E27FC236}">
                <a16:creationId xmlns:a16="http://schemas.microsoft.com/office/drawing/2014/main" id="{B5E4BC90-5626-ADF0-B3BA-E33BCBD86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9624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 sz="2800" b="1">
                <a:solidFill>
                  <a:srgbClr val="339933"/>
                </a:solidFill>
                <a:ea typeface="굴림" panose="020B0600000101010101" pitchFamily="34" charset="-127"/>
              </a:rPr>
              <a:t>E</a:t>
            </a:r>
            <a:r>
              <a:rPr lang="en-US" altLang="ko-KR" sz="2800" b="1" baseline="-25000">
                <a:solidFill>
                  <a:srgbClr val="339933"/>
                </a:solidFill>
                <a:ea typeface="굴림" panose="020B0600000101010101" pitchFamily="34" charset="-127"/>
              </a:rPr>
              <a:t>2</a:t>
            </a:r>
          </a:p>
        </p:txBody>
      </p:sp>
      <p:sp>
        <p:nvSpPr>
          <p:cNvPr id="11278" name="Text Box 15">
            <a:extLst>
              <a:ext uri="{FF2B5EF4-FFF2-40B4-BE49-F238E27FC236}">
                <a16:creationId xmlns:a16="http://schemas.microsoft.com/office/drawing/2014/main" id="{DA86DE78-9D0E-5CA2-7867-E144B31D3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28194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 sz="2800" b="1">
                <a:solidFill>
                  <a:srgbClr val="339933"/>
                </a:solidFill>
                <a:ea typeface="굴림" panose="020B0600000101010101" pitchFamily="34" charset="-127"/>
              </a:rPr>
              <a:t>E</a:t>
            </a:r>
            <a:r>
              <a:rPr lang="en-US" altLang="ko-KR" sz="2800" b="1" baseline="-25000">
                <a:solidFill>
                  <a:srgbClr val="339933"/>
                </a:solidFill>
                <a:ea typeface="굴림" panose="020B0600000101010101" pitchFamily="34" charset="-127"/>
              </a:rPr>
              <a:t>3</a:t>
            </a:r>
          </a:p>
        </p:txBody>
      </p:sp>
      <p:sp>
        <p:nvSpPr>
          <p:cNvPr id="11279" name="Text Box 16">
            <a:extLst>
              <a:ext uri="{FF2B5EF4-FFF2-40B4-BE49-F238E27FC236}">
                <a16:creationId xmlns:a16="http://schemas.microsoft.com/office/drawing/2014/main" id="{566E3F4F-784D-13BA-7A8E-56998520A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41148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 sz="2800" b="1">
                <a:solidFill>
                  <a:srgbClr val="339933"/>
                </a:solidFill>
                <a:ea typeface="굴림" panose="020B0600000101010101" pitchFamily="34" charset="-127"/>
              </a:rPr>
              <a:t>E</a:t>
            </a:r>
            <a:r>
              <a:rPr lang="en-US" altLang="ko-KR" sz="2800" b="1" baseline="-25000">
                <a:solidFill>
                  <a:srgbClr val="339933"/>
                </a:solidFill>
                <a:ea typeface="굴림" panose="020B0600000101010101" pitchFamily="34" charset="-127"/>
              </a:rPr>
              <a:t>4</a:t>
            </a:r>
          </a:p>
        </p:txBody>
      </p:sp>
      <p:sp>
        <p:nvSpPr>
          <p:cNvPr id="11280" name="Text Box 17">
            <a:extLst>
              <a:ext uri="{FF2B5EF4-FFF2-40B4-BE49-F238E27FC236}">
                <a16:creationId xmlns:a16="http://schemas.microsoft.com/office/drawing/2014/main" id="{F20529C8-D78F-3DCF-605D-D4B294681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32766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ko-KR" sz="2800" b="1">
                <a:solidFill>
                  <a:srgbClr val="339933"/>
                </a:solidFill>
                <a:ea typeface="굴림" panose="020B0600000101010101" pitchFamily="34" charset="-127"/>
              </a:rPr>
              <a:t>E</a:t>
            </a:r>
            <a:r>
              <a:rPr lang="en-US" altLang="ko-KR" sz="2800" b="1" baseline="-25000">
                <a:solidFill>
                  <a:srgbClr val="339933"/>
                </a:solidFill>
                <a:ea typeface="굴림" panose="020B0600000101010101" pitchFamily="34" charset="-127"/>
              </a:rPr>
              <a:t>5</a:t>
            </a:r>
          </a:p>
        </p:txBody>
      </p:sp>
      <p:grpSp>
        <p:nvGrpSpPr>
          <p:cNvPr id="11281" name="Group 41">
            <a:extLst>
              <a:ext uri="{FF2B5EF4-FFF2-40B4-BE49-F238E27FC236}">
                <a16:creationId xmlns:a16="http://schemas.microsoft.com/office/drawing/2014/main" id="{2830E63E-427D-BFB2-9884-05965954BAB3}"/>
              </a:ext>
            </a:extLst>
          </p:cNvPr>
          <p:cNvGrpSpPr>
            <a:grpSpLocks/>
          </p:cNvGrpSpPr>
          <p:nvPr/>
        </p:nvGrpSpPr>
        <p:grpSpPr bwMode="auto">
          <a:xfrm>
            <a:off x="10401300" y="22225"/>
            <a:ext cx="1752600" cy="1524000"/>
            <a:chOff x="4512" y="96"/>
            <a:chExt cx="1104" cy="960"/>
          </a:xfrm>
        </p:grpSpPr>
        <p:sp>
          <p:nvSpPr>
            <p:cNvPr id="11282" name="Rectangle 42">
              <a:extLst>
                <a:ext uri="{FF2B5EF4-FFF2-40B4-BE49-F238E27FC236}">
                  <a16:creationId xmlns:a16="http://schemas.microsoft.com/office/drawing/2014/main" id="{E602CC8D-331F-B9F9-6751-6F4C793EE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96"/>
              <a:ext cx="1104" cy="960"/>
            </a:xfrm>
            <a:prstGeom prst="rect">
              <a:avLst/>
            </a:prstGeom>
            <a:solidFill>
              <a:srgbClr val="F4ECC6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11283" name="Picture 43" descr="dice">
              <a:extLst>
                <a:ext uri="{FF2B5EF4-FFF2-40B4-BE49-F238E27FC236}">
                  <a16:creationId xmlns:a16="http://schemas.microsoft.com/office/drawing/2014/main" id="{5797B895-E075-8064-2A60-C77AAF2ADB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4" y="168"/>
              <a:ext cx="960" cy="818"/>
            </a:xfrm>
            <a:prstGeom prst="rect">
              <a:avLst/>
            </a:prstGeom>
            <a:noFill/>
            <a:ln w="9525">
              <a:solidFill>
                <a:srgbClr val="CC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4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4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6" grpId="0" autoUpdateAnimBg="0"/>
      <p:bldP spid="83987" grpId="0" autoUpdateAnimBg="0"/>
      <p:bldP spid="8398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8AE90B89-10D1-C4A4-64CC-C89EFDB15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152400"/>
            <a:ext cx="8382000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The Probability </a:t>
            </a:r>
            <a:br>
              <a:rPr lang="en-US" altLang="ko-KR" sz="4800" dirty="0">
                <a:ea typeface="굴림" charset="-127"/>
              </a:rPr>
            </a:br>
            <a:r>
              <a:rPr lang="en-US" altLang="ko-KR" sz="4800" dirty="0">
                <a:ea typeface="굴림" charset="-127"/>
              </a:rPr>
              <a:t>of an Event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CB475B7C-6D73-72CC-3EE5-040AC54BF0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07407" y="1594893"/>
            <a:ext cx="8229600" cy="17526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ko-KR" sz="3200" dirty="0">
                <a:ea typeface="굴림" charset="-127"/>
              </a:rPr>
              <a:t>The probability of an event A measures “how often” we think A will occur. We write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P(A)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.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ko-KR" sz="3200" dirty="0">
                <a:ea typeface="굴림" charset="-127"/>
              </a:rPr>
              <a:t>Suppose that an experiment is performed </a:t>
            </a:r>
            <a:r>
              <a:rPr lang="en-US" altLang="ko-KR" sz="3200" i="1" dirty="0">
                <a:ea typeface="굴림" charset="-127"/>
              </a:rPr>
              <a:t>n</a:t>
            </a:r>
            <a:r>
              <a:rPr lang="en-US" altLang="ko-KR" sz="3200" dirty="0">
                <a:ea typeface="굴림" charset="-127"/>
              </a:rPr>
              <a:t> times. The relative frequency for an event A is </a:t>
            </a:r>
          </a:p>
          <a:p>
            <a:pPr algn="ctr" eaLnBrk="1" hangingPunct="1">
              <a:lnSpc>
                <a:spcPct val="110000"/>
              </a:lnSpc>
              <a:defRPr/>
            </a:pPr>
            <a:endParaRPr lang="en-US" altLang="ko-KR" sz="3200" dirty="0">
              <a:ea typeface="굴림" charset="-127"/>
            </a:endParaRPr>
          </a:p>
          <a:p>
            <a:pPr eaLnBrk="1" hangingPunct="1">
              <a:lnSpc>
                <a:spcPct val="110000"/>
              </a:lnSpc>
              <a:defRPr/>
            </a:pPr>
            <a:endParaRPr lang="ko-KR" altLang="en-US" sz="3200" dirty="0">
              <a:ea typeface="굴림" charset="-127"/>
            </a:endParaRPr>
          </a:p>
        </p:txBody>
      </p:sp>
      <p:graphicFrame>
        <p:nvGraphicFramePr>
          <p:cNvPr id="85000" name="Object 8">
            <a:extLst>
              <a:ext uri="{FF2B5EF4-FFF2-40B4-BE49-F238E27FC236}">
                <a16:creationId xmlns:a16="http://schemas.microsoft.com/office/drawing/2014/main" id="{4366FD6B-29AA-DE54-17EE-F456175751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5214" y="3671889"/>
          <a:ext cx="5233987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24994" imgH="312492" progId="Equation.3">
                  <p:embed/>
                </p:oleObj>
              </mc:Choice>
              <mc:Fallback>
                <p:oleObj name="Equation" r:id="rId2" imgW="1424994" imgH="312492" progId="Equation.3">
                  <p:embed/>
                  <p:pic>
                    <p:nvPicPr>
                      <p:cNvPr id="85000" name="Object 8">
                        <a:extLst>
                          <a:ext uri="{FF2B5EF4-FFF2-40B4-BE49-F238E27FC236}">
                            <a16:creationId xmlns:a16="http://schemas.microsoft.com/office/drawing/2014/main" id="{4366FD6B-29AA-DE54-17EE-F456175751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214" y="3671889"/>
                        <a:ext cx="5233987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01" name="Object 9">
            <a:extLst>
              <a:ext uri="{FF2B5EF4-FFF2-40B4-BE49-F238E27FC236}">
                <a16:creationId xmlns:a16="http://schemas.microsoft.com/office/drawing/2014/main" id="{A7D16044-724F-3DE7-6604-A686204756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5373688"/>
          <a:ext cx="2228850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2994" imgH="312492" progId="Equation.3">
                  <p:embed/>
                </p:oleObj>
              </mc:Choice>
              <mc:Fallback>
                <p:oleObj name="Equation" r:id="rId4" imgW="662994" imgH="312492" progId="Equation.3">
                  <p:embed/>
                  <p:pic>
                    <p:nvPicPr>
                      <p:cNvPr id="85001" name="Object 9">
                        <a:extLst>
                          <a:ext uri="{FF2B5EF4-FFF2-40B4-BE49-F238E27FC236}">
                            <a16:creationId xmlns:a16="http://schemas.microsoft.com/office/drawing/2014/main" id="{A7D16044-724F-3DE7-6604-A686204756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5373688"/>
                        <a:ext cx="2228850" cy="1052512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2" name="Text Box 10">
            <a:extLst>
              <a:ext uri="{FF2B5EF4-FFF2-40B4-BE49-F238E27FC236}">
                <a16:creationId xmlns:a16="http://schemas.microsoft.com/office/drawing/2014/main" id="{CC3137AE-1F4C-8DBF-CA7D-8D47C0B5F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27576"/>
            <a:ext cx="640080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If we let </a:t>
            </a:r>
            <a:r>
              <a:rPr lang="en-US" altLang="ko-KR" sz="3200" i="1">
                <a:solidFill>
                  <a:srgbClr val="339933"/>
                </a:solidFill>
                <a:ea typeface="굴림" panose="020B0600000101010101" pitchFamily="34" charset="-127"/>
              </a:rPr>
              <a:t>n </a:t>
            </a: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get infinitely large, </a:t>
            </a:r>
            <a:endParaRPr lang="en-US" altLang="ko-KR">
              <a:ea typeface="굴림" panose="020B0600000101010101" pitchFamily="34" charset="-127"/>
            </a:endParaRPr>
          </a:p>
        </p:txBody>
      </p:sp>
      <p:grpSp>
        <p:nvGrpSpPr>
          <p:cNvPr id="12296" name="Group 14">
            <a:extLst>
              <a:ext uri="{FF2B5EF4-FFF2-40B4-BE49-F238E27FC236}">
                <a16:creationId xmlns:a16="http://schemas.microsoft.com/office/drawing/2014/main" id="{F324A437-287C-7AE4-99AB-D52F549B8ACE}"/>
              </a:ext>
            </a:extLst>
          </p:cNvPr>
          <p:cNvGrpSpPr>
            <a:grpSpLocks/>
          </p:cNvGrpSpPr>
          <p:nvPr/>
        </p:nvGrpSpPr>
        <p:grpSpPr bwMode="auto">
          <a:xfrm>
            <a:off x="10439400" y="25774"/>
            <a:ext cx="1752600" cy="1524000"/>
            <a:chOff x="4512" y="96"/>
            <a:chExt cx="1104" cy="960"/>
          </a:xfrm>
        </p:grpSpPr>
        <p:sp>
          <p:nvSpPr>
            <p:cNvPr id="12298" name="Rectangle 15">
              <a:extLst>
                <a:ext uri="{FF2B5EF4-FFF2-40B4-BE49-F238E27FC236}">
                  <a16:creationId xmlns:a16="http://schemas.microsoft.com/office/drawing/2014/main" id="{F9422F69-9781-52E6-4073-B23D3FCCD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96"/>
              <a:ext cx="1104" cy="960"/>
            </a:xfrm>
            <a:prstGeom prst="rect">
              <a:avLst/>
            </a:prstGeom>
            <a:solidFill>
              <a:srgbClr val="F4ECC6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12299" name="Picture 16" descr="dice">
              <a:extLst>
                <a:ext uri="{FF2B5EF4-FFF2-40B4-BE49-F238E27FC236}">
                  <a16:creationId xmlns:a16="http://schemas.microsoft.com/office/drawing/2014/main" id="{670FC3A7-2BD5-E5DA-B68B-D3606D96D9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4" y="168"/>
              <a:ext cx="960" cy="818"/>
            </a:xfrm>
            <a:prstGeom prst="rect">
              <a:avLst/>
            </a:prstGeom>
            <a:noFill/>
            <a:ln w="9525">
              <a:solidFill>
                <a:srgbClr val="CC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297" name="Text Box 17">
            <a:extLst>
              <a:ext uri="{FF2B5EF4-FFF2-40B4-BE49-F238E27FC236}">
                <a16:creationId xmlns:a16="http://schemas.microsoft.com/office/drawing/2014/main" id="{C2D3887E-B147-D0D4-3AED-D3E2F94E1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5" y="5516564"/>
            <a:ext cx="50419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>
                <a:ea typeface="굴림" panose="020B0600000101010101" pitchFamily="34" charset="-127"/>
              </a:rPr>
              <a:t>The relative frequency of event A in the population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4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4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build="p" autoUpdateAnimBg="0"/>
      <p:bldP spid="8500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6E726189-A975-4374-BB0C-3CE507898D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152400"/>
            <a:ext cx="8382000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The Probability </a:t>
            </a:r>
            <a:br>
              <a:rPr lang="en-US" altLang="ko-KR" sz="4800" dirty="0">
                <a:ea typeface="굴림" charset="-127"/>
              </a:rPr>
            </a:br>
            <a:r>
              <a:rPr lang="en-US" altLang="ko-KR" sz="4800" dirty="0">
                <a:ea typeface="굴림" charset="-127"/>
              </a:rPr>
              <a:t>of an Event</a:t>
            </a:r>
          </a:p>
        </p:txBody>
      </p:sp>
      <p:sp>
        <p:nvSpPr>
          <p:cNvPr id="87044" name="Rectangle 4">
            <a:extLst>
              <a:ext uri="{FF2B5EF4-FFF2-40B4-BE49-F238E27FC236}">
                <a16:creationId xmlns:a16="http://schemas.microsoft.com/office/drawing/2014/main" id="{FC7F7514-8AA2-2C23-1D57-FBA489E9D3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799" y="1447800"/>
            <a:ext cx="8610601" cy="3276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ko-KR" sz="3200" dirty="0">
                <a:ea typeface="굴림" charset="-127"/>
              </a:rPr>
              <a:t>P(A) must be between 0 and 1.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ko-KR" sz="2800" dirty="0">
                <a:solidFill>
                  <a:srgbClr val="CC0066"/>
                </a:solidFill>
                <a:ea typeface="굴림" charset="-127"/>
              </a:rPr>
              <a:t>If event A can never occur, P(A) = 0. If event A always occurs when the experiment is performed, P(A) =1.</a:t>
            </a:r>
            <a:endParaRPr lang="en-US" altLang="ko-KR" sz="2800" dirty="0">
              <a:solidFill>
                <a:srgbClr val="CC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ko-KR" sz="3200" dirty="0">
                <a:ea typeface="굴림" charset="-127"/>
              </a:rPr>
              <a:t>The sum of the probabilities for all simple events in S equals 1.</a:t>
            </a:r>
          </a:p>
        </p:txBody>
      </p:sp>
      <p:sp>
        <p:nvSpPr>
          <p:cNvPr id="87050" name="Text Box 10">
            <a:extLst>
              <a:ext uri="{FF2B5EF4-FFF2-40B4-BE49-F238E27FC236}">
                <a16:creationId xmlns:a16="http://schemas.microsoft.com/office/drawing/2014/main" id="{639A6A22-12F6-3851-A3AA-27CCB8FC0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724401"/>
            <a:ext cx="8077200" cy="176847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Tx/>
              <a:buChar char="•"/>
              <a:defRPr/>
            </a:pPr>
            <a:r>
              <a:rPr lang="en-US" altLang="ko-KR" sz="3600">
                <a:solidFill>
                  <a:srgbClr val="339933"/>
                </a:solidFill>
                <a:ea typeface="굴림" charset="-127"/>
              </a:rPr>
              <a:t>The </a:t>
            </a:r>
            <a:r>
              <a:rPr lang="en-US" altLang="ko-KR" sz="3600" b="1">
                <a:solidFill>
                  <a:srgbClr val="333333"/>
                </a:solidFill>
                <a:ea typeface="굴림" charset="-127"/>
              </a:rPr>
              <a:t>probability of an event A</a:t>
            </a:r>
            <a:r>
              <a:rPr lang="en-US" altLang="ko-KR" sz="3600" b="1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charset="-127"/>
              </a:rPr>
              <a:t> </a:t>
            </a:r>
            <a:r>
              <a:rPr lang="en-US" altLang="ko-KR" sz="3600">
                <a:solidFill>
                  <a:srgbClr val="339933"/>
                </a:solidFill>
                <a:ea typeface="굴림" charset="-127"/>
              </a:rPr>
              <a:t>is found by adding the probabilities of all the simple events contained in A. </a:t>
            </a:r>
            <a:endParaRPr lang="en-US" altLang="ko-KR" sz="3600">
              <a:ea typeface="굴림" charset="-127"/>
            </a:endParaRPr>
          </a:p>
        </p:txBody>
      </p:sp>
      <p:grpSp>
        <p:nvGrpSpPr>
          <p:cNvPr id="13318" name="Group 14">
            <a:extLst>
              <a:ext uri="{FF2B5EF4-FFF2-40B4-BE49-F238E27FC236}">
                <a16:creationId xmlns:a16="http://schemas.microsoft.com/office/drawing/2014/main" id="{A4320724-ED9D-9FBB-9674-D6DB39A6FEFD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133350"/>
            <a:ext cx="1752600" cy="1524000"/>
            <a:chOff x="4512" y="96"/>
            <a:chExt cx="1104" cy="960"/>
          </a:xfrm>
        </p:grpSpPr>
        <p:sp>
          <p:nvSpPr>
            <p:cNvPr id="13319" name="Rectangle 15">
              <a:extLst>
                <a:ext uri="{FF2B5EF4-FFF2-40B4-BE49-F238E27FC236}">
                  <a16:creationId xmlns:a16="http://schemas.microsoft.com/office/drawing/2014/main" id="{F832DBBE-C2F5-9724-C763-36E231524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96"/>
              <a:ext cx="1104" cy="960"/>
            </a:xfrm>
            <a:prstGeom prst="rect">
              <a:avLst/>
            </a:prstGeom>
            <a:solidFill>
              <a:srgbClr val="F4ECC6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13320" name="Picture 16" descr="dice">
              <a:extLst>
                <a:ext uri="{FF2B5EF4-FFF2-40B4-BE49-F238E27FC236}">
                  <a16:creationId xmlns:a16="http://schemas.microsoft.com/office/drawing/2014/main" id="{CE36E3EB-CCFD-2FD0-BC02-F684A9F03F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4" y="168"/>
              <a:ext cx="960" cy="818"/>
            </a:xfrm>
            <a:prstGeom prst="rect">
              <a:avLst/>
            </a:prstGeom>
            <a:noFill/>
            <a:ln w="9525">
              <a:solidFill>
                <a:srgbClr val="CC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7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7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7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7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 build="p" autoUpdateAnimBg="0"/>
      <p:bldP spid="87050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78" name="Text Box 14">
            <a:extLst>
              <a:ext uri="{FF2B5EF4-FFF2-40B4-BE49-F238E27FC236}">
                <a16:creationId xmlns:a16="http://schemas.microsoft.com/office/drawing/2014/main" id="{4D78CB3B-7568-9A98-FD86-690162EC7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724400"/>
            <a:ext cx="7924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–"/>
            </a:pP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</a:rPr>
              <a:t>10% of the U.S. population has red hair. Select a person at random.</a:t>
            </a: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F0FF2FEF-740F-EA46-14D1-521231CAD0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190500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Finding Probabilities</a:t>
            </a:r>
          </a:p>
        </p:txBody>
      </p:sp>
      <p:sp>
        <p:nvSpPr>
          <p:cNvPr id="88072" name="Rectangle 8">
            <a:extLst>
              <a:ext uri="{FF2B5EF4-FFF2-40B4-BE49-F238E27FC236}">
                <a16:creationId xmlns:a16="http://schemas.microsoft.com/office/drawing/2014/main" id="{B99C6FE0-2C15-5282-E270-51D5ABDC5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38400" y="1447800"/>
            <a:ext cx="7772400" cy="2438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Probabilities can be found using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800" dirty="0">
                <a:ea typeface="굴림" panose="020B0600000101010101" pitchFamily="34" charset="-127"/>
              </a:rPr>
              <a:t>Estimates from empirical studies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800" dirty="0">
                <a:ea typeface="굴림" panose="020B0600000101010101" pitchFamily="34" charset="-127"/>
              </a:rPr>
              <a:t>Common sense estimates based on equally likely events.</a:t>
            </a:r>
          </a:p>
        </p:txBody>
      </p:sp>
      <p:grpSp>
        <p:nvGrpSpPr>
          <p:cNvPr id="14342" name="Group 16">
            <a:extLst>
              <a:ext uri="{FF2B5EF4-FFF2-40B4-BE49-F238E27FC236}">
                <a16:creationId xmlns:a16="http://schemas.microsoft.com/office/drawing/2014/main" id="{75B69443-3DB4-B51F-BA55-5DEAA66F38CA}"/>
              </a:ext>
            </a:extLst>
          </p:cNvPr>
          <p:cNvGrpSpPr>
            <a:grpSpLocks/>
          </p:cNvGrpSpPr>
          <p:nvPr/>
        </p:nvGrpSpPr>
        <p:grpSpPr bwMode="auto">
          <a:xfrm>
            <a:off x="10442575" y="0"/>
            <a:ext cx="1752600" cy="1524000"/>
            <a:chOff x="4560" y="48"/>
            <a:chExt cx="1104" cy="960"/>
          </a:xfrm>
        </p:grpSpPr>
        <p:sp>
          <p:nvSpPr>
            <p:cNvPr id="14346" name="Rectangle 6">
              <a:extLst>
                <a:ext uri="{FF2B5EF4-FFF2-40B4-BE49-F238E27FC236}">
                  <a16:creationId xmlns:a16="http://schemas.microsoft.com/office/drawing/2014/main" id="{C1C1D1F8-55E6-78C8-69D9-4A774E03E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48"/>
              <a:ext cx="1104" cy="960"/>
            </a:xfrm>
            <a:prstGeom prst="rect">
              <a:avLst/>
            </a:prstGeom>
            <a:solidFill>
              <a:srgbClr val="F4ECC6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14347" name="Picture 9" descr="coins">
              <a:extLst>
                <a:ext uri="{FF2B5EF4-FFF2-40B4-BE49-F238E27FC236}">
                  <a16:creationId xmlns:a16="http://schemas.microsoft.com/office/drawing/2014/main" id="{7AACC663-862D-0CB6-3169-3A91C3A84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8" y="108"/>
              <a:ext cx="1010" cy="852"/>
            </a:xfrm>
            <a:prstGeom prst="rect">
              <a:avLst/>
            </a:prstGeom>
            <a:noFill/>
            <a:ln w="9525">
              <a:solidFill>
                <a:srgbClr val="CC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8075" name="Text Box 11">
            <a:extLst>
              <a:ext uri="{FF2B5EF4-FFF2-40B4-BE49-F238E27FC236}">
                <a16:creationId xmlns:a16="http://schemas.microsoft.com/office/drawing/2014/main" id="{0956C248-4E15-E77C-CBA0-FD8740747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191000"/>
            <a:ext cx="2743200" cy="523220"/>
          </a:xfrm>
          <a:prstGeom prst="rect">
            <a:avLst/>
          </a:prstGeom>
          <a:solidFill>
            <a:srgbClr val="CC0066"/>
          </a:solidFill>
          <a:ln w="38100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F4ECC6"/>
                </a:solidFill>
                <a:ea typeface="굴림" panose="020B0600000101010101" pitchFamily="34" charset="-127"/>
              </a:rPr>
              <a:t>P(Head) = 1/2</a:t>
            </a:r>
          </a:p>
        </p:txBody>
      </p:sp>
      <p:sp>
        <p:nvSpPr>
          <p:cNvPr id="88076" name="Text Box 12">
            <a:extLst>
              <a:ext uri="{FF2B5EF4-FFF2-40B4-BE49-F238E27FC236}">
                <a16:creationId xmlns:a16="http://schemas.microsoft.com/office/drawing/2014/main" id="{F6324B64-BD37-9543-361E-CAC45792F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5257800"/>
            <a:ext cx="2743200" cy="523220"/>
          </a:xfrm>
          <a:prstGeom prst="rect">
            <a:avLst/>
          </a:prstGeom>
          <a:solidFill>
            <a:srgbClr val="CC0066"/>
          </a:solidFill>
          <a:ln w="38100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F4ECC6"/>
                </a:solidFill>
                <a:ea typeface="굴림" panose="020B0600000101010101" pitchFamily="34" charset="-127"/>
              </a:rPr>
              <a:t>P(Red hair) = .10</a:t>
            </a:r>
          </a:p>
        </p:txBody>
      </p:sp>
      <p:sp>
        <p:nvSpPr>
          <p:cNvPr id="88077" name="Text Box 13">
            <a:extLst>
              <a:ext uri="{FF2B5EF4-FFF2-40B4-BE49-F238E27FC236}">
                <a16:creationId xmlns:a16="http://schemas.microsoft.com/office/drawing/2014/main" id="{173937D6-D2EA-350F-88FB-6E32BA6E5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733800"/>
            <a:ext cx="79248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altLang="ko-KR" sz="32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Examples: 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en-US" altLang="ko-KR" sz="3200">
                <a:solidFill>
                  <a:srgbClr val="CC0066"/>
                </a:solidFill>
                <a:ea typeface="굴림" charset="-127"/>
              </a:rPr>
              <a:t>Toss a fair coin.</a:t>
            </a:r>
            <a:endParaRPr lang="en-US" altLang="ko-KR"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0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80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80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8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8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8" grpId="0" autoUpdateAnimBg="0"/>
      <p:bldP spid="88072" grpId="0" build="p" bldLvl="2" autoUpdateAnimBg="0"/>
      <p:bldP spid="88075" grpId="0" animBg="1" autoUpdateAnimBg="0"/>
      <p:bldP spid="88076" grpId="0" animBg="1" autoUpdateAnimBg="0"/>
      <p:bldP spid="88077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9" name="Rectangle 3">
            <a:extLst>
              <a:ext uri="{FF2B5EF4-FFF2-40B4-BE49-F238E27FC236}">
                <a16:creationId xmlns:a16="http://schemas.microsoft.com/office/drawing/2014/main" id="{8C7E4429-CEC3-7D6E-D2C6-B4569F8B20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152400"/>
            <a:ext cx="8382000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ko-KR" sz="4000" dirty="0">
                <a:ea typeface="굴림" charset="-127"/>
              </a:rPr>
              <a:t>Calculate the Probabilities </a:t>
            </a:r>
            <a:br>
              <a:rPr lang="en-US" altLang="ko-KR" sz="4000" dirty="0">
                <a:ea typeface="굴림" charset="-127"/>
              </a:rPr>
            </a:br>
            <a:r>
              <a:rPr lang="en-US" altLang="ko-KR" sz="4000" dirty="0">
                <a:ea typeface="굴림" charset="-127"/>
              </a:rPr>
              <a:t>of an Event</a:t>
            </a:r>
          </a:p>
        </p:txBody>
      </p:sp>
      <p:sp>
        <p:nvSpPr>
          <p:cNvPr id="142341" name="Rectangle 5">
            <a:extLst>
              <a:ext uri="{FF2B5EF4-FFF2-40B4-BE49-F238E27FC236}">
                <a16:creationId xmlns:a16="http://schemas.microsoft.com/office/drawing/2014/main" id="{5163BEAF-FDCF-E4F4-4360-11067FBCB7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34988" y="1752599"/>
            <a:ext cx="9430871" cy="4128248"/>
          </a:xfrm>
        </p:spPr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</a:pPr>
            <a:endParaRPr lang="en-US" altLang="ko-KR" dirty="0">
              <a:ea typeface="굴림" panose="020B0600000101010101" pitchFamily="34" charset="-127"/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ko-KR" dirty="0">
                <a:ea typeface="굴림" panose="020B0600000101010101" pitchFamily="34" charset="-127"/>
              </a:rPr>
              <a:t>List all the simple events in the sample space.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ko-KR" dirty="0">
                <a:ea typeface="굴림" panose="020B0600000101010101" pitchFamily="34" charset="-127"/>
              </a:rPr>
              <a:t>Assign an appropriate probability to each simple event.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ko-KR" dirty="0">
                <a:ea typeface="굴림" panose="020B0600000101010101" pitchFamily="34" charset="-127"/>
              </a:rPr>
              <a:t>Determine which simple events result in the event of interest.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ko-KR" dirty="0">
                <a:ea typeface="굴림" panose="020B0600000101010101" pitchFamily="34" charset="-127"/>
              </a:rPr>
              <a:t>Sum the probabilities of the simple events that result in the event of interest</a:t>
            </a:r>
          </a:p>
        </p:txBody>
      </p:sp>
      <p:grpSp>
        <p:nvGrpSpPr>
          <p:cNvPr id="15365" name="Group 6">
            <a:extLst>
              <a:ext uri="{FF2B5EF4-FFF2-40B4-BE49-F238E27FC236}">
                <a16:creationId xmlns:a16="http://schemas.microsoft.com/office/drawing/2014/main" id="{AE81ADE2-07AC-F486-62DE-AD0F1E688C21}"/>
              </a:ext>
            </a:extLst>
          </p:cNvPr>
          <p:cNvGrpSpPr>
            <a:grpSpLocks/>
          </p:cNvGrpSpPr>
          <p:nvPr/>
        </p:nvGrpSpPr>
        <p:grpSpPr bwMode="auto">
          <a:xfrm>
            <a:off x="10358718" y="0"/>
            <a:ext cx="1752600" cy="1524000"/>
            <a:chOff x="4560" y="48"/>
            <a:chExt cx="1104" cy="960"/>
          </a:xfrm>
        </p:grpSpPr>
        <p:sp>
          <p:nvSpPr>
            <p:cNvPr id="15366" name="Rectangle 7">
              <a:extLst>
                <a:ext uri="{FF2B5EF4-FFF2-40B4-BE49-F238E27FC236}">
                  <a16:creationId xmlns:a16="http://schemas.microsoft.com/office/drawing/2014/main" id="{E0DDD6C8-6F50-D6ED-9154-8BBD4CF1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48"/>
              <a:ext cx="1104" cy="960"/>
            </a:xfrm>
            <a:prstGeom prst="rect">
              <a:avLst/>
            </a:prstGeom>
            <a:solidFill>
              <a:srgbClr val="F4ECC6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15367" name="Picture 8" descr="coins">
              <a:extLst>
                <a:ext uri="{FF2B5EF4-FFF2-40B4-BE49-F238E27FC236}">
                  <a16:creationId xmlns:a16="http://schemas.microsoft.com/office/drawing/2014/main" id="{8B979EC1-0F50-21FE-8469-D6EF117C76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8" y="108"/>
              <a:ext cx="1010" cy="852"/>
            </a:xfrm>
            <a:prstGeom prst="rect">
              <a:avLst/>
            </a:prstGeom>
            <a:noFill/>
            <a:ln w="9525">
              <a:solidFill>
                <a:srgbClr val="CC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2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2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2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2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1" grpId="0" build="p" bldLvl="2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9C20BEDD-CEEE-8ADF-FCFE-D7F50CA05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152400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ea typeface="굴림" charset="-127"/>
              </a:rPr>
              <a:t>Example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30046AA4-D082-5EF2-C79F-BED762DE63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752600"/>
            <a:ext cx="8229600" cy="1143000"/>
          </a:xfrm>
          <a:noFill/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ko-KR" sz="3200">
                <a:ea typeface="굴림" panose="020B0600000101010101" pitchFamily="34" charset="-127"/>
              </a:rPr>
              <a:t>Toss a fair coin twice. What is the probability of observing at least one head?</a:t>
            </a:r>
          </a:p>
        </p:txBody>
      </p:sp>
      <p:grpSp>
        <p:nvGrpSpPr>
          <p:cNvPr id="86050" name="Group 34">
            <a:extLst>
              <a:ext uri="{FF2B5EF4-FFF2-40B4-BE49-F238E27FC236}">
                <a16:creationId xmlns:a16="http://schemas.microsoft.com/office/drawing/2014/main" id="{8C39449B-FFD5-0E9D-8160-F950B7B737D6}"/>
              </a:ext>
            </a:extLst>
          </p:cNvPr>
          <p:cNvGrpSpPr>
            <a:grpSpLocks/>
          </p:cNvGrpSpPr>
          <p:nvPr/>
        </p:nvGrpSpPr>
        <p:grpSpPr bwMode="auto">
          <a:xfrm>
            <a:off x="3124201" y="3657598"/>
            <a:ext cx="1752599" cy="536575"/>
            <a:chOff x="1008" y="2304"/>
            <a:chExt cx="1104" cy="338"/>
          </a:xfrm>
        </p:grpSpPr>
        <p:sp>
          <p:nvSpPr>
            <p:cNvPr id="16411" name="Text Box 15">
              <a:extLst>
                <a:ext uri="{FF2B5EF4-FFF2-40B4-BE49-F238E27FC236}">
                  <a16:creationId xmlns:a16="http://schemas.microsoft.com/office/drawing/2014/main" id="{4DE90B17-2267-F523-575E-83034E0EB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304"/>
              <a:ext cx="336" cy="291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H</a:t>
              </a:r>
            </a:p>
          </p:txBody>
        </p:sp>
        <p:cxnSp>
          <p:nvCxnSpPr>
            <p:cNvPr id="16412" name="AutoShape 16">
              <a:extLst>
                <a:ext uri="{FF2B5EF4-FFF2-40B4-BE49-F238E27FC236}">
                  <a16:creationId xmlns:a16="http://schemas.microsoft.com/office/drawing/2014/main" id="{600F8212-AB1C-9E74-E012-4F3182542671}"/>
                </a:ext>
              </a:extLst>
            </p:cNvPr>
            <p:cNvCxnSpPr>
              <a:cxnSpLocks noChangeShapeType="1"/>
              <a:stCxn id="86034" idx="3"/>
              <a:endCxn id="16411" idx="1"/>
            </p:cNvCxnSpPr>
            <p:nvPr/>
          </p:nvCxnSpPr>
          <p:spPr bwMode="auto">
            <a:xfrm flipV="1">
              <a:off x="1008" y="2450"/>
              <a:ext cx="768" cy="192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6390" name="Text Box 17">
            <a:extLst>
              <a:ext uri="{FF2B5EF4-FFF2-40B4-BE49-F238E27FC236}">
                <a16:creationId xmlns:a16="http://schemas.microsoft.com/office/drawing/2014/main" id="{CA568EF3-BDB2-4111-23A2-6DBE9D7B1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200400"/>
            <a:ext cx="464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u="sng">
                <a:solidFill>
                  <a:srgbClr val="339933"/>
                </a:solidFill>
                <a:ea typeface="굴림" panose="020B0600000101010101" pitchFamily="34" charset="-127"/>
              </a:rPr>
              <a:t>1st Coin     2nd Coin     E</a:t>
            </a:r>
            <a:r>
              <a:rPr lang="en-US" altLang="ko-KR" i="1" u="sng" baseline="-25000">
                <a:solidFill>
                  <a:srgbClr val="339933"/>
                </a:solidFill>
                <a:ea typeface="굴림" panose="020B0600000101010101" pitchFamily="34" charset="-127"/>
              </a:rPr>
              <a:t>i</a:t>
            </a:r>
            <a:r>
              <a:rPr lang="en-US" altLang="ko-KR" u="sng">
                <a:solidFill>
                  <a:srgbClr val="339933"/>
                </a:solidFill>
                <a:ea typeface="굴림" panose="020B0600000101010101" pitchFamily="34" charset="-127"/>
              </a:rPr>
              <a:t>         P(E</a:t>
            </a:r>
            <a:r>
              <a:rPr lang="en-US" altLang="ko-KR" i="1" u="sng" baseline="-25000">
                <a:solidFill>
                  <a:srgbClr val="339933"/>
                </a:solidFill>
                <a:ea typeface="굴림" panose="020B0600000101010101" pitchFamily="34" charset="-127"/>
              </a:rPr>
              <a:t>i</a:t>
            </a:r>
            <a:r>
              <a:rPr lang="en-US" altLang="ko-KR" u="sng">
                <a:solidFill>
                  <a:srgbClr val="339933"/>
                </a:solidFill>
                <a:ea typeface="굴림" panose="020B0600000101010101" pitchFamily="34" charset="-127"/>
              </a:rPr>
              <a:t>)</a:t>
            </a:r>
            <a:r>
              <a:rPr lang="en-US" altLang="ko-KR" baseline="-25000">
                <a:solidFill>
                  <a:srgbClr val="339933"/>
                </a:solidFill>
                <a:ea typeface="굴림" panose="020B0600000101010101" pitchFamily="34" charset="-127"/>
              </a:rPr>
              <a:t> </a:t>
            </a:r>
          </a:p>
        </p:txBody>
      </p:sp>
      <p:sp>
        <p:nvSpPr>
          <p:cNvPr id="86034" name="Text Box 18">
            <a:extLst>
              <a:ext uri="{FF2B5EF4-FFF2-40B4-BE49-F238E27FC236}">
                <a16:creationId xmlns:a16="http://schemas.microsoft.com/office/drawing/2014/main" id="{0838DD1B-CC88-C90B-9DF1-BC6F272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962401"/>
            <a:ext cx="533400" cy="46166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b="1">
                <a:solidFill>
                  <a:srgbClr val="333333"/>
                </a:solidFill>
                <a:ea typeface="굴림" panose="020B0600000101010101" pitchFamily="34" charset="-127"/>
              </a:rPr>
              <a:t>H</a:t>
            </a:r>
          </a:p>
        </p:txBody>
      </p:sp>
      <p:sp>
        <p:nvSpPr>
          <p:cNvPr id="86036" name="Text Box 20">
            <a:extLst>
              <a:ext uri="{FF2B5EF4-FFF2-40B4-BE49-F238E27FC236}">
                <a16:creationId xmlns:a16="http://schemas.microsoft.com/office/drawing/2014/main" id="{AB39EBA2-0AB7-499D-6DA1-F10DEAB6E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229226"/>
            <a:ext cx="533400" cy="46166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b="1">
                <a:solidFill>
                  <a:srgbClr val="333333"/>
                </a:solidFill>
                <a:ea typeface="굴림" panose="020B0600000101010101" pitchFamily="34" charset="-127"/>
              </a:rPr>
              <a:t>T</a:t>
            </a:r>
          </a:p>
        </p:txBody>
      </p:sp>
      <p:grpSp>
        <p:nvGrpSpPr>
          <p:cNvPr id="86051" name="Group 35">
            <a:extLst>
              <a:ext uri="{FF2B5EF4-FFF2-40B4-BE49-F238E27FC236}">
                <a16:creationId xmlns:a16="http://schemas.microsoft.com/office/drawing/2014/main" id="{97DD07C8-FC3B-8B37-92D1-F83C7802E31A}"/>
              </a:ext>
            </a:extLst>
          </p:cNvPr>
          <p:cNvGrpSpPr>
            <a:grpSpLocks/>
          </p:cNvGrpSpPr>
          <p:nvPr/>
        </p:nvGrpSpPr>
        <p:grpSpPr bwMode="auto">
          <a:xfrm>
            <a:off x="3124201" y="4192593"/>
            <a:ext cx="1752599" cy="536575"/>
            <a:chOff x="1008" y="2641"/>
            <a:chExt cx="1104" cy="338"/>
          </a:xfrm>
        </p:grpSpPr>
        <p:sp>
          <p:nvSpPr>
            <p:cNvPr id="16409" name="Text Box 22">
              <a:extLst>
                <a:ext uri="{FF2B5EF4-FFF2-40B4-BE49-F238E27FC236}">
                  <a16:creationId xmlns:a16="http://schemas.microsoft.com/office/drawing/2014/main" id="{C667341D-BD27-F6E4-74E0-B1AFFA1492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688"/>
              <a:ext cx="336" cy="291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T</a:t>
              </a:r>
            </a:p>
          </p:txBody>
        </p:sp>
        <p:cxnSp>
          <p:nvCxnSpPr>
            <p:cNvPr id="16410" name="AutoShape 23">
              <a:extLst>
                <a:ext uri="{FF2B5EF4-FFF2-40B4-BE49-F238E27FC236}">
                  <a16:creationId xmlns:a16="http://schemas.microsoft.com/office/drawing/2014/main" id="{F79B19D8-4170-F1C3-EE8E-190DF98A0851}"/>
                </a:ext>
              </a:extLst>
            </p:cNvPr>
            <p:cNvCxnSpPr>
              <a:cxnSpLocks noChangeShapeType="1"/>
              <a:stCxn id="86034" idx="3"/>
              <a:endCxn id="16409" idx="1"/>
            </p:cNvCxnSpPr>
            <p:nvPr/>
          </p:nvCxnSpPr>
          <p:spPr bwMode="auto">
            <a:xfrm>
              <a:off x="1008" y="2641"/>
              <a:ext cx="768" cy="192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6052" name="Group 36">
            <a:extLst>
              <a:ext uri="{FF2B5EF4-FFF2-40B4-BE49-F238E27FC236}">
                <a16:creationId xmlns:a16="http://schemas.microsoft.com/office/drawing/2014/main" id="{5155FF54-5AC8-CDD2-181A-7A049166BE4B}"/>
              </a:ext>
            </a:extLst>
          </p:cNvPr>
          <p:cNvGrpSpPr>
            <a:grpSpLocks/>
          </p:cNvGrpSpPr>
          <p:nvPr/>
        </p:nvGrpSpPr>
        <p:grpSpPr bwMode="auto">
          <a:xfrm>
            <a:off x="3124201" y="4848229"/>
            <a:ext cx="1752599" cy="612776"/>
            <a:chOff x="1008" y="3054"/>
            <a:chExt cx="1104" cy="386"/>
          </a:xfrm>
        </p:grpSpPr>
        <p:sp>
          <p:nvSpPr>
            <p:cNvPr id="16407" name="Text Box 19">
              <a:extLst>
                <a:ext uri="{FF2B5EF4-FFF2-40B4-BE49-F238E27FC236}">
                  <a16:creationId xmlns:a16="http://schemas.microsoft.com/office/drawing/2014/main" id="{6266ED53-1178-095F-25E4-CAE631AB26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054"/>
              <a:ext cx="336" cy="291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H</a:t>
              </a:r>
            </a:p>
          </p:txBody>
        </p:sp>
        <p:cxnSp>
          <p:nvCxnSpPr>
            <p:cNvPr id="16408" name="AutoShape 24">
              <a:extLst>
                <a:ext uri="{FF2B5EF4-FFF2-40B4-BE49-F238E27FC236}">
                  <a16:creationId xmlns:a16="http://schemas.microsoft.com/office/drawing/2014/main" id="{4F8AFD2B-C62E-FFB4-C188-0E8D4BBAF544}"/>
                </a:ext>
              </a:extLst>
            </p:cNvPr>
            <p:cNvCxnSpPr>
              <a:cxnSpLocks noChangeShapeType="1"/>
              <a:stCxn id="86036" idx="3"/>
              <a:endCxn id="16407" idx="1"/>
            </p:cNvCxnSpPr>
            <p:nvPr/>
          </p:nvCxnSpPr>
          <p:spPr bwMode="auto">
            <a:xfrm flipV="1">
              <a:off x="1008" y="3200"/>
              <a:ext cx="768" cy="240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6053" name="Group 37">
            <a:extLst>
              <a:ext uri="{FF2B5EF4-FFF2-40B4-BE49-F238E27FC236}">
                <a16:creationId xmlns:a16="http://schemas.microsoft.com/office/drawing/2014/main" id="{0791ED21-A865-6C03-DA9A-12DA9BB61B3E}"/>
              </a:ext>
            </a:extLst>
          </p:cNvPr>
          <p:cNvGrpSpPr>
            <a:grpSpLocks/>
          </p:cNvGrpSpPr>
          <p:nvPr/>
        </p:nvGrpSpPr>
        <p:grpSpPr bwMode="auto">
          <a:xfrm>
            <a:off x="3124201" y="5459419"/>
            <a:ext cx="1752599" cy="536575"/>
            <a:chOff x="1008" y="3439"/>
            <a:chExt cx="1104" cy="338"/>
          </a:xfrm>
        </p:grpSpPr>
        <p:sp>
          <p:nvSpPr>
            <p:cNvPr id="16405" name="Text Box 21">
              <a:extLst>
                <a:ext uri="{FF2B5EF4-FFF2-40B4-BE49-F238E27FC236}">
                  <a16:creationId xmlns:a16="http://schemas.microsoft.com/office/drawing/2014/main" id="{FA40DE86-E7E7-8B61-280B-723EF1BEB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486"/>
              <a:ext cx="336" cy="291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T</a:t>
              </a:r>
            </a:p>
          </p:txBody>
        </p:sp>
        <p:cxnSp>
          <p:nvCxnSpPr>
            <p:cNvPr id="16406" name="AutoShape 25">
              <a:extLst>
                <a:ext uri="{FF2B5EF4-FFF2-40B4-BE49-F238E27FC236}">
                  <a16:creationId xmlns:a16="http://schemas.microsoft.com/office/drawing/2014/main" id="{7CAEA869-3993-9062-B7A3-0E320B597FBD}"/>
                </a:ext>
              </a:extLst>
            </p:cNvPr>
            <p:cNvCxnSpPr>
              <a:cxnSpLocks noChangeShapeType="1"/>
              <a:stCxn id="86036" idx="3"/>
              <a:endCxn id="16405" idx="1"/>
            </p:cNvCxnSpPr>
            <p:nvPr/>
          </p:nvCxnSpPr>
          <p:spPr bwMode="auto">
            <a:xfrm>
              <a:off x="1008" y="3439"/>
              <a:ext cx="768" cy="192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86042" name="Text Box 26">
            <a:extLst>
              <a:ext uri="{FF2B5EF4-FFF2-40B4-BE49-F238E27FC236}">
                <a16:creationId xmlns:a16="http://schemas.microsoft.com/office/drawing/2014/main" id="{44CED72C-9210-0992-F758-3A46F39A0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657601"/>
            <a:ext cx="762000" cy="46166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b="1">
                <a:solidFill>
                  <a:srgbClr val="333333"/>
                </a:solidFill>
                <a:ea typeface="굴림" panose="020B0600000101010101" pitchFamily="34" charset="-127"/>
              </a:rPr>
              <a:t>HH</a:t>
            </a:r>
          </a:p>
        </p:txBody>
      </p:sp>
      <p:sp>
        <p:nvSpPr>
          <p:cNvPr id="86044" name="Text Box 28">
            <a:extLst>
              <a:ext uri="{FF2B5EF4-FFF2-40B4-BE49-F238E27FC236}">
                <a16:creationId xmlns:a16="http://schemas.microsoft.com/office/drawing/2014/main" id="{155D2D10-44E0-BA87-5876-EFDF23480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267201"/>
            <a:ext cx="762000" cy="46166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b="1">
                <a:solidFill>
                  <a:srgbClr val="333333"/>
                </a:solidFill>
                <a:ea typeface="굴림" panose="020B0600000101010101" pitchFamily="34" charset="-127"/>
              </a:rPr>
              <a:t>HT</a:t>
            </a:r>
          </a:p>
        </p:txBody>
      </p:sp>
      <p:sp>
        <p:nvSpPr>
          <p:cNvPr id="86045" name="Text Box 29">
            <a:extLst>
              <a:ext uri="{FF2B5EF4-FFF2-40B4-BE49-F238E27FC236}">
                <a16:creationId xmlns:a16="http://schemas.microsoft.com/office/drawing/2014/main" id="{599037D6-438E-866C-0A23-EE79111AF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876801"/>
            <a:ext cx="762000" cy="46166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b="1">
                <a:solidFill>
                  <a:srgbClr val="333333"/>
                </a:solidFill>
                <a:ea typeface="굴림" panose="020B0600000101010101" pitchFamily="34" charset="-127"/>
              </a:rPr>
              <a:t>TH</a:t>
            </a:r>
          </a:p>
        </p:txBody>
      </p:sp>
      <p:sp>
        <p:nvSpPr>
          <p:cNvPr id="86046" name="Text Box 30">
            <a:extLst>
              <a:ext uri="{FF2B5EF4-FFF2-40B4-BE49-F238E27FC236}">
                <a16:creationId xmlns:a16="http://schemas.microsoft.com/office/drawing/2014/main" id="{A23589D0-BBA6-3BF5-7E95-47CB4DC1D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486401"/>
            <a:ext cx="762000" cy="46166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b="1">
                <a:solidFill>
                  <a:srgbClr val="333333"/>
                </a:solidFill>
                <a:ea typeface="굴림" panose="020B0600000101010101" pitchFamily="34" charset="-127"/>
              </a:rPr>
              <a:t>TT</a:t>
            </a:r>
          </a:p>
        </p:txBody>
      </p:sp>
      <p:sp>
        <p:nvSpPr>
          <p:cNvPr id="86048" name="Text Box 32">
            <a:extLst>
              <a:ext uri="{FF2B5EF4-FFF2-40B4-BE49-F238E27FC236}">
                <a16:creationId xmlns:a16="http://schemas.microsoft.com/office/drawing/2014/main" id="{4F3B2A1B-2F94-0BCD-E84B-13EE8E549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733800"/>
            <a:ext cx="7620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1/4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1/4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1/4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1/4</a:t>
            </a:r>
            <a:endParaRPr lang="en-US" altLang="ko-KR">
              <a:ea typeface="굴림" panose="020B0600000101010101" pitchFamily="34" charset="-127"/>
            </a:endParaRPr>
          </a:p>
        </p:txBody>
      </p:sp>
      <p:sp>
        <p:nvSpPr>
          <p:cNvPr id="86049" name="Text Box 33">
            <a:extLst>
              <a:ext uri="{FF2B5EF4-FFF2-40B4-BE49-F238E27FC236}">
                <a16:creationId xmlns:a16="http://schemas.microsoft.com/office/drawing/2014/main" id="{E5ADB94A-5DE9-957D-CC19-ABE9A59FA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3808413"/>
            <a:ext cx="3124200" cy="158115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P(at least 1 head)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= P(E</a:t>
            </a:r>
            <a:r>
              <a:rPr lang="en-US" altLang="ko-KR" baseline="-25000">
                <a:solidFill>
                  <a:srgbClr val="333333"/>
                </a:solidFill>
                <a:ea typeface="굴림" panose="020B0600000101010101" pitchFamily="34" charset="-127"/>
              </a:rPr>
              <a:t>1</a:t>
            </a: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) + P(E</a:t>
            </a:r>
            <a:r>
              <a:rPr lang="en-US" altLang="ko-KR" baseline="-25000">
                <a:solidFill>
                  <a:srgbClr val="333333"/>
                </a:solidFill>
                <a:ea typeface="굴림" panose="020B0600000101010101" pitchFamily="34" charset="-127"/>
              </a:rPr>
              <a:t>2</a:t>
            </a: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) + P(E</a:t>
            </a:r>
            <a:r>
              <a:rPr lang="en-US" altLang="ko-KR" baseline="-25000">
                <a:solidFill>
                  <a:srgbClr val="333333"/>
                </a:solidFill>
                <a:ea typeface="굴림" panose="020B0600000101010101" pitchFamily="34" charset="-127"/>
              </a:rPr>
              <a:t>3</a:t>
            </a: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 = 1/4 + 1/4 + 1/4 = 3/4</a:t>
            </a:r>
          </a:p>
        </p:txBody>
      </p:sp>
      <p:grpSp>
        <p:nvGrpSpPr>
          <p:cNvPr id="16402" name="Group 45">
            <a:extLst>
              <a:ext uri="{FF2B5EF4-FFF2-40B4-BE49-F238E27FC236}">
                <a16:creationId xmlns:a16="http://schemas.microsoft.com/office/drawing/2014/main" id="{D14676D7-8AEB-B604-3E40-61A7B6D417FF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76200"/>
            <a:ext cx="1752600" cy="1524000"/>
            <a:chOff x="4560" y="48"/>
            <a:chExt cx="1104" cy="960"/>
          </a:xfrm>
        </p:grpSpPr>
        <p:sp>
          <p:nvSpPr>
            <p:cNvPr id="16403" name="Rectangle 46">
              <a:extLst>
                <a:ext uri="{FF2B5EF4-FFF2-40B4-BE49-F238E27FC236}">
                  <a16:creationId xmlns:a16="http://schemas.microsoft.com/office/drawing/2014/main" id="{73C37A51-509E-2DF5-44BE-614067332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48"/>
              <a:ext cx="1104" cy="960"/>
            </a:xfrm>
            <a:prstGeom prst="rect">
              <a:avLst/>
            </a:prstGeom>
            <a:solidFill>
              <a:srgbClr val="F4ECC6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16404" name="Picture 47" descr="coins">
              <a:extLst>
                <a:ext uri="{FF2B5EF4-FFF2-40B4-BE49-F238E27FC236}">
                  <a16:creationId xmlns:a16="http://schemas.microsoft.com/office/drawing/2014/main" id="{1B6E1087-BE4A-A5FD-12F0-83DC965D8C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8" y="108"/>
              <a:ext cx="1010" cy="852"/>
            </a:xfrm>
            <a:prstGeom prst="rect">
              <a:avLst/>
            </a:prstGeom>
            <a:noFill/>
            <a:ln w="9525">
              <a:solidFill>
                <a:srgbClr val="CC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8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8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60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86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860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860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34" grpId="0" animBg="1" autoUpdateAnimBg="0"/>
      <p:bldP spid="86036" grpId="0" animBg="1" autoUpdateAnimBg="0"/>
      <p:bldP spid="86042" grpId="0" animBg="1" autoUpdateAnimBg="0"/>
      <p:bldP spid="86044" grpId="0" animBg="1" autoUpdateAnimBg="0"/>
      <p:bldP spid="86045" grpId="0" animBg="1" autoUpdateAnimBg="0"/>
      <p:bldP spid="86046" grpId="0" animBg="1" autoUpdateAnimBg="0"/>
      <p:bldP spid="86048" grpId="0" autoUpdateAnimBg="0"/>
      <p:bldP spid="86049" grpId="0" build="p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09372A90-45D1-AAF2-E6F0-D1ADD51A4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0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ea typeface="굴림" charset="-127"/>
              </a:rPr>
              <a:t>Example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C8E639DA-C191-C6F1-C1BC-492ECE25DD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399" y="1232066"/>
            <a:ext cx="9381565" cy="1600200"/>
          </a:xfrm>
          <a:noFill/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ko-KR" dirty="0">
                <a:ea typeface="굴림" panose="020B0600000101010101" pitchFamily="34" charset="-127"/>
              </a:rPr>
              <a:t>A bowl contains three M&amp;Ms</a:t>
            </a:r>
            <a:r>
              <a:rPr lang="en-US" altLang="ko-KR" baseline="30000" dirty="0">
                <a:ea typeface="굴림" panose="020B0600000101010101" pitchFamily="34" charset="-127"/>
              </a:rPr>
              <a:t>®</a:t>
            </a:r>
            <a:r>
              <a:rPr lang="en-US" altLang="ko-KR" dirty="0">
                <a:ea typeface="굴림" panose="020B0600000101010101" pitchFamily="34" charset="-127"/>
              </a:rPr>
              <a:t>, one red, one blue and one green. A child selects two M&amp;Ms at random. What is the probability that at least one is red?</a:t>
            </a:r>
          </a:p>
        </p:txBody>
      </p:sp>
      <p:sp>
        <p:nvSpPr>
          <p:cNvPr id="103435" name="Text Box 11">
            <a:extLst>
              <a:ext uri="{FF2B5EF4-FFF2-40B4-BE49-F238E27FC236}">
                <a16:creationId xmlns:a16="http://schemas.microsoft.com/office/drawing/2014/main" id="{EF6C8678-7850-1680-373A-6CB25BAA8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8956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u="sng">
                <a:solidFill>
                  <a:srgbClr val="339933"/>
                </a:solidFill>
                <a:ea typeface="굴림" panose="020B0600000101010101" pitchFamily="34" charset="-127"/>
              </a:rPr>
              <a:t>1st M&amp;M     2nd M&amp;M     E</a:t>
            </a:r>
            <a:r>
              <a:rPr lang="en-US" altLang="ko-KR" u="sng" baseline="-25000">
                <a:solidFill>
                  <a:srgbClr val="339933"/>
                </a:solidFill>
                <a:ea typeface="굴림" panose="020B0600000101010101" pitchFamily="34" charset="-127"/>
              </a:rPr>
              <a:t>i</a:t>
            </a:r>
            <a:r>
              <a:rPr lang="en-US" altLang="ko-KR" u="sng">
                <a:solidFill>
                  <a:srgbClr val="339933"/>
                </a:solidFill>
                <a:ea typeface="굴림" panose="020B0600000101010101" pitchFamily="34" charset="-127"/>
              </a:rPr>
              <a:t>         P(E</a:t>
            </a:r>
            <a:r>
              <a:rPr lang="en-US" altLang="ko-KR" u="sng" baseline="-25000">
                <a:solidFill>
                  <a:srgbClr val="339933"/>
                </a:solidFill>
                <a:ea typeface="굴림" panose="020B0600000101010101" pitchFamily="34" charset="-127"/>
              </a:rPr>
              <a:t>i</a:t>
            </a:r>
            <a:r>
              <a:rPr lang="en-US" altLang="ko-KR" u="sng">
                <a:solidFill>
                  <a:srgbClr val="339933"/>
                </a:solidFill>
                <a:ea typeface="굴림" panose="020B0600000101010101" pitchFamily="34" charset="-127"/>
              </a:rPr>
              <a:t>)</a:t>
            </a:r>
            <a:r>
              <a:rPr lang="en-US" altLang="ko-KR" baseline="-25000">
                <a:solidFill>
                  <a:srgbClr val="339933"/>
                </a:solidFill>
                <a:ea typeface="굴림" panose="020B0600000101010101" pitchFamily="34" charset="-127"/>
              </a:rPr>
              <a:t> </a:t>
            </a:r>
          </a:p>
        </p:txBody>
      </p:sp>
      <p:sp>
        <p:nvSpPr>
          <p:cNvPr id="103447" name="Text Box 23">
            <a:extLst>
              <a:ext uri="{FF2B5EF4-FFF2-40B4-BE49-F238E27FC236}">
                <a16:creationId xmlns:a16="http://schemas.microsoft.com/office/drawing/2014/main" id="{D190AE53-2897-DFF7-B088-E3988C4CF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324225"/>
            <a:ext cx="685800" cy="40011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2000" b="1">
                <a:solidFill>
                  <a:srgbClr val="333333"/>
                </a:solidFill>
                <a:ea typeface="굴림" panose="020B0600000101010101" pitchFamily="34" charset="-127"/>
              </a:rPr>
              <a:t>RB</a:t>
            </a:r>
          </a:p>
        </p:txBody>
      </p:sp>
      <p:sp>
        <p:nvSpPr>
          <p:cNvPr id="103448" name="Text Box 24">
            <a:extLst>
              <a:ext uri="{FF2B5EF4-FFF2-40B4-BE49-F238E27FC236}">
                <a16:creationId xmlns:a16="http://schemas.microsoft.com/office/drawing/2014/main" id="{DC6B5048-DB54-D5C6-735D-913F017FA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810000"/>
            <a:ext cx="685800" cy="40011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2000" b="1">
                <a:solidFill>
                  <a:srgbClr val="333333"/>
                </a:solidFill>
                <a:ea typeface="굴림" panose="020B0600000101010101" pitchFamily="34" charset="-127"/>
              </a:rPr>
              <a:t>RG</a:t>
            </a:r>
          </a:p>
        </p:txBody>
      </p:sp>
      <p:sp>
        <p:nvSpPr>
          <p:cNvPr id="103449" name="Text Box 25">
            <a:extLst>
              <a:ext uri="{FF2B5EF4-FFF2-40B4-BE49-F238E27FC236}">
                <a16:creationId xmlns:a16="http://schemas.microsoft.com/office/drawing/2014/main" id="{68657DD1-ED3E-75CC-D4F6-AC2E663CC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343400"/>
            <a:ext cx="685800" cy="40011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2000" b="1">
                <a:solidFill>
                  <a:srgbClr val="333333"/>
                </a:solidFill>
                <a:ea typeface="굴림" panose="020B0600000101010101" pitchFamily="34" charset="-127"/>
              </a:rPr>
              <a:t>BR</a:t>
            </a:r>
          </a:p>
        </p:txBody>
      </p:sp>
      <p:sp>
        <p:nvSpPr>
          <p:cNvPr id="103450" name="Text Box 26">
            <a:extLst>
              <a:ext uri="{FF2B5EF4-FFF2-40B4-BE49-F238E27FC236}">
                <a16:creationId xmlns:a16="http://schemas.microsoft.com/office/drawing/2014/main" id="{27A6BDC0-511B-FD2E-832B-C42BD4388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876800"/>
            <a:ext cx="685800" cy="40011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2000" b="1">
                <a:solidFill>
                  <a:srgbClr val="333333"/>
                </a:solidFill>
                <a:ea typeface="굴림" panose="020B0600000101010101" pitchFamily="34" charset="-127"/>
              </a:rPr>
              <a:t>BG</a:t>
            </a:r>
          </a:p>
        </p:txBody>
      </p:sp>
      <p:sp>
        <p:nvSpPr>
          <p:cNvPr id="103451" name="Text Box 27">
            <a:extLst>
              <a:ext uri="{FF2B5EF4-FFF2-40B4-BE49-F238E27FC236}">
                <a16:creationId xmlns:a16="http://schemas.microsoft.com/office/drawing/2014/main" id="{78FA886C-7288-A5EF-0FE3-6539E33D2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352800"/>
            <a:ext cx="762000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1/6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1/6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1/6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1/6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1/6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1/6</a:t>
            </a:r>
            <a:endParaRPr lang="en-US" altLang="ko-KR">
              <a:ea typeface="굴림" panose="020B0600000101010101" pitchFamily="34" charset="-127"/>
            </a:endParaRPr>
          </a:p>
        </p:txBody>
      </p:sp>
      <p:sp>
        <p:nvSpPr>
          <p:cNvPr id="103452" name="Text Box 28">
            <a:extLst>
              <a:ext uri="{FF2B5EF4-FFF2-40B4-BE49-F238E27FC236}">
                <a16:creationId xmlns:a16="http://schemas.microsoft.com/office/drawing/2014/main" id="{22E4639E-58BD-9010-1D27-4985F5149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810001"/>
            <a:ext cx="3429000" cy="194627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P(at least 1 red)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= P(RB) + P(BR)+ P(RG) + P(GR)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</a:rPr>
              <a:t> = 4/6 = 2/3</a:t>
            </a:r>
          </a:p>
        </p:txBody>
      </p:sp>
      <p:grpSp>
        <p:nvGrpSpPr>
          <p:cNvPr id="103456" name="Group 32">
            <a:extLst>
              <a:ext uri="{FF2B5EF4-FFF2-40B4-BE49-F238E27FC236}">
                <a16:creationId xmlns:a16="http://schemas.microsoft.com/office/drawing/2014/main" id="{C62D1127-9B9D-2992-295E-BD49F2280E9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14601" y="3506788"/>
            <a:ext cx="379413" cy="455612"/>
            <a:chOff x="1776" y="144"/>
            <a:chExt cx="192" cy="230"/>
          </a:xfrm>
        </p:grpSpPr>
        <p:sp>
          <p:nvSpPr>
            <p:cNvPr id="17459" name="Oval 33">
              <a:extLst>
                <a:ext uri="{FF2B5EF4-FFF2-40B4-BE49-F238E27FC236}">
                  <a16:creationId xmlns:a16="http://schemas.microsoft.com/office/drawing/2014/main" id="{05B0D0F6-3E43-760A-58B2-EABB55F762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76" y="192"/>
              <a:ext cx="182" cy="18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460" name="Text Box 34">
              <a:extLst>
                <a:ext uri="{FF2B5EF4-FFF2-40B4-BE49-F238E27FC236}">
                  <a16:creationId xmlns:a16="http://schemas.microsoft.com/office/drawing/2014/main" id="{4E1D6594-0144-1505-2B63-91D86E0F057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78" y="144"/>
              <a:ext cx="190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800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103462" name="Group 38">
            <a:extLst>
              <a:ext uri="{FF2B5EF4-FFF2-40B4-BE49-F238E27FC236}">
                <a16:creationId xmlns:a16="http://schemas.microsoft.com/office/drawing/2014/main" id="{09A7A679-F968-AD56-CA62-EAB182A8784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14601" y="4508500"/>
            <a:ext cx="365125" cy="444500"/>
            <a:chOff x="5328" y="576"/>
            <a:chExt cx="184" cy="224"/>
          </a:xfrm>
        </p:grpSpPr>
        <p:sp>
          <p:nvSpPr>
            <p:cNvPr id="17457" name="Oval 39">
              <a:extLst>
                <a:ext uri="{FF2B5EF4-FFF2-40B4-BE49-F238E27FC236}">
                  <a16:creationId xmlns:a16="http://schemas.microsoft.com/office/drawing/2014/main" id="{CCF8D90C-69E5-E043-89F3-8144EF797D0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28" y="624"/>
              <a:ext cx="176" cy="176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458" name="Text Box 40">
              <a:extLst>
                <a:ext uri="{FF2B5EF4-FFF2-40B4-BE49-F238E27FC236}">
                  <a16:creationId xmlns:a16="http://schemas.microsoft.com/office/drawing/2014/main" id="{45F1E231-42F9-7607-8D7A-5796D3E0C88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328" y="576"/>
              <a:ext cx="184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800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103471" name="Group 47">
            <a:extLst>
              <a:ext uri="{FF2B5EF4-FFF2-40B4-BE49-F238E27FC236}">
                <a16:creationId xmlns:a16="http://schemas.microsoft.com/office/drawing/2014/main" id="{1B032597-1536-2204-22AF-E4274240322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14601" y="5422900"/>
            <a:ext cx="365125" cy="444500"/>
            <a:chOff x="4944" y="192"/>
            <a:chExt cx="184" cy="224"/>
          </a:xfrm>
        </p:grpSpPr>
        <p:sp>
          <p:nvSpPr>
            <p:cNvPr id="17455" name="Oval 48">
              <a:extLst>
                <a:ext uri="{FF2B5EF4-FFF2-40B4-BE49-F238E27FC236}">
                  <a16:creationId xmlns:a16="http://schemas.microsoft.com/office/drawing/2014/main" id="{3DEE1165-827D-6365-C20E-A00E2BE39A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44" y="240"/>
              <a:ext cx="176" cy="176"/>
            </a:xfrm>
            <a:prstGeom prst="ellipse">
              <a:avLst/>
            </a:prstGeom>
            <a:solidFill>
              <a:srgbClr val="008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456" name="Text Box 49">
              <a:extLst>
                <a:ext uri="{FF2B5EF4-FFF2-40B4-BE49-F238E27FC236}">
                  <a16:creationId xmlns:a16="http://schemas.microsoft.com/office/drawing/2014/main" id="{6A5E7A50-FC48-7835-DD94-7FFCBE57D91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944" y="192"/>
              <a:ext cx="184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800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103494" name="Group 70">
            <a:extLst>
              <a:ext uri="{FF2B5EF4-FFF2-40B4-BE49-F238E27FC236}">
                <a16:creationId xmlns:a16="http://schemas.microsoft.com/office/drawing/2014/main" id="{144FF54A-5501-4BD5-E2E8-292F5E945F7D}"/>
              </a:ext>
            </a:extLst>
          </p:cNvPr>
          <p:cNvGrpSpPr>
            <a:grpSpLocks/>
          </p:cNvGrpSpPr>
          <p:nvPr/>
        </p:nvGrpSpPr>
        <p:grpSpPr bwMode="auto">
          <a:xfrm>
            <a:off x="2894013" y="3276600"/>
            <a:ext cx="1509712" cy="444500"/>
            <a:chOff x="863" y="2064"/>
            <a:chExt cx="951" cy="280"/>
          </a:xfrm>
        </p:grpSpPr>
        <p:grpSp>
          <p:nvGrpSpPr>
            <p:cNvPr id="17451" name="Group 44">
              <a:extLst>
                <a:ext uri="{FF2B5EF4-FFF2-40B4-BE49-F238E27FC236}">
                  <a16:creationId xmlns:a16="http://schemas.microsoft.com/office/drawing/2014/main" id="{7A87C979-F36E-E121-9EDE-554D5BCEE13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584" y="2064"/>
              <a:ext cx="230" cy="280"/>
              <a:chOff x="5328" y="576"/>
              <a:chExt cx="184" cy="224"/>
            </a:xfrm>
          </p:grpSpPr>
          <p:sp>
            <p:nvSpPr>
              <p:cNvPr id="17453" name="Oval 45">
                <a:extLst>
                  <a:ext uri="{FF2B5EF4-FFF2-40B4-BE49-F238E27FC236}">
                    <a16:creationId xmlns:a16="http://schemas.microsoft.com/office/drawing/2014/main" id="{B0E3223C-5DCD-9C3B-057C-EC38E4C208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28" y="624"/>
                <a:ext cx="176" cy="176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54" name="Text Box 46">
                <a:extLst>
                  <a:ext uri="{FF2B5EF4-FFF2-40B4-BE49-F238E27FC236}">
                    <a16:creationId xmlns:a16="http://schemas.microsoft.com/office/drawing/2014/main" id="{009B9436-FC30-EFD1-E0A0-BA6CF809223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5328" y="576"/>
                <a:ext cx="184" cy="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8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cxnSp>
          <p:nvCxnSpPr>
            <p:cNvPr id="17452" name="AutoShape 59">
              <a:extLst>
                <a:ext uri="{FF2B5EF4-FFF2-40B4-BE49-F238E27FC236}">
                  <a16:creationId xmlns:a16="http://schemas.microsoft.com/office/drawing/2014/main" id="{A6220CB0-2323-3E84-34F7-C3D81E9D025D}"/>
                </a:ext>
              </a:extLst>
            </p:cNvPr>
            <p:cNvCxnSpPr>
              <a:cxnSpLocks noChangeShapeType="1"/>
              <a:stCxn id="17460" idx="3"/>
            </p:cNvCxnSpPr>
            <p:nvPr/>
          </p:nvCxnSpPr>
          <p:spPr bwMode="auto">
            <a:xfrm flipV="1">
              <a:off x="863" y="2208"/>
              <a:ext cx="722" cy="11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3495" name="Group 71">
            <a:extLst>
              <a:ext uri="{FF2B5EF4-FFF2-40B4-BE49-F238E27FC236}">
                <a16:creationId xmlns:a16="http://schemas.microsoft.com/office/drawing/2014/main" id="{FB274E60-E6D5-7369-3AB5-C3D4600A0B81}"/>
              </a:ext>
            </a:extLst>
          </p:cNvPr>
          <p:cNvGrpSpPr>
            <a:grpSpLocks/>
          </p:cNvGrpSpPr>
          <p:nvPr/>
        </p:nvGrpSpPr>
        <p:grpSpPr bwMode="auto">
          <a:xfrm>
            <a:off x="2874963" y="3733800"/>
            <a:ext cx="1528762" cy="444500"/>
            <a:chOff x="851" y="2352"/>
            <a:chExt cx="963" cy="280"/>
          </a:xfrm>
        </p:grpSpPr>
        <p:grpSp>
          <p:nvGrpSpPr>
            <p:cNvPr id="17447" name="Group 29">
              <a:extLst>
                <a:ext uri="{FF2B5EF4-FFF2-40B4-BE49-F238E27FC236}">
                  <a16:creationId xmlns:a16="http://schemas.microsoft.com/office/drawing/2014/main" id="{9BFDC189-19DC-B754-1D71-985C3E6802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584" y="2352"/>
              <a:ext cx="230" cy="280"/>
              <a:chOff x="4944" y="192"/>
              <a:chExt cx="184" cy="224"/>
            </a:xfrm>
          </p:grpSpPr>
          <p:sp>
            <p:nvSpPr>
              <p:cNvPr id="17449" name="Oval 30">
                <a:extLst>
                  <a:ext uri="{FF2B5EF4-FFF2-40B4-BE49-F238E27FC236}">
                    <a16:creationId xmlns:a16="http://schemas.microsoft.com/office/drawing/2014/main" id="{D785CD6C-FA7C-3F4C-026A-6449322D4B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44" y="240"/>
                <a:ext cx="176" cy="176"/>
              </a:xfrm>
              <a:prstGeom prst="ellipse">
                <a:avLst/>
              </a:prstGeom>
              <a:solidFill>
                <a:srgbClr val="008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50" name="Text Box 31">
                <a:extLst>
                  <a:ext uri="{FF2B5EF4-FFF2-40B4-BE49-F238E27FC236}">
                    <a16:creationId xmlns:a16="http://schemas.microsoft.com/office/drawing/2014/main" id="{B52A5B29-4A65-954F-EAAB-1C06B13C8D9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4944" y="192"/>
                <a:ext cx="184" cy="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8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cxnSp>
          <p:nvCxnSpPr>
            <p:cNvPr id="17448" name="AutoShape 60">
              <a:extLst>
                <a:ext uri="{FF2B5EF4-FFF2-40B4-BE49-F238E27FC236}">
                  <a16:creationId xmlns:a16="http://schemas.microsoft.com/office/drawing/2014/main" id="{06B18980-E973-493C-D1F3-8002EB7C5820}"/>
                </a:ext>
              </a:extLst>
            </p:cNvPr>
            <p:cNvCxnSpPr>
              <a:cxnSpLocks noChangeShapeType="1"/>
              <a:stCxn id="17459" idx="6"/>
              <a:endCxn id="17450" idx="1"/>
            </p:cNvCxnSpPr>
            <p:nvPr/>
          </p:nvCxnSpPr>
          <p:spPr bwMode="auto">
            <a:xfrm>
              <a:off x="851" y="2383"/>
              <a:ext cx="733" cy="8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3497" name="Group 73">
            <a:extLst>
              <a:ext uri="{FF2B5EF4-FFF2-40B4-BE49-F238E27FC236}">
                <a16:creationId xmlns:a16="http://schemas.microsoft.com/office/drawing/2014/main" id="{A3595D8A-9EEC-D42E-EEB1-7CE9D133F0E6}"/>
              </a:ext>
            </a:extLst>
          </p:cNvPr>
          <p:cNvGrpSpPr>
            <a:grpSpLocks/>
          </p:cNvGrpSpPr>
          <p:nvPr/>
        </p:nvGrpSpPr>
        <p:grpSpPr bwMode="auto">
          <a:xfrm>
            <a:off x="2879725" y="4692650"/>
            <a:ext cx="1447800" cy="476250"/>
            <a:chOff x="854" y="2956"/>
            <a:chExt cx="912" cy="300"/>
          </a:xfrm>
        </p:grpSpPr>
        <p:grpSp>
          <p:nvGrpSpPr>
            <p:cNvPr id="17443" name="Group 53">
              <a:extLst>
                <a:ext uri="{FF2B5EF4-FFF2-40B4-BE49-F238E27FC236}">
                  <a16:creationId xmlns:a16="http://schemas.microsoft.com/office/drawing/2014/main" id="{DEC83F6F-A6C0-4F49-AAB1-548336B2AB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536" y="2976"/>
              <a:ext cx="230" cy="280"/>
              <a:chOff x="4944" y="192"/>
              <a:chExt cx="184" cy="224"/>
            </a:xfrm>
          </p:grpSpPr>
          <p:sp>
            <p:nvSpPr>
              <p:cNvPr id="17445" name="Oval 54">
                <a:extLst>
                  <a:ext uri="{FF2B5EF4-FFF2-40B4-BE49-F238E27FC236}">
                    <a16:creationId xmlns:a16="http://schemas.microsoft.com/office/drawing/2014/main" id="{46CFDC24-AC27-18B9-F635-2E3D7F0824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44" y="240"/>
                <a:ext cx="176" cy="176"/>
              </a:xfrm>
              <a:prstGeom prst="ellipse">
                <a:avLst/>
              </a:prstGeom>
              <a:solidFill>
                <a:srgbClr val="008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46" name="Text Box 55">
                <a:extLst>
                  <a:ext uri="{FF2B5EF4-FFF2-40B4-BE49-F238E27FC236}">
                    <a16:creationId xmlns:a16="http://schemas.microsoft.com/office/drawing/2014/main" id="{6B72CD9C-2687-28ED-85EB-D514DC32B24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4944" y="192"/>
                <a:ext cx="184" cy="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8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cxnSp>
          <p:nvCxnSpPr>
            <p:cNvPr id="17444" name="AutoShape 63">
              <a:extLst>
                <a:ext uri="{FF2B5EF4-FFF2-40B4-BE49-F238E27FC236}">
                  <a16:creationId xmlns:a16="http://schemas.microsoft.com/office/drawing/2014/main" id="{946C1D4C-3DA5-97E0-7267-E2478A0F7D7E}"/>
                </a:ext>
              </a:extLst>
            </p:cNvPr>
            <p:cNvCxnSpPr>
              <a:cxnSpLocks noChangeShapeType="1"/>
              <a:stCxn id="17458" idx="3"/>
              <a:endCxn id="17445" idx="2"/>
            </p:cNvCxnSpPr>
            <p:nvPr/>
          </p:nvCxnSpPr>
          <p:spPr bwMode="auto">
            <a:xfrm>
              <a:off x="854" y="2956"/>
              <a:ext cx="682" cy="19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3496" name="Group 72">
            <a:extLst>
              <a:ext uri="{FF2B5EF4-FFF2-40B4-BE49-F238E27FC236}">
                <a16:creationId xmlns:a16="http://schemas.microsoft.com/office/drawing/2014/main" id="{CADCBE8E-06E6-A7BD-A4F9-33B365B12331}"/>
              </a:ext>
            </a:extLst>
          </p:cNvPr>
          <p:cNvGrpSpPr>
            <a:grpSpLocks/>
          </p:cNvGrpSpPr>
          <p:nvPr/>
        </p:nvGrpSpPr>
        <p:grpSpPr bwMode="auto">
          <a:xfrm>
            <a:off x="2879725" y="4267201"/>
            <a:ext cx="1462088" cy="455613"/>
            <a:chOff x="854" y="2688"/>
            <a:chExt cx="921" cy="287"/>
          </a:xfrm>
        </p:grpSpPr>
        <p:grpSp>
          <p:nvGrpSpPr>
            <p:cNvPr id="17439" name="Group 41">
              <a:extLst>
                <a:ext uri="{FF2B5EF4-FFF2-40B4-BE49-F238E27FC236}">
                  <a16:creationId xmlns:a16="http://schemas.microsoft.com/office/drawing/2014/main" id="{428B18CA-A14B-BF93-7732-FB9B2FF661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536" y="2688"/>
              <a:ext cx="239" cy="287"/>
              <a:chOff x="1776" y="144"/>
              <a:chExt cx="192" cy="230"/>
            </a:xfrm>
          </p:grpSpPr>
          <p:sp>
            <p:nvSpPr>
              <p:cNvPr id="17441" name="Oval 42">
                <a:extLst>
                  <a:ext uri="{FF2B5EF4-FFF2-40B4-BE49-F238E27FC236}">
                    <a16:creationId xmlns:a16="http://schemas.microsoft.com/office/drawing/2014/main" id="{85F6994F-7641-F4DC-83E1-C068C3B289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76" y="192"/>
                <a:ext cx="182" cy="18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42" name="Text Box 43">
                <a:extLst>
                  <a:ext uri="{FF2B5EF4-FFF2-40B4-BE49-F238E27FC236}">
                    <a16:creationId xmlns:a16="http://schemas.microsoft.com/office/drawing/2014/main" id="{CE2CBAD3-99CA-2213-2819-9D72128D074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78" y="144"/>
                <a:ext cx="190" cy="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8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cxnSp>
          <p:nvCxnSpPr>
            <p:cNvPr id="17440" name="AutoShape 64">
              <a:extLst>
                <a:ext uri="{FF2B5EF4-FFF2-40B4-BE49-F238E27FC236}">
                  <a16:creationId xmlns:a16="http://schemas.microsoft.com/office/drawing/2014/main" id="{9504768C-87E5-74B7-56A4-C1B74E2A8517}"/>
                </a:ext>
              </a:extLst>
            </p:cNvPr>
            <p:cNvCxnSpPr>
              <a:cxnSpLocks noChangeShapeType="1"/>
              <a:stCxn id="17458" idx="3"/>
              <a:endCxn id="17442" idx="1"/>
            </p:cNvCxnSpPr>
            <p:nvPr/>
          </p:nvCxnSpPr>
          <p:spPr bwMode="auto">
            <a:xfrm flipV="1">
              <a:off x="854" y="2804"/>
              <a:ext cx="684" cy="15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3499" name="Group 75">
            <a:extLst>
              <a:ext uri="{FF2B5EF4-FFF2-40B4-BE49-F238E27FC236}">
                <a16:creationId xmlns:a16="http://schemas.microsoft.com/office/drawing/2014/main" id="{B381C32E-099E-DBB1-C10A-71B62E869731}"/>
              </a:ext>
            </a:extLst>
          </p:cNvPr>
          <p:cNvGrpSpPr>
            <a:grpSpLocks/>
          </p:cNvGrpSpPr>
          <p:nvPr/>
        </p:nvGrpSpPr>
        <p:grpSpPr bwMode="auto">
          <a:xfrm>
            <a:off x="2879725" y="5607051"/>
            <a:ext cx="1462088" cy="639763"/>
            <a:chOff x="854" y="3532"/>
            <a:chExt cx="921" cy="403"/>
          </a:xfrm>
        </p:grpSpPr>
        <p:grpSp>
          <p:nvGrpSpPr>
            <p:cNvPr id="17435" name="Group 56">
              <a:extLst>
                <a:ext uri="{FF2B5EF4-FFF2-40B4-BE49-F238E27FC236}">
                  <a16:creationId xmlns:a16="http://schemas.microsoft.com/office/drawing/2014/main" id="{E3D6E2EC-2427-C0A2-7652-B3911EC1B1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536" y="3648"/>
              <a:ext cx="239" cy="287"/>
              <a:chOff x="1776" y="144"/>
              <a:chExt cx="192" cy="230"/>
            </a:xfrm>
          </p:grpSpPr>
          <p:sp>
            <p:nvSpPr>
              <p:cNvPr id="17437" name="Oval 57">
                <a:extLst>
                  <a:ext uri="{FF2B5EF4-FFF2-40B4-BE49-F238E27FC236}">
                    <a16:creationId xmlns:a16="http://schemas.microsoft.com/office/drawing/2014/main" id="{01DD2C86-988E-392D-4880-9B0FBF6E27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76" y="192"/>
                <a:ext cx="182" cy="18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38" name="Text Box 58">
                <a:extLst>
                  <a:ext uri="{FF2B5EF4-FFF2-40B4-BE49-F238E27FC236}">
                    <a16:creationId xmlns:a16="http://schemas.microsoft.com/office/drawing/2014/main" id="{26A3D315-1074-9884-2484-5EE982C2756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78" y="144"/>
                <a:ext cx="190" cy="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8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cxnSp>
          <p:nvCxnSpPr>
            <p:cNvPr id="17436" name="AutoShape 65">
              <a:extLst>
                <a:ext uri="{FF2B5EF4-FFF2-40B4-BE49-F238E27FC236}">
                  <a16:creationId xmlns:a16="http://schemas.microsoft.com/office/drawing/2014/main" id="{03291483-BB85-ECCA-DFE0-07B0C9BC46B1}"/>
                </a:ext>
              </a:extLst>
            </p:cNvPr>
            <p:cNvCxnSpPr>
              <a:cxnSpLocks noChangeShapeType="1"/>
              <a:stCxn id="17456" idx="3"/>
              <a:endCxn id="17438" idx="1"/>
            </p:cNvCxnSpPr>
            <p:nvPr/>
          </p:nvCxnSpPr>
          <p:spPr bwMode="auto">
            <a:xfrm>
              <a:off x="854" y="3532"/>
              <a:ext cx="684" cy="2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3498" name="Group 74">
            <a:extLst>
              <a:ext uri="{FF2B5EF4-FFF2-40B4-BE49-F238E27FC236}">
                <a16:creationId xmlns:a16="http://schemas.microsoft.com/office/drawing/2014/main" id="{59455043-05EE-E607-9CA3-E8C64EB425BB}"/>
              </a:ext>
            </a:extLst>
          </p:cNvPr>
          <p:cNvGrpSpPr>
            <a:grpSpLocks/>
          </p:cNvGrpSpPr>
          <p:nvPr/>
        </p:nvGrpSpPr>
        <p:grpSpPr bwMode="auto">
          <a:xfrm>
            <a:off x="2879726" y="5257800"/>
            <a:ext cx="1458913" cy="457200"/>
            <a:chOff x="854" y="3312"/>
            <a:chExt cx="919" cy="288"/>
          </a:xfrm>
        </p:grpSpPr>
        <p:grpSp>
          <p:nvGrpSpPr>
            <p:cNvPr id="17431" name="Group 50">
              <a:extLst>
                <a:ext uri="{FF2B5EF4-FFF2-40B4-BE49-F238E27FC236}">
                  <a16:creationId xmlns:a16="http://schemas.microsoft.com/office/drawing/2014/main" id="{F29C60A7-6303-E415-0349-2FD30A3DB6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536" y="3312"/>
              <a:ext cx="237" cy="288"/>
              <a:chOff x="5328" y="576"/>
              <a:chExt cx="184" cy="224"/>
            </a:xfrm>
          </p:grpSpPr>
          <p:sp>
            <p:nvSpPr>
              <p:cNvPr id="17433" name="Oval 51">
                <a:extLst>
                  <a:ext uri="{FF2B5EF4-FFF2-40B4-BE49-F238E27FC236}">
                    <a16:creationId xmlns:a16="http://schemas.microsoft.com/office/drawing/2014/main" id="{54DD53B4-A7A3-CE61-3AB1-26315B028E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28" y="624"/>
                <a:ext cx="176" cy="176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34" name="Text Box 52">
                <a:extLst>
                  <a:ext uri="{FF2B5EF4-FFF2-40B4-BE49-F238E27FC236}">
                    <a16:creationId xmlns:a16="http://schemas.microsoft.com/office/drawing/2014/main" id="{AF0E8555-1D9B-CD7E-09B1-1049D07A5CF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5328" y="576"/>
                <a:ext cx="184" cy="1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8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cxnSp>
          <p:nvCxnSpPr>
            <p:cNvPr id="17432" name="AutoShape 66">
              <a:extLst>
                <a:ext uri="{FF2B5EF4-FFF2-40B4-BE49-F238E27FC236}">
                  <a16:creationId xmlns:a16="http://schemas.microsoft.com/office/drawing/2014/main" id="{80C86D74-C076-AC96-83EE-307C410CCAA9}"/>
                </a:ext>
              </a:extLst>
            </p:cNvPr>
            <p:cNvCxnSpPr>
              <a:cxnSpLocks noChangeShapeType="1"/>
              <a:stCxn id="17456" idx="3"/>
              <a:endCxn id="17434" idx="1"/>
            </p:cNvCxnSpPr>
            <p:nvPr/>
          </p:nvCxnSpPr>
          <p:spPr bwMode="auto">
            <a:xfrm flipV="1">
              <a:off x="854" y="3428"/>
              <a:ext cx="682" cy="10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3492" name="Text Box 68">
            <a:extLst>
              <a:ext uri="{FF2B5EF4-FFF2-40B4-BE49-F238E27FC236}">
                <a16:creationId xmlns:a16="http://schemas.microsoft.com/office/drawing/2014/main" id="{45CE7553-E8C8-7B57-0404-2400C6D28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5365750"/>
            <a:ext cx="685800" cy="40011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2000" b="1">
                <a:solidFill>
                  <a:srgbClr val="333333"/>
                </a:solidFill>
                <a:ea typeface="굴림" panose="020B0600000101010101" pitchFamily="34" charset="-127"/>
              </a:rPr>
              <a:t>GB</a:t>
            </a:r>
          </a:p>
        </p:txBody>
      </p:sp>
      <p:sp>
        <p:nvSpPr>
          <p:cNvPr id="103493" name="Text Box 69">
            <a:extLst>
              <a:ext uri="{FF2B5EF4-FFF2-40B4-BE49-F238E27FC236}">
                <a16:creationId xmlns:a16="http://schemas.microsoft.com/office/drawing/2014/main" id="{79EBD120-A908-7BD0-70A4-82705EDB4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5867400"/>
            <a:ext cx="685800" cy="40011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2000" b="1">
                <a:solidFill>
                  <a:srgbClr val="333333"/>
                </a:solidFill>
                <a:ea typeface="굴림" panose="020B0600000101010101" pitchFamily="34" charset="-127"/>
              </a:rPr>
              <a:t>GR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3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3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0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03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03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6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0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0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03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0345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03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034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034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35" grpId="0" autoUpdateAnimBg="0"/>
      <p:bldP spid="103447" grpId="0" animBg="1" autoUpdateAnimBg="0"/>
      <p:bldP spid="103448" grpId="0" animBg="1" autoUpdateAnimBg="0"/>
      <p:bldP spid="103449" grpId="0" animBg="1" autoUpdateAnimBg="0"/>
      <p:bldP spid="103450" grpId="0" animBg="1" autoUpdateAnimBg="0"/>
      <p:bldP spid="103451" grpId="0" autoUpdateAnimBg="0"/>
      <p:bldP spid="103452" grpId="0" build="p" animBg="1" autoUpdateAnimBg="0"/>
      <p:bldP spid="103492" grpId="0" animBg="1" autoUpdateAnimBg="0"/>
      <p:bldP spid="103493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F9F6-3445-B445-8B3E-9E13A7C54E7F}"/>
              </a:ext>
            </a:extLst>
          </p:cNvPr>
          <p:cNvSpPr txBox="1">
            <a:spLocks/>
          </p:cNvSpPr>
          <p:nvPr/>
        </p:nvSpPr>
        <p:spPr>
          <a:xfrm>
            <a:off x="1785103" y="2774502"/>
            <a:ext cx="9116152" cy="79208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Axiom, Interpretations, and Properties of Probability</a:t>
            </a:r>
          </a:p>
        </p:txBody>
      </p:sp>
    </p:spTree>
    <p:extLst>
      <p:ext uri="{BB962C8B-B14F-4D97-AF65-F5344CB8AC3E}">
        <p14:creationId xmlns:p14="http://schemas.microsoft.com/office/powerpoint/2010/main" val="3190892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2160-C58E-49BE-BD4A-BFA322E8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468" y="198152"/>
            <a:ext cx="8722212" cy="1143000"/>
          </a:xfrm>
        </p:spPr>
        <p:txBody>
          <a:bodyPr/>
          <a:lstStyle/>
          <a:p>
            <a:pPr algn="ctr"/>
            <a:r>
              <a:rPr lang="en-ID" sz="3990" dirty="0"/>
              <a:t>Axioms of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DA26DF-1ED6-4F0E-9C62-5136BC597E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21320" y="1341152"/>
                <a:ext cx="9520914" cy="3648218"/>
              </a:xfrm>
            </p:spPr>
            <p:txBody>
              <a:bodyPr/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539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Let S be the </a:t>
                </a:r>
                <a:r>
                  <a:rPr lang="en-US" sz="2539" b="0" dirty="0">
                    <a:solidFill>
                      <a:schemeClr val="accent2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sample space </a:t>
                </a:r>
                <a:r>
                  <a:rPr lang="en-US" sz="2539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of a random phenomenon. Suppose that to each event A of S. a number denoted by </a:t>
                </a:r>
                <a14:m>
                  <m:oMath xmlns:m="http://schemas.openxmlformats.org/officeDocument/2006/math">
                    <m:r>
                      <a:rPr lang="en-US" sz="2539" b="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539" b="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539" b="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sz="2539" b="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539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, is associated with A. If </a:t>
                </a:r>
                <a:r>
                  <a:rPr lang="en-US" sz="2539" b="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2539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satisfies the following </a:t>
                </a:r>
                <a:r>
                  <a:rPr lang="en-US" sz="2539" b="0" dirty="0">
                    <a:solidFill>
                      <a:schemeClr val="accent2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axioms</a:t>
                </a:r>
                <a:r>
                  <a:rPr lang="en-US" sz="2539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then it is called a probability and the number </a:t>
                </a:r>
                <a14:m>
                  <m:oMath xmlns:m="http://schemas.openxmlformats.org/officeDocument/2006/math">
                    <m:r>
                      <a:rPr lang="en-US" sz="2539" b="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sz="2539" b="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539" b="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US" sz="2539" b="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539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said to be the probability of </a:t>
                </a:r>
              </a:p>
              <a:p>
                <a:pPr marL="827739" lvl="1" indent="-414589"/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𝑨𝒙𝒊𝒐𝒎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)≥0 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for any event A. </a:t>
                </a:r>
              </a:p>
              <a:p>
                <a:pPr marL="827739" lvl="1" indent="-414589"/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𝑨𝒙𝒊𝒐𝒎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)=1 </m:t>
                    </m:r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where S is the sample space. </a:t>
                </a:r>
              </a:p>
              <a:p>
                <a:pPr marL="827739" lvl="1" indent="-414589"/>
                <a:r>
                  <a:rPr lang="en-US" b="0" dirty="0">
                    <a:solidFill>
                      <a:schemeClr val="accent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𝑨𝒙𝒊𝒐𝒎</a:t>
                </a:r>
                <a:r>
                  <a:rPr lang="en-US" i="1" dirty="0">
                    <a:solidFill>
                      <a:schemeClr val="accent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3:  If A1, A2, A3,… is an (infinite) collection of disjoint events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: </a:t>
                </a:r>
                <a:endParaRPr lang="en-US" sz="3627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DA26DF-1ED6-4F0E-9C62-5136BC597E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1320" y="1341152"/>
                <a:ext cx="9520914" cy="3648218"/>
              </a:xfrm>
              <a:blipFill>
                <a:blip r:embed="rId2"/>
                <a:stretch>
                  <a:fillRect l="-960" t="-250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03654-0609-4384-AA2D-0692CEA1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E6B65-159F-439F-9BD7-E9F07CE5AD1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C4D22-49FE-E206-8C4D-3711D654A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850" y="4612136"/>
            <a:ext cx="5014750" cy="10394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23D89EA-FD0D-EA70-34DE-244F7478B82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832886" y="5724894"/>
                <a:ext cx="9520914" cy="5414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04287" tIns="52144" rIns="104287" bIns="52144" numCol="1" rtlCol="0" anchor="t" anchorCtr="0" compatLnSpc="1">
                <a:prstTxWarp prst="textNoShape">
                  <a:avLst/>
                </a:prstTxWarp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1" i="0" kern="1200">
                    <a:solidFill>
                      <a:schemeClr val="bg2">
                        <a:lumMod val="25000"/>
                      </a:schemeClr>
                    </a:solidFill>
                    <a:latin typeface="Open Sans Semibold" panose="020B0606030504020204" pitchFamily="34" charset="0"/>
                    <a:ea typeface="Open Sans Semibold" panose="020B0606030504020204" pitchFamily="34" charset="0"/>
                    <a:cs typeface="Open Sans Semibold" panose="020B0606030504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1" i="0" kern="1200">
                    <a:solidFill>
                      <a:schemeClr val="bg2">
                        <a:lumMod val="25000"/>
                      </a:schemeClr>
                    </a:solidFill>
                    <a:latin typeface="Open Sans Semibold" panose="020B0606030504020204" pitchFamily="34" charset="0"/>
                    <a:ea typeface="Open Sans Semibold" panose="020B0606030504020204" pitchFamily="34" charset="0"/>
                    <a:cs typeface="Open Sans Semibold" panose="020B0606030504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1" i="0" kern="1200">
                    <a:solidFill>
                      <a:schemeClr val="bg2">
                        <a:lumMod val="25000"/>
                      </a:schemeClr>
                    </a:solidFill>
                    <a:latin typeface="Open Sans Semibold" panose="020B0606030504020204" pitchFamily="34" charset="0"/>
                    <a:ea typeface="Open Sans Semibold" panose="020B0606030504020204" pitchFamily="34" charset="0"/>
                    <a:cs typeface="Open Sans Semibold" panose="020B0606030504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1" i="0" kern="1200">
                    <a:solidFill>
                      <a:schemeClr val="bg2">
                        <a:lumMod val="25000"/>
                      </a:schemeClr>
                    </a:solidFill>
                    <a:latin typeface="Open Sans Semibold" panose="020B0606030504020204" pitchFamily="34" charset="0"/>
                    <a:ea typeface="Open Sans Semibold" panose="020B0606030504020204" pitchFamily="34" charset="0"/>
                    <a:cs typeface="Open Sans Semibold" panose="020B0606030504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1" i="0" kern="1200">
                    <a:solidFill>
                      <a:schemeClr val="bg2">
                        <a:lumMod val="25000"/>
                      </a:schemeClr>
                    </a:solidFill>
                    <a:latin typeface="Open Sans Semibold" panose="020B0606030504020204" pitchFamily="34" charset="0"/>
                    <a:ea typeface="Open Sans Semibold" panose="020B0606030504020204" pitchFamily="34" charset="0"/>
                    <a:cs typeface="Open Sans Semibold" panose="020B0606030504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13150" lvl="1" indent="0"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probability of the empty set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(∅)=</m:t>
                    </m:r>
                    <m:r>
                      <a:rPr lang="en-US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3600" dirty="0">
                  <a:solidFill>
                    <a:schemeClr val="accent2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23D89EA-FD0D-EA70-34DE-244F7478B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2886" y="5724894"/>
                <a:ext cx="9520914" cy="541435"/>
              </a:xfrm>
              <a:prstGeom prst="rect">
                <a:avLst/>
              </a:prstGeom>
              <a:blipFill>
                <a:blip r:embed="rId4"/>
                <a:stretch>
                  <a:fillRect t="-14607" b="-449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655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2160-C58E-49BE-BD4A-BFA322E8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588" y="177572"/>
            <a:ext cx="8722212" cy="1143000"/>
          </a:xfrm>
        </p:spPr>
        <p:txBody>
          <a:bodyPr/>
          <a:lstStyle/>
          <a:p>
            <a:pPr algn="ctr"/>
            <a:r>
              <a:rPr lang="en-ID" sz="3990" dirty="0"/>
              <a:t>Axioms of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A26DF-1ED6-4F0E-9C62-5136BC597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657" y="1341152"/>
            <a:ext cx="9520914" cy="1465110"/>
          </a:xfrm>
        </p:spPr>
        <p:txBody>
          <a:bodyPr/>
          <a:lstStyle/>
          <a:p>
            <a:pPr marL="413150" lvl="1" indent="0">
              <a:buNone/>
            </a:pPr>
            <a:r>
              <a:rPr lang="en-US" sz="2539" dirty="0">
                <a:latin typeface="Arial" panose="020B0604020202020204" pitchFamily="34" charset="0"/>
                <a:cs typeface="Arial" panose="020B0604020202020204" pitchFamily="34" charset="0"/>
              </a:rPr>
              <a:t>Let S be the sample space of an experiment. If S has N points that are all equally likely occur, then for any event A of S,</a:t>
            </a:r>
            <a:endParaRPr lang="en-US" sz="5985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3C0F87-6CF5-43AE-AE1D-FBE8037C219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324894" y="2823347"/>
            <a:ext cx="6077883" cy="12588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E29D25-9CBF-49AE-8471-3EB12CC64B54}"/>
              </a:ext>
            </a:extLst>
          </p:cNvPr>
          <p:cNvSpPr txBox="1"/>
          <p:nvPr/>
        </p:nvSpPr>
        <p:spPr>
          <a:xfrm>
            <a:off x="2263184" y="4591035"/>
            <a:ext cx="8193326" cy="1320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39" b="1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2902" b="1" dirty="0"/>
              <a:t> </a:t>
            </a:r>
          </a:p>
          <a:p>
            <a:r>
              <a:rPr lang="en-US" sz="2539" dirty="0">
                <a:latin typeface="Arial" panose="020B0604020202020204" pitchFamily="34" charset="0"/>
                <a:cs typeface="Arial" panose="020B0604020202020204" pitchFamily="34" charset="0"/>
              </a:rPr>
              <a:t>Flipping a fair coin three times and A be the event at least two heads</a:t>
            </a:r>
            <a:endParaRPr lang="en-ID" sz="253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5BDF253-DEE5-47D6-B862-EF2E815A1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E6B65-159F-439F-9BD7-E9F07CE5AD1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75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2160-C58E-49BE-BD4A-BFA322E8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6953" y="198152"/>
            <a:ext cx="8722212" cy="1143000"/>
          </a:xfrm>
        </p:spPr>
        <p:txBody>
          <a:bodyPr/>
          <a:lstStyle/>
          <a:p>
            <a:pPr algn="ctr"/>
            <a:r>
              <a:rPr lang="en-ID" sz="3990" dirty="0"/>
              <a:t>Interpreting Probability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7245A-DAB1-4A87-A9DF-A1E9509B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E6B65-159F-439F-9BD7-E9F07CE5AD1C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F153B-F2A1-E5CE-F85F-6E88FA831A2D}"/>
              </a:ext>
            </a:extLst>
          </p:cNvPr>
          <p:cNvSpPr txBox="1"/>
          <p:nvPr/>
        </p:nvSpPr>
        <p:spPr>
          <a:xfrm>
            <a:off x="1524000" y="1251047"/>
            <a:ext cx="1018390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If the experiment is performed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 times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, in independent and identical fashion, the event A will occur (the outcome will be in the set A) in some of the replications. In other replications, A will not occur.</a:t>
            </a:r>
            <a:endParaRPr lang="en-ID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66AC93-832D-2599-CCE2-C724611BD05E}"/>
              </a:ext>
            </a:extLst>
          </p:cNvPr>
          <p:cNvSpPr txBox="1"/>
          <p:nvPr/>
        </p:nvSpPr>
        <p:spPr>
          <a:xfrm>
            <a:off x="1524000" y="3429000"/>
            <a:ext cx="102825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Let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n(A)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 denote the number of replications on which A does occur.</a:t>
            </a:r>
            <a:endParaRPr lang="en-ID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444C12-CB1D-3424-BA98-F6AB740C32D9}"/>
              </a:ext>
            </a:extLst>
          </p:cNvPr>
          <p:cNvSpPr txBox="1"/>
          <p:nvPr/>
        </p:nvSpPr>
        <p:spPr>
          <a:xfrm>
            <a:off x="1524000" y="4590942"/>
            <a:ext cx="104349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Then the ratio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n(A)/n 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is called the relative frequency of occurrence of the event A in the sequence of n replications of the experiment.</a:t>
            </a:r>
            <a:endParaRPr lang="en-ID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352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2160-C58E-49BE-BD4A-BFA322E8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6953" y="198152"/>
            <a:ext cx="8722212" cy="1143000"/>
          </a:xfrm>
        </p:spPr>
        <p:txBody>
          <a:bodyPr/>
          <a:lstStyle/>
          <a:p>
            <a:pPr algn="ctr"/>
            <a:r>
              <a:rPr lang="en-ID" sz="3990" dirty="0"/>
              <a:t>Example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7245A-DAB1-4A87-A9DF-A1E9509B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E6B65-159F-439F-9BD7-E9F07CE5AD1C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77D42-D248-4EBD-DE80-8F785054D11F}"/>
              </a:ext>
            </a:extLst>
          </p:cNvPr>
          <p:cNvSpPr txBox="1"/>
          <p:nvPr/>
        </p:nvSpPr>
        <p:spPr>
          <a:xfrm>
            <a:off x="1362634" y="1273005"/>
            <a:ext cx="97132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Let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 be the event that </a:t>
            </a:r>
          </a:p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“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a package sent within the province west java for 2</a:t>
            </a:r>
            <a:r>
              <a:rPr lang="en-US" sz="3200" b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nd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 day delivery actually arrives within one day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” </a:t>
            </a:r>
            <a:endParaRPr lang="en-ID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A8447D-21D7-8A09-B93D-7B09178D1F70}"/>
              </a:ext>
            </a:extLst>
          </p:cNvPr>
          <p:cNvSpPr txBox="1"/>
          <p:nvPr/>
        </p:nvSpPr>
        <p:spPr>
          <a:xfrm>
            <a:off x="1425387" y="2989294"/>
            <a:ext cx="1028251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The results from sending 10 such packages (the first 10 replications (n=10) of the experiment) are as follows: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3B4E1B-CDED-07C4-2BC5-1BB4D445B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373" y="4224781"/>
            <a:ext cx="9647490" cy="10823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C315A7-E786-32A3-6285-D477B5826283}"/>
              </a:ext>
            </a:extLst>
          </p:cNvPr>
          <p:cNvSpPr txBox="1"/>
          <p:nvPr/>
        </p:nvSpPr>
        <p:spPr>
          <a:xfrm>
            <a:off x="1425387" y="5368526"/>
            <a:ext cx="102825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n(A) = 5;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occur.  Did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occur? Yes (Y)</a:t>
            </a:r>
          </a:p>
        </p:txBody>
      </p:sp>
    </p:spTree>
    <p:extLst>
      <p:ext uri="{BB962C8B-B14F-4D97-AF65-F5344CB8AC3E}">
        <p14:creationId xmlns:p14="http://schemas.microsoft.com/office/powerpoint/2010/main" val="2257862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2160-C58E-49BE-BD4A-BFA322E8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6953" y="198152"/>
            <a:ext cx="8722212" cy="1143000"/>
          </a:xfrm>
        </p:spPr>
        <p:txBody>
          <a:bodyPr/>
          <a:lstStyle/>
          <a:p>
            <a:pPr algn="ctr"/>
            <a:r>
              <a:rPr lang="en-ID" sz="3990" dirty="0"/>
              <a:t>Example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7245A-DAB1-4A87-A9DF-A1E9509B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E6B65-159F-439F-9BD7-E9F07CE5AD1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77D42-D248-4EBD-DE80-8F785054D11F}"/>
              </a:ext>
            </a:extLst>
          </p:cNvPr>
          <p:cNvSpPr txBox="1"/>
          <p:nvPr/>
        </p:nvSpPr>
        <p:spPr>
          <a:xfrm>
            <a:off x="1362634" y="1273005"/>
            <a:ext cx="97132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Let A be the event that </a:t>
            </a:r>
          </a:p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“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a package sent within the state of California for 2</a:t>
            </a:r>
            <a:r>
              <a:rPr lang="en-US" sz="3200" b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nd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 day delivery actually arrives within one day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” </a:t>
            </a:r>
            <a:endParaRPr lang="en-ID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A8447D-21D7-8A09-B93D-7B09178D1F70}"/>
              </a:ext>
            </a:extLst>
          </p:cNvPr>
          <p:cNvSpPr txBox="1"/>
          <p:nvPr/>
        </p:nvSpPr>
        <p:spPr>
          <a:xfrm>
            <a:off x="1425387" y="2989294"/>
            <a:ext cx="1028251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The results from sending 10 such packages (the first 10 replications (n=10) of the experiment) are as follows: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3B4E1B-CDED-07C4-2BC5-1BB4D445B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373" y="4224781"/>
            <a:ext cx="9647490" cy="10823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C315A7-E786-32A3-6285-D477B5826283}"/>
              </a:ext>
            </a:extLst>
          </p:cNvPr>
          <p:cNvSpPr txBox="1"/>
          <p:nvPr/>
        </p:nvSpPr>
        <p:spPr>
          <a:xfrm>
            <a:off x="1425387" y="5368526"/>
            <a:ext cx="102825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n(A) = 5; A occur,  Did A occur? Yes (Y)</a:t>
            </a:r>
          </a:p>
        </p:txBody>
      </p:sp>
    </p:spTree>
    <p:extLst>
      <p:ext uri="{BB962C8B-B14F-4D97-AF65-F5344CB8AC3E}">
        <p14:creationId xmlns:p14="http://schemas.microsoft.com/office/powerpoint/2010/main" val="23635372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2160-C58E-49BE-BD4A-BFA322E8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6953" y="-78794"/>
            <a:ext cx="8722212" cy="1143000"/>
          </a:xfrm>
        </p:spPr>
        <p:txBody>
          <a:bodyPr/>
          <a:lstStyle/>
          <a:p>
            <a:pPr algn="ctr"/>
            <a:r>
              <a:rPr lang="en-ID" sz="3990" dirty="0"/>
              <a:t>Example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7245A-DAB1-4A87-A9DF-A1E9509B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E6B65-159F-439F-9BD7-E9F07CE5AD1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5B417-3A98-7738-B345-34146EF05A01}"/>
              </a:ext>
            </a:extLst>
          </p:cNvPr>
          <p:cNvSpPr txBox="1"/>
          <p:nvPr/>
        </p:nvSpPr>
        <p:spPr>
          <a:xfrm>
            <a:off x="1488141" y="971766"/>
            <a:ext cx="10112188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The relative frequency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n(A)/n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fluctuates rather substantially over the course of the first 50 measurements.</a:t>
            </a:r>
            <a:endParaRPr lang="en-ID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B7EEDD-9796-3826-5679-B49746163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144" y="1940898"/>
            <a:ext cx="4461913" cy="43653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2C2DC45-E9F1-96CE-CD81-2630A6742A00}"/>
              </a:ext>
            </a:extLst>
          </p:cNvPr>
          <p:cNvSpPr txBox="1"/>
          <p:nvPr/>
        </p:nvSpPr>
        <p:spPr>
          <a:xfrm>
            <a:off x="5749159" y="6323452"/>
            <a:ext cx="170267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(replications)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38491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2160-C58E-49BE-BD4A-BFA322E8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6953" y="-78794"/>
            <a:ext cx="8722212" cy="1143000"/>
          </a:xfrm>
        </p:spPr>
        <p:txBody>
          <a:bodyPr/>
          <a:lstStyle/>
          <a:p>
            <a:pPr algn="ctr"/>
            <a:r>
              <a:rPr lang="en-ID" sz="3990" dirty="0"/>
              <a:t>Example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7245A-DAB1-4A87-A9DF-A1E9509B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E6B65-159F-439F-9BD7-E9F07CE5AD1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5B417-3A98-7738-B345-34146EF05A01}"/>
              </a:ext>
            </a:extLst>
          </p:cNvPr>
          <p:cNvSpPr txBox="1"/>
          <p:nvPr/>
        </p:nvSpPr>
        <p:spPr>
          <a:xfrm>
            <a:off x="1488141" y="971766"/>
            <a:ext cx="10112188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But as the number of replications continues to increase, the </a:t>
            </a:r>
          </a:p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relative frequency stabilizes.</a:t>
            </a:r>
            <a:endParaRPr lang="en-ID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C2DC45-E9F1-96CE-CD81-2630A6742A00}"/>
              </a:ext>
            </a:extLst>
          </p:cNvPr>
          <p:cNvSpPr txBox="1"/>
          <p:nvPr/>
        </p:nvSpPr>
        <p:spPr>
          <a:xfrm>
            <a:off x="5749159" y="6323452"/>
            <a:ext cx="170267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(replications)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3B239B-ACAB-235A-0737-D5150FB8B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968" y="1944344"/>
            <a:ext cx="5162040" cy="437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2302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2160-C58E-49BE-BD4A-BFA322E8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6953" y="198152"/>
            <a:ext cx="8722212" cy="1143000"/>
          </a:xfrm>
        </p:spPr>
        <p:txBody>
          <a:bodyPr/>
          <a:lstStyle/>
          <a:p>
            <a:pPr algn="ctr"/>
            <a:r>
              <a:rPr lang="en-ID" sz="3990" dirty="0"/>
              <a:t>Interpreting Probability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7245A-DAB1-4A87-A9DF-A1E9509B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E6B65-159F-439F-9BD7-E9F07CE5AD1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03849-D8AF-6EF9-9B2F-B0F81443DF3D}"/>
              </a:ext>
            </a:extLst>
          </p:cNvPr>
          <p:cNvSpPr txBox="1"/>
          <p:nvPr/>
        </p:nvSpPr>
        <p:spPr>
          <a:xfrm>
            <a:off x="1229710" y="1324312"/>
            <a:ext cx="104367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Empirical evidence (based on the results of many such repeatable experiments) indicates that the relative frequency of this sort will stabilize as the number of replications n increases. </a:t>
            </a:r>
            <a:endParaRPr lang="en-ID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2497CF-DE75-F928-0D8F-555C34D47ED2}"/>
                  </a:ext>
                </a:extLst>
              </p:cNvPr>
              <p:cNvSpPr txBox="1"/>
              <p:nvPr/>
            </p:nvSpPr>
            <p:spPr>
              <a:xfrm>
                <a:off x="1229710" y="2771271"/>
                <a:ext cx="10124090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That is, as n gets very large,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800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)/</m:t>
                    </m:r>
                    <m:r>
                      <a:rPr lang="en-US" sz="2800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800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approaches a limiting value referred to as the </a:t>
                </a:r>
                <a:r>
                  <a:rPr lang="en-US" sz="2800" dirty="0"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a:t>limiting (or long-run) relative frequency of the event </a:t>
                </a:r>
                <a:r>
                  <a:rPr lang="en-US" sz="2800" i="1" dirty="0"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2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  <a:endParaRPr lang="en-ID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2497CF-DE75-F928-0D8F-555C34D47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710" y="2771271"/>
                <a:ext cx="10124090" cy="1384995"/>
              </a:xfrm>
              <a:prstGeom prst="rect">
                <a:avLst/>
              </a:prstGeom>
              <a:blipFill>
                <a:blip r:embed="rId2"/>
                <a:stretch>
                  <a:fillRect l="-1325" t="-4846" r="-361" b="-1365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2527FBF-0667-8F4C-EEF6-5A8B88042EA6}"/>
              </a:ext>
            </a:extLst>
          </p:cNvPr>
          <p:cNvSpPr txBox="1"/>
          <p:nvPr/>
        </p:nvSpPr>
        <p:spPr>
          <a:xfrm>
            <a:off x="1229710" y="4401240"/>
            <a:ext cx="103526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The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objective interpretation of probability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states that this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limiting relative frequency of an event A is the probability of that event, P(A)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en-ID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397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2160-C58E-49BE-BD4A-BFA322E8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6953" y="198152"/>
            <a:ext cx="8722212" cy="1143000"/>
          </a:xfrm>
        </p:spPr>
        <p:txBody>
          <a:bodyPr/>
          <a:lstStyle/>
          <a:p>
            <a:pPr algn="ctr"/>
            <a:r>
              <a:rPr lang="en-ID" sz="3990" dirty="0"/>
              <a:t>Interpreting Probability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7245A-DAB1-4A87-A9DF-A1E9509B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E6B65-159F-439F-9BD7-E9F07CE5AD1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910468-5194-C758-4721-9F0FC1C45288}"/>
              </a:ext>
            </a:extLst>
          </p:cNvPr>
          <p:cNvSpPr txBox="1"/>
          <p:nvPr/>
        </p:nvSpPr>
        <p:spPr>
          <a:xfrm>
            <a:off x="1355833" y="1445962"/>
            <a:ext cx="104998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What does the statement “the probability of a package being delivered within one day of mailing is 0.6” really mean?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12CB19-8741-ABF7-41D9-5506F8F185DE}"/>
              </a:ext>
            </a:extLst>
          </p:cNvPr>
          <p:cNvSpPr txBox="1"/>
          <p:nvPr/>
        </p:nvSpPr>
        <p:spPr>
          <a:xfrm>
            <a:off x="1355833" y="3202153"/>
            <a:ext cx="8849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How does this relate to tossing a “fair coin”?</a:t>
            </a:r>
          </a:p>
        </p:txBody>
      </p:sp>
    </p:spTree>
    <p:extLst>
      <p:ext uri="{BB962C8B-B14F-4D97-AF65-F5344CB8AC3E}">
        <p14:creationId xmlns:p14="http://schemas.microsoft.com/office/powerpoint/2010/main" val="3394125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F9F6-3445-B445-8B3E-9E13A7C54E7F}"/>
              </a:ext>
            </a:extLst>
          </p:cNvPr>
          <p:cNvSpPr txBox="1">
            <a:spLocks/>
          </p:cNvSpPr>
          <p:nvPr/>
        </p:nvSpPr>
        <p:spPr>
          <a:xfrm>
            <a:off x="1785103" y="2774502"/>
            <a:ext cx="9116152" cy="79208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Counting Techniques</a:t>
            </a:r>
          </a:p>
        </p:txBody>
      </p:sp>
    </p:spTree>
    <p:extLst>
      <p:ext uri="{BB962C8B-B14F-4D97-AF65-F5344CB8AC3E}">
        <p14:creationId xmlns:p14="http://schemas.microsoft.com/office/powerpoint/2010/main" val="22454198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1026">
            <a:extLst>
              <a:ext uri="{FF2B5EF4-FFF2-40B4-BE49-F238E27FC236}">
                <a16:creationId xmlns:a16="http://schemas.microsoft.com/office/drawing/2014/main" id="{A3414C42-805F-A82B-28FD-AFB049D8A3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152400"/>
            <a:ext cx="8382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4800">
                <a:ea typeface="굴림" charset="-127"/>
              </a:rPr>
              <a:t>Counting Rules</a:t>
            </a:r>
          </a:p>
        </p:txBody>
      </p:sp>
      <p:sp>
        <p:nvSpPr>
          <p:cNvPr id="18436" name="Rectangle 1028">
            <a:extLst>
              <a:ext uri="{FF2B5EF4-FFF2-40B4-BE49-F238E27FC236}">
                <a16:creationId xmlns:a16="http://schemas.microsoft.com/office/drawing/2014/main" id="{C5067740-0642-986A-9741-DC8F387D35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799" y="1447800"/>
            <a:ext cx="9088821" cy="990600"/>
          </a:xfrm>
          <a:noFill/>
        </p:spPr>
        <p:txBody>
          <a:bodyPr/>
          <a:lstStyle/>
          <a:p>
            <a:pPr eaLnBrk="1" hangingPunct="1"/>
            <a:r>
              <a:rPr lang="en-US" altLang="ko-KR" dirty="0">
                <a:ea typeface="굴림" panose="020B0600000101010101" pitchFamily="34" charset="-127"/>
              </a:rPr>
              <a:t>If the simple events in an experiment are </a:t>
            </a:r>
            <a:r>
              <a:rPr lang="en-US" altLang="ko-KR" b="1" dirty="0">
                <a:solidFill>
                  <a:srgbClr val="333333"/>
                </a:solidFill>
                <a:ea typeface="굴림" panose="020B0600000101010101" pitchFamily="34" charset="-127"/>
              </a:rPr>
              <a:t>equally likely, </a:t>
            </a:r>
            <a:r>
              <a:rPr lang="en-US" altLang="ko-KR" dirty="0">
                <a:ea typeface="굴림" panose="020B0600000101010101" pitchFamily="34" charset="-127"/>
              </a:rPr>
              <a:t>you can calculate</a:t>
            </a:r>
          </a:p>
        </p:txBody>
      </p:sp>
      <p:graphicFrame>
        <p:nvGraphicFramePr>
          <p:cNvPr id="18437" name="Object 1030">
            <a:extLst>
              <a:ext uri="{FF2B5EF4-FFF2-40B4-BE49-F238E27FC236}">
                <a16:creationId xmlns:a16="http://schemas.microsoft.com/office/drawing/2014/main" id="{41101FA0-4CC3-E3C2-57B4-4B2EFC9FF3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650472"/>
              </p:ext>
            </p:extLst>
          </p:nvPr>
        </p:nvGraphicFramePr>
        <p:xfrm>
          <a:off x="2286000" y="2663031"/>
          <a:ext cx="7772400" cy="122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54300" imgH="419100" progId="Equation.3">
                  <p:embed/>
                </p:oleObj>
              </mc:Choice>
              <mc:Fallback>
                <p:oleObj name="Equation" r:id="rId2" imgW="2654300" imgH="419100" progId="Equation.3">
                  <p:embed/>
                  <p:pic>
                    <p:nvPicPr>
                      <p:cNvPr id="18437" name="Object 1030">
                        <a:extLst>
                          <a:ext uri="{FF2B5EF4-FFF2-40B4-BE49-F238E27FC236}">
                            <a16:creationId xmlns:a16="http://schemas.microsoft.com/office/drawing/2014/main" id="{41101FA0-4CC3-E3C2-57B4-4B2EFC9FF3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663031"/>
                        <a:ext cx="7772400" cy="1227138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Rectangle 1032">
            <a:extLst>
              <a:ext uri="{FF2B5EF4-FFF2-40B4-BE49-F238E27FC236}">
                <a16:creationId xmlns:a16="http://schemas.microsoft.com/office/drawing/2014/main" id="{8E1769B3-F2DF-92E5-2227-438D84FFC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419600"/>
            <a:ext cx="8854966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ko-KR" sz="3600" dirty="0">
                <a:solidFill>
                  <a:srgbClr val="339933"/>
                </a:solidFill>
                <a:ea typeface="굴림" panose="020B0600000101010101" pitchFamily="34" charset="-127"/>
              </a:rPr>
              <a:t>You can use </a:t>
            </a:r>
            <a:r>
              <a:rPr lang="en-US" altLang="ko-KR" sz="3600" b="1" dirty="0">
                <a:solidFill>
                  <a:srgbClr val="333333"/>
                </a:solidFill>
                <a:ea typeface="굴림" panose="020B0600000101010101" pitchFamily="34" charset="-127"/>
              </a:rPr>
              <a:t>counting rules </a:t>
            </a:r>
            <a:r>
              <a:rPr lang="en-US" altLang="ko-KR" sz="3600" dirty="0">
                <a:solidFill>
                  <a:srgbClr val="339933"/>
                </a:solidFill>
                <a:ea typeface="굴림" panose="020B0600000101010101" pitchFamily="34" charset="-127"/>
              </a:rPr>
              <a:t>to find </a:t>
            </a:r>
            <a:r>
              <a:rPr lang="en-US" altLang="ko-KR" sz="3600" i="1" dirty="0" err="1">
                <a:solidFill>
                  <a:srgbClr val="339933"/>
                </a:solidFill>
                <a:ea typeface="굴림" panose="020B0600000101010101" pitchFamily="34" charset="-127"/>
              </a:rPr>
              <a:t>n</a:t>
            </a:r>
            <a:r>
              <a:rPr lang="en-US" altLang="ko-KR" sz="3600" i="1" baseline="-25000" dirty="0" err="1">
                <a:solidFill>
                  <a:srgbClr val="339933"/>
                </a:solidFill>
                <a:ea typeface="굴림" panose="020B0600000101010101" pitchFamily="34" charset="-127"/>
              </a:rPr>
              <a:t>A</a:t>
            </a:r>
            <a:r>
              <a:rPr lang="en-US" altLang="ko-KR" sz="3600" dirty="0">
                <a:solidFill>
                  <a:srgbClr val="339933"/>
                </a:solidFill>
                <a:ea typeface="굴림" panose="020B0600000101010101" pitchFamily="34" charset="-127"/>
              </a:rPr>
              <a:t> = </a:t>
            </a:r>
            <a:r>
              <a:rPr lang="en-US" altLang="ko-KR" sz="3600" i="1" dirty="0">
                <a:solidFill>
                  <a:srgbClr val="339933"/>
                </a:solidFill>
                <a:ea typeface="굴림" panose="020B0600000101010101" pitchFamily="34" charset="-127"/>
              </a:rPr>
              <a:t>n(A)</a:t>
            </a:r>
            <a:r>
              <a:rPr lang="en-US" altLang="ko-KR" sz="3600" dirty="0">
                <a:solidFill>
                  <a:srgbClr val="339933"/>
                </a:solidFill>
                <a:ea typeface="굴림" panose="020B0600000101010101" pitchFamily="34" charset="-127"/>
              </a:rPr>
              <a:t> and </a:t>
            </a:r>
            <a:r>
              <a:rPr lang="en-US" altLang="ko-KR" sz="3600" i="1" dirty="0">
                <a:solidFill>
                  <a:srgbClr val="339933"/>
                </a:solidFill>
                <a:ea typeface="굴림" panose="020B0600000101010101" pitchFamily="34" charset="-127"/>
              </a:rPr>
              <a:t>N.</a:t>
            </a:r>
            <a:endParaRPr lang="en-US" altLang="ko-KR" sz="3600" dirty="0">
              <a:solidFill>
                <a:srgbClr val="339933"/>
              </a:solidFill>
              <a:ea typeface="굴림" panose="020B0600000101010101" pitchFamily="34" charset="-127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D61DC280-2B05-7BB4-E12B-7D9D6EF4B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3937" y="204946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The </a:t>
            </a:r>
            <a:r>
              <a:rPr lang="en-US" altLang="ko-KR" sz="4800" i="1" dirty="0" err="1">
                <a:ea typeface="굴림" charset="-127"/>
              </a:rPr>
              <a:t>mn</a:t>
            </a:r>
            <a:r>
              <a:rPr lang="en-US" altLang="ko-KR" sz="4800" i="1" dirty="0">
                <a:ea typeface="굴림" charset="-127"/>
              </a:rPr>
              <a:t> </a:t>
            </a:r>
            <a:r>
              <a:rPr lang="en-US" altLang="ko-KR" sz="4800" dirty="0">
                <a:ea typeface="굴림" charset="-127"/>
              </a:rPr>
              <a:t>Rule</a:t>
            </a:r>
            <a:endParaRPr lang="en-US" altLang="ko-KR" sz="4800" i="1" dirty="0">
              <a:ea typeface="굴림" charset="-127"/>
            </a:endParaRPr>
          </a:p>
        </p:txBody>
      </p:sp>
      <p:sp>
        <p:nvSpPr>
          <p:cNvPr id="110596" name="Rectangle 4">
            <a:extLst>
              <a:ext uri="{FF2B5EF4-FFF2-40B4-BE49-F238E27FC236}">
                <a16:creationId xmlns:a16="http://schemas.microsoft.com/office/drawing/2014/main" id="{15AB9B5B-8B4F-F9BA-362E-CD6F4DC5F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01765" y="1324302"/>
            <a:ext cx="8153400" cy="3886200"/>
          </a:xfr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If an experiment is performed in two stages, with </a:t>
            </a:r>
            <a:r>
              <a:rPr lang="en-US" altLang="ko-KR" sz="3200" i="1" dirty="0">
                <a:solidFill>
                  <a:srgbClr val="333333"/>
                </a:solidFill>
                <a:ea typeface="굴림" panose="020B0600000101010101" pitchFamily="34" charset="-127"/>
              </a:rPr>
              <a:t>m</a:t>
            </a:r>
            <a:r>
              <a:rPr lang="en-US" altLang="ko-KR" sz="3200" dirty="0">
                <a:solidFill>
                  <a:srgbClr val="333333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ea typeface="굴림" panose="020B0600000101010101" pitchFamily="34" charset="-127"/>
              </a:rPr>
              <a:t>ways to accomplish the first stage and </a:t>
            </a:r>
            <a:r>
              <a:rPr lang="en-US" altLang="ko-KR" sz="3200" i="1" dirty="0">
                <a:solidFill>
                  <a:srgbClr val="333333"/>
                </a:solidFill>
                <a:ea typeface="굴림" panose="020B0600000101010101" pitchFamily="34" charset="-127"/>
              </a:rPr>
              <a:t>n</a:t>
            </a:r>
            <a:r>
              <a:rPr lang="en-US" altLang="ko-KR" sz="3200" dirty="0">
                <a:ea typeface="굴림" panose="020B0600000101010101" pitchFamily="34" charset="-127"/>
              </a:rPr>
              <a:t> ways to accomplish the second stage, then there are </a:t>
            </a:r>
            <a:r>
              <a:rPr lang="en-US" altLang="ko-KR" sz="3200" i="1" dirty="0" err="1">
                <a:solidFill>
                  <a:srgbClr val="333333"/>
                </a:solidFill>
                <a:ea typeface="굴림" panose="020B0600000101010101" pitchFamily="34" charset="-127"/>
              </a:rPr>
              <a:t>mn</a:t>
            </a:r>
            <a:r>
              <a:rPr lang="en-US" altLang="ko-KR" sz="3200" dirty="0">
                <a:solidFill>
                  <a:srgbClr val="333333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ea typeface="굴림" panose="020B0600000101010101" pitchFamily="34" charset="-127"/>
              </a:rPr>
              <a:t>ways to accomplish the experiment.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This rule is easily extended to </a:t>
            </a:r>
            <a:r>
              <a:rPr lang="en-US" altLang="ko-KR" sz="3200" i="1" dirty="0">
                <a:solidFill>
                  <a:srgbClr val="333333"/>
                </a:solidFill>
                <a:ea typeface="굴림" panose="020B0600000101010101" pitchFamily="34" charset="-127"/>
              </a:rPr>
              <a:t>k</a:t>
            </a:r>
            <a:r>
              <a:rPr lang="en-US" altLang="ko-KR" sz="3200" i="1" dirty="0"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ea typeface="굴림" panose="020B0600000101010101" pitchFamily="34" charset="-127"/>
              </a:rPr>
              <a:t>stages, with the number of ways equal to </a:t>
            </a:r>
          </a:p>
          <a:p>
            <a:pPr lvl="1" algn="ctr" eaLnBrk="1" hangingPunct="1">
              <a:lnSpc>
                <a:spcPct val="90000"/>
              </a:lnSpc>
              <a:buFontTx/>
              <a:buNone/>
            </a:pPr>
            <a:r>
              <a:rPr lang="en-US" altLang="ko-KR" sz="3200" i="1" dirty="0">
                <a:solidFill>
                  <a:srgbClr val="333333"/>
                </a:solidFill>
                <a:ea typeface="굴림" panose="020B0600000101010101" pitchFamily="34" charset="-127"/>
              </a:rPr>
              <a:t>n</a:t>
            </a:r>
            <a:r>
              <a:rPr lang="en-US" altLang="ko-KR" sz="3200" baseline="-25000" dirty="0">
                <a:solidFill>
                  <a:srgbClr val="333333"/>
                </a:solidFill>
                <a:ea typeface="굴림" panose="020B0600000101010101" pitchFamily="34" charset="-127"/>
              </a:rPr>
              <a:t>1 </a:t>
            </a:r>
            <a:r>
              <a:rPr lang="en-US" altLang="ko-KR" sz="3200" i="1" dirty="0">
                <a:solidFill>
                  <a:srgbClr val="333333"/>
                </a:solidFill>
                <a:ea typeface="굴림" panose="020B0600000101010101" pitchFamily="34" charset="-127"/>
              </a:rPr>
              <a:t>n</a:t>
            </a:r>
            <a:r>
              <a:rPr lang="en-US" altLang="ko-KR" sz="3200" baseline="-25000" dirty="0">
                <a:solidFill>
                  <a:srgbClr val="333333"/>
                </a:solidFill>
                <a:ea typeface="굴림" panose="020B0600000101010101" pitchFamily="34" charset="-127"/>
              </a:rPr>
              <a:t>2 </a:t>
            </a:r>
            <a:r>
              <a:rPr lang="en-US" altLang="ko-KR" sz="3200" i="1" dirty="0">
                <a:solidFill>
                  <a:srgbClr val="333333"/>
                </a:solidFill>
                <a:ea typeface="굴림" panose="020B0600000101010101" pitchFamily="34" charset="-127"/>
              </a:rPr>
              <a:t>n</a:t>
            </a:r>
            <a:r>
              <a:rPr lang="en-US" altLang="ko-KR" sz="3200" baseline="-25000" dirty="0">
                <a:solidFill>
                  <a:srgbClr val="333333"/>
                </a:solidFill>
                <a:ea typeface="굴림" panose="020B0600000101010101" pitchFamily="34" charset="-127"/>
              </a:rPr>
              <a:t>3 </a:t>
            </a:r>
            <a:r>
              <a:rPr lang="en-US" altLang="ko-KR" sz="3200" dirty="0">
                <a:solidFill>
                  <a:srgbClr val="333333"/>
                </a:solidFill>
                <a:ea typeface="굴림" panose="020B0600000101010101" pitchFamily="34" charset="-127"/>
              </a:rPr>
              <a:t>… </a:t>
            </a:r>
            <a:r>
              <a:rPr lang="en-US" altLang="ko-KR" sz="3200" i="1" dirty="0" err="1">
                <a:solidFill>
                  <a:srgbClr val="333333"/>
                </a:solidFill>
                <a:ea typeface="굴림" panose="020B0600000101010101" pitchFamily="34" charset="-127"/>
              </a:rPr>
              <a:t>n</a:t>
            </a:r>
            <a:r>
              <a:rPr lang="en-US" altLang="ko-KR" sz="3200" i="1" baseline="-25000" dirty="0" err="1">
                <a:solidFill>
                  <a:srgbClr val="333333"/>
                </a:solidFill>
                <a:ea typeface="굴림" panose="020B0600000101010101" pitchFamily="34" charset="-127"/>
              </a:rPr>
              <a:t>k</a:t>
            </a:r>
            <a:endParaRPr lang="en-US" altLang="ko-KR" sz="3200" i="1" dirty="0">
              <a:solidFill>
                <a:srgbClr val="333333"/>
              </a:solidFill>
              <a:ea typeface="굴림" panose="020B0600000101010101" pitchFamily="34" charset="-127"/>
            </a:endParaRPr>
          </a:p>
        </p:txBody>
      </p:sp>
      <p:sp>
        <p:nvSpPr>
          <p:cNvPr id="110598" name="Text Box 6">
            <a:extLst>
              <a:ext uri="{FF2B5EF4-FFF2-40B4-BE49-F238E27FC236}">
                <a16:creationId xmlns:a16="http://schemas.microsoft.com/office/drawing/2014/main" id="{D9AADAD6-FE81-B935-8625-1E9962C81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165" y="5425963"/>
            <a:ext cx="7315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28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Example: </a:t>
            </a:r>
            <a:r>
              <a:rPr lang="en-US" altLang="ko-KR" sz="2800" dirty="0">
                <a:solidFill>
                  <a:srgbClr val="339933"/>
                </a:solidFill>
                <a:ea typeface="굴림" charset="-127"/>
              </a:rPr>
              <a:t>Toss two coins. The total number of simple events is:</a:t>
            </a:r>
            <a:endParaRPr lang="en-US" altLang="ko-KR" sz="2800" b="1" dirty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  <p:sp>
        <p:nvSpPr>
          <p:cNvPr id="110599" name="Text Box 7">
            <a:extLst>
              <a:ext uri="{FF2B5EF4-FFF2-40B4-BE49-F238E27FC236}">
                <a16:creationId xmlns:a16="http://schemas.microsoft.com/office/drawing/2014/main" id="{E2004EBC-CAA8-70E8-9829-12FD053A7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165" y="6111764"/>
            <a:ext cx="2286000" cy="608013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3200" b="1">
                <a:solidFill>
                  <a:srgbClr val="F4ECC6"/>
                </a:solidFill>
                <a:ea typeface="굴림" panose="020B0600000101010101" pitchFamily="34" charset="-127"/>
              </a:rPr>
              <a:t>2 </a:t>
            </a:r>
            <a:r>
              <a:rPr lang="en-US" altLang="ko-KR" sz="3200" b="1">
                <a:solidFill>
                  <a:srgbClr val="F4ECC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 2 = 4</a:t>
            </a:r>
            <a:endParaRPr lang="en-US" altLang="ko-KR" sz="3200" b="1">
              <a:solidFill>
                <a:srgbClr val="F4ECC6"/>
              </a:solidFill>
              <a:ea typeface="굴림" panose="020B0600000101010101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0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0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0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 build="p" autoUpdateAnimBg="0"/>
      <p:bldP spid="110598" grpId="0" autoUpdateAnimBg="0"/>
      <p:bldP spid="110599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B8FF8F4B-2826-A808-E5ED-0079D1A035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17750" y="107951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Examples</a:t>
            </a:r>
          </a:p>
        </p:txBody>
      </p:sp>
      <p:sp>
        <p:nvSpPr>
          <p:cNvPr id="111623" name="Text Box 7">
            <a:extLst>
              <a:ext uri="{FF2B5EF4-FFF2-40B4-BE49-F238E27FC236}">
                <a16:creationId xmlns:a16="http://schemas.microsoft.com/office/drawing/2014/main" id="{3ADE1C3D-60D8-AC4C-6B1E-8FE468689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292770"/>
            <a:ext cx="7315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28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Example: </a:t>
            </a:r>
            <a:r>
              <a:rPr lang="en-US" altLang="ko-KR" sz="2800" dirty="0">
                <a:solidFill>
                  <a:srgbClr val="339933"/>
                </a:solidFill>
                <a:ea typeface="굴림" charset="-127"/>
              </a:rPr>
              <a:t>Toss three coins. The total number of simple events is:</a:t>
            </a:r>
            <a:endParaRPr lang="en-US" altLang="ko-KR" sz="2800" b="1" dirty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  <p:sp>
        <p:nvSpPr>
          <p:cNvPr id="111624" name="Text Box 8">
            <a:extLst>
              <a:ext uri="{FF2B5EF4-FFF2-40B4-BE49-F238E27FC236}">
                <a16:creationId xmlns:a16="http://schemas.microsoft.com/office/drawing/2014/main" id="{3AA36B99-1A30-26DE-419C-7389F1F09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1902371"/>
            <a:ext cx="2819400" cy="608013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3200" b="1">
                <a:solidFill>
                  <a:srgbClr val="F4ECC6"/>
                </a:solidFill>
                <a:ea typeface="굴림" panose="020B0600000101010101" pitchFamily="34" charset="-127"/>
              </a:rPr>
              <a:t>2 </a:t>
            </a:r>
            <a:r>
              <a:rPr lang="en-US" altLang="ko-KR" sz="3200" b="1">
                <a:solidFill>
                  <a:srgbClr val="F4ECC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</a:t>
            </a:r>
            <a:r>
              <a:rPr lang="en-US" altLang="ko-KR" sz="3200" b="1">
                <a:solidFill>
                  <a:srgbClr val="F4ECC6"/>
                </a:solidFill>
                <a:ea typeface="굴림" panose="020B0600000101010101" pitchFamily="34" charset="-127"/>
              </a:rPr>
              <a:t> 2 </a:t>
            </a:r>
            <a:r>
              <a:rPr lang="en-US" altLang="ko-KR" sz="3200" b="1">
                <a:solidFill>
                  <a:srgbClr val="F4ECC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 2 = 8</a:t>
            </a:r>
          </a:p>
        </p:txBody>
      </p:sp>
      <p:sp>
        <p:nvSpPr>
          <p:cNvPr id="111625" name="Text Box 9">
            <a:extLst>
              <a:ext uri="{FF2B5EF4-FFF2-40B4-BE49-F238E27FC236}">
                <a16:creationId xmlns:a16="http://schemas.microsoft.com/office/drawing/2014/main" id="{7104D416-3D0A-10F4-AF8C-F941DC8B6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156620"/>
            <a:ext cx="77724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28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Example: </a:t>
            </a:r>
            <a:r>
              <a:rPr lang="en-US" altLang="ko-KR" sz="2800">
                <a:solidFill>
                  <a:srgbClr val="339933"/>
                </a:solidFill>
                <a:ea typeface="굴림" charset="-127"/>
              </a:rPr>
              <a:t>Two M&amp;Ms are drawn from a dish containing two red and two blue candies. The total number of simple events is:</a:t>
            </a:r>
            <a:endParaRPr lang="en-US" altLang="ko-KR" sz="2800" b="1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  <p:sp>
        <p:nvSpPr>
          <p:cNvPr id="111626" name="Text Box 10">
            <a:extLst>
              <a:ext uri="{FF2B5EF4-FFF2-40B4-BE49-F238E27FC236}">
                <a16:creationId xmlns:a16="http://schemas.microsoft.com/office/drawing/2014/main" id="{F96EC88B-17D9-C6BE-B530-26EFE34C6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273971"/>
            <a:ext cx="2819400" cy="608013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3200" b="1">
                <a:solidFill>
                  <a:srgbClr val="F4ECC6"/>
                </a:solidFill>
                <a:ea typeface="굴림" panose="020B0600000101010101" pitchFamily="34" charset="-127"/>
              </a:rPr>
              <a:t>6 </a:t>
            </a:r>
            <a:r>
              <a:rPr lang="en-US" altLang="ko-KR" sz="3200" b="1">
                <a:solidFill>
                  <a:srgbClr val="F4ECC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 6 = 36</a:t>
            </a:r>
          </a:p>
        </p:txBody>
      </p:sp>
      <p:sp>
        <p:nvSpPr>
          <p:cNvPr id="111627" name="Text Box 11">
            <a:extLst>
              <a:ext uri="{FF2B5EF4-FFF2-40B4-BE49-F238E27FC236}">
                <a16:creationId xmlns:a16="http://schemas.microsoft.com/office/drawing/2014/main" id="{AC4BACE9-0FFE-091F-F6CD-498DBD327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816770"/>
            <a:ext cx="7315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28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Example: </a:t>
            </a:r>
            <a:r>
              <a:rPr lang="en-US" altLang="ko-KR" sz="2800">
                <a:solidFill>
                  <a:srgbClr val="339933"/>
                </a:solidFill>
                <a:ea typeface="굴림" charset="-127"/>
              </a:rPr>
              <a:t>Toss two dice. The total number of simple events is:</a:t>
            </a:r>
            <a:endParaRPr lang="en-US" altLang="ko-KR" sz="2800" b="1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  <p:grpSp>
        <p:nvGrpSpPr>
          <p:cNvPr id="20489" name="Group 26">
            <a:extLst>
              <a:ext uri="{FF2B5EF4-FFF2-40B4-BE49-F238E27FC236}">
                <a16:creationId xmlns:a16="http://schemas.microsoft.com/office/drawing/2014/main" id="{34BB5E7C-505A-F02F-1690-CABD4C2AA78D}"/>
              </a:ext>
            </a:extLst>
          </p:cNvPr>
          <p:cNvGrpSpPr>
            <a:grpSpLocks/>
          </p:cNvGrpSpPr>
          <p:nvPr/>
        </p:nvGrpSpPr>
        <p:grpSpPr bwMode="auto">
          <a:xfrm>
            <a:off x="11125200" y="0"/>
            <a:ext cx="1066800" cy="1219200"/>
            <a:chOff x="4944" y="144"/>
            <a:chExt cx="672" cy="768"/>
          </a:xfrm>
        </p:grpSpPr>
        <p:sp>
          <p:nvSpPr>
            <p:cNvPr id="20491" name="Rectangle 20">
              <a:extLst>
                <a:ext uri="{FF2B5EF4-FFF2-40B4-BE49-F238E27FC236}">
                  <a16:creationId xmlns:a16="http://schemas.microsoft.com/office/drawing/2014/main" id="{C7A7EEBE-32E4-A894-3207-4DA5DE7BA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144"/>
              <a:ext cx="672" cy="768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20492" name="Picture 12" descr="onedie">
              <a:extLst>
                <a:ext uri="{FF2B5EF4-FFF2-40B4-BE49-F238E27FC236}">
                  <a16:creationId xmlns:a16="http://schemas.microsoft.com/office/drawing/2014/main" id="{CBDDBDCE-4DCC-E566-1271-BB2E14B1E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192"/>
              <a:ext cx="26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493" name="Picture 13" descr="penny">
              <a:extLst>
                <a:ext uri="{FF2B5EF4-FFF2-40B4-BE49-F238E27FC236}">
                  <a16:creationId xmlns:a16="http://schemas.microsoft.com/office/drawing/2014/main" id="{F54FFC4A-1D19-AD05-ADEE-F6AE860404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2" y="576"/>
              <a:ext cx="312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0494" name="Group 14">
              <a:extLst>
                <a:ext uri="{FF2B5EF4-FFF2-40B4-BE49-F238E27FC236}">
                  <a16:creationId xmlns:a16="http://schemas.microsoft.com/office/drawing/2014/main" id="{1C4A6DDB-907D-9422-7223-6629C135FD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28" y="240"/>
              <a:ext cx="230" cy="280"/>
              <a:chOff x="5328" y="576"/>
              <a:chExt cx="184" cy="224"/>
            </a:xfrm>
          </p:grpSpPr>
          <p:sp>
            <p:nvSpPr>
              <p:cNvPr id="20498" name="Oval 15">
                <a:extLst>
                  <a:ext uri="{FF2B5EF4-FFF2-40B4-BE49-F238E27FC236}">
                    <a16:creationId xmlns:a16="http://schemas.microsoft.com/office/drawing/2014/main" id="{F961C034-EBEB-9CF7-C9EC-089D3907E3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28" y="624"/>
                <a:ext cx="176" cy="176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499" name="Text Box 16">
                <a:extLst>
                  <a:ext uri="{FF2B5EF4-FFF2-40B4-BE49-F238E27FC236}">
                    <a16:creationId xmlns:a16="http://schemas.microsoft.com/office/drawing/2014/main" id="{805955EA-076C-9917-8A3A-9F85254D2964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5328" y="576"/>
                <a:ext cx="184" cy="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8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0495" name="Group 17">
              <a:extLst>
                <a:ext uri="{FF2B5EF4-FFF2-40B4-BE49-F238E27FC236}">
                  <a16:creationId xmlns:a16="http://schemas.microsoft.com/office/drawing/2014/main" id="{28C50258-820B-FA0A-17A3-8EA1638862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28" y="528"/>
              <a:ext cx="239" cy="287"/>
              <a:chOff x="1776" y="144"/>
              <a:chExt cx="192" cy="230"/>
            </a:xfrm>
          </p:grpSpPr>
          <p:sp>
            <p:nvSpPr>
              <p:cNvPr id="20496" name="Oval 18">
                <a:extLst>
                  <a:ext uri="{FF2B5EF4-FFF2-40B4-BE49-F238E27FC236}">
                    <a16:creationId xmlns:a16="http://schemas.microsoft.com/office/drawing/2014/main" id="{100BD3B8-3DF5-2ABF-4FD4-74324E13AD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76" y="192"/>
                <a:ext cx="182" cy="18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497" name="Text Box 19">
                <a:extLst>
                  <a:ext uri="{FF2B5EF4-FFF2-40B4-BE49-F238E27FC236}">
                    <a16:creationId xmlns:a16="http://schemas.microsoft.com/office/drawing/2014/main" id="{9B893F19-9EAC-E32E-7ACF-6CC4DF32619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78" y="144"/>
                <a:ext cx="190" cy="1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8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</p:grpSp>
      <p:sp>
        <p:nvSpPr>
          <p:cNvPr id="111638" name="Text Box 22">
            <a:extLst>
              <a:ext uri="{FF2B5EF4-FFF2-40B4-BE49-F238E27FC236}">
                <a16:creationId xmlns:a16="http://schemas.microsoft.com/office/drawing/2014/main" id="{BE3752C2-B31A-3C64-2161-5E14385FC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5178971"/>
            <a:ext cx="2819400" cy="608013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3200" b="1">
                <a:solidFill>
                  <a:srgbClr val="F4ECC6"/>
                </a:solidFill>
                <a:ea typeface="굴림" panose="020B0600000101010101" pitchFamily="34" charset="-127"/>
              </a:rPr>
              <a:t>4 </a:t>
            </a:r>
            <a:r>
              <a:rPr lang="en-US" altLang="ko-KR" sz="3200" b="1">
                <a:solidFill>
                  <a:srgbClr val="F4ECC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 3 =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1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3" grpId="0" autoUpdateAnimBg="0"/>
      <p:bldP spid="111624" grpId="0" animBg="1" autoUpdateAnimBg="0"/>
      <p:bldP spid="111625" grpId="0" autoUpdateAnimBg="0"/>
      <p:bldP spid="111626" grpId="0" animBg="1" autoUpdateAnimBg="0"/>
      <p:bldP spid="111627" grpId="0" autoUpdateAnimBg="0"/>
      <p:bldP spid="111638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026">
            <a:extLst>
              <a:ext uri="{FF2B5EF4-FFF2-40B4-BE49-F238E27FC236}">
                <a16:creationId xmlns:a16="http://schemas.microsoft.com/office/drawing/2014/main" id="{0B416605-0F26-F93A-654C-5038024821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0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Permutations</a:t>
            </a:r>
            <a:endParaRPr lang="en-US" altLang="ko-KR" sz="4800" i="1" dirty="0">
              <a:ea typeface="굴림" charset="-127"/>
            </a:endParaRPr>
          </a:p>
        </p:txBody>
      </p:sp>
      <p:sp>
        <p:nvSpPr>
          <p:cNvPr id="21508" name="Rectangle 1028">
            <a:extLst>
              <a:ext uri="{FF2B5EF4-FFF2-40B4-BE49-F238E27FC236}">
                <a16:creationId xmlns:a16="http://schemas.microsoft.com/office/drawing/2014/main" id="{E9722A09-02D4-423D-15C5-DF55EFCAF7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0"/>
            <a:ext cx="8153400" cy="2819400"/>
          </a:xfr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ko-KR">
                <a:ea typeface="굴림" panose="020B0600000101010101" pitchFamily="34" charset="-127"/>
              </a:rPr>
              <a:t>The number of ways you can arrange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>
                <a:ea typeface="굴림" panose="020B0600000101010101" pitchFamily="34" charset="-127"/>
              </a:rPr>
              <a:t> </a:t>
            </a:r>
            <a:r>
              <a:rPr lang="en-US" altLang="ko-KR" b="1" i="1">
                <a:solidFill>
                  <a:srgbClr val="333333"/>
                </a:solidFill>
                <a:ea typeface="굴림" panose="020B0600000101010101" pitchFamily="34" charset="-127"/>
              </a:rPr>
              <a:t>n</a:t>
            </a:r>
            <a:r>
              <a:rPr lang="en-US" altLang="ko-KR" b="1">
                <a:solidFill>
                  <a:srgbClr val="333333"/>
                </a:solidFill>
                <a:ea typeface="굴림" panose="020B0600000101010101" pitchFamily="34" charset="-127"/>
              </a:rPr>
              <a:t> </a:t>
            </a:r>
            <a:r>
              <a:rPr lang="en-US" altLang="ko-KR">
                <a:ea typeface="굴림" panose="020B0600000101010101" pitchFamily="34" charset="-127"/>
              </a:rPr>
              <a:t>distinct objects, taking them </a:t>
            </a:r>
            <a:r>
              <a:rPr lang="en-US" altLang="ko-KR" b="1" i="1">
                <a:solidFill>
                  <a:srgbClr val="333333"/>
                </a:solidFill>
                <a:ea typeface="굴림" panose="020B0600000101010101" pitchFamily="34" charset="-127"/>
              </a:rPr>
              <a:t>r</a:t>
            </a:r>
            <a:r>
              <a:rPr lang="en-US" altLang="ko-KR">
                <a:ea typeface="굴림" panose="020B0600000101010101" pitchFamily="34" charset="-127"/>
              </a:rPr>
              <a:t> at a time is</a:t>
            </a:r>
          </a:p>
        </p:txBody>
      </p:sp>
      <p:sp>
        <p:nvSpPr>
          <p:cNvPr id="112645" name="Text Box 1029">
            <a:extLst>
              <a:ext uri="{FF2B5EF4-FFF2-40B4-BE49-F238E27FC236}">
                <a16:creationId xmlns:a16="http://schemas.microsoft.com/office/drawing/2014/main" id="{D6EE1531-2293-C931-8BEF-390A8C24B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311650"/>
            <a:ext cx="7315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28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Example: </a:t>
            </a:r>
            <a:r>
              <a:rPr lang="en-US" altLang="ko-KR" sz="2800">
                <a:solidFill>
                  <a:srgbClr val="339933"/>
                </a:solidFill>
                <a:ea typeface="굴림" charset="-127"/>
              </a:rPr>
              <a:t>How many 3-digit lock combinations can we make from the numbers 1, 2, 3, and 4?</a:t>
            </a:r>
            <a:endParaRPr lang="en-US" altLang="ko-KR" sz="2800" b="1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  <p:graphicFrame>
        <p:nvGraphicFramePr>
          <p:cNvPr id="21510" name="Object 1031">
            <a:extLst>
              <a:ext uri="{FF2B5EF4-FFF2-40B4-BE49-F238E27FC236}">
                <a16:creationId xmlns:a16="http://schemas.microsoft.com/office/drawing/2014/main" id="{47469B89-72A0-128B-46A4-9F7DBE0BA4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2438400"/>
          <a:ext cx="6705600" cy="171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78100" imgH="660400" progId="Equation.3">
                  <p:embed/>
                </p:oleObj>
              </mc:Choice>
              <mc:Fallback>
                <p:oleObj name="Equation" r:id="rId2" imgW="2578100" imgH="660400" progId="Equation.3">
                  <p:embed/>
                  <p:pic>
                    <p:nvPicPr>
                      <p:cNvPr id="21510" name="Object 1031">
                        <a:extLst>
                          <a:ext uri="{FF2B5EF4-FFF2-40B4-BE49-F238E27FC236}">
                            <a16:creationId xmlns:a16="http://schemas.microsoft.com/office/drawing/2014/main" id="{47469B89-72A0-128B-46A4-9F7DBE0BA4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438400"/>
                        <a:ext cx="6705600" cy="171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8" name="Object 1032">
            <a:extLst>
              <a:ext uri="{FF2B5EF4-FFF2-40B4-BE49-F238E27FC236}">
                <a16:creationId xmlns:a16="http://schemas.microsoft.com/office/drawing/2014/main" id="{68724459-386A-3C2B-0D3C-BAA75EBB15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1" y="5337176"/>
          <a:ext cx="3738563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300" imgH="393700" progId="Equation.3">
                  <p:embed/>
                </p:oleObj>
              </mc:Choice>
              <mc:Fallback>
                <p:oleObj name="Equation" r:id="rId4" imgW="1384300" imgH="393700" progId="Equation.3">
                  <p:embed/>
                  <p:pic>
                    <p:nvPicPr>
                      <p:cNvPr id="112648" name="Object 1032">
                        <a:extLst>
                          <a:ext uri="{FF2B5EF4-FFF2-40B4-BE49-F238E27FC236}">
                            <a16:creationId xmlns:a16="http://schemas.microsoft.com/office/drawing/2014/main" id="{68724459-386A-3C2B-0D3C-BAA75EBB15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1" y="5337176"/>
                        <a:ext cx="3738563" cy="1063625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12" name="Group 1039">
            <a:extLst>
              <a:ext uri="{FF2B5EF4-FFF2-40B4-BE49-F238E27FC236}">
                <a16:creationId xmlns:a16="http://schemas.microsoft.com/office/drawing/2014/main" id="{52AD4C92-56B3-52F7-5AB9-F4EDAD084624}"/>
              </a:ext>
            </a:extLst>
          </p:cNvPr>
          <p:cNvGrpSpPr>
            <a:grpSpLocks/>
          </p:cNvGrpSpPr>
          <p:nvPr/>
        </p:nvGrpSpPr>
        <p:grpSpPr bwMode="auto">
          <a:xfrm>
            <a:off x="11049000" y="15766"/>
            <a:ext cx="1143000" cy="1752600"/>
            <a:chOff x="4944" y="48"/>
            <a:chExt cx="720" cy="1104"/>
          </a:xfrm>
        </p:grpSpPr>
        <p:sp>
          <p:nvSpPr>
            <p:cNvPr id="21516" name="Rectangle 1034">
              <a:extLst>
                <a:ext uri="{FF2B5EF4-FFF2-40B4-BE49-F238E27FC236}">
                  <a16:creationId xmlns:a16="http://schemas.microsoft.com/office/drawing/2014/main" id="{E2D5E4D7-E181-A31A-59AA-403B551C1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48"/>
              <a:ext cx="720" cy="1104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21517" name="Picture 1033" descr="lock">
              <a:extLst>
                <a:ext uri="{FF2B5EF4-FFF2-40B4-BE49-F238E27FC236}">
                  <a16:creationId xmlns:a16="http://schemas.microsoft.com/office/drawing/2014/main" id="{0CA945A0-B9E1-6AAE-EA64-1406B8658D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5" y="96"/>
              <a:ext cx="581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2654" name="Group 1038">
            <a:extLst>
              <a:ext uri="{FF2B5EF4-FFF2-40B4-BE49-F238E27FC236}">
                <a16:creationId xmlns:a16="http://schemas.microsoft.com/office/drawing/2014/main" id="{6C96BCBB-177C-3B99-3EAB-2372B47C50D3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473700"/>
            <a:ext cx="4495800" cy="850900"/>
            <a:chOff x="240" y="3360"/>
            <a:chExt cx="2832" cy="536"/>
          </a:xfrm>
        </p:grpSpPr>
        <p:sp>
          <p:nvSpPr>
            <p:cNvPr id="21514" name="Text Box 1036">
              <a:extLst>
                <a:ext uri="{FF2B5EF4-FFF2-40B4-BE49-F238E27FC236}">
                  <a16:creationId xmlns:a16="http://schemas.microsoft.com/office/drawing/2014/main" id="{F2DA2FB5-4713-B970-1660-9B97171EA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360"/>
              <a:ext cx="2496" cy="536"/>
            </a:xfrm>
            <a:prstGeom prst="rect">
              <a:avLst/>
            </a:prstGeom>
            <a:solidFill>
              <a:srgbClr val="CC0066"/>
            </a:solidFill>
            <a:ln w="28575">
              <a:solidFill>
                <a:srgbClr val="F4ECC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>
                  <a:solidFill>
                    <a:srgbClr val="F4ECC6"/>
                  </a:solidFill>
                  <a:ea typeface="굴림" panose="020B0600000101010101" pitchFamily="34" charset="-127"/>
                </a:rPr>
                <a:t>The order of the choice is important!</a:t>
              </a:r>
            </a:p>
          </p:txBody>
        </p:sp>
        <p:sp>
          <p:nvSpPr>
            <p:cNvPr id="21515" name="Line 1037">
              <a:extLst>
                <a:ext uri="{FF2B5EF4-FFF2-40B4-BE49-F238E27FC236}">
                  <a16:creationId xmlns:a16="http://schemas.microsoft.com/office/drawing/2014/main" id="{104A4D71-12B6-6BD4-02B0-C377C511A3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600"/>
              <a:ext cx="336" cy="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0A3A3E0C-1BA2-A121-F8EB-7054878CE5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6793" y="112987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Examples</a:t>
            </a:r>
          </a:p>
        </p:txBody>
      </p:sp>
      <p:sp>
        <p:nvSpPr>
          <p:cNvPr id="113668" name="Text Box 4">
            <a:extLst>
              <a:ext uri="{FF2B5EF4-FFF2-40B4-BE49-F238E27FC236}">
                <a16:creationId xmlns:a16="http://schemas.microsoft.com/office/drawing/2014/main" id="{3391330B-DCC5-6283-99C3-495ECE309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676401"/>
            <a:ext cx="76962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32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Example: </a:t>
            </a:r>
            <a:r>
              <a:rPr lang="en-US" altLang="ko-KR" sz="3200">
                <a:solidFill>
                  <a:srgbClr val="339933"/>
                </a:solidFill>
                <a:ea typeface="굴림" charset="-127"/>
              </a:rPr>
              <a:t>A lock consists of five parts and can be assembled in any order. A quality control engineer wants to test each order for efficiency of assembly. How many orders are there?</a:t>
            </a:r>
            <a:endParaRPr lang="en-US" altLang="ko-KR" sz="3200" b="1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  <p:graphicFrame>
        <p:nvGraphicFramePr>
          <p:cNvPr id="113687" name="Object 23">
            <a:extLst>
              <a:ext uri="{FF2B5EF4-FFF2-40B4-BE49-F238E27FC236}">
                <a16:creationId xmlns:a16="http://schemas.microsoft.com/office/drawing/2014/main" id="{F7764552-F279-ED5E-EEB1-7649BE85A3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1" y="5029201"/>
          <a:ext cx="476567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5300" imgH="393700" progId="Equation.3">
                  <p:embed/>
                </p:oleObj>
              </mc:Choice>
              <mc:Fallback>
                <p:oleObj name="Equation" r:id="rId2" imgW="1765300" imgH="393700" progId="Equation.3">
                  <p:embed/>
                  <p:pic>
                    <p:nvPicPr>
                      <p:cNvPr id="113687" name="Object 23">
                        <a:extLst>
                          <a:ext uri="{FF2B5EF4-FFF2-40B4-BE49-F238E27FC236}">
                            <a16:creationId xmlns:a16="http://schemas.microsoft.com/office/drawing/2014/main" id="{F7764552-F279-ED5E-EEB1-7649BE85A3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1" y="5029201"/>
                        <a:ext cx="4765675" cy="1063625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695" name="Group 31">
            <a:extLst>
              <a:ext uri="{FF2B5EF4-FFF2-40B4-BE49-F238E27FC236}">
                <a16:creationId xmlns:a16="http://schemas.microsoft.com/office/drawing/2014/main" id="{CFE035BA-1A5C-8271-8463-B8FF17D88B15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191001"/>
            <a:ext cx="3962400" cy="1141413"/>
            <a:chOff x="576" y="2688"/>
            <a:chExt cx="2496" cy="719"/>
          </a:xfrm>
        </p:grpSpPr>
        <p:sp>
          <p:nvSpPr>
            <p:cNvPr id="22538" name="Text Box 25">
              <a:extLst>
                <a:ext uri="{FF2B5EF4-FFF2-40B4-BE49-F238E27FC236}">
                  <a16:creationId xmlns:a16="http://schemas.microsoft.com/office/drawing/2014/main" id="{C1AB1B22-5C73-83A9-E149-4158A1E2E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688"/>
              <a:ext cx="2496" cy="536"/>
            </a:xfrm>
            <a:prstGeom prst="rect">
              <a:avLst/>
            </a:prstGeom>
            <a:solidFill>
              <a:srgbClr val="CC0066"/>
            </a:solidFill>
            <a:ln w="28575">
              <a:solidFill>
                <a:srgbClr val="F4ECC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>
                  <a:solidFill>
                    <a:srgbClr val="F4ECC6"/>
                  </a:solidFill>
                  <a:ea typeface="굴림" panose="020B0600000101010101" pitchFamily="34" charset="-127"/>
                </a:rPr>
                <a:t>The order of the choice is important!</a:t>
              </a:r>
            </a:p>
          </p:txBody>
        </p:sp>
        <p:cxnSp>
          <p:nvCxnSpPr>
            <p:cNvPr id="22539" name="AutoShape 27">
              <a:extLst>
                <a:ext uri="{FF2B5EF4-FFF2-40B4-BE49-F238E27FC236}">
                  <a16:creationId xmlns:a16="http://schemas.microsoft.com/office/drawing/2014/main" id="{34144346-12F8-B223-6FD9-957140148698}"/>
                </a:ext>
              </a:extLst>
            </p:cNvPr>
            <p:cNvCxnSpPr>
              <a:cxnSpLocks noChangeShapeType="1"/>
              <a:stCxn id="22538" idx="2"/>
            </p:cNvCxnSpPr>
            <p:nvPr/>
          </p:nvCxnSpPr>
          <p:spPr bwMode="auto">
            <a:xfrm rot="16200000" flipH="1">
              <a:off x="1949" y="3108"/>
              <a:ext cx="174" cy="423"/>
            </a:xfrm>
            <a:prstGeom prst="bentConnector2">
              <a:avLst/>
            </a:prstGeom>
            <a:noFill/>
            <a:ln w="28575">
              <a:solidFill>
                <a:srgbClr val="CC0066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535" name="Group 28">
            <a:extLst>
              <a:ext uri="{FF2B5EF4-FFF2-40B4-BE49-F238E27FC236}">
                <a16:creationId xmlns:a16="http://schemas.microsoft.com/office/drawing/2014/main" id="{CC67CB97-2F82-029B-BFC5-208752E40A29}"/>
              </a:ext>
            </a:extLst>
          </p:cNvPr>
          <p:cNvGrpSpPr>
            <a:grpSpLocks/>
          </p:cNvGrpSpPr>
          <p:nvPr/>
        </p:nvGrpSpPr>
        <p:grpSpPr bwMode="auto">
          <a:xfrm>
            <a:off x="11049000" y="36787"/>
            <a:ext cx="1143000" cy="1752600"/>
            <a:chOff x="4944" y="48"/>
            <a:chExt cx="720" cy="1104"/>
          </a:xfrm>
        </p:grpSpPr>
        <p:sp>
          <p:nvSpPr>
            <p:cNvPr id="22536" name="Rectangle 29">
              <a:extLst>
                <a:ext uri="{FF2B5EF4-FFF2-40B4-BE49-F238E27FC236}">
                  <a16:creationId xmlns:a16="http://schemas.microsoft.com/office/drawing/2014/main" id="{B5C8341D-3DC4-1174-1810-6324EDCA0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48"/>
              <a:ext cx="720" cy="1104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22537" name="Picture 30" descr="lock">
              <a:extLst>
                <a:ext uri="{FF2B5EF4-FFF2-40B4-BE49-F238E27FC236}">
                  <a16:creationId xmlns:a16="http://schemas.microsoft.com/office/drawing/2014/main" id="{DC2F7938-2089-79F3-3323-F3AAE1840B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5" y="96"/>
              <a:ext cx="581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3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52435646-5AE7-4C20-1FDB-2F71C2AEB0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0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Combinations</a:t>
            </a:r>
            <a:endParaRPr lang="en-US" altLang="ko-KR" sz="4800" i="1" dirty="0">
              <a:ea typeface="굴림" charset="-127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480DDBC2-04C2-D230-508F-D324B507C5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203435"/>
            <a:ext cx="8952186" cy="2438400"/>
          </a:xfr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ko-KR" sz="3200" dirty="0">
                <a:ea typeface="굴림" panose="020B0600000101010101" pitchFamily="34" charset="-127"/>
              </a:rPr>
              <a:t>The number of distinct combinations of </a:t>
            </a:r>
            <a:r>
              <a:rPr lang="en-US" altLang="ko-KR" sz="3200" b="1" i="1" dirty="0">
                <a:solidFill>
                  <a:srgbClr val="333333"/>
                </a:solidFill>
                <a:ea typeface="굴림" panose="020B0600000101010101" pitchFamily="34" charset="-127"/>
              </a:rPr>
              <a:t>n</a:t>
            </a:r>
            <a:r>
              <a:rPr lang="en-US" altLang="ko-KR" sz="3200" b="1" dirty="0">
                <a:solidFill>
                  <a:srgbClr val="333333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ea typeface="굴림" panose="020B0600000101010101" pitchFamily="34" charset="-127"/>
              </a:rPr>
              <a:t>distinct objects that can be formed, taking them </a:t>
            </a:r>
            <a:r>
              <a:rPr lang="en-US" altLang="ko-KR" sz="3200" b="1" i="1" dirty="0">
                <a:solidFill>
                  <a:srgbClr val="333333"/>
                </a:solidFill>
                <a:ea typeface="굴림" panose="020B0600000101010101" pitchFamily="34" charset="-127"/>
              </a:rPr>
              <a:t>r</a:t>
            </a:r>
            <a:r>
              <a:rPr lang="en-US" altLang="ko-KR" sz="3200" dirty="0">
                <a:ea typeface="굴림" panose="020B0600000101010101" pitchFamily="34" charset="-127"/>
              </a:rPr>
              <a:t> at a time is</a:t>
            </a:r>
          </a:p>
        </p:txBody>
      </p:sp>
      <p:sp>
        <p:nvSpPr>
          <p:cNvPr id="114693" name="Text Box 5">
            <a:extLst>
              <a:ext uri="{FF2B5EF4-FFF2-40B4-BE49-F238E27FC236}">
                <a16:creationId xmlns:a16="http://schemas.microsoft.com/office/drawing/2014/main" id="{00F51C36-D790-3708-7166-7F6F17F53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620" y="3665480"/>
            <a:ext cx="902838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ko-KR" sz="28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Example: </a:t>
            </a:r>
            <a:r>
              <a:rPr lang="en-US" altLang="ko-KR" sz="3200" dirty="0">
                <a:solidFill>
                  <a:srgbClr val="339933"/>
                </a:solidFill>
                <a:ea typeface="굴림" charset="-127"/>
              </a:rPr>
              <a:t>Three members of a 5-person committee must be chosen to form a subcommittee. How many </a:t>
            </a: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different</a:t>
            </a:r>
            <a:r>
              <a:rPr lang="en-US" altLang="ko-KR" sz="3200" dirty="0">
                <a:solidFill>
                  <a:srgbClr val="339933"/>
                </a:solidFill>
                <a:ea typeface="굴림" charset="-127"/>
              </a:rPr>
              <a:t> subcommittees could be formed?</a:t>
            </a:r>
            <a:endParaRPr lang="en-US" altLang="ko-KR" sz="2800" b="1" dirty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  <p:graphicFrame>
        <p:nvGraphicFramePr>
          <p:cNvPr id="23558" name="Object 6">
            <a:extLst>
              <a:ext uri="{FF2B5EF4-FFF2-40B4-BE49-F238E27FC236}">
                <a16:creationId xmlns:a16="http://schemas.microsoft.com/office/drawing/2014/main" id="{A27624A4-896A-CF99-8369-F10B2CFDE6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670127"/>
              </p:ext>
            </p:extLst>
          </p:nvPr>
        </p:nvGraphicFramePr>
        <p:xfrm>
          <a:off x="6842238" y="2328041"/>
          <a:ext cx="2411413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100" imgH="419100" progId="Equation.3">
                  <p:embed/>
                </p:oleObj>
              </mc:Choice>
              <mc:Fallback>
                <p:oleObj name="Equation" r:id="rId2" imgW="927100" imgH="419100" progId="Equation.3">
                  <p:embed/>
                  <p:pic>
                    <p:nvPicPr>
                      <p:cNvPr id="23558" name="Object 6">
                        <a:extLst>
                          <a:ext uri="{FF2B5EF4-FFF2-40B4-BE49-F238E27FC236}">
                            <a16:creationId xmlns:a16="http://schemas.microsoft.com/office/drawing/2014/main" id="{A27624A4-896A-CF99-8369-F10B2CFDE6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238" y="2328041"/>
                        <a:ext cx="2411413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5" name="Object 7">
            <a:extLst>
              <a:ext uri="{FF2B5EF4-FFF2-40B4-BE49-F238E27FC236}">
                <a16:creationId xmlns:a16="http://schemas.microsoft.com/office/drawing/2014/main" id="{903D1D87-9932-A232-6613-C84D64253C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380084"/>
              </p:ext>
            </p:extLst>
          </p:nvPr>
        </p:nvGraphicFramePr>
        <p:xfrm>
          <a:off x="3886200" y="5270931"/>
          <a:ext cx="647700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63800" imgH="419100" progId="Equation.3">
                  <p:embed/>
                </p:oleObj>
              </mc:Choice>
              <mc:Fallback>
                <p:oleObj name="Equation" r:id="rId4" imgW="2463800" imgH="419100" progId="Equation.3">
                  <p:embed/>
                  <p:pic>
                    <p:nvPicPr>
                      <p:cNvPr id="114695" name="Object 7">
                        <a:extLst>
                          <a:ext uri="{FF2B5EF4-FFF2-40B4-BE49-F238E27FC236}">
                            <a16:creationId xmlns:a16="http://schemas.microsoft.com/office/drawing/2014/main" id="{903D1D87-9932-A232-6613-C84D64253C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270931"/>
                        <a:ext cx="6477000" cy="1101725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4703" name="Group 15">
            <a:extLst>
              <a:ext uri="{FF2B5EF4-FFF2-40B4-BE49-F238E27FC236}">
                <a16:creationId xmlns:a16="http://schemas.microsoft.com/office/drawing/2014/main" id="{F5205D78-0B00-F29C-52B3-58ED2EBA35A1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347131"/>
            <a:ext cx="1981200" cy="1368425"/>
            <a:chOff x="240" y="3216"/>
            <a:chExt cx="1248" cy="862"/>
          </a:xfrm>
        </p:grpSpPr>
        <p:sp>
          <p:nvSpPr>
            <p:cNvPr id="23561" name="Text Box 12">
              <a:extLst>
                <a:ext uri="{FF2B5EF4-FFF2-40B4-BE49-F238E27FC236}">
                  <a16:creationId xmlns:a16="http://schemas.microsoft.com/office/drawing/2014/main" id="{8BEA7CA6-4823-20AF-AF26-32F8D0A1B4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312"/>
              <a:ext cx="1248" cy="766"/>
            </a:xfrm>
            <a:prstGeom prst="rect">
              <a:avLst/>
            </a:prstGeom>
            <a:solidFill>
              <a:srgbClr val="CC0066"/>
            </a:solidFill>
            <a:ln w="28575">
              <a:solidFill>
                <a:srgbClr val="F4ECC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ko-KR">
                  <a:solidFill>
                    <a:srgbClr val="F4ECC6"/>
                  </a:solidFill>
                  <a:ea typeface="굴림" panose="020B0600000101010101" pitchFamily="34" charset="-127"/>
                </a:rPr>
                <a:t>The order of </a:t>
              </a:r>
            </a:p>
            <a:p>
              <a:pPr eaLnBrk="1" hangingPunct="1"/>
              <a:r>
                <a:rPr lang="en-US" altLang="ko-KR">
                  <a:solidFill>
                    <a:srgbClr val="F4ECC6"/>
                  </a:solidFill>
                  <a:ea typeface="굴림" panose="020B0600000101010101" pitchFamily="34" charset="-127"/>
                </a:rPr>
                <a:t>the choice is </a:t>
              </a:r>
            </a:p>
            <a:p>
              <a:pPr eaLnBrk="1" hangingPunct="1"/>
              <a:r>
                <a:rPr lang="en-US" altLang="ko-KR">
                  <a:solidFill>
                    <a:srgbClr val="F4ECC6"/>
                  </a:solidFill>
                  <a:ea typeface="굴림" panose="020B0600000101010101" pitchFamily="34" charset="-127"/>
                </a:rPr>
                <a:t>not important!</a:t>
              </a:r>
            </a:p>
          </p:txBody>
        </p:sp>
        <p:cxnSp>
          <p:nvCxnSpPr>
            <p:cNvPr id="23562" name="AutoShape 14">
              <a:extLst>
                <a:ext uri="{FF2B5EF4-FFF2-40B4-BE49-F238E27FC236}">
                  <a16:creationId xmlns:a16="http://schemas.microsoft.com/office/drawing/2014/main" id="{C05C3942-E368-E366-41EB-226AC46975F9}"/>
                </a:ext>
              </a:extLst>
            </p:cNvPr>
            <p:cNvCxnSpPr>
              <a:cxnSpLocks noChangeShapeType="1"/>
              <a:stCxn id="23561" idx="0"/>
            </p:cNvCxnSpPr>
            <p:nvPr/>
          </p:nvCxnSpPr>
          <p:spPr bwMode="auto">
            <a:xfrm rot="-5400000">
              <a:off x="1060" y="3020"/>
              <a:ext cx="87" cy="480"/>
            </a:xfrm>
            <a:prstGeom prst="bentConnector2">
              <a:avLst/>
            </a:prstGeom>
            <a:noFill/>
            <a:ln w="28575">
              <a:solidFill>
                <a:srgbClr val="CC0066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3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AB6C62E0-9A23-025C-8BA8-4A48087806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8264" y="52668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ea typeface="굴림" charset="-127"/>
              </a:rPr>
              <a:t>Example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C8108018-1A1F-04E1-D911-F8AE80CDF3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399" y="1143000"/>
            <a:ext cx="8978499" cy="1600200"/>
          </a:xfrm>
          <a:noFill/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ko-KR" sz="3200" dirty="0">
                <a:ea typeface="굴림" panose="020B0600000101010101" pitchFamily="34" charset="-127"/>
              </a:rPr>
              <a:t>A box contains six M&amp;Ms</a:t>
            </a:r>
            <a:r>
              <a:rPr lang="en-US" altLang="ko-KR" sz="3200" baseline="30000" dirty="0">
                <a:ea typeface="굴림" panose="020B0600000101010101" pitchFamily="34" charset="-127"/>
              </a:rPr>
              <a:t>®</a:t>
            </a:r>
            <a:r>
              <a:rPr lang="en-US" altLang="ko-KR" sz="3200" dirty="0">
                <a:ea typeface="굴림" panose="020B0600000101010101" pitchFamily="34" charset="-127"/>
              </a:rPr>
              <a:t>, four red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ko-KR" sz="3200" dirty="0">
                <a:ea typeface="굴림" panose="020B0600000101010101" pitchFamily="34" charset="-127"/>
              </a:rPr>
              <a:t>and two green. A child selects two M&amp;Ms at random. What is the probability that exactly one is red?</a:t>
            </a:r>
          </a:p>
        </p:txBody>
      </p:sp>
      <p:sp>
        <p:nvSpPr>
          <p:cNvPr id="116787" name="Text Box 51">
            <a:extLst>
              <a:ext uri="{FF2B5EF4-FFF2-40B4-BE49-F238E27FC236}">
                <a16:creationId xmlns:a16="http://schemas.microsoft.com/office/drawing/2014/main" id="{B18631DB-F84F-9E36-8B29-7101B1820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048001"/>
            <a:ext cx="1981200" cy="121602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ko-KR">
                <a:solidFill>
                  <a:srgbClr val="F4ECC6"/>
                </a:solidFill>
                <a:ea typeface="굴림" panose="020B0600000101010101" pitchFamily="34" charset="-127"/>
              </a:rPr>
              <a:t>The order of </a:t>
            </a:r>
          </a:p>
          <a:p>
            <a:pPr eaLnBrk="1" hangingPunct="1"/>
            <a:r>
              <a:rPr lang="en-US" altLang="ko-KR">
                <a:solidFill>
                  <a:srgbClr val="F4ECC6"/>
                </a:solidFill>
                <a:ea typeface="굴림" panose="020B0600000101010101" pitchFamily="34" charset="-127"/>
              </a:rPr>
              <a:t>the choice is </a:t>
            </a:r>
          </a:p>
          <a:p>
            <a:pPr eaLnBrk="1" hangingPunct="1"/>
            <a:r>
              <a:rPr lang="en-US" altLang="ko-KR">
                <a:solidFill>
                  <a:srgbClr val="F4ECC6"/>
                </a:solidFill>
                <a:ea typeface="굴림" panose="020B0600000101010101" pitchFamily="34" charset="-127"/>
              </a:rPr>
              <a:t>not important!</a:t>
            </a:r>
          </a:p>
        </p:txBody>
      </p:sp>
      <p:grpSp>
        <p:nvGrpSpPr>
          <p:cNvPr id="24582" name="Group 59">
            <a:extLst>
              <a:ext uri="{FF2B5EF4-FFF2-40B4-BE49-F238E27FC236}">
                <a16:creationId xmlns:a16="http://schemas.microsoft.com/office/drawing/2014/main" id="{9AA77336-709D-B299-4DD4-46E485C8E03E}"/>
              </a:ext>
            </a:extLst>
          </p:cNvPr>
          <p:cNvGrpSpPr>
            <a:grpSpLocks/>
          </p:cNvGrpSpPr>
          <p:nvPr/>
        </p:nvGrpSpPr>
        <p:grpSpPr bwMode="auto">
          <a:xfrm>
            <a:off x="10547126" y="381000"/>
            <a:ext cx="1295400" cy="1295400"/>
            <a:chOff x="384" y="2208"/>
            <a:chExt cx="864" cy="912"/>
          </a:xfrm>
        </p:grpSpPr>
        <p:grpSp>
          <p:nvGrpSpPr>
            <p:cNvPr id="24598" name="Group 12">
              <a:extLst>
                <a:ext uri="{FF2B5EF4-FFF2-40B4-BE49-F238E27FC236}">
                  <a16:creationId xmlns:a16="http://schemas.microsoft.com/office/drawing/2014/main" id="{72AD8016-A6AB-AC2C-0686-713F1C7C56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24" y="2544"/>
              <a:ext cx="230" cy="280"/>
              <a:chOff x="4944" y="192"/>
              <a:chExt cx="184" cy="224"/>
            </a:xfrm>
          </p:grpSpPr>
          <p:sp>
            <p:nvSpPr>
              <p:cNvPr id="24615" name="Oval 13">
                <a:extLst>
                  <a:ext uri="{FF2B5EF4-FFF2-40B4-BE49-F238E27FC236}">
                    <a16:creationId xmlns:a16="http://schemas.microsoft.com/office/drawing/2014/main" id="{A6F9945A-8ED1-CFF7-0540-37639125C4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44" y="240"/>
                <a:ext cx="176" cy="176"/>
              </a:xfrm>
              <a:prstGeom prst="ellipse">
                <a:avLst/>
              </a:prstGeom>
              <a:solidFill>
                <a:srgbClr val="008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4616" name="Text Box 14">
                <a:extLst>
                  <a:ext uri="{FF2B5EF4-FFF2-40B4-BE49-F238E27FC236}">
                    <a16:creationId xmlns:a16="http://schemas.microsoft.com/office/drawing/2014/main" id="{8CF54A11-51D4-18D9-A5F6-B0353005224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4944" y="192"/>
                <a:ext cx="184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800" dirty="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4599" name="Group 15">
              <a:extLst>
                <a:ext uri="{FF2B5EF4-FFF2-40B4-BE49-F238E27FC236}">
                  <a16:creationId xmlns:a16="http://schemas.microsoft.com/office/drawing/2014/main" id="{72924B27-0FD3-E161-4C23-044813A3C8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24" y="2208"/>
              <a:ext cx="239" cy="287"/>
              <a:chOff x="1776" y="144"/>
              <a:chExt cx="192" cy="230"/>
            </a:xfrm>
          </p:grpSpPr>
          <p:sp>
            <p:nvSpPr>
              <p:cNvPr id="24613" name="Oval 16">
                <a:extLst>
                  <a:ext uri="{FF2B5EF4-FFF2-40B4-BE49-F238E27FC236}">
                    <a16:creationId xmlns:a16="http://schemas.microsoft.com/office/drawing/2014/main" id="{519DCFA0-544B-B557-1E2C-7BFC385DB8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76" y="192"/>
                <a:ext cx="182" cy="18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4614" name="Text Box 17">
                <a:extLst>
                  <a:ext uri="{FF2B5EF4-FFF2-40B4-BE49-F238E27FC236}">
                    <a16:creationId xmlns:a16="http://schemas.microsoft.com/office/drawing/2014/main" id="{9FBAF86B-DD0F-7B32-F729-C7C9756B49D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78" y="144"/>
                <a:ext cx="190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8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4600" name="Group 21">
              <a:extLst>
                <a:ext uri="{FF2B5EF4-FFF2-40B4-BE49-F238E27FC236}">
                  <a16:creationId xmlns:a16="http://schemas.microsoft.com/office/drawing/2014/main" id="{F0B8983B-B2AE-ECDE-5B33-EEF46100D3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0" y="2496"/>
              <a:ext cx="239" cy="287"/>
              <a:chOff x="1776" y="144"/>
              <a:chExt cx="192" cy="230"/>
            </a:xfrm>
          </p:grpSpPr>
          <p:sp>
            <p:nvSpPr>
              <p:cNvPr id="24611" name="Oval 22">
                <a:extLst>
                  <a:ext uri="{FF2B5EF4-FFF2-40B4-BE49-F238E27FC236}">
                    <a16:creationId xmlns:a16="http://schemas.microsoft.com/office/drawing/2014/main" id="{06B6CBC1-A397-29A5-6753-A801066191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76" y="192"/>
                <a:ext cx="182" cy="18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4612" name="Text Box 23">
                <a:extLst>
                  <a:ext uri="{FF2B5EF4-FFF2-40B4-BE49-F238E27FC236}">
                    <a16:creationId xmlns:a16="http://schemas.microsoft.com/office/drawing/2014/main" id="{86185A40-9702-8CA6-C585-099F702E4ED1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78" y="144"/>
                <a:ext cx="190" cy="2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8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4601" name="Group 33">
              <a:extLst>
                <a:ext uri="{FF2B5EF4-FFF2-40B4-BE49-F238E27FC236}">
                  <a16:creationId xmlns:a16="http://schemas.microsoft.com/office/drawing/2014/main" id="{480E9D6D-FD93-2E20-6E97-E33B9B6051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16" y="2496"/>
              <a:ext cx="230" cy="280"/>
              <a:chOff x="4944" y="192"/>
              <a:chExt cx="184" cy="224"/>
            </a:xfrm>
          </p:grpSpPr>
          <p:sp>
            <p:nvSpPr>
              <p:cNvPr id="24609" name="Oval 34">
                <a:extLst>
                  <a:ext uri="{FF2B5EF4-FFF2-40B4-BE49-F238E27FC236}">
                    <a16:creationId xmlns:a16="http://schemas.microsoft.com/office/drawing/2014/main" id="{51294D8F-F756-64E5-7043-DD60693893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44" y="240"/>
                <a:ext cx="176" cy="176"/>
              </a:xfrm>
              <a:prstGeom prst="ellipse">
                <a:avLst/>
              </a:prstGeom>
              <a:solidFill>
                <a:srgbClr val="008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4610" name="Text Box 35">
                <a:extLst>
                  <a:ext uri="{FF2B5EF4-FFF2-40B4-BE49-F238E27FC236}">
                    <a16:creationId xmlns:a16="http://schemas.microsoft.com/office/drawing/2014/main" id="{68DB4262-527B-38C8-3070-F92761A1D39E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4944" y="192"/>
                <a:ext cx="184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800" dirty="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grpSp>
          <p:nvGrpSpPr>
            <p:cNvPr id="24602" name="Group 36">
              <a:extLst>
                <a:ext uri="{FF2B5EF4-FFF2-40B4-BE49-F238E27FC236}">
                  <a16:creationId xmlns:a16="http://schemas.microsoft.com/office/drawing/2014/main" id="{E4F519F6-1A2C-EB6E-7062-E600E414D9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68" y="2304"/>
              <a:ext cx="239" cy="287"/>
              <a:chOff x="1776" y="144"/>
              <a:chExt cx="192" cy="230"/>
            </a:xfrm>
          </p:grpSpPr>
          <p:sp>
            <p:nvSpPr>
              <p:cNvPr id="24607" name="Oval 37">
                <a:extLst>
                  <a:ext uri="{FF2B5EF4-FFF2-40B4-BE49-F238E27FC236}">
                    <a16:creationId xmlns:a16="http://schemas.microsoft.com/office/drawing/2014/main" id="{B5A28EDB-4BB5-4A0C-08AD-C7B9B33B9C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76" y="192"/>
                <a:ext cx="182" cy="18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4608" name="Text Box 38">
                <a:extLst>
                  <a:ext uri="{FF2B5EF4-FFF2-40B4-BE49-F238E27FC236}">
                    <a16:creationId xmlns:a16="http://schemas.microsoft.com/office/drawing/2014/main" id="{00DC35A2-F3A7-AE19-F0DC-DBE5867768F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78" y="144"/>
                <a:ext cx="190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8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  <p:sp>
          <p:nvSpPr>
            <p:cNvPr id="24603" name="Rectangle 48">
              <a:extLst>
                <a:ext uri="{FF2B5EF4-FFF2-40B4-BE49-F238E27FC236}">
                  <a16:creationId xmlns:a16="http://schemas.microsoft.com/office/drawing/2014/main" id="{F9248400-B6BD-42C5-7323-CC50ED316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208"/>
              <a:ext cx="864" cy="9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chemeClr val="tx1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24604" name="Group 54">
              <a:extLst>
                <a:ext uri="{FF2B5EF4-FFF2-40B4-BE49-F238E27FC236}">
                  <a16:creationId xmlns:a16="http://schemas.microsoft.com/office/drawing/2014/main" id="{ABB9EB54-BF20-ED8B-16D4-9D6046C852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60" y="2304"/>
              <a:ext cx="239" cy="287"/>
              <a:chOff x="1776" y="144"/>
              <a:chExt cx="192" cy="230"/>
            </a:xfrm>
          </p:grpSpPr>
          <p:sp>
            <p:nvSpPr>
              <p:cNvPr id="24605" name="Oval 55">
                <a:extLst>
                  <a:ext uri="{FF2B5EF4-FFF2-40B4-BE49-F238E27FC236}">
                    <a16:creationId xmlns:a16="http://schemas.microsoft.com/office/drawing/2014/main" id="{43A11B07-E8D5-7A8A-1721-316CA35203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76" y="192"/>
                <a:ext cx="182" cy="18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4606" name="Text Box 56">
                <a:extLst>
                  <a:ext uri="{FF2B5EF4-FFF2-40B4-BE49-F238E27FC236}">
                    <a16:creationId xmlns:a16="http://schemas.microsoft.com/office/drawing/2014/main" id="{F9D72A56-987A-B806-ACDA-1993286FB91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778" y="144"/>
                <a:ext cx="190" cy="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sz="1800">
                    <a:solidFill>
                      <a:schemeClr val="bg1"/>
                    </a:solidFill>
                    <a:ea typeface="굴림" panose="020B0600000101010101" pitchFamily="34" charset="-127"/>
                  </a:rPr>
                  <a:t>m</a:t>
                </a:r>
              </a:p>
            </p:txBody>
          </p:sp>
        </p:grpSp>
      </p:grpSp>
      <p:grpSp>
        <p:nvGrpSpPr>
          <p:cNvPr id="116799" name="Group 63">
            <a:extLst>
              <a:ext uri="{FF2B5EF4-FFF2-40B4-BE49-F238E27FC236}">
                <a16:creationId xmlns:a16="http://schemas.microsoft.com/office/drawing/2014/main" id="{9EA4B218-5076-37D8-0091-E1A3151E3942}"/>
              </a:ext>
            </a:extLst>
          </p:cNvPr>
          <p:cNvGrpSpPr>
            <a:grpSpLocks/>
          </p:cNvGrpSpPr>
          <p:nvPr/>
        </p:nvGrpSpPr>
        <p:grpSpPr bwMode="auto">
          <a:xfrm>
            <a:off x="4343401" y="2819401"/>
            <a:ext cx="3597275" cy="1368425"/>
            <a:chOff x="1776" y="1776"/>
            <a:chExt cx="2266" cy="862"/>
          </a:xfrm>
        </p:grpSpPr>
        <p:graphicFrame>
          <p:nvGraphicFramePr>
            <p:cNvPr id="24596" name="Object 53">
              <a:extLst>
                <a:ext uri="{FF2B5EF4-FFF2-40B4-BE49-F238E27FC236}">
                  <a16:creationId xmlns:a16="http://schemas.microsoft.com/office/drawing/2014/main" id="{0AEB72DD-947B-9DCF-E46E-DAACBDEA40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0" y="1776"/>
            <a:ext cx="2122" cy="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25600" imgH="660400" progId="Equation.3">
                    <p:embed/>
                  </p:oleObj>
                </mc:Choice>
                <mc:Fallback>
                  <p:oleObj name="Equation" r:id="rId2" imgW="1625600" imgH="660400" progId="Equation.3">
                    <p:embed/>
                    <p:pic>
                      <p:nvPicPr>
                        <p:cNvPr id="24596" name="Object 53">
                          <a:extLst>
                            <a:ext uri="{FF2B5EF4-FFF2-40B4-BE49-F238E27FC236}">
                              <a16:creationId xmlns:a16="http://schemas.microsoft.com/office/drawing/2014/main" id="{0AEB72DD-947B-9DCF-E46E-DAACBDEA40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776"/>
                          <a:ext cx="2122" cy="862"/>
                        </a:xfrm>
                        <a:prstGeom prst="rect">
                          <a:avLst/>
                        </a:prstGeom>
                        <a:solidFill>
                          <a:srgbClr val="F4ECC6"/>
                        </a:solidFill>
                        <a:ln w="28575">
                          <a:solidFill>
                            <a:srgbClr val="CC0066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7" name="Line 62">
              <a:extLst>
                <a:ext uri="{FF2B5EF4-FFF2-40B4-BE49-F238E27FC236}">
                  <a16:creationId xmlns:a16="http://schemas.microsoft.com/office/drawing/2014/main" id="{8378DBD4-FE69-5D5C-5EF9-20EBC1F2F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256"/>
              <a:ext cx="288" cy="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116804" name="Group 68">
            <a:extLst>
              <a:ext uri="{FF2B5EF4-FFF2-40B4-BE49-F238E27FC236}">
                <a16:creationId xmlns:a16="http://schemas.microsoft.com/office/drawing/2014/main" id="{72E9BAB6-052C-48DB-C936-09306E73C07D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2667001"/>
            <a:ext cx="2306638" cy="1762125"/>
            <a:chOff x="4080" y="1680"/>
            <a:chExt cx="1453" cy="1110"/>
          </a:xfrm>
        </p:grpSpPr>
        <p:graphicFrame>
          <p:nvGraphicFramePr>
            <p:cNvPr id="24594" name="Object 57">
              <a:extLst>
                <a:ext uri="{FF2B5EF4-FFF2-40B4-BE49-F238E27FC236}">
                  <a16:creationId xmlns:a16="http://schemas.microsoft.com/office/drawing/2014/main" id="{C87E6B1B-E0E5-4B4F-9711-9103240802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1680"/>
            <a:ext cx="1309" cy="1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02865" imgH="850531" progId="Equation.3">
                    <p:embed/>
                  </p:oleObj>
                </mc:Choice>
                <mc:Fallback>
                  <p:oleObj name="Equation" r:id="rId4" imgW="1002865" imgH="850531" progId="Equation.3">
                    <p:embed/>
                    <p:pic>
                      <p:nvPicPr>
                        <p:cNvPr id="24594" name="Object 57">
                          <a:extLst>
                            <a:ext uri="{FF2B5EF4-FFF2-40B4-BE49-F238E27FC236}">
                              <a16:creationId xmlns:a16="http://schemas.microsoft.com/office/drawing/2014/main" id="{C87E6B1B-E0E5-4B4F-9711-9103240802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680"/>
                          <a:ext cx="1309" cy="1110"/>
                        </a:xfrm>
                        <a:prstGeom prst="rect">
                          <a:avLst/>
                        </a:prstGeom>
                        <a:solidFill>
                          <a:srgbClr val="F4ECC6"/>
                        </a:solidFill>
                        <a:ln w="28575">
                          <a:solidFill>
                            <a:srgbClr val="CC0066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5" name="Line 64">
              <a:extLst>
                <a:ext uri="{FF2B5EF4-FFF2-40B4-BE49-F238E27FC236}">
                  <a16:creationId xmlns:a16="http://schemas.microsoft.com/office/drawing/2014/main" id="{F287E60A-F06E-4C65-6A27-BBC3D6D019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208"/>
              <a:ext cx="288" cy="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116805" name="Group 69">
            <a:extLst>
              <a:ext uri="{FF2B5EF4-FFF2-40B4-BE49-F238E27FC236}">
                <a16:creationId xmlns:a16="http://schemas.microsoft.com/office/drawing/2014/main" id="{BD0EEDDF-E777-1BD1-C8AC-CA672202799C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495800"/>
            <a:ext cx="2382838" cy="1709738"/>
            <a:chOff x="384" y="2832"/>
            <a:chExt cx="1501" cy="1077"/>
          </a:xfrm>
        </p:grpSpPr>
        <p:graphicFrame>
          <p:nvGraphicFramePr>
            <p:cNvPr id="24592" name="Object 58">
              <a:extLst>
                <a:ext uri="{FF2B5EF4-FFF2-40B4-BE49-F238E27FC236}">
                  <a16:creationId xmlns:a16="http://schemas.microsoft.com/office/drawing/2014/main" id="{AC84B95D-BA60-A844-1908-A3D3D14962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6" y="2832"/>
            <a:ext cx="1309" cy="10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03300" imgH="825500" progId="Equation.3">
                    <p:embed/>
                  </p:oleObj>
                </mc:Choice>
                <mc:Fallback>
                  <p:oleObj name="Equation" r:id="rId6" imgW="1003300" imgH="825500" progId="Equation.3">
                    <p:embed/>
                    <p:pic>
                      <p:nvPicPr>
                        <p:cNvPr id="24592" name="Object 58">
                          <a:extLst>
                            <a:ext uri="{FF2B5EF4-FFF2-40B4-BE49-F238E27FC236}">
                              <a16:creationId xmlns:a16="http://schemas.microsoft.com/office/drawing/2014/main" id="{AC84B95D-BA60-A844-1908-A3D3D14962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2832"/>
                          <a:ext cx="1309" cy="1077"/>
                        </a:xfrm>
                        <a:prstGeom prst="rect">
                          <a:avLst/>
                        </a:prstGeom>
                        <a:solidFill>
                          <a:srgbClr val="F4ECC6"/>
                        </a:solidFill>
                        <a:ln w="28575">
                          <a:solidFill>
                            <a:srgbClr val="CC0066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3" name="Line 65">
              <a:extLst>
                <a:ext uri="{FF2B5EF4-FFF2-40B4-BE49-F238E27FC236}">
                  <a16:creationId xmlns:a16="http://schemas.microsoft.com/office/drawing/2014/main" id="{54D6FB3C-D945-BF4C-5E02-3C2145D1F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312"/>
              <a:ext cx="288" cy="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116806" name="Group 70">
            <a:extLst>
              <a:ext uri="{FF2B5EF4-FFF2-40B4-BE49-F238E27FC236}">
                <a16:creationId xmlns:a16="http://schemas.microsoft.com/office/drawing/2014/main" id="{96676969-DC9E-0232-CDFB-A3CD47CF3E74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4648201"/>
            <a:ext cx="3200400" cy="1216025"/>
            <a:chOff x="1872" y="2928"/>
            <a:chExt cx="2016" cy="766"/>
          </a:xfrm>
        </p:grpSpPr>
        <p:sp>
          <p:nvSpPr>
            <p:cNvPr id="24590" name="Text Box 60">
              <a:extLst>
                <a:ext uri="{FF2B5EF4-FFF2-40B4-BE49-F238E27FC236}">
                  <a16:creationId xmlns:a16="http://schemas.microsoft.com/office/drawing/2014/main" id="{BE3626F0-9B79-5363-59E0-1F16A3A96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928"/>
              <a:ext cx="1776" cy="766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>
                  <a:ea typeface="굴림" panose="020B0600000101010101" pitchFamily="34" charset="-127"/>
                </a:rPr>
                <a:t>4 </a:t>
              </a:r>
              <a:r>
                <a:rPr lang="en-US" altLang="ko-KR">
                  <a:ea typeface="굴림" panose="020B0600000101010101" pitchFamily="34" charset="-127"/>
                  <a:sym typeface="Symbol" panose="05050102010706020507" pitchFamily="18" charset="2"/>
                </a:rPr>
                <a:t> 2 =8 ways to choose 1 red and 1 green M&amp;M.</a:t>
              </a:r>
              <a:endParaRPr lang="en-US" altLang="ko-KR">
                <a:ea typeface="굴림" panose="020B0600000101010101" pitchFamily="34" charset="-127"/>
              </a:endParaRPr>
            </a:p>
          </p:txBody>
        </p:sp>
        <p:sp>
          <p:nvSpPr>
            <p:cNvPr id="24591" name="Line 66">
              <a:extLst>
                <a:ext uri="{FF2B5EF4-FFF2-40B4-BE49-F238E27FC236}">
                  <a16:creationId xmlns:a16="http://schemas.microsoft.com/office/drawing/2014/main" id="{CA5EB4B7-C13B-673D-EB18-AC9BA08AB0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312"/>
              <a:ext cx="288" cy="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116807" name="Group 71">
            <a:extLst>
              <a:ext uri="{FF2B5EF4-FFF2-40B4-BE49-F238E27FC236}">
                <a16:creationId xmlns:a16="http://schemas.microsoft.com/office/drawing/2014/main" id="{30D34FC6-849E-921D-47A4-ACE815A3DFFF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4876800"/>
            <a:ext cx="2286000" cy="850900"/>
            <a:chOff x="3984" y="3072"/>
            <a:chExt cx="1440" cy="536"/>
          </a:xfrm>
        </p:grpSpPr>
        <p:sp>
          <p:nvSpPr>
            <p:cNvPr id="24588" name="Text Box 61">
              <a:extLst>
                <a:ext uri="{FF2B5EF4-FFF2-40B4-BE49-F238E27FC236}">
                  <a16:creationId xmlns:a16="http://schemas.microsoft.com/office/drawing/2014/main" id="{C7B9E8B8-197A-8AFB-E139-CE2DD8B2C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072"/>
              <a:ext cx="1248" cy="536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ko-KR">
                  <a:ea typeface="굴림" panose="020B0600000101010101" pitchFamily="34" charset="-127"/>
                </a:rPr>
                <a:t>P( exactly one red) = 8/15</a:t>
              </a:r>
            </a:p>
          </p:txBody>
        </p:sp>
        <p:sp>
          <p:nvSpPr>
            <p:cNvPr id="24589" name="Line 67">
              <a:extLst>
                <a:ext uri="{FF2B5EF4-FFF2-40B4-BE49-F238E27FC236}">
                  <a16:creationId xmlns:a16="http://schemas.microsoft.com/office/drawing/2014/main" id="{B1C86E48-F964-B900-6DE3-5A627203EC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3312"/>
              <a:ext cx="288" cy="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87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08" name="Group 48">
            <a:extLst>
              <a:ext uri="{FF2B5EF4-FFF2-40B4-BE49-F238E27FC236}">
                <a16:creationId xmlns:a16="http://schemas.microsoft.com/office/drawing/2014/main" id="{2DD1DFFB-2FA3-3040-22AC-8A80C73BB81D}"/>
              </a:ext>
            </a:extLst>
          </p:cNvPr>
          <p:cNvGrpSpPr>
            <a:grpSpLocks/>
          </p:cNvGrpSpPr>
          <p:nvPr/>
        </p:nvGrpSpPr>
        <p:grpSpPr bwMode="auto">
          <a:xfrm>
            <a:off x="3909848" y="3434254"/>
            <a:ext cx="4267200" cy="2590800"/>
            <a:chOff x="1728" y="2064"/>
            <a:chExt cx="2688" cy="1632"/>
          </a:xfrm>
        </p:grpSpPr>
        <p:sp>
          <p:nvSpPr>
            <p:cNvPr id="25616" name="Rectangle 29">
              <a:extLst>
                <a:ext uri="{FF2B5EF4-FFF2-40B4-BE49-F238E27FC236}">
                  <a16:creationId xmlns:a16="http://schemas.microsoft.com/office/drawing/2014/main" id="{F0E7C26C-096C-8B88-4059-D78EDF6EE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064"/>
              <a:ext cx="2688" cy="1632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17" name="Text Box 47">
              <a:extLst>
                <a:ext uri="{FF2B5EF4-FFF2-40B4-BE49-F238E27FC236}">
                  <a16:creationId xmlns:a16="http://schemas.microsoft.com/office/drawing/2014/main" id="{8C788509-EA05-FE83-633D-540F509811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16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S</a:t>
              </a:r>
            </a:p>
          </p:txBody>
        </p:sp>
      </p:grpSp>
      <p:sp>
        <p:nvSpPr>
          <p:cNvPr id="92162" name="Rectangle 2">
            <a:extLst>
              <a:ext uri="{FF2B5EF4-FFF2-40B4-BE49-F238E27FC236}">
                <a16:creationId xmlns:a16="http://schemas.microsoft.com/office/drawing/2014/main" id="{4C2525F2-108C-CCEC-A4B2-FCFEF7017E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US" altLang="ko-KR" b="1">
                <a:ea typeface="굴림" charset="-127"/>
              </a:rPr>
              <a:t>Event Relations</a:t>
            </a:r>
            <a:endParaRPr lang="en-US" altLang="ko-KR">
              <a:ea typeface="굴림" charset="-127"/>
            </a:endParaRP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AC0C92E3-F6F4-6742-4201-0D3A62A2F7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143000"/>
            <a:ext cx="8686800" cy="22860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ko-KR" dirty="0">
                <a:ea typeface="굴림" charset="-127"/>
              </a:rPr>
              <a:t>The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union</a:t>
            </a:r>
            <a:r>
              <a:rPr lang="en-US" altLang="ko-KR" b="1" dirty="0">
                <a:solidFill>
                  <a:schemeClr val="accent2"/>
                </a:solidFill>
                <a:ea typeface="굴림" charset="-127"/>
              </a:rPr>
              <a:t> </a:t>
            </a:r>
            <a:r>
              <a:rPr lang="en-US" altLang="ko-KR" dirty="0">
                <a:ea typeface="굴림" charset="-127"/>
              </a:rPr>
              <a:t>of  two events, A and B, is the event that either A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a typeface="굴림" charset="-127"/>
              </a:rPr>
              <a:t>or</a:t>
            </a:r>
            <a:r>
              <a:rPr lang="en-US" altLang="ko-KR" dirty="0">
                <a:solidFill>
                  <a:srgbClr val="333333"/>
                </a:solidFill>
                <a:ea typeface="굴림" charset="-127"/>
              </a:rPr>
              <a:t> </a:t>
            </a:r>
            <a:r>
              <a:rPr lang="en-US" altLang="ko-KR" dirty="0">
                <a:ea typeface="굴림" charset="-127"/>
              </a:rPr>
              <a:t>B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or</a:t>
            </a:r>
            <a:r>
              <a:rPr lang="en-US" altLang="ko-KR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both</a:t>
            </a:r>
            <a:r>
              <a:rPr lang="en-US" altLang="ko-KR" dirty="0">
                <a:ea typeface="굴림" charset="-127"/>
              </a:rPr>
              <a:t> occur when the experiment is performed.  We write </a:t>
            </a:r>
          </a:p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ko-KR" b="1" dirty="0">
                <a:solidFill>
                  <a:srgbClr val="333333"/>
                </a:solidFill>
                <a:ea typeface="굴림" charset="-127"/>
              </a:rPr>
              <a:t>				</a:t>
            </a:r>
          </a:p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ko-KR" dirty="0">
                <a:solidFill>
                  <a:srgbClr val="333333"/>
                </a:solidFill>
                <a:ea typeface="굴림" charset="-127"/>
              </a:rPr>
              <a:t>                                      </a:t>
            </a:r>
            <a:r>
              <a:rPr lang="en-US" altLang="ko-KR" b="1" dirty="0">
                <a:solidFill>
                  <a:srgbClr val="333333"/>
                </a:solidFill>
                <a:ea typeface="굴림" charset="-127"/>
              </a:rPr>
              <a:t>A </a:t>
            </a:r>
            <a:r>
              <a:rPr lang="en-US" altLang="ko-KR" b="1" dirty="0">
                <a:solidFill>
                  <a:srgbClr val="333333"/>
                </a:solidFill>
                <a:latin typeface="Symbol" pitchFamily="18" charset="2"/>
                <a:ea typeface="굴림" charset="-127"/>
              </a:rPr>
              <a:t></a:t>
            </a:r>
            <a:r>
              <a:rPr lang="en-US" altLang="ko-KR" b="1" dirty="0">
                <a:solidFill>
                  <a:srgbClr val="333333"/>
                </a:solidFill>
                <a:ea typeface="굴림" charset="-127"/>
              </a:rPr>
              <a:t>B</a:t>
            </a:r>
            <a:r>
              <a:rPr lang="en-US" altLang="ko-KR" b="1" dirty="0">
                <a:solidFill>
                  <a:schemeClr val="accent2"/>
                </a:solidFill>
                <a:ea typeface="굴림" charset="-127"/>
              </a:rPr>
              <a:t>					</a:t>
            </a:r>
          </a:p>
        </p:txBody>
      </p:sp>
      <p:grpSp>
        <p:nvGrpSpPr>
          <p:cNvPr id="92198" name="Group 38">
            <a:extLst>
              <a:ext uri="{FF2B5EF4-FFF2-40B4-BE49-F238E27FC236}">
                <a16:creationId xmlns:a16="http://schemas.microsoft.com/office/drawing/2014/main" id="{C5A9C819-095F-93CF-0B22-3DCA3E90F7CE}"/>
              </a:ext>
            </a:extLst>
          </p:cNvPr>
          <p:cNvGrpSpPr>
            <a:grpSpLocks/>
          </p:cNvGrpSpPr>
          <p:nvPr/>
        </p:nvGrpSpPr>
        <p:grpSpPr bwMode="auto">
          <a:xfrm>
            <a:off x="4569376" y="3886200"/>
            <a:ext cx="1752600" cy="1371600"/>
            <a:chOff x="1776" y="2448"/>
            <a:chExt cx="1104" cy="864"/>
          </a:xfrm>
        </p:grpSpPr>
        <p:sp>
          <p:nvSpPr>
            <p:cNvPr id="25614" name="Oval 30">
              <a:extLst>
                <a:ext uri="{FF2B5EF4-FFF2-40B4-BE49-F238E27FC236}">
                  <a16:creationId xmlns:a16="http://schemas.microsoft.com/office/drawing/2014/main" id="{C478EAE2-FD34-1465-060D-39392CFA5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448"/>
              <a:ext cx="1104" cy="864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15" name="Text Box 33">
              <a:extLst>
                <a:ext uri="{FF2B5EF4-FFF2-40B4-BE49-F238E27FC236}">
                  <a16:creationId xmlns:a16="http://schemas.microsoft.com/office/drawing/2014/main" id="{DE73A277-B641-3BD2-EEAA-28EDA593F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73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A</a:t>
              </a:r>
            </a:p>
          </p:txBody>
        </p:sp>
      </p:grpSp>
      <p:grpSp>
        <p:nvGrpSpPr>
          <p:cNvPr id="92197" name="Group 37">
            <a:extLst>
              <a:ext uri="{FF2B5EF4-FFF2-40B4-BE49-F238E27FC236}">
                <a16:creationId xmlns:a16="http://schemas.microsoft.com/office/drawing/2014/main" id="{BA03FE5A-B2DA-FB46-AB6E-2ED1CB0CE88B}"/>
              </a:ext>
            </a:extLst>
          </p:cNvPr>
          <p:cNvGrpSpPr>
            <a:grpSpLocks/>
          </p:cNvGrpSpPr>
          <p:nvPr/>
        </p:nvGrpSpPr>
        <p:grpSpPr bwMode="auto">
          <a:xfrm>
            <a:off x="5788576" y="3962400"/>
            <a:ext cx="1981200" cy="1371600"/>
            <a:chOff x="2592" y="2496"/>
            <a:chExt cx="1248" cy="864"/>
          </a:xfrm>
        </p:grpSpPr>
        <p:sp>
          <p:nvSpPr>
            <p:cNvPr id="25612" name="Oval 32">
              <a:extLst>
                <a:ext uri="{FF2B5EF4-FFF2-40B4-BE49-F238E27FC236}">
                  <a16:creationId xmlns:a16="http://schemas.microsoft.com/office/drawing/2014/main" id="{A124A1E3-7C2B-3B79-D920-D3745F905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496"/>
              <a:ext cx="1248" cy="864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613" name="Text Box 34">
              <a:extLst>
                <a:ext uri="{FF2B5EF4-FFF2-40B4-BE49-F238E27FC236}">
                  <a16:creationId xmlns:a16="http://schemas.microsoft.com/office/drawing/2014/main" id="{F45966A5-D58A-7F20-527B-B41E527148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78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B</a:t>
              </a:r>
            </a:p>
          </p:txBody>
        </p:sp>
      </p:grpSp>
      <p:grpSp>
        <p:nvGrpSpPr>
          <p:cNvPr id="92205" name="Group 45">
            <a:extLst>
              <a:ext uri="{FF2B5EF4-FFF2-40B4-BE49-F238E27FC236}">
                <a16:creationId xmlns:a16="http://schemas.microsoft.com/office/drawing/2014/main" id="{322B2BE2-C6D8-DDFB-B6B6-2783B514A424}"/>
              </a:ext>
            </a:extLst>
          </p:cNvPr>
          <p:cNvGrpSpPr>
            <a:grpSpLocks/>
          </p:cNvGrpSpPr>
          <p:nvPr/>
        </p:nvGrpSpPr>
        <p:grpSpPr bwMode="auto">
          <a:xfrm>
            <a:off x="2031126" y="3767963"/>
            <a:ext cx="5938838" cy="1724025"/>
            <a:chOff x="192" y="2390"/>
            <a:chExt cx="3741" cy="1086"/>
          </a:xfrm>
        </p:grpSpPr>
        <p:sp>
          <p:nvSpPr>
            <p:cNvPr id="25609" name="Freeform 36">
              <a:extLst>
                <a:ext uri="{FF2B5EF4-FFF2-40B4-BE49-F238E27FC236}">
                  <a16:creationId xmlns:a16="http://schemas.microsoft.com/office/drawing/2014/main" id="{B88E4988-3087-FA75-BBD1-E65679B46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" y="2390"/>
              <a:ext cx="2205" cy="1086"/>
            </a:xfrm>
            <a:custGeom>
              <a:avLst/>
              <a:gdLst>
                <a:gd name="T0" fmla="*/ 1066 w 2205"/>
                <a:gd name="T1" fmla="*/ 196 h 1086"/>
                <a:gd name="T2" fmla="*/ 686 w 2205"/>
                <a:gd name="T3" fmla="*/ 24 h 1086"/>
                <a:gd name="T4" fmla="*/ 564 w 2205"/>
                <a:gd name="T5" fmla="*/ 0 h 1086"/>
                <a:gd name="T6" fmla="*/ 221 w 2205"/>
                <a:gd name="T7" fmla="*/ 49 h 1086"/>
                <a:gd name="T8" fmla="*/ 74 w 2205"/>
                <a:gd name="T9" fmla="*/ 245 h 1086"/>
                <a:gd name="T10" fmla="*/ 37 w 2205"/>
                <a:gd name="T11" fmla="*/ 294 h 1086"/>
                <a:gd name="T12" fmla="*/ 0 w 2205"/>
                <a:gd name="T13" fmla="*/ 441 h 1086"/>
                <a:gd name="T14" fmla="*/ 12 w 2205"/>
                <a:gd name="T15" fmla="*/ 600 h 1086"/>
                <a:gd name="T16" fmla="*/ 368 w 2205"/>
                <a:gd name="T17" fmla="*/ 980 h 1086"/>
                <a:gd name="T18" fmla="*/ 809 w 2205"/>
                <a:gd name="T19" fmla="*/ 968 h 1086"/>
                <a:gd name="T20" fmla="*/ 944 w 2205"/>
                <a:gd name="T21" fmla="*/ 907 h 1086"/>
                <a:gd name="T22" fmla="*/ 956 w 2205"/>
                <a:gd name="T23" fmla="*/ 870 h 1086"/>
                <a:gd name="T24" fmla="*/ 1029 w 2205"/>
                <a:gd name="T25" fmla="*/ 919 h 1086"/>
                <a:gd name="T26" fmla="*/ 1091 w 2205"/>
                <a:gd name="T27" fmla="*/ 968 h 1086"/>
                <a:gd name="T28" fmla="*/ 1177 w 2205"/>
                <a:gd name="T29" fmla="*/ 1017 h 1086"/>
                <a:gd name="T30" fmla="*/ 1544 w 2205"/>
                <a:gd name="T31" fmla="*/ 1041 h 1086"/>
                <a:gd name="T32" fmla="*/ 1789 w 2205"/>
                <a:gd name="T33" fmla="*/ 1005 h 1086"/>
                <a:gd name="T34" fmla="*/ 1961 w 2205"/>
                <a:gd name="T35" fmla="*/ 943 h 1086"/>
                <a:gd name="T36" fmla="*/ 2047 w 2205"/>
                <a:gd name="T37" fmla="*/ 870 h 1086"/>
                <a:gd name="T38" fmla="*/ 2108 w 2205"/>
                <a:gd name="T39" fmla="*/ 796 h 1086"/>
                <a:gd name="T40" fmla="*/ 2181 w 2205"/>
                <a:gd name="T41" fmla="*/ 674 h 1086"/>
                <a:gd name="T42" fmla="*/ 2169 w 2205"/>
                <a:gd name="T43" fmla="*/ 429 h 1086"/>
                <a:gd name="T44" fmla="*/ 2120 w 2205"/>
                <a:gd name="T45" fmla="*/ 355 h 1086"/>
                <a:gd name="T46" fmla="*/ 2010 w 2205"/>
                <a:gd name="T47" fmla="*/ 171 h 1086"/>
                <a:gd name="T48" fmla="*/ 1973 w 2205"/>
                <a:gd name="T49" fmla="*/ 159 h 1086"/>
                <a:gd name="T50" fmla="*/ 1900 w 2205"/>
                <a:gd name="T51" fmla="*/ 122 h 1086"/>
                <a:gd name="T52" fmla="*/ 1495 w 2205"/>
                <a:gd name="T53" fmla="*/ 49 h 1086"/>
                <a:gd name="T54" fmla="*/ 1091 w 2205"/>
                <a:gd name="T55" fmla="*/ 86 h 1086"/>
                <a:gd name="T56" fmla="*/ 1066 w 2205"/>
                <a:gd name="T57" fmla="*/ 196 h 108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205" h="1086">
                  <a:moveTo>
                    <a:pt x="1066" y="196"/>
                  </a:moveTo>
                  <a:cubicBezTo>
                    <a:pt x="984" y="69"/>
                    <a:pt x="819" y="58"/>
                    <a:pt x="686" y="24"/>
                  </a:cubicBezTo>
                  <a:cubicBezTo>
                    <a:pt x="646" y="14"/>
                    <a:pt x="564" y="0"/>
                    <a:pt x="564" y="0"/>
                  </a:cubicBezTo>
                  <a:cubicBezTo>
                    <a:pt x="429" y="8"/>
                    <a:pt x="343" y="19"/>
                    <a:pt x="221" y="49"/>
                  </a:cubicBezTo>
                  <a:cubicBezTo>
                    <a:pt x="122" y="147"/>
                    <a:pt x="158" y="129"/>
                    <a:pt x="74" y="245"/>
                  </a:cubicBezTo>
                  <a:cubicBezTo>
                    <a:pt x="62" y="262"/>
                    <a:pt x="37" y="294"/>
                    <a:pt x="37" y="294"/>
                  </a:cubicBezTo>
                  <a:cubicBezTo>
                    <a:pt x="21" y="343"/>
                    <a:pt x="10" y="391"/>
                    <a:pt x="0" y="441"/>
                  </a:cubicBezTo>
                  <a:cubicBezTo>
                    <a:pt x="4" y="494"/>
                    <a:pt x="3" y="548"/>
                    <a:pt x="12" y="600"/>
                  </a:cubicBezTo>
                  <a:cubicBezTo>
                    <a:pt x="44" y="775"/>
                    <a:pt x="199" y="939"/>
                    <a:pt x="368" y="980"/>
                  </a:cubicBezTo>
                  <a:cubicBezTo>
                    <a:pt x="515" y="976"/>
                    <a:pt x="662" y="975"/>
                    <a:pt x="809" y="968"/>
                  </a:cubicBezTo>
                  <a:cubicBezTo>
                    <a:pt x="858" y="966"/>
                    <a:pt x="944" y="907"/>
                    <a:pt x="944" y="907"/>
                  </a:cubicBezTo>
                  <a:cubicBezTo>
                    <a:pt x="948" y="895"/>
                    <a:pt x="943" y="868"/>
                    <a:pt x="956" y="870"/>
                  </a:cubicBezTo>
                  <a:cubicBezTo>
                    <a:pt x="985" y="874"/>
                    <a:pt x="1029" y="919"/>
                    <a:pt x="1029" y="919"/>
                  </a:cubicBezTo>
                  <a:cubicBezTo>
                    <a:pt x="1086" y="1004"/>
                    <a:pt x="1018" y="919"/>
                    <a:pt x="1091" y="968"/>
                  </a:cubicBezTo>
                  <a:cubicBezTo>
                    <a:pt x="1179" y="1027"/>
                    <a:pt x="1071" y="992"/>
                    <a:pt x="1177" y="1017"/>
                  </a:cubicBezTo>
                  <a:cubicBezTo>
                    <a:pt x="1318" y="1086"/>
                    <a:pt x="1310" y="1052"/>
                    <a:pt x="1544" y="1041"/>
                  </a:cubicBezTo>
                  <a:cubicBezTo>
                    <a:pt x="1707" y="1009"/>
                    <a:pt x="1625" y="1021"/>
                    <a:pt x="1789" y="1005"/>
                  </a:cubicBezTo>
                  <a:cubicBezTo>
                    <a:pt x="1847" y="985"/>
                    <a:pt x="1903" y="963"/>
                    <a:pt x="1961" y="943"/>
                  </a:cubicBezTo>
                  <a:cubicBezTo>
                    <a:pt x="1988" y="917"/>
                    <a:pt x="2023" y="899"/>
                    <a:pt x="2047" y="870"/>
                  </a:cubicBezTo>
                  <a:cubicBezTo>
                    <a:pt x="2130" y="772"/>
                    <a:pt x="2013" y="860"/>
                    <a:pt x="2108" y="796"/>
                  </a:cubicBezTo>
                  <a:cubicBezTo>
                    <a:pt x="2136" y="754"/>
                    <a:pt x="2151" y="715"/>
                    <a:pt x="2181" y="674"/>
                  </a:cubicBezTo>
                  <a:cubicBezTo>
                    <a:pt x="2201" y="597"/>
                    <a:pt x="2205" y="502"/>
                    <a:pt x="2169" y="429"/>
                  </a:cubicBezTo>
                  <a:cubicBezTo>
                    <a:pt x="2156" y="402"/>
                    <a:pt x="2120" y="355"/>
                    <a:pt x="2120" y="355"/>
                  </a:cubicBezTo>
                  <a:cubicBezTo>
                    <a:pt x="2098" y="287"/>
                    <a:pt x="2049" y="231"/>
                    <a:pt x="2010" y="171"/>
                  </a:cubicBezTo>
                  <a:cubicBezTo>
                    <a:pt x="2003" y="160"/>
                    <a:pt x="1985" y="165"/>
                    <a:pt x="1973" y="159"/>
                  </a:cubicBezTo>
                  <a:cubicBezTo>
                    <a:pt x="1948" y="147"/>
                    <a:pt x="1924" y="134"/>
                    <a:pt x="1900" y="122"/>
                  </a:cubicBezTo>
                  <a:cubicBezTo>
                    <a:pt x="1778" y="60"/>
                    <a:pt x="1631" y="64"/>
                    <a:pt x="1495" y="49"/>
                  </a:cubicBezTo>
                  <a:cubicBezTo>
                    <a:pt x="1263" y="57"/>
                    <a:pt x="1238" y="33"/>
                    <a:pt x="1091" y="86"/>
                  </a:cubicBezTo>
                  <a:cubicBezTo>
                    <a:pt x="1077" y="125"/>
                    <a:pt x="1066" y="154"/>
                    <a:pt x="1066" y="196"/>
                  </a:cubicBezTo>
                  <a:close/>
                </a:path>
              </a:pathLst>
            </a:custGeom>
            <a:noFill/>
            <a:ln w="38100" cmpd="sng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  <p:graphicFrame>
          <p:nvGraphicFramePr>
            <p:cNvPr id="25610" name="Object 39">
              <a:extLst>
                <a:ext uri="{FF2B5EF4-FFF2-40B4-BE49-F238E27FC236}">
                  <a16:creationId xmlns:a16="http://schemas.microsoft.com/office/drawing/2014/main" id="{9675C64F-96A3-33BA-4605-E38C688A85A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" y="2640"/>
            <a:ext cx="912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20148" imgH="129612" progId="Equation.3">
                    <p:embed/>
                  </p:oleObj>
                </mc:Choice>
                <mc:Fallback>
                  <p:oleObj name="Equation" r:id="rId2" imgW="320148" imgH="129612" progId="Equation.3">
                    <p:embed/>
                    <p:pic>
                      <p:nvPicPr>
                        <p:cNvPr id="25610" name="Object 39">
                          <a:extLst>
                            <a:ext uri="{FF2B5EF4-FFF2-40B4-BE49-F238E27FC236}">
                              <a16:creationId xmlns:a16="http://schemas.microsoft.com/office/drawing/2014/main" id="{9675C64F-96A3-33BA-4605-E38C688A85A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2640"/>
                          <a:ext cx="912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5611" name="AutoShape 41">
              <a:extLst>
                <a:ext uri="{FF2B5EF4-FFF2-40B4-BE49-F238E27FC236}">
                  <a16:creationId xmlns:a16="http://schemas.microsoft.com/office/drawing/2014/main" id="{FA046530-AA05-310D-3D7F-CC2EC41B2C93}"/>
                </a:ext>
              </a:extLst>
            </p:cNvPr>
            <p:cNvCxnSpPr>
              <a:cxnSpLocks noChangeShapeType="1"/>
              <a:endCxn id="25609" idx="26"/>
            </p:cNvCxnSpPr>
            <p:nvPr/>
          </p:nvCxnSpPr>
          <p:spPr bwMode="auto">
            <a:xfrm rot="-5400000">
              <a:off x="1829" y="1246"/>
              <a:ext cx="213" cy="2575"/>
            </a:xfrm>
            <a:prstGeom prst="curvedConnector3">
              <a:avLst>
                <a:gd name="adj1" fmla="val 184977"/>
              </a:avLst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2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76" name="Group 28">
            <a:extLst>
              <a:ext uri="{FF2B5EF4-FFF2-40B4-BE49-F238E27FC236}">
                <a16:creationId xmlns:a16="http://schemas.microsoft.com/office/drawing/2014/main" id="{C5FF1E20-EEB0-1EBE-48C7-7772133F2D10}"/>
              </a:ext>
            </a:extLst>
          </p:cNvPr>
          <p:cNvGrpSpPr>
            <a:grpSpLocks/>
          </p:cNvGrpSpPr>
          <p:nvPr/>
        </p:nvGrpSpPr>
        <p:grpSpPr bwMode="auto">
          <a:xfrm>
            <a:off x="4212019" y="2787867"/>
            <a:ext cx="4267200" cy="2590800"/>
            <a:chOff x="1488" y="1584"/>
            <a:chExt cx="2688" cy="1632"/>
          </a:xfrm>
        </p:grpSpPr>
        <p:sp>
          <p:nvSpPr>
            <p:cNvPr id="26642" name="Rectangle 7">
              <a:extLst>
                <a:ext uri="{FF2B5EF4-FFF2-40B4-BE49-F238E27FC236}">
                  <a16:creationId xmlns:a16="http://schemas.microsoft.com/office/drawing/2014/main" id="{B59F56C5-6478-D1C2-677E-E2ED78DC6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584"/>
              <a:ext cx="2688" cy="1632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43" name="Text Box 25">
              <a:extLst>
                <a:ext uri="{FF2B5EF4-FFF2-40B4-BE49-F238E27FC236}">
                  <a16:creationId xmlns:a16="http://schemas.microsoft.com/office/drawing/2014/main" id="{897E2E38-97AF-0854-6303-F0994D473D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680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S</a:t>
              </a:r>
            </a:p>
          </p:txBody>
        </p:sp>
      </p:grpSp>
      <p:grpSp>
        <p:nvGrpSpPr>
          <p:cNvPr id="104475" name="Group 27">
            <a:extLst>
              <a:ext uri="{FF2B5EF4-FFF2-40B4-BE49-F238E27FC236}">
                <a16:creationId xmlns:a16="http://schemas.microsoft.com/office/drawing/2014/main" id="{9CB135C0-D1B9-1B66-5343-062811F60873}"/>
              </a:ext>
            </a:extLst>
          </p:cNvPr>
          <p:cNvGrpSpPr>
            <a:grpSpLocks/>
          </p:cNvGrpSpPr>
          <p:nvPr/>
        </p:nvGrpSpPr>
        <p:grpSpPr bwMode="auto">
          <a:xfrm>
            <a:off x="4669219" y="3397467"/>
            <a:ext cx="1752600" cy="1371600"/>
            <a:chOff x="1776" y="1968"/>
            <a:chExt cx="1104" cy="864"/>
          </a:xfrm>
        </p:grpSpPr>
        <p:sp>
          <p:nvSpPr>
            <p:cNvPr id="26640" name="Oval 10">
              <a:extLst>
                <a:ext uri="{FF2B5EF4-FFF2-40B4-BE49-F238E27FC236}">
                  <a16:creationId xmlns:a16="http://schemas.microsoft.com/office/drawing/2014/main" id="{69CB0090-A6CD-0765-E146-30ABA4869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968"/>
              <a:ext cx="1104" cy="864"/>
            </a:xfrm>
            <a:prstGeom prst="ellipse">
              <a:avLst/>
            </a:prstGeom>
            <a:solidFill>
              <a:srgbClr val="3399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41" name="Text Box 11">
              <a:extLst>
                <a:ext uri="{FF2B5EF4-FFF2-40B4-BE49-F238E27FC236}">
                  <a16:creationId xmlns:a16="http://schemas.microsoft.com/office/drawing/2014/main" id="{96CA70F8-A36D-4EBB-6B05-A9F3EF6510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25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A</a:t>
              </a:r>
            </a:p>
          </p:txBody>
        </p:sp>
      </p:grpSp>
      <p:grpSp>
        <p:nvGrpSpPr>
          <p:cNvPr id="104460" name="Group 12">
            <a:extLst>
              <a:ext uri="{FF2B5EF4-FFF2-40B4-BE49-F238E27FC236}">
                <a16:creationId xmlns:a16="http://schemas.microsoft.com/office/drawing/2014/main" id="{8549B97B-4287-E489-85B5-6AE0BB52EFEA}"/>
              </a:ext>
            </a:extLst>
          </p:cNvPr>
          <p:cNvGrpSpPr>
            <a:grpSpLocks/>
          </p:cNvGrpSpPr>
          <p:nvPr/>
        </p:nvGrpSpPr>
        <p:grpSpPr bwMode="auto">
          <a:xfrm>
            <a:off x="5964619" y="3473667"/>
            <a:ext cx="1981200" cy="1371600"/>
            <a:chOff x="2592" y="2496"/>
            <a:chExt cx="1248" cy="864"/>
          </a:xfrm>
        </p:grpSpPr>
        <p:sp>
          <p:nvSpPr>
            <p:cNvPr id="26638" name="Oval 13">
              <a:extLst>
                <a:ext uri="{FF2B5EF4-FFF2-40B4-BE49-F238E27FC236}">
                  <a16:creationId xmlns:a16="http://schemas.microsoft.com/office/drawing/2014/main" id="{A7694BF0-237D-A76E-48B7-D3F8972E9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496"/>
              <a:ext cx="1248" cy="864"/>
            </a:xfrm>
            <a:prstGeom prst="ellipse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39" name="Text Box 14">
              <a:extLst>
                <a:ext uri="{FF2B5EF4-FFF2-40B4-BE49-F238E27FC236}">
                  <a16:creationId xmlns:a16="http://schemas.microsoft.com/office/drawing/2014/main" id="{1BA08222-F4A4-77D7-C95C-C7404B4AE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784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b="1">
                  <a:solidFill>
                    <a:srgbClr val="333333"/>
                  </a:solidFill>
                  <a:ea typeface="굴림" panose="020B0600000101010101" pitchFamily="34" charset="-127"/>
                </a:rPr>
                <a:t>B</a:t>
              </a:r>
            </a:p>
          </p:txBody>
        </p:sp>
      </p:grp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CF321BBE-6B31-E1B3-F9C0-488AAF289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algn="ctr" eaLnBrk="1" hangingPunct="1">
              <a:defRPr/>
            </a:pPr>
            <a:r>
              <a:rPr lang="en-US" altLang="ko-KR" b="1" dirty="0">
                <a:ea typeface="굴림" charset="-127"/>
              </a:rPr>
              <a:t>Event Relations</a:t>
            </a:r>
            <a:endParaRPr lang="en-US" altLang="ko-KR" dirty="0">
              <a:ea typeface="굴림" charset="-127"/>
            </a:endParaRP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02EC1628-0A7B-93C0-2E14-6AB63F3F6F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59418" y="1340067"/>
            <a:ext cx="9112471" cy="1524000"/>
          </a:xfrm>
          <a:noFill/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ko-KR" sz="3200" dirty="0">
                <a:ea typeface="굴림" panose="020B0600000101010101" pitchFamily="34" charset="-127"/>
              </a:rPr>
              <a:t>The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intersection</a:t>
            </a:r>
            <a:r>
              <a:rPr lang="en-US" altLang="ko-KR" sz="3200" dirty="0">
                <a:solidFill>
                  <a:srgbClr val="333333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ea typeface="굴림" panose="020B0600000101010101" pitchFamily="34" charset="-127"/>
              </a:rPr>
              <a:t>of two events, A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and</a:t>
            </a:r>
            <a:r>
              <a:rPr lang="en-US" altLang="ko-KR" sz="3200" dirty="0">
                <a:ea typeface="굴림" panose="020B0600000101010101" pitchFamily="34" charset="-127"/>
              </a:rPr>
              <a:t> B, is the event that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both</a:t>
            </a:r>
            <a:r>
              <a:rPr lang="en-US" altLang="ko-KR" sz="3200" dirty="0">
                <a:ea typeface="굴림" panose="020B0600000101010101" pitchFamily="34" charset="-127"/>
              </a:rPr>
              <a:t> A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and</a:t>
            </a:r>
            <a:r>
              <a:rPr lang="en-US" altLang="ko-KR" sz="3200" dirty="0">
                <a:solidFill>
                  <a:srgbClr val="333333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ea typeface="굴림" panose="020B0600000101010101" pitchFamily="34" charset="-127"/>
              </a:rPr>
              <a:t>B occur when the experiment is performed. We write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A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latin typeface="Symbol" panose="05050102010706020507" pitchFamily="18" charset="2"/>
                <a:ea typeface="굴림" panose="020B0600000101010101" pitchFamily="34" charset="-127"/>
              </a:rPr>
              <a:t>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B</a:t>
            </a:r>
            <a:r>
              <a:rPr lang="en-US" altLang="ko-KR" sz="3200" dirty="0">
                <a:solidFill>
                  <a:srgbClr val="333333"/>
                </a:solidFill>
                <a:ea typeface="굴림" panose="020B0600000101010101" pitchFamily="34" charset="-127"/>
              </a:rPr>
              <a:t>.</a:t>
            </a:r>
          </a:p>
        </p:txBody>
      </p:sp>
      <p:grpSp>
        <p:nvGrpSpPr>
          <p:cNvPr id="104469" name="Group 21">
            <a:extLst>
              <a:ext uri="{FF2B5EF4-FFF2-40B4-BE49-F238E27FC236}">
                <a16:creationId xmlns:a16="http://schemas.microsoft.com/office/drawing/2014/main" id="{2E7C9B6D-4B4B-80F4-1826-AEBFAF1F86FB}"/>
              </a:ext>
            </a:extLst>
          </p:cNvPr>
          <p:cNvGrpSpPr>
            <a:grpSpLocks/>
          </p:cNvGrpSpPr>
          <p:nvPr/>
        </p:nvGrpSpPr>
        <p:grpSpPr bwMode="auto">
          <a:xfrm>
            <a:off x="2764219" y="3626068"/>
            <a:ext cx="3754438" cy="1031875"/>
            <a:chOff x="192" y="2610"/>
            <a:chExt cx="2749" cy="650"/>
          </a:xfrm>
        </p:grpSpPr>
        <p:sp>
          <p:nvSpPr>
            <p:cNvPr id="26634" name="Freeform 15">
              <a:extLst>
                <a:ext uri="{FF2B5EF4-FFF2-40B4-BE49-F238E27FC236}">
                  <a16:creationId xmlns:a16="http://schemas.microsoft.com/office/drawing/2014/main" id="{3664E725-A84E-10FE-EBDC-0442BAF6F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2610"/>
              <a:ext cx="383" cy="650"/>
            </a:xfrm>
            <a:custGeom>
              <a:avLst/>
              <a:gdLst>
                <a:gd name="T0" fmla="*/ 199 w 383"/>
                <a:gd name="T1" fmla="*/ 0 h 650"/>
                <a:gd name="T2" fmla="*/ 101 w 383"/>
                <a:gd name="T3" fmla="*/ 86 h 650"/>
                <a:gd name="T4" fmla="*/ 40 w 383"/>
                <a:gd name="T5" fmla="*/ 209 h 650"/>
                <a:gd name="T6" fmla="*/ 28 w 383"/>
                <a:gd name="T7" fmla="*/ 527 h 650"/>
                <a:gd name="T8" fmla="*/ 77 w 383"/>
                <a:gd name="T9" fmla="*/ 601 h 650"/>
                <a:gd name="T10" fmla="*/ 150 w 383"/>
                <a:gd name="T11" fmla="*/ 650 h 650"/>
                <a:gd name="T12" fmla="*/ 212 w 383"/>
                <a:gd name="T13" fmla="*/ 638 h 650"/>
                <a:gd name="T14" fmla="*/ 273 w 383"/>
                <a:gd name="T15" fmla="*/ 576 h 650"/>
                <a:gd name="T16" fmla="*/ 310 w 383"/>
                <a:gd name="T17" fmla="*/ 552 h 650"/>
                <a:gd name="T18" fmla="*/ 359 w 383"/>
                <a:gd name="T19" fmla="*/ 478 h 650"/>
                <a:gd name="T20" fmla="*/ 383 w 383"/>
                <a:gd name="T21" fmla="*/ 405 h 650"/>
                <a:gd name="T22" fmla="*/ 359 w 383"/>
                <a:gd name="T23" fmla="*/ 172 h 650"/>
                <a:gd name="T24" fmla="*/ 334 w 383"/>
                <a:gd name="T25" fmla="*/ 98 h 650"/>
                <a:gd name="T26" fmla="*/ 261 w 383"/>
                <a:gd name="T27" fmla="*/ 37 h 650"/>
                <a:gd name="T28" fmla="*/ 199 w 383"/>
                <a:gd name="T29" fmla="*/ 0 h 65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83" h="650">
                  <a:moveTo>
                    <a:pt x="199" y="0"/>
                  </a:moveTo>
                  <a:cubicBezTo>
                    <a:pt x="160" y="40"/>
                    <a:pt x="154" y="69"/>
                    <a:pt x="101" y="86"/>
                  </a:cubicBezTo>
                  <a:cubicBezTo>
                    <a:pt x="43" y="174"/>
                    <a:pt x="59" y="131"/>
                    <a:pt x="40" y="209"/>
                  </a:cubicBezTo>
                  <a:cubicBezTo>
                    <a:pt x="34" y="289"/>
                    <a:pt x="0" y="443"/>
                    <a:pt x="28" y="527"/>
                  </a:cubicBezTo>
                  <a:cubicBezTo>
                    <a:pt x="37" y="555"/>
                    <a:pt x="52" y="585"/>
                    <a:pt x="77" y="601"/>
                  </a:cubicBezTo>
                  <a:cubicBezTo>
                    <a:pt x="101" y="617"/>
                    <a:pt x="150" y="650"/>
                    <a:pt x="150" y="650"/>
                  </a:cubicBezTo>
                  <a:cubicBezTo>
                    <a:pt x="171" y="646"/>
                    <a:pt x="192" y="645"/>
                    <a:pt x="212" y="638"/>
                  </a:cubicBezTo>
                  <a:cubicBezTo>
                    <a:pt x="262" y="619"/>
                    <a:pt x="238" y="610"/>
                    <a:pt x="273" y="576"/>
                  </a:cubicBezTo>
                  <a:cubicBezTo>
                    <a:pt x="283" y="566"/>
                    <a:pt x="298" y="560"/>
                    <a:pt x="310" y="552"/>
                  </a:cubicBezTo>
                  <a:cubicBezTo>
                    <a:pt x="326" y="527"/>
                    <a:pt x="343" y="503"/>
                    <a:pt x="359" y="478"/>
                  </a:cubicBezTo>
                  <a:cubicBezTo>
                    <a:pt x="373" y="457"/>
                    <a:pt x="383" y="405"/>
                    <a:pt x="383" y="405"/>
                  </a:cubicBezTo>
                  <a:cubicBezTo>
                    <a:pt x="381" y="381"/>
                    <a:pt x="367" y="210"/>
                    <a:pt x="359" y="172"/>
                  </a:cubicBezTo>
                  <a:cubicBezTo>
                    <a:pt x="354" y="147"/>
                    <a:pt x="356" y="112"/>
                    <a:pt x="334" y="98"/>
                  </a:cubicBezTo>
                  <a:cubicBezTo>
                    <a:pt x="307" y="81"/>
                    <a:pt x="289" y="52"/>
                    <a:pt x="261" y="37"/>
                  </a:cubicBezTo>
                  <a:cubicBezTo>
                    <a:pt x="239" y="25"/>
                    <a:pt x="73" y="0"/>
                    <a:pt x="199" y="0"/>
                  </a:cubicBezTo>
                  <a:close/>
                </a:path>
              </a:pathLst>
            </a:custGeom>
            <a:noFill/>
            <a:ln w="38100" cmpd="sng">
              <a:solidFill>
                <a:srgbClr val="CC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  <p:grpSp>
          <p:nvGrpSpPr>
            <p:cNvPr id="26635" name="Group 20">
              <a:extLst>
                <a:ext uri="{FF2B5EF4-FFF2-40B4-BE49-F238E27FC236}">
                  <a16:creationId xmlns:a16="http://schemas.microsoft.com/office/drawing/2014/main" id="{B7825F9E-7045-DB48-43BE-37240D2033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2640"/>
              <a:ext cx="2467" cy="387"/>
              <a:chOff x="192" y="2640"/>
              <a:chExt cx="2467" cy="387"/>
            </a:xfrm>
          </p:grpSpPr>
          <p:graphicFrame>
            <p:nvGraphicFramePr>
              <p:cNvPr id="26636" name="Object 16">
                <a:extLst>
                  <a:ext uri="{FF2B5EF4-FFF2-40B4-BE49-F238E27FC236}">
                    <a16:creationId xmlns:a16="http://schemas.microsoft.com/office/drawing/2014/main" id="{B42F27EB-41B6-3024-7689-4D09C33D704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2" y="2640"/>
              <a:ext cx="912" cy="3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320148" imgH="129612" progId="Equation.3">
                      <p:embed/>
                    </p:oleObj>
                  </mc:Choice>
                  <mc:Fallback>
                    <p:oleObj name="Equation" r:id="rId2" imgW="320148" imgH="129612" progId="Equation.3">
                      <p:embed/>
                      <p:pic>
                        <p:nvPicPr>
                          <p:cNvPr id="26636" name="Object 16">
                            <a:extLst>
                              <a:ext uri="{FF2B5EF4-FFF2-40B4-BE49-F238E27FC236}">
                                <a16:creationId xmlns:a16="http://schemas.microsoft.com/office/drawing/2014/main" id="{B42F27EB-41B6-3024-7689-4D09C33D704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" y="2640"/>
                            <a:ext cx="912" cy="3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6637" name="AutoShape 17">
                <a:extLst>
                  <a:ext uri="{FF2B5EF4-FFF2-40B4-BE49-F238E27FC236}">
                    <a16:creationId xmlns:a16="http://schemas.microsoft.com/office/drawing/2014/main" id="{669AAE1D-A167-0658-41D6-3C5425208627}"/>
                  </a:ext>
                </a:extLst>
              </p:cNvPr>
              <p:cNvCxnSpPr>
                <a:cxnSpLocks noChangeShapeType="1"/>
                <a:endCxn id="26634" idx="1"/>
              </p:cNvCxnSpPr>
              <p:nvPr/>
            </p:nvCxnSpPr>
            <p:spPr bwMode="auto">
              <a:xfrm rot="5400000" flipV="1">
                <a:off x="1632" y="1656"/>
                <a:ext cx="44" cy="2011"/>
              </a:xfrm>
              <a:prstGeom prst="curvedConnector3">
                <a:avLst>
                  <a:gd name="adj1" fmla="val -395454"/>
                </a:avLst>
              </a:prstGeom>
              <a:noFill/>
              <a:ln w="28575">
                <a:solidFill>
                  <a:srgbClr val="CC0066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104471" name="Rectangle 23">
            <a:extLst>
              <a:ext uri="{FF2B5EF4-FFF2-40B4-BE49-F238E27FC236}">
                <a16:creationId xmlns:a16="http://schemas.microsoft.com/office/drawing/2014/main" id="{7733693C-E8C8-5E35-5126-526DBE900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8019" y="5607267"/>
            <a:ext cx="8684174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If two events A and B are </a:t>
            </a:r>
            <a:r>
              <a:rPr lang="en-US" altLang="ko-KR" sz="3200" b="1" dirty="0">
                <a:solidFill>
                  <a:srgbClr val="333333"/>
                </a:solidFill>
                <a:ea typeface="굴림" panose="020B0600000101010101" pitchFamily="34" charset="-127"/>
              </a:rPr>
              <a:t>mutually exclusive, </a:t>
            </a: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then </a:t>
            </a:r>
            <a:r>
              <a:rPr lang="en-US" altLang="ko-KR" sz="3200" dirty="0">
                <a:solidFill>
                  <a:srgbClr val="333333"/>
                </a:solidFill>
                <a:ea typeface="굴림" panose="020B0600000101010101" pitchFamily="34" charset="-127"/>
              </a:rPr>
              <a:t>P(</a:t>
            </a:r>
            <a:r>
              <a:rPr lang="en-US" altLang="ko-KR" sz="3200" b="1" dirty="0">
                <a:solidFill>
                  <a:srgbClr val="333333"/>
                </a:solidFill>
                <a:ea typeface="굴림" panose="020B0600000101010101" pitchFamily="34" charset="-127"/>
              </a:rPr>
              <a:t>A </a:t>
            </a:r>
            <a:r>
              <a:rPr lang="en-US" altLang="ko-KR" sz="3200" b="1" dirty="0">
                <a:solidFill>
                  <a:srgbClr val="333333"/>
                </a:solidFill>
                <a:latin typeface="Symbol" panose="05050102010706020507" pitchFamily="18" charset="2"/>
                <a:ea typeface="굴림" panose="020B0600000101010101" pitchFamily="34" charset="-127"/>
              </a:rPr>
              <a:t></a:t>
            </a:r>
            <a:r>
              <a:rPr lang="en-US" altLang="ko-KR" sz="3200" b="1" dirty="0">
                <a:solidFill>
                  <a:srgbClr val="333333"/>
                </a:solidFill>
                <a:ea typeface="굴림" panose="020B0600000101010101" pitchFamily="34" charset="-127"/>
              </a:rPr>
              <a:t>B) = 0.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4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71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89" name="Group 17">
            <a:extLst>
              <a:ext uri="{FF2B5EF4-FFF2-40B4-BE49-F238E27FC236}">
                <a16:creationId xmlns:a16="http://schemas.microsoft.com/office/drawing/2014/main" id="{73776ED3-25A8-BED0-4E20-2E0EB6BC8BEC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3276600"/>
            <a:ext cx="4267200" cy="2590800"/>
            <a:chOff x="1488" y="2064"/>
            <a:chExt cx="2688" cy="1632"/>
          </a:xfrm>
        </p:grpSpPr>
        <p:sp>
          <p:nvSpPr>
            <p:cNvPr id="27660" name="Rectangle 6">
              <a:extLst>
                <a:ext uri="{FF2B5EF4-FFF2-40B4-BE49-F238E27FC236}">
                  <a16:creationId xmlns:a16="http://schemas.microsoft.com/office/drawing/2014/main" id="{EBE0FC9B-5015-0BFD-7D2A-769C8DD5D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064"/>
              <a:ext cx="2688" cy="1632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486" name="Text Box 14">
              <a:extLst>
                <a:ext uri="{FF2B5EF4-FFF2-40B4-BE49-F238E27FC236}">
                  <a16:creationId xmlns:a16="http://schemas.microsoft.com/office/drawing/2014/main" id="{BD373F0C-525A-4E4F-5F5D-5A3AA9B43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112"/>
              <a:ext cx="28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ko-KR" b="1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charset="-127"/>
                </a:rPr>
                <a:t>S</a:t>
              </a:r>
            </a:p>
          </p:txBody>
        </p:sp>
      </p:grp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81EB902C-6CCD-B878-D71B-DEE8FCAF8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US" altLang="ko-KR" b="1">
                <a:ea typeface="굴림" charset="-127"/>
              </a:rPr>
              <a:t>Event Relations</a:t>
            </a:r>
            <a:endParaRPr lang="en-US" altLang="ko-KR">
              <a:ea typeface="굴림" charset="-127"/>
            </a:endParaRPr>
          </a:p>
        </p:txBody>
      </p:sp>
      <p:sp>
        <p:nvSpPr>
          <p:cNvPr id="27652" name="Rectangle 5">
            <a:extLst>
              <a:ext uri="{FF2B5EF4-FFF2-40B4-BE49-F238E27FC236}">
                <a16:creationId xmlns:a16="http://schemas.microsoft.com/office/drawing/2014/main" id="{340A2DCC-6CDE-9FBA-83CF-1B7CC0513B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799" y="1295400"/>
            <a:ext cx="9477703" cy="1828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The</a:t>
            </a:r>
            <a:r>
              <a:rPr lang="en-US" altLang="ko-KR" sz="3200" dirty="0">
                <a:solidFill>
                  <a:srgbClr val="333333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complement</a:t>
            </a:r>
            <a:r>
              <a:rPr lang="en-US" altLang="ko-KR" sz="3200" dirty="0">
                <a:solidFill>
                  <a:srgbClr val="333333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ea typeface="굴림" panose="020B0600000101010101" pitchFamily="34" charset="-127"/>
              </a:rPr>
              <a:t>of an event A consists of all outcomes of the experiment that do not result in event A.  We write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A</a:t>
            </a:r>
            <a:r>
              <a:rPr lang="en-US" altLang="ko-KR" sz="3200" baseline="30000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C</a:t>
            </a:r>
            <a:r>
              <a:rPr lang="en-US" altLang="ko-KR" sz="3200" dirty="0">
                <a:solidFill>
                  <a:srgbClr val="333333"/>
                </a:solidFill>
                <a:ea typeface="굴림" panose="020B0600000101010101" pitchFamily="34" charset="-127"/>
              </a:rPr>
              <a:t>.</a:t>
            </a:r>
            <a:r>
              <a:rPr lang="en-US" altLang="ko-KR" sz="3200" dirty="0">
                <a:solidFill>
                  <a:schemeClr val="accent2"/>
                </a:solidFill>
                <a:ea typeface="굴림" panose="020B0600000101010101" pitchFamily="34" charset="-127"/>
              </a:rPr>
              <a:t>	</a:t>
            </a:r>
          </a:p>
          <a:p>
            <a:pPr eaLnBrk="1" hangingPunct="1"/>
            <a:endParaRPr lang="ko-KR" altLang="en-US" sz="3200" dirty="0">
              <a:ea typeface="굴림" panose="020B0600000101010101" pitchFamily="34" charset="-127"/>
            </a:endParaRPr>
          </a:p>
        </p:txBody>
      </p:sp>
      <p:grpSp>
        <p:nvGrpSpPr>
          <p:cNvPr id="105488" name="Group 16">
            <a:extLst>
              <a:ext uri="{FF2B5EF4-FFF2-40B4-BE49-F238E27FC236}">
                <a16:creationId xmlns:a16="http://schemas.microsoft.com/office/drawing/2014/main" id="{1F3BD538-41CC-A335-8D44-6D878C89A854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3962400"/>
            <a:ext cx="1752600" cy="1371600"/>
            <a:chOff x="2304" y="2496"/>
            <a:chExt cx="1104" cy="864"/>
          </a:xfrm>
        </p:grpSpPr>
        <p:grpSp>
          <p:nvGrpSpPr>
            <p:cNvPr id="27656" name="Group 7">
              <a:extLst>
                <a:ext uri="{FF2B5EF4-FFF2-40B4-BE49-F238E27FC236}">
                  <a16:creationId xmlns:a16="http://schemas.microsoft.com/office/drawing/2014/main" id="{2BA893E8-5646-7F45-6026-365FC3BB7A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496"/>
              <a:ext cx="1104" cy="864"/>
              <a:chOff x="1776" y="2448"/>
              <a:chExt cx="1104" cy="864"/>
            </a:xfrm>
          </p:grpSpPr>
          <p:sp>
            <p:nvSpPr>
              <p:cNvPr id="27658" name="Oval 8">
                <a:extLst>
                  <a:ext uri="{FF2B5EF4-FFF2-40B4-BE49-F238E27FC236}">
                    <a16:creationId xmlns:a16="http://schemas.microsoft.com/office/drawing/2014/main" id="{75D229C4-4416-7E94-BEE4-94BD3585B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448"/>
                <a:ext cx="1104" cy="864"/>
              </a:xfrm>
              <a:prstGeom prst="ellipse">
                <a:avLst/>
              </a:prstGeom>
              <a:solidFill>
                <a:srgbClr val="3399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7659" name="Text Box 9">
                <a:extLst>
                  <a:ext uri="{FF2B5EF4-FFF2-40B4-BE49-F238E27FC236}">
                    <a16:creationId xmlns:a16="http://schemas.microsoft.com/office/drawing/2014/main" id="{3F422364-153B-369B-7B4C-87465017C6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273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333333"/>
                    </a:solidFill>
                    <a:ea typeface="굴림" panose="020B0600000101010101" pitchFamily="34" charset="-127"/>
                  </a:rPr>
                  <a:t>A</a:t>
                </a:r>
              </a:p>
            </p:txBody>
          </p:sp>
        </p:grpSp>
        <p:sp>
          <p:nvSpPr>
            <p:cNvPr id="27657" name="Text Box 10">
              <a:extLst>
                <a:ext uri="{FF2B5EF4-FFF2-40B4-BE49-F238E27FC236}">
                  <a16:creationId xmlns:a16="http://schemas.microsoft.com/office/drawing/2014/main" id="{1A874947-81D1-6C4A-9F84-FBC2F7E9F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0" y="2714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ko-KR" altLang="en-US">
                <a:ea typeface="굴림" panose="020B0600000101010101" pitchFamily="34" charset="-127"/>
              </a:endParaRPr>
            </a:p>
          </p:txBody>
        </p:sp>
      </p:grpSp>
      <p:sp>
        <p:nvSpPr>
          <p:cNvPr id="105484" name="Text Box 12">
            <a:extLst>
              <a:ext uri="{FF2B5EF4-FFF2-40B4-BE49-F238E27FC236}">
                <a16:creationId xmlns:a16="http://schemas.microsoft.com/office/drawing/2014/main" id="{345C5AB2-1848-58AC-D90B-92AB92200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733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b="1">
                <a:ea typeface="굴림" panose="020B0600000101010101" pitchFamily="34" charset="-127"/>
              </a:rPr>
              <a:t>A</a:t>
            </a:r>
            <a:r>
              <a:rPr lang="en-US" altLang="ko-KR" b="1" baseline="30000">
                <a:ea typeface="굴림" panose="020B0600000101010101" pitchFamily="34" charset="-127"/>
              </a:rPr>
              <a:t>C</a:t>
            </a:r>
            <a:endParaRPr lang="en-US" altLang="ko-KR" b="1">
              <a:ea typeface="굴림" panose="020B0600000101010101" pitchFamily="34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5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84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62064BD1-2BDC-CB21-CF6A-209AF2A91F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76200"/>
            <a:ext cx="5410200" cy="11430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eaLnBrk="1" hangingPunct="1">
              <a:defRPr/>
            </a:pPr>
            <a:r>
              <a:rPr lang="en-US" altLang="ko-KR" b="1">
                <a:ea typeface="굴림" charset="-127"/>
              </a:rPr>
              <a:t>Example</a:t>
            </a:r>
            <a:endParaRPr lang="en-US" altLang="ko-KR">
              <a:ea typeface="굴림" charset="-127"/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D572968-7BF7-86D5-F76A-BD55B1E3D6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1524000"/>
            <a:ext cx="8601216" cy="25908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>
            <a:normAutofit/>
          </a:bodyPr>
          <a:lstStyle/>
          <a:p>
            <a:pPr eaLnBrk="1" hangingPunct="1">
              <a:spcBef>
                <a:spcPct val="0"/>
              </a:spcBef>
            </a:pPr>
            <a:r>
              <a:rPr lang="ko-KR" altLang="en-US" dirty="0"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ea typeface="굴림" panose="020B0600000101010101" pitchFamily="34" charset="-127"/>
              </a:rPr>
              <a:t>Select a student from the classroom and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3200" dirty="0">
                <a:ea typeface="굴림" panose="020B0600000101010101" pitchFamily="34" charset="-127"/>
              </a:rPr>
              <a:t>	record his/her </a:t>
            </a: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ethnicity </a:t>
            </a:r>
            <a:r>
              <a:rPr lang="en-US" altLang="ko-KR" sz="3200" dirty="0">
                <a:ea typeface="굴림" panose="020B0600000101010101" pitchFamily="34" charset="-127"/>
              </a:rPr>
              <a:t>and </a:t>
            </a: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gender</a:t>
            </a:r>
            <a:r>
              <a:rPr lang="en-US" altLang="ko-KR" sz="3200" dirty="0">
                <a:ea typeface="굴림" panose="020B0600000101010101" pitchFamily="34" charset="-127"/>
              </a:rPr>
              <a:t>.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A:</a:t>
            </a:r>
            <a:r>
              <a:rPr lang="en-US" altLang="ko-KR" sz="3200" dirty="0">
                <a:solidFill>
                  <a:schemeClr val="accent2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ea typeface="굴림" panose="020B0600000101010101" pitchFamily="34" charset="-127"/>
              </a:rPr>
              <a:t>student whose ethnicity is Javanese</a:t>
            </a:r>
            <a:endParaRPr lang="en-US" altLang="ko-KR" sz="3200" dirty="0">
              <a:solidFill>
                <a:schemeClr val="accent2"/>
              </a:solidFill>
              <a:ea typeface="굴림" panose="020B0600000101010101" pitchFamily="34" charset="-127"/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B:</a:t>
            </a:r>
            <a:r>
              <a:rPr lang="en-US" altLang="ko-KR" sz="3200" dirty="0">
                <a:solidFill>
                  <a:schemeClr val="accent2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ea typeface="굴림" panose="020B0600000101010101" pitchFamily="34" charset="-127"/>
              </a:rPr>
              <a:t>student is female</a:t>
            </a:r>
            <a:endParaRPr lang="en-US" altLang="ko-KR" sz="3200" dirty="0">
              <a:solidFill>
                <a:schemeClr val="accent2"/>
              </a:solidFill>
              <a:ea typeface="굴림" panose="020B0600000101010101" pitchFamily="34" charset="-127"/>
            </a:endParaRPr>
          </a:p>
          <a:p>
            <a:pPr lvl="1" eaLnBrk="1" hangingPunct="1">
              <a:spcBef>
                <a:spcPct val="0"/>
              </a:spcBef>
            </a:pP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C:</a:t>
            </a:r>
            <a:r>
              <a:rPr lang="en-US" altLang="ko-KR" sz="3200" dirty="0">
                <a:ea typeface="굴림" panose="020B0600000101010101" pitchFamily="34" charset="-127"/>
              </a:rPr>
              <a:t> student is male</a:t>
            </a:r>
          </a:p>
        </p:txBody>
      </p:sp>
      <p:grpSp>
        <p:nvGrpSpPr>
          <p:cNvPr id="28676" name="Group 14">
            <a:extLst>
              <a:ext uri="{FF2B5EF4-FFF2-40B4-BE49-F238E27FC236}">
                <a16:creationId xmlns:a16="http://schemas.microsoft.com/office/drawing/2014/main" id="{CBBC75B1-3956-A498-6C2D-267726D42AFB}"/>
              </a:ext>
            </a:extLst>
          </p:cNvPr>
          <p:cNvGrpSpPr>
            <a:grpSpLocks/>
          </p:cNvGrpSpPr>
          <p:nvPr/>
        </p:nvGrpSpPr>
        <p:grpSpPr bwMode="auto">
          <a:xfrm>
            <a:off x="10473559" y="0"/>
            <a:ext cx="1676400" cy="1752600"/>
            <a:chOff x="4368" y="48"/>
            <a:chExt cx="1344" cy="1296"/>
          </a:xfrm>
        </p:grpSpPr>
        <p:sp>
          <p:nvSpPr>
            <p:cNvPr id="28683" name="Rectangle 5">
              <a:extLst>
                <a:ext uri="{FF2B5EF4-FFF2-40B4-BE49-F238E27FC236}">
                  <a16:creationId xmlns:a16="http://schemas.microsoft.com/office/drawing/2014/main" id="{02B3CAD8-1642-8B9D-4285-5E0167778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48"/>
              <a:ext cx="1344" cy="1296"/>
            </a:xfrm>
            <a:prstGeom prst="rect">
              <a:avLst/>
            </a:prstGeom>
            <a:solidFill>
              <a:srgbClr val="F4ECC6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28684" name="Picture 4" descr="students">
              <a:extLst>
                <a:ext uri="{FF2B5EF4-FFF2-40B4-BE49-F238E27FC236}">
                  <a16:creationId xmlns:a16="http://schemas.microsoft.com/office/drawing/2014/main" id="{7216D6BF-AF51-86DE-C855-348A1FF959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144"/>
              <a:ext cx="1152" cy="1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3191" name="Text Box 7">
            <a:extLst>
              <a:ext uri="{FF2B5EF4-FFF2-40B4-BE49-F238E27FC236}">
                <a16:creationId xmlns:a16="http://schemas.microsoft.com/office/drawing/2014/main" id="{4AF32604-12CC-DA8C-38D3-595466DDF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038601"/>
            <a:ext cx="8534400" cy="216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What is the relationship between events </a:t>
            </a: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B</a:t>
            </a: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 and </a:t>
            </a: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C</a:t>
            </a:r>
            <a:r>
              <a:rPr lang="en-US" altLang="ko-KR" sz="3200">
                <a:solidFill>
                  <a:srgbClr val="339933"/>
                </a:solidFill>
                <a:ea typeface="굴림" panose="020B0600000101010101" pitchFamily="34" charset="-127"/>
              </a:rPr>
              <a:t>?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A</a:t>
            </a:r>
            <a:r>
              <a:rPr lang="en-US" altLang="ko-KR" sz="3200" b="1" baseline="30000">
                <a:solidFill>
                  <a:srgbClr val="333333"/>
                </a:solidFill>
                <a:ea typeface="굴림" panose="020B0600000101010101" pitchFamily="34" charset="-127"/>
              </a:rPr>
              <a:t>C</a:t>
            </a: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:</a:t>
            </a:r>
            <a:r>
              <a:rPr lang="en-US" altLang="ko-KR" sz="3200" b="1">
                <a:solidFill>
                  <a:schemeClr val="accent2"/>
                </a:solidFill>
                <a:ea typeface="굴림" panose="020B0600000101010101" pitchFamily="34" charset="-127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B</a:t>
            </a: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C:</a:t>
            </a:r>
            <a:r>
              <a:rPr lang="en-US" altLang="ko-KR" sz="3200" b="1">
                <a:solidFill>
                  <a:schemeClr val="accent2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BC:</a:t>
            </a:r>
            <a:endParaRPr lang="en-US" altLang="ko-KR">
              <a:ea typeface="굴림" panose="020B0600000101010101" pitchFamily="34" charset="-127"/>
            </a:endParaRPr>
          </a:p>
        </p:txBody>
      </p:sp>
      <p:sp>
        <p:nvSpPr>
          <p:cNvPr id="93192" name="Text Box 8">
            <a:extLst>
              <a:ext uri="{FF2B5EF4-FFF2-40B4-BE49-F238E27FC236}">
                <a16:creationId xmlns:a16="http://schemas.microsoft.com/office/drawing/2014/main" id="{6D2C6077-C667-0207-5A3F-A6D8DC632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6489" y="3452651"/>
            <a:ext cx="4343400" cy="46166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dirty="0">
                <a:solidFill>
                  <a:srgbClr val="F4ECC6"/>
                </a:solidFill>
                <a:ea typeface="굴림" panose="020B0600000101010101" pitchFamily="34" charset="-127"/>
              </a:rPr>
              <a:t>Mutually exclusive; B = C</a:t>
            </a:r>
            <a:r>
              <a:rPr lang="en-US" altLang="ko-KR" baseline="30000" dirty="0">
                <a:solidFill>
                  <a:srgbClr val="F4ECC6"/>
                </a:solidFill>
                <a:ea typeface="굴림" panose="020B0600000101010101" pitchFamily="34" charset="-127"/>
              </a:rPr>
              <a:t>C</a:t>
            </a:r>
            <a:endParaRPr lang="en-US" altLang="ko-KR" dirty="0">
              <a:solidFill>
                <a:srgbClr val="F4ECC6"/>
              </a:solidFill>
              <a:ea typeface="굴림" panose="020B0600000101010101" pitchFamily="34" charset="-127"/>
            </a:endParaRPr>
          </a:p>
        </p:txBody>
      </p:sp>
      <p:sp>
        <p:nvSpPr>
          <p:cNvPr id="93193" name="Text Box 9">
            <a:extLst>
              <a:ext uri="{FF2B5EF4-FFF2-40B4-BE49-F238E27FC236}">
                <a16:creationId xmlns:a16="http://schemas.microsoft.com/office/drawing/2014/main" id="{3BDA8CB6-3910-EF82-A1A3-71D2462D8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1"/>
            <a:ext cx="5257800" cy="46166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dirty="0">
                <a:solidFill>
                  <a:srgbClr val="F4ECC6"/>
                </a:solidFill>
                <a:ea typeface="굴림" panose="020B0600000101010101" pitchFamily="34" charset="-127"/>
              </a:rPr>
              <a:t>Student does not Javanese</a:t>
            </a:r>
          </a:p>
        </p:txBody>
      </p:sp>
      <p:sp>
        <p:nvSpPr>
          <p:cNvPr id="93194" name="Text Box 10">
            <a:extLst>
              <a:ext uri="{FF2B5EF4-FFF2-40B4-BE49-F238E27FC236}">
                <a16:creationId xmlns:a16="http://schemas.microsoft.com/office/drawing/2014/main" id="{855D3F3A-1931-8397-76FA-5CF2C2B43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181601"/>
            <a:ext cx="5257800" cy="46166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F4ECC6"/>
                </a:solidFill>
                <a:ea typeface="굴림" panose="020B0600000101010101" pitchFamily="34" charset="-127"/>
              </a:rPr>
              <a:t>Student is both male and female = </a:t>
            </a:r>
            <a:r>
              <a:rPr lang="en-US" altLang="ko-KR">
                <a:solidFill>
                  <a:srgbClr val="F4ECC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</a:t>
            </a:r>
            <a:endParaRPr lang="en-US" altLang="ko-KR">
              <a:solidFill>
                <a:srgbClr val="F4ECC6"/>
              </a:solidFill>
              <a:ea typeface="굴림" panose="020B0600000101010101" pitchFamily="34" charset="-127"/>
            </a:endParaRPr>
          </a:p>
        </p:txBody>
      </p:sp>
      <p:sp>
        <p:nvSpPr>
          <p:cNvPr id="93195" name="Text Box 11">
            <a:extLst>
              <a:ext uri="{FF2B5EF4-FFF2-40B4-BE49-F238E27FC236}">
                <a16:creationId xmlns:a16="http://schemas.microsoft.com/office/drawing/2014/main" id="{CA13DA5E-F7E7-478C-D7CB-9B6DE6627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715001"/>
            <a:ext cx="6553200" cy="46166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F4ECC6"/>
                </a:solidFill>
                <a:ea typeface="굴림" panose="020B0600000101010101" pitchFamily="34" charset="-127"/>
              </a:rPr>
              <a:t>Student is either male and female = </a:t>
            </a:r>
            <a:r>
              <a:rPr lang="en-US" altLang="ko-KR">
                <a:solidFill>
                  <a:srgbClr val="F4ECC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all students = S</a:t>
            </a:r>
            <a:endParaRPr lang="en-US" altLang="ko-KR">
              <a:solidFill>
                <a:srgbClr val="F4ECC6"/>
              </a:solidFill>
              <a:ea typeface="굴림" panose="020B0600000101010101" pitchFamily="34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1" grpId="0" autoUpdateAnimBg="0"/>
      <p:bldP spid="93192" grpId="0" animBg="1" autoUpdateAnimBg="0"/>
      <p:bldP spid="93193" grpId="0" animBg="1" autoUpdateAnimBg="0"/>
      <p:bldP spid="93194" grpId="0" animBg="1" autoUpdateAnimBg="0"/>
      <p:bldP spid="93195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FE2B02C-2359-FBE9-937C-0F2BBF8453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82766" y="199465"/>
            <a:ext cx="8305800" cy="16002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 fontScale="90000"/>
          </a:bodyPr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Calculating Probabilities for Unions and Complements</a:t>
            </a:r>
            <a:endParaRPr lang="en-US" altLang="ko-KR" dirty="0">
              <a:ea typeface="굴림" charset="-127"/>
            </a:endParaRP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95AE5ED-7215-09CE-4FF5-93465FA489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981200"/>
            <a:ext cx="9333186" cy="4114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ko-KR" sz="3200" dirty="0">
                <a:ea typeface="굴림" charset="-127"/>
              </a:rPr>
              <a:t>There are special rules that will allow you to calculate probabilities for composite events.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ko-KR" sz="3200" b="1" u="sng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The Additive Rule for Unions: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a typeface="굴림" charset="-127"/>
              </a:rPr>
              <a:t>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ko-KR" sz="3200" dirty="0">
                <a:ea typeface="굴림" charset="-127"/>
              </a:rPr>
              <a:t>For any two events, </a:t>
            </a:r>
            <a:r>
              <a:rPr lang="en-US" altLang="ko-KR" sz="3200" b="1" dirty="0">
                <a:ea typeface="굴림" charset="-127"/>
              </a:rPr>
              <a:t>A</a:t>
            </a:r>
            <a:r>
              <a:rPr lang="en-US" altLang="ko-KR" sz="3200" dirty="0">
                <a:ea typeface="굴림" charset="-127"/>
              </a:rPr>
              <a:t> and </a:t>
            </a:r>
            <a:r>
              <a:rPr lang="en-US" altLang="ko-KR" sz="3200" b="1" dirty="0">
                <a:ea typeface="굴림" charset="-127"/>
              </a:rPr>
              <a:t>B</a:t>
            </a:r>
            <a:r>
              <a:rPr lang="en-US" altLang="ko-KR" sz="3200" dirty="0">
                <a:ea typeface="굴림" charset="-127"/>
              </a:rPr>
              <a:t>, the probability of their union, </a:t>
            </a:r>
            <a:r>
              <a:rPr lang="en-US" altLang="ko-KR" sz="3200" b="1" dirty="0">
                <a:solidFill>
                  <a:schemeClr val="accent2"/>
                </a:solidFill>
                <a:ea typeface="굴림" charset="-127"/>
              </a:rPr>
              <a:t> </a:t>
            </a:r>
            <a:r>
              <a:rPr lang="en-US" altLang="ko-KR" sz="3200" b="1" dirty="0">
                <a:ea typeface="굴림" charset="-127"/>
              </a:rPr>
              <a:t>P(A </a:t>
            </a:r>
            <a:r>
              <a:rPr lang="en-US" altLang="ko-KR" sz="3200" b="1" dirty="0">
                <a:latin typeface="Symbol" pitchFamily="18" charset="2"/>
                <a:ea typeface="굴림" charset="-127"/>
              </a:rPr>
              <a:t></a:t>
            </a:r>
            <a:r>
              <a:rPr lang="en-US" altLang="ko-KR" sz="3200" b="1" dirty="0">
                <a:ea typeface="굴림" charset="-127"/>
              </a:rPr>
              <a:t>B)</a:t>
            </a:r>
            <a:r>
              <a:rPr lang="en-US" altLang="ko-KR" sz="3200" dirty="0">
                <a:ea typeface="굴림" charset="-127"/>
              </a:rPr>
              <a:t>, is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altLang="ko-KR" dirty="0">
              <a:ea typeface="굴림" charset="-127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ko-KR" dirty="0">
                <a:ea typeface="굴림" charset="-127"/>
              </a:rPr>
              <a:t> </a:t>
            </a:r>
            <a:endParaRPr lang="en-US" altLang="ko-KR" sz="3500" dirty="0">
              <a:ea typeface="굴림" charset="-127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ko-KR" altLang="en-US" sz="3500" dirty="0">
              <a:ea typeface="굴림" charset="-127"/>
            </a:endParaRPr>
          </a:p>
        </p:txBody>
      </p:sp>
      <p:graphicFrame>
        <p:nvGraphicFramePr>
          <p:cNvPr id="91154" name="Object 18">
            <a:extLst>
              <a:ext uri="{FF2B5EF4-FFF2-40B4-BE49-F238E27FC236}">
                <a16:creationId xmlns:a16="http://schemas.microsoft.com/office/drawing/2014/main" id="{ABA153D6-2DFF-B138-F8DA-904B5F3C73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5105400"/>
          <a:ext cx="56388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451" imgH="165028" progId="Equation.3">
                  <p:embed/>
                </p:oleObj>
              </mc:Choice>
              <mc:Fallback>
                <p:oleObj name="Equation" r:id="rId2" imgW="1726451" imgH="165028" progId="Equation.3">
                  <p:embed/>
                  <p:pic>
                    <p:nvPicPr>
                      <p:cNvPr id="91154" name="Object 18">
                        <a:extLst>
                          <a:ext uri="{FF2B5EF4-FFF2-40B4-BE49-F238E27FC236}">
                            <a16:creationId xmlns:a16="http://schemas.microsoft.com/office/drawing/2014/main" id="{ABA153D6-2DFF-B138-F8DA-904B5F3C73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105400"/>
                        <a:ext cx="5638800" cy="539750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1162" name="Group 26">
            <a:extLst>
              <a:ext uri="{FF2B5EF4-FFF2-40B4-BE49-F238E27FC236}">
                <a16:creationId xmlns:a16="http://schemas.microsoft.com/office/drawing/2014/main" id="{FF368EDA-52B7-008D-D1CC-220BFFD33438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4876800"/>
            <a:ext cx="2438400" cy="1371600"/>
            <a:chOff x="1488" y="2064"/>
            <a:chExt cx="2688" cy="1632"/>
          </a:xfrm>
        </p:grpSpPr>
        <p:sp>
          <p:nvSpPr>
            <p:cNvPr id="29703" name="Rectangle 19">
              <a:extLst>
                <a:ext uri="{FF2B5EF4-FFF2-40B4-BE49-F238E27FC236}">
                  <a16:creationId xmlns:a16="http://schemas.microsoft.com/office/drawing/2014/main" id="{480531DC-FE0A-B07B-3642-549864339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064"/>
              <a:ext cx="2688" cy="1632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29704" name="Group 20">
              <a:extLst>
                <a:ext uri="{FF2B5EF4-FFF2-40B4-BE49-F238E27FC236}">
                  <a16:creationId xmlns:a16="http://schemas.microsoft.com/office/drawing/2014/main" id="{FAF0365F-488C-6203-0598-BEEE237DCE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448"/>
              <a:ext cx="1104" cy="864"/>
              <a:chOff x="1776" y="2448"/>
              <a:chExt cx="1104" cy="864"/>
            </a:xfrm>
          </p:grpSpPr>
          <p:sp>
            <p:nvSpPr>
              <p:cNvPr id="29708" name="Oval 21">
                <a:extLst>
                  <a:ext uri="{FF2B5EF4-FFF2-40B4-BE49-F238E27FC236}">
                    <a16:creationId xmlns:a16="http://schemas.microsoft.com/office/drawing/2014/main" id="{3D792DF8-54D2-F29A-F323-5C24E77109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448"/>
                <a:ext cx="1104" cy="864"/>
              </a:xfrm>
              <a:prstGeom prst="ellipse">
                <a:avLst/>
              </a:prstGeom>
              <a:solidFill>
                <a:srgbClr val="3399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9709" name="Text Box 22">
                <a:extLst>
                  <a:ext uri="{FF2B5EF4-FFF2-40B4-BE49-F238E27FC236}">
                    <a16:creationId xmlns:a16="http://schemas.microsoft.com/office/drawing/2014/main" id="{3C9D1493-2E5A-940A-D2E9-831B55B62C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7" y="2736"/>
                <a:ext cx="239" cy="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333333"/>
                    </a:solidFill>
                    <a:ea typeface="굴림" panose="020B0600000101010101" pitchFamily="34" charset="-127"/>
                  </a:rPr>
                  <a:t>A</a:t>
                </a:r>
              </a:p>
            </p:txBody>
          </p:sp>
        </p:grpSp>
        <p:grpSp>
          <p:nvGrpSpPr>
            <p:cNvPr id="29705" name="Group 23">
              <a:extLst>
                <a:ext uri="{FF2B5EF4-FFF2-40B4-BE49-F238E27FC236}">
                  <a16:creationId xmlns:a16="http://schemas.microsoft.com/office/drawing/2014/main" id="{72C66521-79B2-20F2-5CEB-8FEA54B8F7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496"/>
              <a:ext cx="1248" cy="864"/>
              <a:chOff x="2592" y="2496"/>
              <a:chExt cx="1248" cy="864"/>
            </a:xfrm>
          </p:grpSpPr>
          <p:sp>
            <p:nvSpPr>
              <p:cNvPr id="29706" name="Oval 24">
                <a:extLst>
                  <a:ext uri="{FF2B5EF4-FFF2-40B4-BE49-F238E27FC236}">
                    <a16:creationId xmlns:a16="http://schemas.microsoft.com/office/drawing/2014/main" id="{5AD65286-CE4E-B4B2-E600-C13A5A1FFF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496"/>
                <a:ext cx="1248" cy="864"/>
              </a:xfrm>
              <a:prstGeom prst="ellipse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9707" name="Text Box 25">
                <a:extLst>
                  <a:ext uri="{FF2B5EF4-FFF2-40B4-BE49-F238E27FC236}">
                    <a16:creationId xmlns:a16="http://schemas.microsoft.com/office/drawing/2014/main" id="{76CD696D-F120-4F1E-BAA5-3586AC2CF7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8" y="2784"/>
                <a:ext cx="240" cy="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b="1">
                    <a:solidFill>
                      <a:srgbClr val="333333"/>
                    </a:solidFill>
                    <a:ea typeface="굴림" panose="020B0600000101010101" pitchFamily="34" charset="-127"/>
                  </a:rPr>
                  <a:t>B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35980280-3E58-A3D7-9957-85650F1B95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1497" y="381000"/>
            <a:ext cx="6781800" cy="808038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 fontScale="90000"/>
          </a:bodyPr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Example: Additive Rule</a:t>
            </a:r>
          </a:p>
        </p:txBody>
      </p:sp>
      <p:sp>
        <p:nvSpPr>
          <p:cNvPr id="30723" name="Rectangle 7">
            <a:extLst>
              <a:ext uri="{FF2B5EF4-FFF2-40B4-BE49-F238E27FC236}">
                <a16:creationId xmlns:a16="http://schemas.microsoft.com/office/drawing/2014/main" id="{7C42A99F-E48F-EF8C-224C-D4DE1BBD8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799" y="1295400"/>
            <a:ext cx="8534399" cy="1463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ko-KR" sz="3200" b="1" dirty="0">
                <a:solidFill>
                  <a:schemeClr val="tx2"/>
                </a:solidFill>
                <a:ea typeface="굴림" panose="020B0600000101010101" pitchFamily="34" charset="-127"/>
              </a:rPr>
              <a:t>Example</a:t>
            </a: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: Suppose that there were 120 students in the classroom, and that they could be classified as follows:	</a:t>
            </a:r>
            <a:r>
              <a:rPr lang="en-US" altLang="ko-KR" sz="3500" dirty="0">
                <a:solidFill>
                  <a:srgbClr val="339933"/>
                </a:solidFill>
                <a:ea typeface="굴림" panose="020B0600000101010101" pitchFamily="34" charset="-127"/>
              </a:rPr>
              <a:t>		</a:t>
            </a:r>
            <a:endParaRPr lang="en-US" altLang="ko-KR" sz="2000" dirty="0">
              <a:solidFill>
                <a:srgbClr val="339933"/>
              </a:solidFill>
              <a:ea typeface="굴림" panose="020B0600000101010101" pitchFamily="34" charset="-127"/>
            </a:endParaRPr>
          </a:p>
        </p:txBody>
      </p:sp>
      <p:graphicFrame>
        <p:nvGraphicFramePr>
          <p:cNvPr id="96314" name="Group 58">
            <a:extLst>
              <a:ext uri="{FF2B5EF4-FFF2-40B4-BE49-F238E27FC236}">
                <a16:creationId xmlns:a16="http://schemas.microsoft.com/office/drawing/2014/main" id="{96140E1B-85AB-C4AF-C4B8-6A5E957E3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368978"/>
              </p:ext>
            </p:extLst>
          </p:nvPr>
        </p:nvGraphicFramePr>
        <p:xfrm>
          <a:off x="6324600" y="2894014"/>
          <a:ext cx="4331017" cy="1894523"/>
        </p:xfrm>
        <a:graphic>
          <a:graphicData uri="http://schemas.openxmlformats.org/drawingml/2006/table">
            <a:tbl>
              <a:tblPr/>
              <a:tblGrid>
                <a:gridCol w="116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Javanese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Not Javanese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Male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Female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6315" name="Text Box 59">
            <a:extLst>
              <a:ext uri="{FF2B5EF4-FFF2-40B4-BE49-F238E27FC236}">
                <a16:creationId xmlns:a16="http://schemas.microsoft.com/office/drawing/2014/main" id="{54096DB1-97E1-974D-4B23-A5294F8A1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819401"/>
            <a:ext cx="44196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ko-KR" sz="3500" b="1" dirty="0">
                <a:solidFill>
                  <a:srgbClr val="CC0066"/>
                </a:solidFill>
                <a:ea typeface="굴림" panose="020B0600000101010101" pitchFamily="34" charset="-127"/>
              </a:rPr>
              <a:t>A:</a:t>
            </a:r>
            <a:r>
              <a:rPr lang="en-US" altLang="ko-KR" sz="3500" b="1" dirty="0">
                <a:solidFill>
                  <a:schemeClr val="accent2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500" dirty="0">
                <a:solidFill>
                  <a:srgbClr val="339933"/>
                </a:solidFill>
                <a:ea typeface="굴림" panose="020B0600000101010101" pitchFamily="34" charset="-127"/>
              </a:rPr>
              <a:t>Javanese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3500" dirty="0">
                <a:solidFill>
                  <a:srgbClr val="339933"/>
                </a:solidFill>
                <a:ea typeface="굴림" panose="020B0600000101010101" pitchFamily="34" charset="-127"/>
              </a:rPr>
              <a:t>  </a:t>
            </a:r>
            <a:r>
              <a:rPr lang="en-US" altLang="ko-KR" sz="2800" b="1" dirty="0">
                <a:solidFill>
                  <a:srgbClr val="CC0066"/>
                </a:solidFill>
                <a:ea typeface="굴림" panose="020B0600000101010101" pitchFamily="34" charset="-127"/>
              </a:rPr>
              <a:t>P(A) = 50/120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3500" b="1" dirty="0">
                <a:solidFill>
                  <a:srgbClr val="CC0066"/>
                </a:solidFill>
                <a:ea typeface="굴림" panose="020B0600000101010101" pitchFamily="34" charset="-127"/>
              </a:rPr>
              <a:t>B:</a:t>
            </a:r>
            <a:r>
              <a:rPr lang="en-US" altLang="ko-KR" sz="3500" b="1" dirty="0">
                <a:solidFill>
                  <a:schemeClr val="accent2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500" dirty="0">
                <a:solidFill>
                  <a:srgbClr val="339933"/>
                </a:solidFill>
                <a:ea typeface="굴림" panose="020B0600000101010101" pitchFamily="34" charset="-127"/>
              </a:rPr>
              <a:t>female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3500" dirty="0">
                <a:solidFill>
                  <a:srgbClr val="339933"/>
                </a:solidFill>
                <a:ea typeface="굴림" panose="020B0600000101010101" pitchFamily="34" charset="-127"/>
              </a:rPr>
              <a:t>  </a:t>
            </a:r>
            <a:r>
              <a:rPr lang="en-US" altLang="ko-KR" sz="2800" b="1" dirty="0">
                <a:solidFill>
                  <a:srgbClr val="CC0066"/>
                </a:solidFill>
                <a:ea typeface="굴림" panose="020B0600000101010101" pitchFamily="34" charset="-127"/>
              </a:rPr>
              <a:t>P(B) = 60/120</a:t>
            </a:r>
            <a:endParaRPr lang="en-US" altLang="ko-KR" dirty="0">
              <a:ea typeface="굴림" panose="020B0600000101010101" pitchFamily="34" charset="-127"/>
            </a:endParaRPr>
          </a:p>
        </p:txBody>
      </p:sp>
      <p:sp>
        <p:nvSpPr>
          <p:cNvPr id="96317" name="Text Box 61">
            <a:extLst>
              <a:ext uri="{FF2B5EF4-FFF2-40B4-BE49-F238E27FC236}">
                <a16:creationId xmlns:a16="http://schemas.microsoft.com/office/drawing/2014/main" id="{E89F41B6-C428-B05C-1678-D66C4474A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876800"/>
            <a:ext cx="6096000" cy="132715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</a:rPr>
              <a:t>P(A</a:t>
            </a: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B) = P(A) + P(B) – P(AB)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= 50/120 + 60/120 - 30/120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= 80/120 = 2/3</a:t>
            </a:r>
            <a:endParaRPr lang="en-US" altLang="ko-KR">
              <a:ea typeface="굴림" panose="020B0600000101010101" pitchFamily="34" charset="-127"/>
            </a:endParaRPr>
          </a:p>
        </p:txBody>
      </p:sp>
      <p:sp>
        <p:nvSpPr>
          <p:cNvPr id="96316" name="Text Box 60">
            <a:extLst>
              <a:ext uri="{FF2B5EF4-FFF2-40B4-BE49-F238E27FC236}">
                <a16:creationId xmlns:a16="http://schemas.microsoft.com/office/drawing/2014/main" id="{26D9B241-693C-378F-38C3-4506805D6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5549900"/>
            <a:ext cx="3505200" cy="10795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ko-KR" sz="3500">
                <a:solidFill>
                  <a:srgbClr val="333333"/>
                </a:solidFill>
                <a:ea typeface="굴림" panose="020B0600000101010101" pitchFamily="34" charset="-127"/>
              </a:rPr>
              <a:t>Check:</a:t>
            </a:r>
            <a:r>
              <a:rPr lang="en-US" altLang="ko-KR" sz="3500">
                <a:solidFill>
                  <a:srgbClr val="CC0066"/>
                </a:solidFill>
                <a:ea typeface="굴림" panose="020B0600000101010101" pitchFamily="34" charset="-127"/>
              </a:rPr>
              <a:t> P(A</a:t>
            </a:r>
            <a:r>
              <a:rPr lang="en-US" altLang="ko-KR" sz="3500">
                <a:solidFill>
                  <a:srgbClr val="CC006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B)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3500">
                <a:solidFill>
                  <a:schemeClr val="accent2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 </a:t>
            </a: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= (20 + 30 + 30)/120</a:t>
            </a:r>
            <a:endParaRPr lang="en-US" altLang="ko-KR">
              <a:ea typeface="굴림" panose="020B0600000101010101" pitchFamily="34" charset="-127"/>
            </a:endParaRPr>
          </a:p>
        </p:txBody>
      </p:sp>
      <p:grpSp>
        <p:nvGrpSpPr>
          <p:cNvPr id="30746" name="Group 63">
            <a:extLst>
              <a:ext uri="{FF2B5EF4-FFF2-40B4-BE49-F238E27FC236}">
                <a16:creationId xmlns:a16="http://schemas.microsoft.com/office/drawing/2014/main" id="{BCC45050-A4A0-CC0C-EFD1-078868002D14}"/>
              </a:ext>
            </a:extLst>
          </p:cNvPr>
          <p:cNvGrpSpPr>
            <a:grpSpLocks/>
          </p:cNvGrpSpPr>
          <p:nvPr/>
        </p:nvGrpSpPr>
        <p:grpSpPr bwMode="auto">
          <a:xfrm>
            <a:off x="10744200" y="0"/>
            <a:ext cx="1447800" cy="1524000"/>
            <a:chOff x="4368" y="48"/>
            <a:chExt cx="1344" cy="1296"/>
          </a:xfrm>
        </p:grpSpPr>
        <p:sp>
          <p:nvSpPr>
            <p:cNvPr id="30747" name="Rectangle 64">
              <a:extLst>
                <a:ext uri="{FF2B5EF4-FFF2-40B4-BE49-F238E27FC236}">
                  <a16:creationId xmlns:a16="http://schemas.microsoft.com/office/drawing/2014/main" id="{13D24BAB-F54D-DBFE-40FE-ECDF3F037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48"/>
              <a:ext cx="1344" cy="1296"/>
            </a:xfrm>
            <a:prstGeom prst="rect">
              <a:avLst/>
            </a:prstGeom>
            <a:solidFill>
              <a:srgbClr val="F4ECC6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30748" name="Picture 65" descr="students">
              <a:extLst>
                <a:ext uri="{FF2B5EF4-FFF2-40B4-BE49-F238E27FC236}">
                  <a16:creationId xmlns:a16="http://schemas.microsoft.com/office/drawing/2014/main" id="{501AB4D0-508E-A5A3-3657-E5E19A4CC8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144"/>
              <a:ext cx="1152" cy="1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6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6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6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6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315" grpId="0" build="p" autoUpdateAnimBg="0"/>
      <p:bldP spid="96317" grpId="0" animBg="1" autoUpdateAnimBg="0"/>
      <p:bldP spid="96316" grpId="0" animBg="1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D84487EB-C263-3CFB-7D15-EFA100038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3200" y="326231"/>
            <a:ext cx="7010400" cy="808038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A Special Case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97CD4CE1-5FC7-8512-012C-339DB02C8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599" y="1295401"/>
            <a:ext cx="8933793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When two events A and B are </a:t>
            </a:r>
            <a:r>
              <a:rPr lang="en-US" altLang="ko-KR" sz="36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mutually exclusive,   </a:t>
            </a:r>
            <a:r>
              <a:rPr lang="en-US" altLang="ko-KR" sz="3500" dirty="0">
                <a:solidFill>
                  <a:schemeClr val="accent2">
                    <a:lumMod val="75000"/>
                  </a:schemeClr>
                </a:solidFill>
                <a:ea typeface="굴림" charset="-127"/>
              </a:rPr>
              <a:t>P(A</a:t>
            </a:r>
            <a:r>
              <a:rPr lang="en-US" altLang="ko-KR" sz="3500" dirty="0">
                <a:solidFill>
                  <a:schemeClr val="accent2">
                    <a:lumMod val="75000"/>
                  </a:schemeClr>
                </a:solidFill>
                <a:ea typeface="굴림" charset="-127"/>
                <a:sym typeface="Symbol" pitchFamily="18" charset="2"/>
              </a:rPr>
              <a:t>B) = 0 </a:t>
            </a:r>
            <a:r>
              <a:rPr lang="en-US" altLang="ko-KR" sz="3500" dirty="0">
                <a:solidFill>
                  <a:srgbClr val="339933"/>
                </a:solidFill>
                <a:ea typeface="굴림" charset="-127"/>
                <a:sym typeface="Symbol" pitchFamily="18" charset="2"/>
              </a:rPr>
              <a:t>and </a:t>
            </a:r>
            <a:r>
              <a:rPr lang="en-US" altLang="ko-KR" sz="3200" b="1" dirty="0">
                <a:solidFill>
                  <a:srgbClr val="CC0066"/>
                </a:solidFill>
                <a:ea typeface="굴림" charset="-127"/>
              </a:rPr>
              <a:t>P(A</a:t>
            </a:r>
            <a:r>
              <a:rPr lang="en-US" altLang="ko-KR" sz="3200" b="1" dirty="0">
                <a:solidFill>
                  <a:srgbClr val="CC0066"/>
                </a:solidFill>
                <a:ea typeface="굴림" charset="-127"/>
                <a:sym typeface="Symbol" pitchFamily="18" charset="2"/>
              </a:rPr>
              <a:t>B) = P(A) + P(B).</a:t>
            </a:r>
          </a:p>
        </p:txBody>
      </p:sp>
      <p:graphicFrame>
        <p:nvGraphicFramePr>
          <p:cNvPr id="106503" name="Group 7">
            <a:extLst>
              <a:ext uri="{FF2B5EF4-FFF2-40B4-BE49-F238E27FC236}">
                <a16:creationId xmlns:a16="http://schemas.microsoft.com/office/drawing/2014/main" id="{B533F37B-0434-4BCF-BB92-C0FC89B12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48351"/>
              </p:ext>
            </p:extLst>
          </p:nvPr>
        </p:nvGraphicFramePr>
        <p:xfrm>
          <a:off x="6829095" y="2872994"/>
          <a:ext cx="4277042" cy="1894523"/>
        </p:xfrm>
        <a:graphic>
          <a:graphicData uri="http://schemas.openxmlformats.org/drawingml/2006/table">
            <a:tbl>
              <a:tblPr/>
              <a:tblGrid>
                <a:gridCol w="113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Javanese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Not Javanese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Male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Female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6521" name="Text Box 25">
            <a:extLst>
              <a:ext uri="{FF2B5EF4-FFF2-40B4-BE49-F238E27FC236}">
                <a16:creationId xmlns:a16="http://schemas.microsoft.com/office/drawing/2014/main" id="{3AB9A815-C671-DCA6-95F3-810425F81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911475"/>
            <a:ext cx="4800600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ko-KR" sz="3200" b="1" dirty="0">
                <a:solidFill>
                  <a:srgbClr val="CC0066"/>
                </a:solidFill>
                <a:ea typeface="굴림" panose="020B0600000101010101" pitchFamily="34" charset="-127"/>
              </a:rPr>
              <a:t>A:</a:t>
            </a:r>
            <a:r>
              <a:rPr lang="en-US" altLang="ko-KR" sz="3200" b="1" dirty="0">
                <a:solidFill>
                  <a:schemeClr val="accent2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male Javanese student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	P(A) = 20/120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3200" b="1" dirty="0">
                <a:solidFill>
                  <a:srgbClr val="CC0066"/>
                </a:solidFill>
                <a:ea typeface="굴림" panose="020B0600000101010101" pitchFamily="34" charset="-127"/>
              </a:rPr>
              <a:t>B:</a:t>
            </a:r>
            <a:r>
              <a:rPr lang="en-US" altLang="ko-KR" sz="3200" b="1" dirty="0">
                <a:solidFill>
                  <a:schemeClr val="accent2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solidFill>
                  <a:srgbClr val="339933"/>
                </a:solidFill>
                <a:ea typeface="굴림" panose="020B0600000101010101" pitchFamily="34" charset="-127"/>
              </a:rPr>
              <a:t>female Javanese student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	P(B) = 30/120</a:t>
            </a:r>
          </a:p>
        </p:txBody>
      </p:sp>
      <p:sp>
        <p:nvSpPr>
          <p:cNvPr id="106522" name="Text Box 26">
            <a:extLst>
              <a:ext uri="{FF2B5EF4-FFF2-40B4-BE49-F238E27FC236}">
                <a16:creationId xmlns:a16="http://schemas.microsoft.com/office/drawing/2014/main" id="{0BE6AED9-8C65-C2FF-E3B4-FE37D74AA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800600"/>
            <a:ext cx="4191000" cy="132715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</a:rPr>
              <a:t>P(A</a:t>
            </a: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B) = P(A) + P(B)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= 20/120 + 30/120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= 50/120</a:t>
            </a:r>
            <a:endParaRPr lang="en-US" altLang="ko-KR">
              <a:ea typeface="굴림" panose="020B0600000101010101" pitchFamily="34" charset="-127"/>
            </a:endParaRPr>
          </a:p>
        </p:txBody>
      </p:sp>
      <p:grpSp>
        <p:nvGrpSpPr>
          <p:cNvPr id="106527" name="Group 31">
            <a:extLst>
              <a:ext uri="{FF2B5EF4-FFF2-40B4-BE49-F238E27FC236}">
                <a16:creationId xmlns:a16="http://schemas.microsoft.com/office/drawing/2014/main" id="{0E0C2BD1-7293-E86F-B6B6-F5105CD5F1AA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953001"/>
            <a:ext cx="4114800" cy="974725"/>
            <a:chOff x="192" y="3120"/>
            <a:chExt cx="2592" cy="614"/>
          </a:xfrm>
        </p:grpSpPr>
        <p:sp>
          <p:nvSpPr>
            <p:cNvPr id="31773" name="Text Box 28">
              <a:extLst>
                <a:ext uri="{FF2B5EF4-FFF2-40B4-BE49-F238E27FC236}">
                  <a16:creationId xmlns:a16="http://schemas.microsoft.com/office/drawing/2014/main" id="{82627C7C-EA0A-7BA4-D18C-4222685136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120"/>
              <a:ext cx="2256" cy="614"/>
            </a:xfrm>
            <a:prstGeom prst="rect">
              <a:avLst/>
            </a:prstGeom>
            <a:solidFill>
              <a:srgbClr val="CC0066"/>
            </a:solidFill>
            <a:ln w="28575">
              <a:solidFill>
                <a:srgbClr val="F4ECC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2800">
                  <a:solidFill>
                    <a:srgbClr val="F4ECC6"/>
                  </a:solidFill>
                  <a:ea typeface="굴림" panose="020B0600000101010101" pitchFamily="34" charset="-127"/>
                </a:rPr>
                <a:t>A and B are mutually exclusive, so that</a:t>
              </a:r>
            </a:p>
          </p:txBody>
        </p:sp>
        <p:sp>
          <p:nvSpPr>
            <p:cNvPr id="31774" name="Line 30">
              <a:extLst>
                <a:ext uri="{FF2B5EF4-FFF2-40B4-BE49-F238E27FC236}">
                  <a16:creationId xmlns:a16="http://schemas.microsoft.com/office/drawing/2014/main" id="{00DAFCBB-DCEB-9A51-8BB6-DCCAD7C0C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408"/>
              <a:ext cx="336" cy="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31770" name="Group 33">
            <a:extLst>
              <a:ext uri="{FF2B5EF4-FFF2-40B4-BE49-F238E27FC236}">
                <a16:creationId xmlns:a16="http://schemas.microsoft.com/office/drawing/2014/main" id="{33B2861D-F8F8-4F1D-1B07-BC6E96530AC3}"/>
              </a:ext>
            </a:extLst>
          </p:cNvPr>
          <p:cNvGrpSpPr>
            <a:grpSpLocks/>
          </p:cNvGrpSpPr>
          <p:nvPr/>
        </p:nvGrpSpPr>
        <p:grpSpPr bwMode="auto">
          <a:xfrm>
            <a:off x="10284372" y="0"/>
            <a:ext cx="1828800" cy="1752600"/>
            <a:chOff x="4368" y="48"/>
            <a:chExt cx="1344" cy="1296"/>
          </a:xfrm>
        </p:grpSpPr>
        <p:sp>
          <p:nvSpPr>
            <p:cNvPr id="31771" name="Rectangle 34">
              <a:extLst>
                <a:ext uri="{FF2B5EF4-FFF2-40B4-BE49-F238E27FC236}">
                  <a16:creationId xmlns:a16="http://schemas.microsoft.com/office/drawing/2014/main" id="{C7E33EF7-201A-D95F-B1AD-067486D98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48"/>
              <a:ext cx="1344" cy="1296"/>
            </a:xfrm>
            <a:prstGeom prst="rect">
              <a:avLst/>
            </a:prstGeom>
            <a:solidFill>
              <a:srgbClr val="F4ECC6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31772" name="Picture 35" descr="students">
              <a:extLst>
                <a:ext uri="{FF2B5EF4-FFF2-40B4-BE49-F238E27FC236}">
                  <a16:creationId xmlns:a16="http://schemas.microsoft.com/office/drawing/2014/main" id="{CE221604-8CDA-126E-9223-B800BD8519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144"/>
              <a:ext cx="1152" cy="1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6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65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65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65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6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21" grpId="0" build="p" autoUpdateAnimBg="0"/>
      <p:bldP spid="106522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E119E324-59CC-9F93-A6B2-A312FF64C4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304801"/>
            <a:ext cx="6705600" cy="1171575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 fontScale="90000"/>
          </a:bodyPr>
          <a:lstStyle/>
          <a:p>
            <a:pPr eaLnBrk="1" hangingPunct="1">
              <a:defRPr/>
            </a:pPr>
            <a:r>
              <a:rPr lang="en-US" altLang="ko-KR" sz="4400">
                <a:ea typeface="굴림" charset="-127"/>
              </a:rPr>
              <a:t>Calculating Probabilities </a:t>
            </a:r>
            <a:br>
              <a:rPr lang="en-US" altLang="ko-KR" sz="4400">
                <a:ea typeface="굴림" charset="-127"/>
              </a:rPr>
            </a:br>
            <a:r>
              <a:rPr lang="en-US" altLang="ko-KR" sz="4400">
                <a:ea typeface="굴림" charset="-127"/>
              </a:rPr>
              <a:t>for Complements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D528D91D-86C4-4B5A-D7E9-D628823D33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447800"/>
            <a:ext cx="8839200" cy="3352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>
            <a:normAutofit/>
          </a:bodyPr>
          <a:lstStyle/>
          <a:p>
            <a:pPr eaLnBrk="1" hangingPunct="1">
              <a:defRPr/>
            </a:pPr>
            <a:r>
              <a:rPr lang="ko-KR" altLang="en-US">
                <a:ea typeface="굴림" charset="-127"/>
              </a:rPr>
              <a:t> </a:t>
            </a:r>
            <a:r>
              <a:rPr lang="en-US" altLang="ko-KR">
                <a:ea typeface="굴림" charset="-127"/>
              </a:rPr>
              <a:t>We know that for any event </a:t>
            </a:r>
            <a:r>
              <a:rPr lang="en-US" altLang="ko-KR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A:</a:t>
            </a:r>
          </a:p>
          <a:p>
            <a:pPr lvl="1" eaLnBrk="1" hangingPunct="1">
              <a:defRPr/>
            </a:pPr>
            <a:r>
              <a:rPr lang="en-US" altLang="ko-KR" b="1">
                <a:solidFill>
                  <a:srgbClr val="333333"/>
                </a:solidFill>
                <a:ea typeface="굴림" charset="-127"/>
              </a:rPr>
              <a:t>P(A </a:t>
            </a:r>
            <a:r>
              <a:rPr lang="en-US" altLang="ko-KR" b="1">
                <a:solidFill>
                  <a:srgbClr val="333333"/>
                </a:solidFill>
                <a:latin typeface="Symbol" pitchFamily="18" charset="2"/>
                <a:ea typeface="굴림" charset="-127"/>
              </a:rPr>
              <a:t></a:t>
            </a:r>
            <a:r>
              <a:rPr lang="en-US" altLang="ko-KR" b="1">
                <a:solidFill>
                  <a:srgbClr val="333333"/>
                </a:solidFill>
                <a:ea typeface="굴림" charset="-127"/>
              </a:rPr>
              <a:t>A</a:t>
            </a:r>
            <a:r>
              <a:rPr lang="en-US" altLang="ko-KR" b="1" baseline="30000">
                <a:solidFill>
                  <a:srgbClr val="333333"/>
                </a:solidFill>
                <a:ea typeface="굴림" charset="-127"/>
              </a:rPr>
              <a:t>C</a:t>
            </a:r>
            <a:r>
              <a:rPr lang="en-US" altLang="ko-KR" b="1">
                <a:solidFill>
                  <a:srgbClr val="333333"/>
                </a:solidFill>
                <a:ea typeface="굴림" charset="-127"/>
              </a:rPr>
              <a:t>) = 0</a:t>
            </a:r>
          </a:p>
          <a:p>
            <a:pPr eaLnBrk="1" hangingPunct="1">
              <a:defRPr/>
            </a:pPr>
            <a:r>
              <a:rPr lang="en-US" altLang="ko-KR">
                <a:ea typeface="굴림" charset="-127"/>
              </a:rPr>
              <a:t>Since either </a:t>
            </a:r>
            <a:r>
              <a:rPr lang="en-US" altLang="ko-KR" b="1">
                <a:solidFill>
                  <a:srgbClr val="333333"/>
                </a:solidFill>
                <a:ea typeface="굴림" charset="-127"/>
              </a:rPr>
              <a:t>A</a:t>
            </a:r>
            <a:r>
              <a:rPr lang="en-US" altLang="ko-KR">
                <a:ea typeface="굴림" charset="-127"/>
              </a:rPr>
              <a:t> or </a:t>
            </a:r>
            <a:r>
              <a:rPr lang="en-US" altLang="ko-KR" b="1">
                <a:solidFill>
                  <a:srgbClr val="333333"/>
                </a:solidFill>
                <a:ea typeface="굴림" charset="-127"/>
              </a:rPr>
              <a:t>A</a:t>
            </a:r>
            <a:r>
              <a:rPr lang="en-US" altLang="ko-KR" b="1" baseline="30000">
                <a:solidFill>
                  <a:srgbClr val="333333"/>
                </a:solidFill>
                <a:ea typeface="굴림" charset="-127"/>
              </a:rPr>
              <a:t>C</a:t>
            </a:r>
            <a:r>
              <a:rPr lang="en-US" altLang="ko-KR" b="1" baseline="30000">
                <a:solidFill>
                  <a:schemeClr val="accent2"/>
                </a:solidFill>
                <a:ea typeface="굴림" charset="-127"/>
              </a:rPr>
              <a:t> </a:t>
            </a:r>
            <a:r>
              <a:rPr lang="en-US" altLang="ko-KR">
                <a:ea typeface="굴림" charset="-127"/>
              </a:rPr>
              <a:t>must occur, </a:t>
            </a:r>
          </a:p>
          <a:p>
            <a:pPr lvl="1" eaLnBrk="1" hangingPunct="1">
              <a:buFontTx/>
              <a:buNone/>
              <a:defRPr/>
            </a:pPr>
            <a:r>
              <a:rPr lang="en-US" altLang="ko-KR" b="1">
                <a:solidFill>
                  <a:schemeClr val="accent2"/>
                </a:solidFill>
                <a:ea typeface="굴림" charset="-127"/>
              </a:rPr>
              <a:t>	</a:t>
            </a:r>
            <a:r>
              <a:rPr lang="en-US" altLang="ko-KR" b="1">
                <a:solidFill>
                  <a:srgbClr val="333333"/>
                </a:solidFill>
                <a:ea typeface="굴림" charset="-127"/>
              </a:rPr>
              <a:t>P(A </a:t>
            </a:r>
            <a:r>
              <a:rPr lang="en-US" altLang="ko-KR" b="1">
                <a:solidFill>
                  <a:srgbClr val="333333"/>
                </a:solidFill>
                <a:latin typeface="Symbol" pitchFamily="18" charset="2"/>
                <a:ea typeface="굴림" charset="-127"/>
              </a:rPr>
              <a:t></a:t>
            </a:r>
            <a:r>
              <a:rPr lang="en-US" altLang="ko-KR" b="1">
                <a:solidFill>
                  <a:srgbClr val="333333"/>
                </a:solidFill>
                <a:ea typeface="굴림" charset="-127"/>
              </a:rPr>
              <a:t>A</a:t>
            </a:r>
            <a:r>
              <a:rPr lang="en-US" altLang="ko-KR" b="1" baseline="30000">
                <a:solidFill>
                  <a:srgbClr val="333333"/>
                </a:solidFill>
                <a:ea typeface="굴림" charset="-127"/>
              </a:rPr>
              <a:t>C</a:t>
            </a:r>
            <a:r>
              <a:rPr lang="en-US" altLang="ko-KR" b="1">
                <a:solidFill>
                  <a:srgbClr val="333333"/>
                </a:solidFill>
                <a:ea typeface="굴림" charset="-127"/>
              </a:rPr>
              <a:t>) =1</a:t>
            </a:r>
            <a:endParaRPr lang="en-US" altLang="ko-KR" sz="2000">
              <a:solidFill>
                <a:srgbClr val="333333"/>
              </a:solidFill>
              <a:ea typeface="굴림" charset="-127"/>
            </a:endParaRPr>
          </a:p>
          <a:p>
            <a:pPr eaLnBrk="1" hangingPunct="1">
              <a:defRPr/>
            </a:pPr>
            <a:r>
              <a:rPr lang="en-US" altLang="ko-KR">
                <a:ea typeface="굴림" charset="-127"/>
              </a:rPr>
              <a:t>so that	</a:t>
            </a:r>
            <a:r>
              <a:rPr lang="en-US" altLang="ko-KR" b="1">
                <a:solidFill>
                  <a:srgbClr val="333333"/>
                </a:solidFill>
                <a:ea typeface="굴림" charset="-127"/>
              </a:rPr>
              <a:t>P(A </a:t>
            </a:r>
            <a:r>
              <a:rPr lang="en-US" altLang="ko-KR" b="1">
                <a:solidFill>
                  <a:srgbClr val="333333"/>
                </a:solidFill>
                <a:latin typeface="Symbol" pitchFamily="18" charset="2"/>
                <a:ea typeface="굴림" charset="-127"/>
              </a:rPr>
              <a:t></a:t>
            </a:r>
            <a:r>
              <a:rPr lang="en-US" altLang="ko-KR" b="1">
                <a:solidFill>
                  <a:srgbClr val="333333"/>
                </a:solidFill>
                <a:ea typeface="굴림" charset="-127"/>
              </a:rPr>
              <a:t>A</a:t>
            </a:r>
            <a:r>
              <a:rPr lang="en-US" altLang="ko-KR" b="1" baseline="30000">
                <a:solidFill>
                  <a:srgbClr val="333333"/>
                </a:solidFill>
                <a:ea typeface="굴림" charset="-127"/>
              </a:rPr>
              <a:t>C</a:t>
            </a:r>
            <a:r>
              <a:rPr lang="en-US" altLang="ko-KR" b="1">
                <a:solidFill>
                  <a:srgbClr val="333333"/>
                </a:solidFill>
                <a:ea typeface="굴림" charset="-127"/>
              </a:rPr>
              <a:t>) = P(A)+ P(A</a:t>
            </a:r>
            <a:r>
              <a:rPr lang="en-US" altLang="ko-KR" b="1" baseline="30000">
                <a:solidFill>
                  <a:srgbClr val="333333"/>
                </a:solidFill>
                <a:ea typeface="굴림" charset="-127"/>
              </a:rPr>
              <a:t>C</a:t>
            </a:r>
            <a:r>
              <a:rPr lang="en-US" altLang="ko-KR" b="1">
                <a:solidFill>
                  <a:srgbClr val="333333"/>
                </a:solidFill>
                <a:ea typeface="굴림" charset="-127"/>
              </a:rPr>
              <a:t>) = 1</a:t>
            </a:r>
            <a:endParaRPr lang="en-US" altLang="ko-KR" b="1">
              <a:solidFill>
                <a:schemeClr val="hlink"/>
              </a:solidFill>
              <a:ea typeface="굴림" charset="-127"/>
            </a:endParaRPr>
          </a:p>
        </p:txBody>
      </p:sp>
      <p:sp>
        <p:nvSpPr>
          <p:cNvPr id="97284" name="Text Box 4">
            <a:extLst>
              <a:ext uri="{FF2B5EF4-FFF2-40B4-BE49-F238E27FC236}">
                <a16:creationId xmlns:a16="http://schemas.microsoft.com/office/drawing/2014/main" id="{F1EE9BAB-3BBC-BA9A-2D98-25A79AC2C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105401"/>
            <a:ext cx="4343400" cy="66992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3600" b="1">
                <a:solidFill>
                  <a:srgbClr val="333333"/>
                </a:solidFill>
                <a:ea typeface="굴림" panose="020B0600000101010101" pitchFamily="34" charset="-127"/>
              </a:rPr>
              <a:t>P(A</a:t>
            </a:r>
            <a:r>
              <a:rPr lang="en-US" altLang="ko-KR" sz="3600" b="1" baseline="30000">
                <a:solidFill>
                  <a:srgbClr val="333333"/>
                </a:solidFill>
                <a:ea typeface="굴림" panose="020B0600000101010101" pitchFamily="34" charset="-127"/>
              </a:rPr>
              <a:t>C</a:t>
            </a:r>
            <a:r>
              <a:rPr lang="en-US" altLang="ko-KR" sz="3600" b="1">
                <a:solidFill>
                  <a:srgbClr val="333333"/>
                </a:solidFill>
                <a:ea typeface="굴림" panose="020B0600000101010101" pitchFamily="34" charset="-127"/>
              </a:rPr>
              <a:t>) = 1 – P(A)</a:t>
            </a:r>
          </a:p>
        </p:txBody>
      </p:sp>
      <p:grpSp>
        <p:nvGrpSpPr>
          <p:cNvPr id="32773" name="Group 13">
            <a:extLst>
              <a:ext uri="{FF2B5EF4-FFF2-40B4-BE49-F238E27FC236}">
                <a16:creationId xmlns:a16="http://schemas.microsoft.com/office/drawing/2014/main" id="{2DFE394A-F278-5451-04E6-98911F136F92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228600"/>
            <a:ext cx="2286000" cy="1371600"/>
            <a:chOff x="4320" y="144"/>
            <a:chExt cx="1440" cy="864"/>
          </a:xfrm>
        </p:grpSpPr>
        <p:grpSp>
          <p:nvGrpSpPr>
            <p:cNvPr id="32775" name="Group 5">
              <a:extLst>
                <a:ext uri="{FF2B5EF4-FFF2-40B4-BE49-F238E27FC236}">
                  <a16:creationId xmlns:a16="http://schemas.microsoft.com/office/drawing/2014/main" id="{B631AB5B-0F73-2AB5-9302-4C011A8F5A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144"/>
              <a:ext cx="1440" cy="864"/>
              <a:chOff x="1488" y="2064"/>
              <a:chExt cx="2688" cy="1632"/>
            </a:xfrm>
          </p:grpSpPr>
          <p:sp>
            <p:nvSpPr>
              <p:cNvPr id="32777" name="Rectangle 6">
                <a:extLst>
                  <a:ext uri="{FF2B5EF4-FFF2-40B4-BE49-F238E27FC236}">
                    <a16:creationId xmlns:a16="http://schemas.microsoft.com/office/drawing/2014/main" id="{BC2F66EE-AF92-8266-9879-B8A63F945C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2064"/>
                <a:ext cx="2688" cy="1632"/>
              </a:xfrm>
              <a:prstGeom prst="rect">
                <a:avLst/>
              </a:prstGeom>
              <a:solidFill>
                <a:srgbClr val="F4ECC6"/>
              </a:solidFill>
              <a:ln w="28575">
                <a:solidFill>
                  <a:srgbClr val="CC0066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32778" name="Group 7">
                <a:extLst>
                  <a:ext uri="{FF2B5EF4-FFF2-40B4-BE49-F238E27FC236}">
                    <a16:creationId xmlns:a16="http://schemas.microsoft.com/office/drawing/2014/main" id="{1AC1010B-ECA8-2DBC-F595-D6C826137C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2496"/>
                <a:ext cx="1104" cy="864"/>
                <a:chOff x="1776" y="2448"/>
                <a:chExt cx="1104" cy="864"/>
              </a:xfrm>
            </p:grpSpPr>
            <p:sp>
              <p:nvSpPr>
                <p:cNvPr id="32780" name="Oval 8">
                  <a:extLst>
                    <a:ext uri="{FF2B5EF4-FFF2-40B4-BE49-F238E27FC236}">
                      <a16:creationId xmlns:a16="http://schemas.microsoft.com/office/drawing/2014/main" id="{D88453CA-D937-0C50-6489-A500749873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6" y="2448"/>
                  <a:ext cx="1104" cy="864"/>
                </a:xfrm>
                <a:prstGeom prst="ellipse">
                  <a:avLst/>
                </a:prstGeom>
                <a:solidFill>
                  <a:srgbClr val="339933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32781" name="Text Box 9">
                  <a:extLst>
                    <a:ext uri="{FF2B5EF4-FFF2-40B4-BE49-F238E27FC236}">
                      <a16:creationId xmlns:a16="http://schemas.microsoft.com/office/drawing/2014/main" id="{F269654C-BB1F-393A-8BBB-F0C9C4E0FB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7" y="2736"/>
                  <a:ext cx="238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ko-KR" b="1">
                      <a:solidFill>
                        <a:srgbClr val="333333"/>
                      </a:solidFill>
                      <a:ea typeface="굴림" panose="020B0600000101010101" pitchFamily="34" charset="-127"/>
                    </a:rPr>
                    <a:t>A</a:t>
                  </a:r>
                </a:p>
              </p:txBody>
            </p:sp>
          </p:grpSp>
          <p:sp>
            <p:nvSpPr>
              <p:cNvPr id="32779" name="Text Box 10">
                <a:extLst>
                  <a:ext uri="{FF2B5EF4-FFF2-40B4-BE49-F238E27FC236}">
                    <a16:creationId xmlns:a16="http://schemas.microsoft.com/office/drawing/2014/main" id="{073C7EF9-B935-8576-5021-8A177FAAE9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8" y="2714"/>
                <a:ext cx="217" cy="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/>
                <a:endParaRPr lang="ko-KR" altLang="en-US">
                  <a:ea typeface="굴림" panose="020B0600000101010101" pitchFamily="34" charset="-127"/>
                </a:endParaRPr>
              </a:p>
            </p:txBody>
          </p:sp>
        </p:grpSp>
        <p:sp>
          <p:nvSpPr>
            <p:cNvPr id="32776" name="Text Box 11">
              <a:extLst>
                <a:ext uri="{FF2B5EF4-FFF2-40B4-BE49-F238E27FC236}">
                  <a16:creationId xmlns:a16="http://schemas.microsoft.com/office/drawing/2014/main" id="{2065AB1D-CFFF-6839-CB8F-57447519EF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4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b="1">
                  <a:ea typeface="굴림" panose="020B0600000101010101" pitchFamily="34" charset="-127"/>
                </a:rPr>
                <a:t>A</a:t>
              </a:r>
              <a:r>
                <a:rPr lang="en-US" altLang="ko-KR" b="1" baseline="30000">
                  <a:ea typeface="굴림" panose="020B0600000101010101" pitchFamily="34" charset="-127"/>
                </a:rPr>
                <a:t>C</a:t>
              </a:r>
              <a:endParaRPr lang="en-US" altLang="ko-KR" b="1">
                <a:ea typeface="굴림" panose="020B0600000101010101" pitchFamily="34" charset="-127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build="p" autoUpdateAnimBg="0"/>
      <p:bldP spid="97284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EDA4C038-6EAA-49AE-5305-20B9F84044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82685" y="350836"/>
            <a:ext cx="7010400" cy="808038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Example</a:t>
            </a:r>
          </a:p>
        </p:txBody>
      </p:sp>
      <p:graphicFrame>
        <p:nvGraphicFramePr>
          <p:cNvPr id="107527" name="Group 7">
            <a:extLst>
              <a:ext uri="{FF2B5EF4-FFF2-40B4-BE49-F238E27FC236}">
                <a16:creationId xmlns:a16="http://schemas.microsoft.com/office/drawing/2014/main" id="{E2F79501-0795-A108-00C9-E7E2A5D8B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069731"/>
              </p:ext>
            </p:extLst>
          </p:nvPr>
        </p:nvGraphicFramePr>
        <p:xfrm>
          <a:off x="6248400" y="2894014"/>
          <a:ext cx="4384993" cy="1894523"/>
        </p:xfrm>
        <a:graphic>
          <a:graphicData uri="http://schemas.openxmlformats.org/drawingml/2006/table">
            <a:tbl>
              <a:tblPr/>
              <a:tblGrid>
                <a:gridCol w="118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latin typeface="Times New Roman" pitchFamily="18" charset="0"/>
                        <a:ea typeface="굴림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Javanese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Not Javanese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Male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Female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EC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Times New Roman" pitchFamily="18" charset="0"/>
                          <a:ea typeface="굴림" charset="-127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C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7545" name="Text Box 25">
            <a:extLst>
              <a:ext uri="{FF2B5EF4-FFF2-40B4-BE49-F238E27FC236}">
                <a16:creationId xmlns:a16="http://schemas.microsoft.com/office/drawing/2014/main" id="{C9ADB15A-3586-F235-2900-A3187E9BB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895600"/>
            <a:ext cx="4267200" cy="1449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ko-KR" sz="3500" b="1">
                <a:solidFill>
                  <a:srgbClr val="CC0066"/>
                </a:solidFill>
                <a:ea typeface="굴림" panose="020B0600000101010101" pitchFamily="34" charset="-127"/>
              </a:rPr>
              <a:t>A:</a:t>
            </a:r>
            <a:r>
              <a:rPr lang="en-US" altLang="ko-KR" sz="3500" b="1">
                <a:solidFill>
                  <a:schemeClr val="accent2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500">
                <a:solidFill>
                  <a:srgbClr val="339933"/>
                </a:solidFill>
                <a:ea typeface="굴림" panose="020B0600000101010101" pitchFamily="34" charset="-127"/>
              </a:rPr>
              <a:t>male </a:t>
            </a: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</a:rPr>
              <a:t>	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</a:rPr>
              <a:t>	P(A) = 60/120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3500" b="1">
                <a:solidFill>
                  <a:srgbClr val="CC0066"/>
                </a:solidFill>
                <a:ea typeface="굴림" panose="020B0600000101010101" pitchFamily="34" charset="-127"/>
              </a:rPr>
              <a:t>B:</a:t>
            </a:r>
            <a:r>
              <a:rPr lang="en-US" altLang="ko-KR" sz="3500" b="1">
                <a:solidFill>
                  <a:schemeClr val="accent2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500">
                <a:solidFill>
                  <a:srgbClr val="339933"/>
                </a:solidFill>
                <a:ea typeface="굴림" panose="020B0600000101010101" pitchFamily="34" charset="-127"/>
              </a:rPr>
              <a:t>female</a:t>
            </a: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</a:rPr>
              <a:t>	</a:t>
            </a:r>
          </a:p>
        </p:txBody>
      </p:sp>
      <p:sp>
        <p:nvSpPr>
          <p:cNvPr id="107546" name="Text Box 26">
            <a:extLst>
              <a:ext uri="{FF2B5EF4-FFF2-40B4-BE49-F238E27FC236}">
                <a16:creationId xmlns:a16="http://schemas.microsoft.com/office/drawing/2014/main" id="{139A3C83-8F80-812F-8ABD-F87F6844F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876801"/>
            <a:ext cx="4191000" cy="94297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</a:rPr>
              <a:t>P(B</a:t>
            </a:r>
            <a:r>
              <a:rPr lang="en-US" altLang="ko-KR" sz="3200">
                <a:solidFill>
                  <a:srgbClr val="CC006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 = 1- P(A)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= 1- 60/120 = 60/120</a:t>
            </a:r>
            <a:endParaRPr lang="en-US" altLang="ko-KR">
              <a:ea typeface="굴림" panose="020B0600000101010101" pitchFamily="34" charset="-127"/>
            </a:endParaRPr>
          </a:p>
        </p:txBody>
      </p:sp>
      <p:grpSp>
        <p:nvGrpSpPr>
          <p:cNvPr id="107547" name="Group 27">
            <a:extLst>
              <a:ext uri="{FF2B5EF4-FFF2-40B4-BE49-F238E27FC236}">
                <a16:creationId xmlns:a16="http://schemas.microsoft.com/office/drawing/2014/main" id="{3057A8B3-BEAE-06FE-61F7-99B0C93E8DAE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724401"/>
            <a:ext cx="4114800" cy="974725"/>
            <a:chOff x="192" y="3120"/>
            <a:chExt cx="2592" cy="614"/>
          </a:xfrm>
        </p:grpSpPr>
        <p:sp>
          <p:nvSpPr>
            <p:cNvPr id="33821" name="Text Box 28">
              <a:extLst>
                <a:ext uri="{FF2B5EF4-FFF2-40B4-BE49-F238E27FC236}">
                  <a16:creationId xmlns:a16="http://schemas.microsoft.com/office/drawing/2014/main" id="{CAF07018-9A24-A7C7-96ED-295F8723DE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120"/>
              <a:ext cx="2256" cy="614"/>
            </a:xfrm>
            <a:prstGeom prst="rect">
              <a:avLst/>
            </a:prstGeom>
            <a:solidFill>
              <a:srgbClr val="CC0066"/>
            </a:solidFill>
            <a:ln w="28575">
              <a:solidFill>
                <a:srgbClr val="F4ECC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2800">
                  <a:solidFill>
                    <a:srgbClr val="F4ECC6"/>
                  </a:solidFill>
                  <a:ea typeface="굴림" panose="020B0600000101010101" pitchFamily="34" charset="-127"/>
                </a:rPr>
                <a:t>A and B are complementary, so that</a:t>
              </a:r>
            </a:p>
          </p:txBody>
        </p:sp>
        <p:sp>
          <p:nvSpPr>
            <p:cNvPr id="33822" name="Line 29">
              <a:extLst>
                <a:ext uri="{FF2B5EF4-FFF2-40B4-BE49-F238E27FC236}">
                  <a16:creationId xmlns:a16="http://schemas.microsoft.com/office/drawing/2014/main" id="{D1CC2C87-0FEC-D652-4577-C546CBB390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408"/>
              <a:ext cx="336" cy="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33816" name="Text Box 30">
            <a:extLst>
              <a:ext uri="{FF2B5EF4-FFF2-40B4-BE49-F238E27FC236}">
                <a16:creationId xmlns:a16="http://schemas.microsoft.com/office/drawing/2014/main" id="{0F656FD6-D448-E23D-ED01-3DA38C345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447801"/>
            <a:ext cx="60198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3600">
                <a:solidFill>
                  <a:srgbClr val="339933"/>
                </a:solidFill>
                <a:ea typeface="굴림" panose="020B0600000101010101" pitchFamily="34" charset="-127"/>
              </a:rPr>
              <a:t>Select a student at random from the classroom. Define:</a:t>
            </a:r>
          </a:p>
        </p:txBody>
      </p:sp>
      <p:grpSp>
        <p:nvGrpSpPr>
          <p:cNvPr id="33818" name="Group 32">
            <a:extLst>
              <a:ext uri="{FF2B5EF4-FFF2-40B4-BE49-F238E27FC236}">
                <a16:creationId xmlns:a16="http://schemas.microsoft.com/office/drawing/2014/main" id="{D0D4EB2F-0FEC-D024-E973-A2739AE2F6DA}"/>
              </a:ext>
            </a:extLst>
          </p:cNvPr>
          <p:cNvGrpSpPr>
            <a:grpSpLocks/>
          </p:cNvGrpSpPr>
          <p:nvPr/>
        </p:nvGrpSpPr>
        <p:grpSpPr bwMode="auto">
          <a:xfrm>
            <a:off x="10134600" y="0"/>
            <a:ext cx="1981200" cy="1828800"/>
            <a:chOff x="4368" y="48"/>
            <a:chExt cx="1344" cy="1296"/>
          </a:xfrm>
        </p:grpSpPr>
        <p:sp>
          <p:nvSpPr>
            <p:cNvPr id="33819" name="Rectangle 33">
              <a:extLst>
                <a:ext uri="{FF2B5EF4-FFF2-40B4-BE49-F238E27FC236}">
                  <a16:creationId xmlns:a16="http://schemas.microsoft.com/office/drawing/2014/main" id="{8066D3C5-2010-4FB2-8A3B-0E95F4C2D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48"/>
              <a:ext cx="1344" cy="1296"/>
            </a:xfrm>
            <a:prstGeom prst="rect">
              <a:avLst/>
            </a:prstGeom>
            <a:solidFill>
              <a:srgbClr val="F4ECC6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33820" name="Picture 34" descr="students">
              <a:extLst>
                <a:ext uri="{FF2B5EF4-FFF2-40B4-BE49-F238E27FC236}">
                  <a16:creationId xmlns:a16="http://schemas.microsoft.com/office/drawing/2014/main" id="{BD42EF7F-BA8A-434E-5D4A-DC68BEE377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144"/>
              <a:ext cx="1152" cy="1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7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45" grpId="0" autoUpdateAnimBg="0"/>
      <p:bldP spid="107546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0ED13250-F693-09E5-6E2B-D98772902B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4201" y="275897"/>
            <a:ext cx="7543800" cy="93345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 fontScale="90000"/>
          </a:bodyPr>
          <a:lstStyle/>
          <a:p>
            <a:pPr algn="l" eaLnBrk="1" hangingPunct="1">
              <a:defRPr/>
            </a:pPr>
            <a:r>
              <a:rPr lang="en-US" altLang="ko-KR" sz="4400" dirty="0">
                <a:ea typeface="굴림" charset="-127"/>
              </a:rPr>
              <a:t>Calculating Probabilities for Intersections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C5002FAD-9151-1694-EF96-451D7308C9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3095" y="1566042"/>
            <a:ext cx="10820232" cy="2028494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ko-KR" sz="3200" dirty="0">
                <a:ea typeface="굴림" charset="-127"/>
              </a:rPr>
              <a:t>In the previous example, we found P(A </a:t>
            </a:r>
            <a:r>
              <a:rPr lang="en-US" altLang="ko-KR" sz="3200" dirty="0">
                <a:ea typeface="굴림" charset="-127"/>
                <a:sym typeface="Symbol" pitchFamily="18" charset="2"/>
              </a:rPr>
              <a:t> B) directly from the table. Sometimes this is impractical or impossible. The rule for calculating </a:t>
            </a:r>
            <a:r>
              <a:rPr lang="en-US" altLang="ko-KR" sz="3200" dirty="0">
                <a:ea typeface="굴림" charset="-127"/>
              </a:rPr>
              <a:t>P(A </a:t>
            </a:r>
            <a:r>
              <a:rPr lang="en-US" altLang="ko-KR" sz="3200" dirty="0">
                <a:ea typeface="굴림" charset="-127"/>
                <a:sym typeface="Symbol" pitchFamily="18" charset="2"/>
              </a:rPr>
              <a:t> B) depends on the idea of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independent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 and </a:t>
            </a:r>
            <a:r>
              <a:rPr lang="en-US" altLang="ko-KR" sz="32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dependent events</a:t>
            </a:r>
            <a:r>
              <a:rPr lang="en-US" altLang="ko-KR" sz="320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.</a:t>
            </a:r>
            <a:endParaRPr lang="en-US" altLang="ko-KR" sz="3200" dirty="0">
              <a:ea typeface="굴림" charset="-127"/>
            </a:endParaRPr>
          </a:p>
        </p:txBody>
      </p:sp>
      <p:sp>
        <p:nvSpPr>
          <p:cNvPr id="117764" name="Text Box 4">
            <a:extLst>
              <a:ext uri="{FF2B5EF4-FFF2-40B4-BE49-F238E27FC236}">
                <a16:creationId xmlns:a16="http://schemas.microsoft.com/office/drawing/2014/main" id="{0B035071-9EF3-940F-BAAD-6D677CC6B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810001"/>
            <a:ext cx="8077200" cy="2589213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Two events, </a:t>
            </a:r>
            <a:r>
              <a:rPr lang="en-US" altLang="ko-KR" sz="3600" b="1" dirty="0">
                <a:solidFill>
                  <a:schemeClr val="accent2">
                    <a:lumMod val="75000"/>
                  </a:schemeClr>
                </a:solidFill>
                <a:ea typeface="굴림" charset="-127"/>
              </a:rPr>
              <a:t>A</a:t>
            </a: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 and </a:t>
            </a:r>
            <a:r>
              <a:rPr lang="en-US" altLang="ko-KR" sz="3600" b="1" dirty="0">
                <a:solidFill>
                  <a:schemeClr val="accent2">
                    <a:lumMod val="75000"/>
                  </a:schemeClr>
                </a:solidFill>
                <a:ea typeface="굴림" charset="-127"/>
              </a:rPr>
              <a:t>B</a:t>
            </a: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, are said to be </a:t>
            </a:r>
            <a:r>
              <a:rPr lang="en-US" altLang="ko-KR" sz="3600" b="1" dirty="0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charset="-127"/>
              </a:rPr>
              <a:t>independent</a:t>
            </a: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 if and only if the probability that event </a:t>
            </a:r>
            <a:r>
              <a:rPr lang="en-US" altLang="ko-KR" sz="3600" b="1" dirty="0">
                <a:solidFill>
                  <a:schemeClr val="accent2">
                    <a:lumMod val="75000"/>
                  </a:schemeClr>
                </a:solidFill>
                <a:ea typeface="굴림" charset="-127"/>
              </a:rPr>
              <a:t>A</a:t>
            </a: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 occurs does not change, depending on whether or not event </a:t>
            </a:r>
            <a:r>
              <a:rPr lang="en-US" altLang="ko-KR" sz="3600" b="1" dirty="0">
                <a:solidFill>
                  <a:schemeClr val="accent2">
                    <a:lumMod val="75000"/>
                  </a:schemeClr>
                </a:solidFill>
                <a:ea typeface="굴림" charset="-127"/>
              </a:rPr>
              <a:t>B</a:t>
            </a:r>
            <a:r>
              <a:rPr lang="en-US" altLang="ko-KR" sz="3600" dirty="0">
                <a:solidFill>
                  <a:srgbClr val="339933"/>
                </a:solidFill>
                <a:ea typeface="굴림" charset="-127"/>
              </a:rPr>
              <a:t> has occurred.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4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F9F6-3445-B445-8B3E-9E13A7C54E7F}"/>
              </a:ext>
            </a:extLst>
          </p:cNvPr>
          <p:cNvSpPr txBox="1">
            <a:spLocks/>
          </p:cNvSpPr>
          <p:nvPr/>
        </p:nvSpPr>
        <p:spPr>
          <a:xfrm>
            <a:off x="1785103" y="2774502"/>
            <a:ext cx="9116152" cy="79208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Conditional Probability</a:t>
            </a:r>
          </a:p>
        </p:txBody>
      </p:sp>
    </p:spTree>
    <p:extLst>
      <p:ext uri="{BB962C8B-B14F-4D97-AF65-F5344CB8AC3E}">
        <p14:creationId xmlns:p14="http://schemas.microsoft.com/office/powerpoint/2010/main" val="13183538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FE0BA4-72E4-C779-6E42-6D7AC1DC4A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0"/>
            <a:ext cx="7391400" cy="11430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algn="ctr" eaLnBrk="1" hangingPunct="1">
              <a:defRPr/>
            </a:pPr>
            <a:r>
              <a:rPr lang="en-US" altLang="ko-KR" sz="4000" dirty="0">
                <a:ea typeface="굴림" charset="-127"/>
              </a:rPr>
              <a:t>Conditional Probabilities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1DFCAA7-4803-9D6D-7382-3E8340F27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98494" y="1402978"/>
            <a:ext cx="10255624" cy="23622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ko-KR" sz="3600" dirty="0">
                <a:ea typeface="굴림" charset="-127"/>
              </a:rPr>
              <a:t>The probability that A occurs, given that event B has occurred is called the </a:t>
            </a:r>
            <a:r>
              <a:rPr lang="en-US" altLang="ko-KR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conditional probability</a:t>
            </a:r>
            <a:r>
              <a:rPr lang="en-US" altLang="ko-KR" sz="3600" dirty="0">
                <a:solidFill>
                  <a:srgbClr val="333333"/>
                </a:solidFill>
                <a:ea typeface="굴림" charset="-127"/>
              </a:rPr>
              <a:t> </a:t>
            </a:r>
            <a:r>
              <a:rPr lang="en-US" altLang="ko-KR" sz="3600" dirty="0">
                <a:ea typeface="굴림" charset="-127"/>
              </a:rPr>
              <a:t>of A given B and is defined as </a:t>
            </a:r>
          </a:p>
        </p:txBody>
      </p:sp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99340268-949C-34A7-E7E4-468BDA848F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778101"/>
              </p:ext>
            </p:extLst>
          </p:nvPr>
        </p:nvGraphicFramePr>
        <p:xfrm>
          <a:off x="3124200" y="3747248"/>
          <a:ext cx="5194300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6600" imgH="419100" progId="Equation.3">
                  <p:embed/>
                </p:oleObj>
              </mc:Choice>
              <mc:Fallback>
                <p:oleObj name="Equation" r:id="rId2" imgW="2006600" imgH="419100" progId="Equation.3">
                  <p:embed/>
                  <p:pic>
                    <p:nvPicPr>
                      <p:cNvPr id="35844" name="Object 4">
                        <a:extLst>
                          <a:ext uri="{FF2B5EF4-FFF2-40B4-BE49-F238E27FC236}">
                            <a16:creationId xmlns:a16="http://schemas.microsoft.com/office/drawing/2014/main" id="{99340268-949C-34A7-E7E4-468BDA848F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747248"/>
                        <a:ext cx="5194300" cy="1084263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9816" name="Group 8">
            <a:extLst>
              <a:ext uri="{FF2B5EF4-FFF2-40B4-BE49-F238E27FC236}">
                <a16:creationId xmlns:a16="http://schemas.microsoft.com/office/drawing/2014/main" id="{9EB45A59-3855-55E6-D277-3C6A4E07A209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4433048"/>
            <a:ext cx="1676400" cy="1522413"/>
            <a:chOff x="1536" y="2736"/>
            <a:chExt cx="1056" cy="959"/>
          </a:xfrm>
        </p:grpSpPr>
        <p:sp>
          <p:nvSpPr>
            <p:cNvPr id="35847" name="Text Box 5">
              <a:extLst>
                <a:ext uri="{FF2B5EF4-FFF2-40B4-BE49-F238E27FC236}">
                  <a16:creationId xmlns:a16="http://schemas.microsoft.com/office/drawing/2014/main" id="{9EB9C71F-2A33-A654-6BD5-59077D232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312"/>
              <a:ext cx="960" cy="383"/>
            </a:xfrm>
            <a:prstGeom prst="rect">
              <a:avLst/>
            </a:prstGeom>
            <a:solidFill>
              <a:srgbClr val="CC0066"/>
            </a:solidFill>
            <a:ln w="28575">
              <a:solidFill>
                <a:srgbClr val="F4ECC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ko-KR" altLang="en-US" sz="3200">
                  <a:solidFill>
                    <a:srgbClr val="F4ECC6"/>
                  </a:solidFill>
                  <a:ea typeface="굴림" panose="020B0600000101010101" pitchFamily="34" charset="-127"/>
                </a:rPr>
                <a:t>“</a:t>
              </a:r>
              <a:r>
                <a:rPr lang="en-US" altLang="ko-KR" sz="3200">
                  <a:solidFill>
                    <a:srgbClr val="F4ECC6"/>
                  </a:solidFill>
                  <a:ea typeface="굴림" panose="020B0600000101010101" pitchFamily="34" charset="-127"/>
                </a:rPr>
                <a:t>given”</a:t>
              </a:r>
            </a:p>
          </p:txBody>
        </p:sp>
        <p:sp>
          <p:nvSpPr>
            <p:cNvPr id="35848" name="Freeform 7">
              <a:extLst>
                <a:ext uri="{FF2B5EF4-FFF2-40B4-BE49-F238E27FC236}">
                  <a16:creationId xmlns:a16="http://schemas.microsoft.com/office/drawing/2014/main" id="{93F11CB1-0764-62F0-AD9D-8DE4CF504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2736"/>
              <a:ext cx="632" cy="576"/>
            </a:xfrm>
            <a:custGeom>
              <a:avLst/>
              <a:gdLst>
                <a:gd name="T0" fmla="*/ 0 w 632"/>
                <a:gd name="T1" fmla="*/ 0 h 528"/>
                <a:gd name="T2" fmla="*/ 528 w 632"/>
                <a:gd name="T3" fmla="*/ 314 h 528"/>
                <a:gd name="T4" fmla="*/ 624 w 632"/>
                <a:gd name="T5" fmla="*/ 576 h 5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2" h="528">
                  <a:moveTo>
                    <a:pt x="0" y="0"/>
                  </a:moveTo>
                  <a:cubicBezTo>
                    <a:pt x="212" y="100"/>
                    <a:pt x="424" y="200"/>
                    <a:pt x="528" y="288"/>
                  </a:cubicBezTo>
                  <a:cubicBezTo>
                    <a:pt x="632" y="376"/>
                    <a:pt x="628" y="452"/>
                    <a:pt x="624" y="528"/>
                  </a:cubicBezTo>
                </a:path>
              </a:pathLst>
            </a:custGeom>
            <a:noFill/>
            <a:ln w="28575" cmpd="sng">
              <a:solidFill>
                <a:srgbClr val="CC0066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67EA3774-A6B4-D635-E9F1-66E8ADFD0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8741" y="145676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ea typeface="굴림" charset="-127"/>
              </a:rPr>
              <a:t>Example 1</a:t>
            </a: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3B70501B-2747-52D8-D9D7-D06000660F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95599" y="1219200"/>
            <a:ext cx="6893859" cy="1524000"/>
          </a:xfrm>
          <a:noFill/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ko-KR" sz="3200" dirty="0">
                <a:ea typeface="굴림" panose="020B0600000101010101" pitchFamily="34" charset="-127"/>
              </a:rPr>
              <a:t>Toss a fair coin twice. Define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A: head on second toss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B: head on first toss</a:t>
            </a:r>
          </a:p>
        </p:txBody>
      </p:sp>
      <p:grpSp>
        <p:nvGrpSpPr>
          <p:cNvPr id="36869" name="Group 5">
            <a:extLst>
              <a:ext uri="{FF2B5EF4-FFF2-40B4-BE49-F238E27FC236}">
                <a16:creationId xmlns:a16="http://schemas.microsoft.com/office/drawing/2014/main" id="{5A549A43-B503-254B-1B13-AE66448BE131}"/>
              </a:ext>
            </a:extLst>
          </p:cNvPr>
          <p:cNvGrpSpPr>
            <a:grpSpLocks/>
          </p:cNvGrpSpPr>
          <p:nvPr/>
        </p:nvGrpSpPr>
        <p:grpSpPr bwMode="auto">
          <a:xfrm>
            <a:off x="10366375" y="31376"/>
            <a:ext cx="1752600" cy="1524000"/>
            <a:chOff x="4512" y="144"/>
            <a:chExt cx="1104" cy="960"/>
          </a:xfrm>
        </p:grpSpPr>
        <p:sp>
          <p:nvSpPr>
            <p:cNvPr id="36880" name="Rectangle 6">
              <a:extLst>
                <a:ext uri="{FF2B5EF4-FFF2-40B4-BE49-F238E27FC236}">
                  <a16:creationId xmlns:a16="http://schemas.microsoft.com/office/drawing/2014/main" id="{E40B162C-7768-6E00-E61D-448B0CFFE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44"/>
              <a:ext cx="1104" cy="960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36881" name="Picture 7" descr="coins">
              <a:extLst>
                <a:ext uri="{FF2B5EF4-FFF2-40B4-BE49-F238E27FC236}">
                  <a16:creationId xmlns:a16="http://schemas.microsoft.com/office/drawing/2014/main" id="{7C9CD665-5763-EFF2-238E-4F2A199BAF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0" y="204"/>
              <a:ext cx="1010" cy="8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1880" name="Text Box 24">
            <a:extLst>
              <a:ext uri="{FF2B5EF4-FFF2-40B4-BE49-F238E27FC236}">
                <a16:creationId xmlns:a16="http://schemas.microsoft.com/office/drawing/2014/main" id="{F0233186-EBAB-A711-518F-628475018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038601"/>
            <a:ext cx="685800" cy="46166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b="1">
                <a:solidFill>
                  <a:srgbClr val="333333"/>
                </a:solidFill>
                <a:ea typeface="굴림" panose="020B0600000101010101" pitchFamily="34" charset="-127"/>
              </a:rPr>
              <a:t>HT</a:t>
            </a:r>
          </a:p>
        </p:txBody>
      </p:sp>
      <p:sp>
        <p:nvSpPr>
          <p:cNvPr id="121881" name="Text Box 25">
            <a:extLst>
              <a:ext uri="{FF2B5EF4-FFF2-40B4-BE49-F238E27FC236}">
                <a16:creationId xmlns:a16="http://schemas.microsoft.com/office/drawing/2014/main" id="{9FB4612D-A78F-3FE7-68E0-0C78ECB59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724401"/>
            <a:ext cx="685800" cy="46166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b="1">
                <a:solidFill>
                  <a:srgbClr val="333333"/>
                </a:solidFill>
                <a:ea typeface="굴림" panose="020B0600000101010101" pitchFamily="34" charset="-127"/>
              </a:rPr>
              <a:t>TH</a:t>
            </a:r>
          </a:p>
        </p:txBody>
      </p:sp>
      <p:sp>
        <p:nvSpPr>
          <p:cNvPr id="121882" name="Text Box 26">
            <a:extLst>
              <a:ext uri="{FF2B5EF4-FFF2-40B4-BE49-F238E27FC236}">
                <a16:creationId xmlns:a16="http://schemas.microsoft.com/office/drawing/2014/main" id="{09371776-CED3-811F-434D-6CD62BF0C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334001"/>
            <a:ext cx="685800" cy="46166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b="1">
                <a:solidFill>
                  <a:srgbClr val="333333"/>
                </a:solidFill>
                <a:ea typeface="굴림" panose="020B0600000101010101" pitchFamily="34" charset="-127"/>
              </a:rPr>
              <a:t>TT</a:t>
            </a:r>
          </a:p>
        </p:txBody>
      </p:sp>
      <p:sp>
        <p:nvSpPr>
          <p:cNvPr id="121883" name="Text Box 27">
            <a:extLst>
              <a:ext uri="{FF2B5EF4-FFF2-40B4-BE49-F238E27FC236}">
                <a16:creationId xmlns:a16="http://schemas.microsoft.com/office/drawing/2014/main" id="{D0362097-AB8A-4D92-3BAF-A0FFA504E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505200"/>
            <a:ext cx="7620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1/4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1/4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1/4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339933"/>
                </a:solidFill>
                <a:ea typeface="굴림" panose="020B0600000101010101" pitchFamily="34" charset="-127"/>
              </a:rPr>
              <a:t>1/4</a:t>
            </a:r>
            <a:endParaRPr lang="en-US" altLang="ko-KR">
              <a:ea typeface="굴림" panose="020B0600000101010101" pitchFamily="34" charset="-127"/>
            </a:endParaRPr>
          </a:p>
        </p:txBody>
      </p:sp>
      <p:sp>
        <p:nvSpPr>
          <p:cNvPr id="121884" name="Text Box 28">
            <a:extLst>
              <a:ext uri="{FF2B5EF4-FFF2-40B4-BE49-F238E27FC236}">
                <a16:creationId xmlns:a16="http://schemas.microsoft.com/office/drawing/2014/main" id="{B78C4D68-68C4-0CEE-6363-D09C1F00B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819400"/>
            <a:ext cx="2667000" cy="1189038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333333"/>
                </a:solidFill>
                <a:ea typeface="굴림" panose="020B0600000101010101" pitchFamily="34" charset="-127"/>
              </a:rPr>
              <a:t>P(A|B) = ½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333333"/>
                </a:solidFill>
                <a:ea typeface="굴림" panose="020B0600000101010101" pitchFamily="34" charset="-127"/>
              </a:rPr>
              <a:t>P(A|not B) = ½ </a:t>
            </a:r>
          </a:p>
        </p:txBody>
      </p:sp>
      <p:sp>
        <p:nvSpPr>
          <p:cNvPr id="121885" name="Text Box 29">
            <a:extLst>
              <a:ext uri="{FF2B5EF4-FFF2-40B4-BE49-F238E27FC236}">
                <a16:creationId xmlns:a16="http://schemas.microsoft.com/office/drawing/2014/main" id="{8971ACC4-43DD-958A-6151-1F88C2290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352801"/>
            <a:ext cx="762000" cy="46166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b="1">
                <a:solidFill>
                  <a:srgbClr val="333333"/>
                </a:solidFill>
                <a:ea typeface="굴림" panose="020B0600000101010101" pitchFamily="34" charset="-127"/>
              </a:rPr>
              <a:t>HH</a:t>
            </a:r>
          </a:p>
        </p:txBody>
      </p:sp>
      <p:sp>
        <p:nvSpPr>
          <p:cNvPr id="121886" name="Text Box 30">
            <a:extLst>
              <a:ext uri="{FF2B5EF4-FFF2-40B4-BE49-F238E27FC236}">
                <a16:creationId xmlns:a16="http://schemas.microsoft.com/office/drawing/2014/main" id="{594178E1-54DB-02B8-0752-8A805A0AF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343400"/>
            <a:ext cx="2743200" cy="1828800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F4ECC6"/>
                </a:solidFill>
                <a:ea typeface="굴림" panose="020B0600000101010101" pitchFamily="34" charset="-127"/>
              </a:rPr>
              <a:t>P(A) does not change, whether B happens or not…</a:t>
            </a:r>
          </a:p>
        </p:txBody>
      </p:sp>
      <p:grpSp>
        <p:nvGrpSpPr>
          <p:cNvPr id="121889" name="Group 33">
            <a:extLst>
              <a:ext uri="{FF2B5EF4-FFF2-40B4-BE49-F238E27FC236}">
                <a16:creationId xmlns:a16="http://schemas.microsoft.com/office/drawing/2014/main" id="{8EAADA29-5897-03D6-70F1-BCC6D154DD16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4495801"/>
            <a:ext cx="2819400" cy="974725"/>
            <a:chOff x="3552" y="3072"/>
            <a:chExt cx="1776" cy="614"/>
          </a:xfrm>
        </p:grpSpPr>
        <p:sp>
          <p:nvSpPr>
            <p:cNvPr id="36878" name="Text Box 31">
              <a:extLst>
                <a:ext uri="{FF2B5EF4-FFF2-40B4-BE49-F238E27FC236}">
                  <a16:creationId xmlns:a16="http://schemas.microsoft.com/office/drawing/2014/main" id="{A697FC9D-A266-0234-64F0-F0A9FC664B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072"/>
              <a:ext cx="1392" cy="614"/>
            </a:xfrm>
            <a:prstGeom prst="rect">
              <a:avLst/>
            </a:prstGeom>
            <a:solidFill>
              <a:srgbClr val="CC0066"/>
            </a:solidFill>
            <a:ln w="28575">
              <a:solidFill>
                <a:srgbClr val="F4ECC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2800">
                  <a:solidFill>
                    <a:srgbClr val="F4ECC6"/>
                  </a:solidFill>
                  <a:ea typeface="굴림" panose="020B0600000101010101" pitchFamily="34" charset="-127"/>
                </a:rPr>
                <a:t>A and B are independent!</a:t>
              </a:r>
            </a:p>
          </p:txBody>
        </p:sp>
        <p:sp>
          <p:nvSpPr>
            <p:cNvPr id="36879" name="Line 32">
              <a:extLst>
                <a:ext uri="{FF2B5EF4-FFF2-40B4-BE49-F238E27FC236}">
                  <a16:creationId xmlns:a16="http://schemas.microsoft.com/office/drawing/2014/main" id="{EB72327B-F3D8-ECF3-0753-603C2F22F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408"/>
              <a:ext cx="384" cy="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1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1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1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188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1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21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21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1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80" grpId="0" animBg="1" autoUpdateAnimBg="0"/>
      <p:bldP spid="121881" grpId="0" animBg="1" autoUpdateAnimBg="0"/>
      <p:bldP spid="121882" grpId="0" animBg="1" autoUpdateAnimBg="0"/>
      <p:bldP spid="121883" grpId="0" autoUpdateAnimBg="0"/>
      <p:bldP spid="121884" grpId="0" build="p" animBg="1" autoUpdateAnimBg="0"/>
      <p:bldP spid="121885" grpId="0" animBg="1" autoUpdateAnimBg="0"/>
      <p:bldP spid="121886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ADA4AD14-DB4E-206F-2381-7C88F31E3F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8424" y="15081"/>
            <a:ext cx="83820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b="1" dirty="0">
                <a:ea typeface="굴림" charset="-127"/>
              </a:rPr>
              <a:t>Example 2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015252CD-2994-23D9-FE35-8ACBE7A26A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8424" y="1356938"/>
            <a:ext cx="9359152" cy="1600200"/>
          </a:xfrm>
          <a:noFill/>
        </p:spPr>
        <p:txBody>
          <a:bodyPr>
            <a:normAutofit fontScale="92500" lnSpcReduction="20000"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ko-KR" sz="3200" dirty="0">
                <a:ea typeface="굴림" panose="020B0600000101010101" pitchFamily="34" charset="-127"/>
              </a:rPr>
              <a:t>A bowl contains five M&amp;Ms</a:t>
            </a:r>
            <a:r>
              <a:rPr lang="en-US" altLang="ko-KR" sz="3200" baseline="30000" dirty="0">
                <a:ea typeface="굴림" panose="020B0600000101010101" pitchFamily="34" charset="-127"/>
              </a:rPr>
              <a:t>®</a:t>
            </a:r>
            <a:r>
              <a:rPr lang="en-US" altLang="ko-KR" sz="3200" dirty="0">
                <a:ea typeface="굴림" panose="020B0600000101010101" pitchFamily="34" charset="-127"/>
              </a:rPr>
              <a:t>, two red and three blue. Randomly select two candies, and define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A: second candy is red.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B: first candy is blue.</a:t>
            </a:r>
          </a:p>
        </p:txBody>
      </p:sp>
      <p:grpSp>
        <p:nvGrpSpPr>
          <p:cNvPr id="122895" name="Group 15">
            <a:extLst>
              <a:ext uri="{FF2B5EF4-FFF2-40B4-BE49-F238E27FC236}">
                <a16:creationId xmlns:a16="http://schemas.microsoft.com/office/drawing/2014/main" id="{28EB7AD5-5A33-1858-613A-A83EB06F32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14601" y="3506788"/>
            <a:ext cx="379413" cy="455612"/>
            <a:chOff x="1776" y="144"/>
            <a:chExt cx="192" cy="230"/>
          </a:xfrm>
        </p:grpSpPr>
        <p:sp>
          <p:nvSpPr>
            <p:cNvPr id="37911" name="Oval 16">
              <a:extLst>
                <a:ext uri="{FF2B5EF4-FFF2-40B4-BE49-F238E27FC236}">
                  <a16:creationId xmlns:a16="http://schemas.microsoft.com/office/drawing/2014/main" id="{869D0319-0719-40B5-3C7E-831727ED34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76" y="192"/>
              <a:ext cx="182" cy="18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12" name="Text Box 17">
              <a:extLst>
                <a:ext uri="{FF2B5EF4-FFF2-40B4-BE49-F238E27FC236}">
                  <a16:creationId xmlns:a16="http://schemas.microsoft.com/office/drawing/2014/main" id="{2A8A2BAA-9251-7486-C201-0E784D8AFFD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78" y="144"/>
              <a:ext cx="190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800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122898" name="Group 18">
            <a:extLst>
              <a:ext uri="{FF2B5EF4-FFF2-40B4-BE49-F238E27FC236}">
                <a16:creationId xmlns:a16="http://schemas.microsoft.com/office/drawing/2014/main" id="{7675DF97-A354-F898-F424-CDC49CEDDCA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514601" y="4508500"/>
            <a:ext cx="365125" cy="444500"/>
            <a:chOff x="5328" y="576"/>
            <a:chExt cx="184" cy="224"/>
          </a:xfrm>
        </p:grpSpPr>
        <p:sp>
          <p:nvSpPr>
            <p:cNvPr id="37909" name="Oval 19">
              <a:extLst>
                <a:ext uri="{FF2B5EF4-FFF2-40B4-BE49-F238E27FC236}">
                  <a16:creationId xmlns:a16="http://schemas.microsoft.com/office/drawing/2014/main" id="{0C706E26-0AF8-C8C2-9ABD-79E1BD28D1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28" y="624"/>
              <a:ext cx="176" cy="176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10" name="Text Box 20">
              <a:extLst>
                <a:ext uri="{FF2B5EF4-FFF2-40B4-BE49-F238E27FC236}">
                  <a16:creationId xmlns:a16="http://schemas.microsoft.com/office/drawing/2014/main" id="{F4C4B9AB-D2C5-8DC9-3939-402B9B6815A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328" y="576"/>
              <a:ext cx="184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800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122910" name="Group 30">
            <a:extLst>
              <a:ext uri="{FF2B5EF4-FFF2-40B4-BE49-F238E27FC236}">
                <a16:creationId xmlns:a16="http://schemas.microsoft.com/office/drawing/2014/main" id="{83A32417-85A3-2990-33F8-5DAA7B0FA47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62200" y="4038600"/>
            <a:ext cx="376238" cy="457200"/>
            <a:chOff x="5328" y="576"/>
            <a:chExt cx="184" cy="224"/>
          </a:xfrm>
        </p:grpSpPr>
        <p:sp>
          <p:nvSpPr>
            <p:cNvPr id="37907" name="Oval 31">
              <a:extLst>
                <a:ext uri="{FF2B5EF4-FFF2-40B4-BE49-F238E27FC236}">
                  <a16:creationId xmlns:a16="http://schemas.microsoft.com/office/drawing/2014/main" id="{733B1489-0C80-4060-5734-9878B253C6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28" y="624"/>
              <a:ext cx="176" cy="176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08" name="Text Box 32">
              <a:extLst>
                <a:ext uri="{FF2B5EF4-FFF2-40B4-BE49-F238E27FC236}">
                  <a16:creationId xmlns:a16="http://schemas.microsoft.com/office/drawing/2014/main" id="{408A87EA-63B1-7155-E7EA-701D82AF21B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328" y="576"/>
              <a:ext cx="184" cy="1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800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122916" name="Group 36">
            <a:extLst>
              <a:ext uri="{FF2B5EF4-FFF2-40B4-BE49-F238E27FC236}">
                <a16:creationId xmlns:a16="http://schemas.microsoft.com/office/drawing/2014/main" id="{09511D8B-B94D-C522-309E-E7DD96E8C42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971801" y="4419601"/>
            <a:ext cx="379413" cy="455613"/>
            <a:chOff x="1776" y="144"/>
            <a:chExt cx="192" cy="230"/>
          </a:xfrm>
        </p:grpSpPr>
        <p:sp>
          <p:nvSpPr>
            <p:cNvPr id="37905" name="Oval 37">
              <a:extLst>
                <a:ext uri="{FF2B5EF4-FFF2-40B4-BE49-F238E27FC236}">
                  <a16:creationId xmlns:a16="http://schemas.microsoft.com/office/drawing/2014/main" id="{51CAE1F6-5432-8650-2569-7CB52F78F07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76" y="192"/>
              <a:ext cx="182" cy="18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06" name="Text Box 38">
              <a:extLst>
                <a:ext uri="{FF2B5EF4-FFF2-40B4-BE49-F238E27FC236}">
                  <a16:creationId xmlns:a16="http://schemas.microsoft.com/office/drawing/2014/main" id="{3121A221-6ABB-E733-018B-0DB0E890D5E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78" y="144"/>
              <a:ext cx="190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800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grpSp>
        <p:nvGrpSpPr>
          <p:cNvPr id="122928" name="Group 48">
            <a:extLst>
              <a:ext uri="{FF2B5EF4-FFF2-40B4-BE49-F238E27FC236}">
                <a16:creationId xmlns:a16="http://schemas.microsoft.com/office/drawing/2014/main" id="{EC485928-FE46-51CD-BBA1-EC26538A08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19400" y="3962400"/>
            <a:ext cx="381000" cy="457200"/>
            <a:chOff x="5328" y="576"/>
            <a:chExt cx="184" cy="224"/>
          </a:xfrm>
        </p:grpSpPr>
        <p:sp>
          <p:nvSpPr>
            <p:cNvPr id="37903" name="Oval 49">
              <a:extLst>
                <a:ext uri="{FF2B5EF4-FFF2-40B4-BE49-F238E27FC236}">
                  <a16:creationId xmlns:a16="http://schemas.microsoft.com/office/drawing/2014/main" id="{D1F0DD99-30F2-792B-616F-9B343AABBC2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28" y="624"/>
              <a:ext cx="176" cy="176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04" name="Text Box 50">
              <a:extLst>
                <a:ext uri="{FF2B5EF4-FFF2-40B4-BE49-F238E27FC236}">
                  <a16:creationId xmlns:a16="http://schemas.microsoft.com/office/drawing/2014/main" id="{E4D1DFBD-6FDF-283A-CC99-D779340093F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328" y="576"/>
              <a:ext cx="184" cy="1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1800">
                  <a:solidFill>
                    <a:schemeClr val="bg1"/>
                  </a:solidFill>
                  <a:ea typeface="굴림" panose="020B0600000101010101" pitchFamily="34" charset="-127"/>
                </a:rPr>
                <a:t>m</a:t>
              </a:r>
            </a:p>
          </p:txBody>
        </p:sp>
      </p:grpSp>
      <p:sp>
        <p:nvSpPr>
          <p:cNvPr id="122931" name="Text Box 51">
            <a:extLst>
              <a:ext uri="{FF2B5EF4-FFF2-40B4-BE49-F238E27FC236}">
                <a16:creationId xmlns:a16="http://schemas.microsoft.com/office/drawing/2014/main" id="{3F6E6B49-D806-BC6F-5198-6FB0AC598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429000"/>
            <a:ext cx="6096000" cy="1189038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333333"/>
                </a:solidFill>
                <a:ea typeface="굴림" panose="020B0600000101010101" pitchFamily="34" charset="-127"/>
              </a:rPr>
              <a:t>P(A|B) =P(2</a:t>
            </a:r>
            <a:r>
              <a:rPr lang="en-US" altLang="ko-KR" sz="2800" baseline="30000">
                <a:solidFill>
                  <a:srgbClr val="333333"/>
                </a:solidFill>
                <a:ea typeface="굴림" panose="020B0600000101010101" pitchFamily="34" charset="-127"/>
              </a:rPr>
              <a:t>nd</a:t>
            </a:r>
            <a:r>
              <a:rPr lang="en-US" altLang="ko-KR" sz="2800">
                <a:solidFill>
                  <a:srgbClr val="333333"/>
                </a:solidFill>
                <a:ea typeface="굴림" panose="020B0600000101010101" pitchFamily="34" charset="-127"/>
              </a:rPr>
              <a:t> red|1</a:t>
            </a:r>
            <a:r>
              <a:rPr lang="en-US" altLang="ko-KR" sz="2800" baseline="30000">
                <a:solidFill>
                  <a:srgbClr val="333333"/>
                </a:solidFill>
                <a:ea typeface="굴림" panose="020B0600000101010101" pitchFamily="34" charset="-127"/>
              </a:rPr>
              <a:t>st</a:t>
            </a:r>
            <a:r>
              <a:rPr lang="en-US" altLang="ko-KR" sz="2800">
                <a:solidFill>
                  <a:srgbClr val="333333"/>
                </a:solidFill>
                <a:ea typeface="굴림" panose="020B0600000101010101" pitchFamily="34" charset="-127"/>
              </a:rPr>
              <a:t> blue)= 2/4 = 1/2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333333"/>
                </a:solidFill>
                <a:ea typeface="굴림" panose="020B0600000101010101" pitchFamily="34" charset="-127"/>
              </a:rPr>
              <a:t>P(A|not B) = P(2</a:t>
            </a:r>
            <a:r>
              <a:rPr lang="en-US" altLang="ko-KR" sz="2800" baseline="30000">
                <a:solidFill>
                  <a:srgbClr val="333333"/>
                </a:solidFill>
                <a:ea typeface="굴림" panose="020B0600000101010101" pitchFamily="34" charset="-127"/>
              </a:rPr>
              <a:t>nd</a:t>
            </a:r>
            <a:r>
              <a:rPr lang="en-US" altLang="ko-KR" sz="2800">
                <a:solidFill>
                  <a:srgbClr val="333333"/>
                </a:solidFill>
                <a:ea typeface="굴림" panose="020B0600000101010101" pitchFamily="34" charset="-127"/>
              </a:rPr>
              <a:t> red|1</a:t>
            </a:r>
            <a:r>
              <a:rPr lang="en-US" altLang="ko-KR" sz="2800" baseline="30000">
                <a:solidFill>
                  <a:srgbClr val="333333"/>
                </a:solidFill>
                <a:ea typeface="굴림" panose="020B0600000101010101" pitchFamily="34" charset="-127"/>
              </a:rPr>
              <a:t>st</a:t>
            </a:r>
            <a:r>
              <a:rPr lang="en-US" altLang="ko-KR" sz="2800">
                <a:solidFill>
                  <a:srgbClr val="333333"/>
                </a:solidFill>
                <a:ea typeface="굴림" panose="020B0600000101010101" pitchFamily="34" charset="-127"/>
              </a:rPr>
              <a:t> red) = 1/4</a:t>
            </a:r>
          </a:p>
        </p:txBody>
      </p:sp>
      <p:sp>
        <p:nvSpPr>
          <p:cNvPr id="122932" name="Text Box 52">
            <a:extLst>
              <a:ext uri="{FF2B5EF4-FFF2-40B4-BE49-F238E27FC236}">
                <a16:creationId xmlns:a16="http://schemas.microsoft.com/office/drawing/2014/main" id="{A7CF80ED-B436-BE8E-42A3-A3BD693E5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800600"/>
            <a:ext cx="3124200" cy="1828800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F4ECC6"/>
                </a:solidFill>
                <a:ea typeface="굴림" panose="020B0600000101010101" pitchFamily="34" charset="-127"/>
              </a:rPr>
              <a:t>P(A) does change, depending on whether B happens or not…</a:t>
            </a:r>
          </a:p>
        </p:txBody>
      </p:sp>
      <p:grpSp>
        <p:nvGrpSpPr>
          <p:cNvPr id="122933" name="Group 53">
            <a:extLst>
              <a:ext uri="{FF2B5EF4-FFF2-40B4-BE49-F238E27FC236}">
                <a16:creationId xmlns:a16="http://schemas.microsoft.com/office/drawing/2014/main" id="{A4474950-0C8B-E83F-B7F6-CC13D2F729CC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5121276"/>
            <a:ext cx="2819400" cy="974725"/>
            <a:chOff x="3552" y="3072"/>
            <a:chExt cx="1776" cy="614"/>
          </a:xfrm>
        </p:grpSpPr>
        <p:sp>
          <p:nvSpPr>
            <p:cNvPr id="37901" name="Text Box 54">
              <a:extLst>
                <a:ext uri="{FF2B5EF4-FFF2-40B4-BE49-F238E27FC236}">
                  <a16:creationId xmlns:a16="http://schemas.microsoft.com/office/drawing/2014/main" id="{F1CD1008-32C5-3BFD-5694-6E13BFC307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072"/>
              <a:ext cx="1392" cy="614"/>
            </a:xfrm>
            <a:prstGeom prst="rect">
              <a:avLst/>
            </a:prstGeom>
            <a:solidFill>
              <a:srgbClr val="CC0066"/>
            </a:solidFill>
            <a:ln w="28575">
              <a:solidFill>
                <a:srgbClr val="F4ECC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ko-KR" sz="2800">
                  <a:solidFill>
                    <a:srgbClr val="F4ECC6"/>
                  </a:solidFill>
                  <a:ea typeface="굴림" panose="020B0600000101010101" pitchFamily="34" charset="-127"/>
                </a:rPr>
                <a:t>A and B are dependent!</a:t>
              </a:r>
            </a:p>
          </p:txBody>
        </p:sp>
        <p:sp>
          <p:nvSpPr>
            <p:cNvPr id="37902" name="Line 55">
              <a:extLst>
                <a:ext uri="{FF2B5EF4-FFF2-40B4-BE49-F238E27FC236}">
                  <a16:creationId xmlns:a16="http://schemas.microsoft.com/office/drawing/2014/main" id="{7125C77F-C3B7-AE7F-CCD1-68EDF5E01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408"/>
              <a:ext cx="384" cy="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2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2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29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22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2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1" grpId="0" build="p" animBg="1" autoUpdateAnimBg="0"/>
      <p:bldP spid="122932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F9F6-3445-B445-8B3E-9E13A7C54E7F}"/>
              </a:ext>
            </a:extLst>
          </p:cNvPr>
          <p:cNvSpPr txBox="1">
            <a:spLocks/>
          </p:cNvSpPr>
          <p:nvPr/>
        </p:nvSpPr>
        <p:spPr>
          <a:xfrm>
            <a:off x="1785103" y="2774502"/>
            <a:ext cx="9116152" cy="79208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Independence</a:t>
            </a:r>
          </a:p>
        </p:txBody>
      </p:sp>
    </p:spTree>
    <p:extLst>
      <p:ext uri="{BB962C8B-B14F-4D97-AF65-F5344CB8AC3E}">
        <p14:creationId xmlns:p14="http://schemas.microsoft.com/office/powerpoint/2010/main" val="31960080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3323AFFF-72CB-9E12-DCB7-7463D266E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399" y="-76200"/>
            <a:ext cx="8001001" cy="93345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algn="ctr" eaLnBrk="1" hangingPunct="1">
              <a:defRPr/>
            </a:pPr>
            <a:r>
              <a:rPr lang="en-US" altLang="ko-KR" sz="4000" dirty="0">
                <a:ea typeface="굴림" charset="-127"/>
              </a:rPr>
              <a:t>Defining Independence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F4547E1-630A-62A4-E80E-4E820269F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1228162"/>
            <a:ext cx="9982200" cy="12954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marL="0" indent="0" eaLnBrk="1" hangingPunct="1">
              <a:buNone/>
            </a:pPr>
            <a:r>
              <a:rPr lang="en-US" altLang="ko-KR" dirty="0">
                <a:ea typeface="굴림" panose="020B0600000101010101" pitchFamily="34" charset="-127"/>
              </a:rPr>
              <a:t>We can redefine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independence</a:t>
            </a:r>
            <a:r>
              <a:rPr lang="en-US" altLang="ko-KR" dirty="0">
                <a:ea typeface="굴림" panose="020B0600000101010101" pitchFamily="34" charset="-127"/>
              </a:rPr>
              <a:t> in terms of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conditional</a:t>
            </a:r>
            <a:r>
              <a:rPr lang="en-US" altLang="ko-KR" dirty="0">
                <a:ea typeface="굴림" panose="020B0600000101010101" pitchFamily="34" charset="-127"/>
              </a:rPr>
              <a:t>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probabilities</a:t>
            </a:r>
            <a:r>
              <a:rPr lang="en-US" altLang="ko-KR" dirty="0">
                <a:ea typeface="굴림" panose="020B0600000101010101" pitchFamily="34" charset="-127"/>
              </a:rPr>
              <a:t>:</a:t>
            </a:r>
          </a:p>
        </p:txBody>
      </p:sp>
      <p:sp>
        <p:nvSpPr>
          <p:cNvPr id="118788" name="Text Box 4">
            <a:extLst>
              <a:ext uri="{FF2B5EF4-FFF2-40B4-BE49-F238E27FC236}">
                <a16:creationId xmlns:a16="http://schemas.microsoft.com/office/drawing/2014/main" id="{8BC46D4F-ACEC-D53E-0C1D-9ED7CB595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447362"/>
            <a:ext cx="8077200" cy="23622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ko-KR" sz="3200">
                <a:solidFill>
                  <a:srgbClr val="339933"/>
                </a:solidFill>
                <a:ea typeface="굴림" charset="-127"/>
              </a:rPr>
              <a:t>Two events A and B are</a:t>
            </a:r>
            <a:r>
              <a:rPr lang="en-US" altLang="ko-KR" sz="3200">
                <a:solidFill>
                  <a:srgbClr val="333333"/>
                </a:solidFill>
                <a:ea typeface="굴림" charset="-127"/>
              </a:rPr>
              <a:t> </a:t>
            </a:r>
            <a:r>
              <a:rPr lang="en-US" altLang="ko-KR" sz="3200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charset="-127"/>
              </a:rPr>
              <a:t>independent</a:t>
            </a:r>
            <a:r>
              <a:rPr lang="en-US" altLang="ko-KR" sz="3200">
                <a:solidFill>
                  <a:srgbClr val="333333"/>
                </a:solidFill>
                <a:ea typeface="굴림" charset="-127"/>
              </a:rPr>
              <a:t> </a:t>
            </a:r>
            <a:r>
              <a:rPr lang="en-US" altLang="ko-KR" sz="3200">
                <a:solidFill>
                  <a:srgbClr val="339933"/>
                </a:solidFill>
                <a:ea typeface="굴림" charset="-127"/>
              </a:rPr>
              <a:t>if and only if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ko-KR" sz="3200">
                <a:solidFill>
                  <a:srgbClr val="333333"/>
                </a:solidFill>
                <a:ea typeface="굴림" charset="-127"/>
              </a:rPr>
              <a:t>	</a:t>
            </a:r>
            <a:r>
              <a:rPr lang="en-US" altLang="ko-KR" sz="3200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charset="-127"/>
              </a:rPr>
              <a:t>P(A</a:t>
            </a:r>
            <a:r>
              <a:rPr lang="en-US" altLang="ko-KR" sz="3200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  <a:ea typeface="굴림" charset="-127"/>
              </a:rPr>
              <a:t>|</a:t>
            </a:r>
            <a:r>
              <a:rPr lang="en-US" altLang="ko-KR" sz="3200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charset="-127"/>
              </a:rPr>
              <a:t>B) = P(A)</a:t>
            </a:r>
            <a:r>
              <a:rPr lang="en-US" altLang="ko-KR" sz="3200">
                <a:solidFill>
                  <a:srgbClr val="333333"/>
                </a:solidFill>
                <a:ea typeface="굴림" charset="-127"/>
              </a:rPr>
              <a:t>  	</a:t>
            </a:r>
            <a:r>
              <a:rPr lang="en-US" altLang="ko-KR" sz="3200">
                <a:solidFill>
                  <a:srgbClr val="339933"/>
                </a:solidFill>
                <a:ea typeface="굴림" charset="-127"/>
              </a:rPr>
              <a:t>or</a:t>
            </a:r>
            <a:r>
              <a:rPr lang="en-US" altLang="ko-KR" sz="3200">
                <a:solidFill>
                  <a:srgbClr val="333333"/>
                </a:solidFill>
                <a:ea typeface="굴림" charset="-127"/>
              </a:rPr>
              <a:t>	</a:t>
            </a:r>
            <a:r>
              <a:rPr lang="en-US" altLang="ko-KR" sz="3200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charset="-127"/>
              </a:rPr>
              <a:t>P(B|A) = P(B)</a:t>
            </a:r>
          </a:p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ko-KR" sz="3200">
                <a:solidFill>
                  <a:srgbClr val="339933"/>
                </a:solidFill>
                <a:ea typeface="굴림" charset="-127"/>
              </a:rPr>
              <a:t>Otherwise, they are</a:t>
            </a:r>
            <a:r>
              <a:rPr lang="en-US" altLang="ko-KR" sz="3200">
                <a:solidFill>
                  <a:srgbClr val="333333"/>
                </a:solidFill>
                <a:ea typeface="굴림" charset="-127"/>
              </a:rPr>
              <a:t> </a:t>
            </a:r>
            <a:r>
              <a:rPr lang="en-US" altLang="ko-KR" sz="3200">
                <a:solidFill>
                  <a:srgbClr val="3333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굴림" charset="-127"/>
              </a:rPr>
              <a:t>dependent</a:t>
            </a:r>
            <a:r>
              <a:rPr lang="en-US" altLang="ko-KR" sz="3200">
                <a:solidFill>
                  <a:srgbClr val="333333"/>
                </a:solidFill>
                <a:ea typeface="굴림" charset="-127"/>
              </a:rPr>
              <a:t>.</a:t>
            </a:r>
            <a:endParaRPr lang="en-US" altLang="ko-KR">
              <a:ea typeface="굴림" charset="-127"/>
            </a:endParaRPr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63F7A974-68B5-767A-B3BE-84ABDD9E3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961962"/>
            <a:ext cx="86106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ko-KR" sz="3600">
                <a:solidFill>
                  <a:srgbClr val="339933"/>
                </a:solidFill>
                <a:ea typeface="굴림" panose="020B0600000101010101" pitchFamily="34" charset="-127"/>
              </a:rPr>
              <a:t>Once you’ve decided whether or not two events are independent, you can use the following rule to calculate their intersection.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 animBg="1" autoUpdateAnimBg="0"/>
      <p:bldP spid="118789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95401AA0-B83B-2344-9DB7-3D23F4B76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22175" y="288925"/>
            <a:ext cx="8897471" cy="93345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Autofit/>
          </a:bodyPr>
          <a:lstStyle/>
          <a:p>
            <a:pPr algn="ctr" eaLnBrk="1" hangingPunct="1">
              <a:defRPr/>
            </a:pPr>
            <a:r>
              <a:rPr lang="en-US" altLang="ko-KR" sz="4000" dirty="0">
                <a:ea typeface="굴림" charset="-127"/>
              </a:rPr>
              <a:t>The Multiplicative Rule for Intersections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28A5E8F5-9808-E14F-F2C2-61C54614F2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600200"/>
            <a:ext cx="9327776" cy="12954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ko-KR" dirty="0">
                <a:ea typeface="굴림" panose="020B0600000101010101" pitchFamily="34" charset="-127"/>
              </a:rPr>
              <a:t>For any two events,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A</a:t>
            </a:r>
            <a:r>
              <a:rPr lang="en-US" altLang="ko-KR" dirty="0">
                <a:ea typeface="굴림" panose="020B0600000101010101" pitchFamily="34" charset="-127"/>
              </a:rPr>
              <a:t> and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B</a:t>
            </a:r>
            <a:r>
              <a:rPr lang="en-US" altLang="ko-KR" dirty="0">
                <a:ea typeface="굴림" panose="020B0600000101010101" pitchFamily="34" charset="-127"/>
              </a:rPr>
              <a:t>, the probability that both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A</a:t>
            </a:r>
            <a:r>
              <a:rPr lang="en-US" altLang="ko-KR" dirty="0">
                <a:ea typeface="굴림" panose="020B0600000101010101" pitchFamily="34" charset="-127"/>
              </a:rPr>
              <a:t> and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a typeface="굴림" panose="020B0600000101010101" pitchFamily="34" charset="-127"/>
              </a:rPr>
              <a:t>B</a:t>
            </a:r>
            <a:r>
              <a:rPr lang="en-US" altLang="ko-KR" dirty="0">
                <a:ea typeface="굴림" panose="020B0600000101010101" pitchFamily="34" charset="-127"/>
              </a:rPr>
              <a:t> occur is</a:t>
            </a:r>
            <a:endParaRPr lang="en-US" altLang="ko-KR" dirty="0">
              <a:ea typeface="굴림" panose="020B0600000101010101" pitchFamily="34" charset="-127"/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ko-KR" altLang="en-US" dirty="0">
              <a:ea typeface="굴림" panose="020B0600000101010101" pitchFamily="34" charset="-127"/>
            </a:endParaRPr>
          </a:p>
        </p:txBody>
      </p:sp>
      <p:sp>
        <p:nvSpPr>
          <p:cNvPr id="123908" name="Text Box 4">
            <a:extLst>
              <a:ext uri="{FF2B5EF4-FFF2-40B4-BE49-F238E27FC236}">
                <a16:creationId xmlns:a16="http://schemas.microsoft.com/office/drawing/2014/main" id="{1E7812AB-5DD3-4476-2C4C-4C699ABB9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743200"/>
            <a:ext cx="8077200" cy="99695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P(A </a:t>
            </a:r>
            <a:r>
              <a:rPr lang="en-US" altLang="ko-KR" sz="3200" b="1">
                <a:solidFill>
                  <a:srgbClr val="333333"/>
                </a:solidFill>
                <a:latin typeface="Symbol" panose="05050102010706020507" pitchFamily="18" charset="2"/>
                <a:ea typeface="굴림" panose="020B0600000101010101" pitchFamily="34" charset="-127"/>
              </a:rPr>
              <a:t></a:t>
            </a: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B) = P(A) P(B given that A occurred)    		= P(A)P(B|A)</a:t>
            </a:r>
            <a:endParaRPr lang="en-US" altLang="ko-KR">
              <a:ea typeface="굴림" panose="020B0600000101010101" pitchFamily="34" charset="-127"/>
            </a:endParaRPr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24BE15A5-780F-272F-0E11-EB21F72AE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962400"/>
            <a:ext cx="8534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altLang="ko-KR" sz="3600">
                <a:solidFill>
                  <a:srgbClr val="339933"/>
                </a:solidFill>
                <a:ea typeface="굴림" panose="020B0600000101010101" pitchFamily="34" charset="-127"/>
              </a:rPr>
              <a:t>If the events </a:t>
            </a:r>
            <a:r>
              <a:rPr lang="en-US" altLang="ko-KR" sz="3600" b="1">
                <a:solidFill>
                  <a:srgbClr val="339933"/>
                </a:solidFill>
                <a:ea typeface="굴림" panose="020B0600000101010101" pitchFamily="34" charset="-127"/>
              </a:rPr>
              <a:t>A</a:t>
            </a:r>
            <a:r>
              <a:rPr lang="en-US" altLang="ko-KR" sz="3600">
                <a:solidFill>
                  <a:srgbClr val="339933"/>
                </a:solidFill>
                <a:ea typeface="굴림" panose="020B0600000101010101" pitchFamily="34" charset="-127"/>
              </a:rPr>
              <a:t> and </a:t>
            </a:r>
            <a:r>
              <a:rPr lang="en-US" altLang="ko-KR" sz="3600" b="1">
                <a:solidFill>
                  <a:srgbClr val="339933"/>
                </a:solidFill>
                <a:ea typeface="굴림" panose="020B0600000101010101" pitchFamily="34" charset="-127"/>
              </a:rPr>
              <a:t>B</a:t>
            </a:r>
            <a:r>
              <a:rPr lang="en-US" altLang="ko-KR" sz="3600">
                <a:solidFill>
                  <a:srgbClr val="339933"/>
                </a:solidFill>
                <a:ea typeface="굴림" panose="020B0600000101010101" pitchFamily="34" charset="-127"/>
              </a:rPr>
              <a:t> are independent, then the probability that both </a:t>
            </a:r>
            <a:r>
              <a:rPr lang="en-US" altLang="ko-KR" sz="3600" b="1">
                <a:solidFill>
                  <a:srgbClr val="339933"/>
                </a:solidFill>
                <a:ea typeface="굴림" panose="020B0600000101010101" pitchFamily="34" charset="-127"/>
              </a:rPr>
              <a:t>A</a:t>
            </a:r>
            <a:r>
              <a:rPr lang="en-US" altLang="ko-KR" sz="3600">
                <a:solidFill>
                  <a:srgbClr val="339933"/>
                </a:solidFill>
                <a:ea typeface="굴림" panose="020B0600000101010101" pitchFamily="34" charset="-127"/>
              </a:rPr>
              <a:t> and </a:t>
            </a:r>
            <a:r>
              <a:rPr lang="en-US" altLang="ko-KR" sz="3600" b="1">
                <a:solidFill>
                  <a:srgbClr val="339933"/>
                </a:solidFill>
                <a:ea typeface="굴림" panose="020B0600000101010101" pitchFamily="34" charset="-127"/>
              </a:rPr>
              <a:t>B</a:t>
            </a:r>
            <a:r>
              <a:rPr lang="en-US" altLang="ko-KR" sz="3600">
                <a:solidFill>
                  <a:srgbClr val="339933"/>
                </a:solidFill>
                <a:ea typeface="굴림" panose="020B0600000101010101" pitchFamily="34" charset="-127"/>
              </a:rPr>
              <a:t> occur is</a:t>
            </a:r>
          </a:p>
        </p:txBody>
      </p:sp>
      <p:sp>
        <p:nvSpPr>
          <p:cNvPr id="123910" name="Text Box 6">
            <a:extLst>
              <a:ext uri="{FF2B5EF4-FFF2-40B4-BE49-F238E27FC236}">
                <a16:creationId xmlns:a16="http://schemas.microsoft.com/office/drawing/2014/main" id="{EA3762E0-0B1A-77A3-0986-16E6CF8C5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334001"/>
            <a:ext cx="3962400" cy="535531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P(A </a:t>
            </a:r>
            <a:r>
              <a:rPr lang="en-US" altLang="ko-KR" sz="3200" b="1">
                <a:solidFill>
                  <a:srgbClr val="333333"/>
                </a:solidFill>
                <a:latin typeface="Symbol" panose="05050102010706020507" pitchFamily="18" charset="2"/>
                <a:ea typeface="굴림" panose="020B0600000101010101" pitchFamily="34" charset="-127"/>
              </a:rPr>
              <a:t></a:t>
            </a:r>
            <a:r>
              <a:rPr lang="en-US" altLang="ko-KR" sz="3200" b="1">
                <a:solidFill>
                  <a:srgbClr val="333333"/>
                </a:solidFill>
                <a:ea typeface="굴림" panose="020B0600000101010101" pitchFamily="34" charset="-127"/>
              </a:rPr>
              <a:t>B) = P(A) P(B) </a:t>
            </a:r>
            <a:endParaRPr lang="en-US" altLang="ko-KR">
              <a:ea typeface="굴림" panose="020B0600000101010101" pitchFamily="34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8" grpId="0" animBg="1" autoUpdateAnimBg="0"/>
      <p:bldP spid="123909" grpId="0" autoUpdateAnimBg="0"/>
      <p:bldP spid="123910" grpId="0" animBg="1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6D642870-79BE-556B-4D35-26F5726BF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36102" y="107156"/>
            <a:ext cx="63246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altLang="ko-KR" sz="4400" dirty="0">
                <a:ea typeface="굴림" charset="-127"/>
              </a:rPr>
              <a:t>Example 1</a:t>
            </a:r>
          </a:p>
        </p:txBody>
      </p:sp>
      <p:sp>
        <p:nvSpPr>
          <p:cNvPr id="40963" name="Text Box 7">
            <a:extLst>
              <a:ext uri="{FF2B5EF4-FFF2-40B4-BE49-F238E27FC236}">
                <a16:creationId xmlns:a16="http://schemas.microsoft.com/office/drawing/2014/main" id="{9E9FA55B-42EF-DC13-A5A6-E2EAC1B3F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424" y="1358156"/>
            <a:ext cx="1039905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ko-KR" sz="2800" dirty="0">
                <a:solidFill>
                  <a:srgbClr val="339933"/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In a certain population, 10% of the people can be classified as being high risk for a heart attack. Three people are randomly selected from this population. What is the probability that exactly one of the three are high risk?</a:t>
            </a:r>
          </a:p>
        </p:txBody>
      </p:sp>
      <p:grpSp>
        <p:nvGrpSpPr>
          <p:cNvPr id="40964" name="Group 17">
            <a:extLst>
              <a:ext uri="{FF2B5EF4-FFF2-40B4-BE49-F238E27FC236}">
                <a16:creationId xmlns:a16="http://schemas.microsoft.com/office/drawing/2014/main" id="{54EA3598-4380-F3D9-D0BD-7FC329CB392F}"/>
              </a:ext>
            </a:extLst>
          </p:cNvPr>
          <p:cNvGrpSpPr>
            <a:grpSpLocks/>
          </p:cNvGrpSpPr>
          <p:nvPr/>
        </p:nvGrpSpPr>
        <p:grpSpPr bwMode="auto">
          <a:xfrm>
            <a:off x="10744200" y="0"/>
            <a:ext cx="1428750" cy="1371600"/>
            <a:chOff x="4656" y="48"/>
            <a:chExt cx="1008" cy="960"/>
          </a:xfrm>
        </p:grpSpPr>
        <p:sp>
          <p:nvSpPr>
            <p:cNvPr id="40968" name="Rectangle 10">
              <a:extLst>
                <a:ext uri="{FF2B5EF4-FFF2-40B4-BE49-F238E27FC236}">
                  <a16:creationId xmlns:a16="http://schemas.microsoft.com/office/drawing/2014/main" id="{2B5FE44B-38E7-7048-B8B9-883F39BB9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48"/>
              <a:ext cx="1008" cy="960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40969" name="Picture 9" descr="hospital">
              <a:extLst>
                <a:ext uri="{FF2B5EF4-FFF2-40B4-BE49-F238E27FC236}">
                  <a16:creationId xmlns:a16="http://schemas.microsoft.com/office/drawing/2014/main" id="{C6850A37-18AD-A594-9DB5-A41A6B37EA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8" y="123"/>
              <a:ext cx="897" cy="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8557" name="Text Box 13">
            <a:extLst>
              <a:ext uri="{FF2B5EF4-FFF2-40B4-BE49-F238E27FC236}">
                <a16:creationId xmlns:a16="http://schemas.microsoft.com/office/drawing/2014/main" id="{8E0D3725-6FD3-D457-99B5-91FCC8FFB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276601"/>
            <a:ext cx="624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</a:rPr>
              <a:t>Define H: high risk	N: not high risk</a:t>
            </a:r>
          </a:p>
        </p:txBody>
      </p:sp>
      <p:sp>
        <p:nvSpPr>
          <p:cNvPr id="108558" name="Text Box 14">
            <a:extLst>
              <a:ext uri="{FF2B5EF4-FFF2-40B4-BE49-F238E27FC236}">
                <a16:creationId xmlns:a16="http://schemas.microsoft.com/office/drawing/2014/main" id="{ECC3E26D-247A-D0F6-8C63-261185A97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962400"/>
            <a:ext cx="8839200" cy="1830388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>
                <a:ea typeface="굴림" panose="020B0600000101010101" pitchFamily="34" charset="-127"/>
              </a:rPr>
              <a:t>P(exactly one high risk) = P(HNN) + P(NHN) + P(NNH)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 sz="2800">
                <a:ea typeface="굴림" panose="020B0600000101010101" pitchFamily="34" charset="-127"/>
              </a:rPr>
              <a:t>= P(H)P(N)P(N) + P(N)P(H)P(N) + P(N)P(N)P(H)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ko-KR" sz="2800">
                <a:ea typeface="굴림" panose="020B0600000101010101" pitchFamily="34" charset="-127"/>
              </a:rPr>
              <a:t>= (.1)(.9)(.9) + (.9)(.1)(.9) + (.9)(.9)(.1)= 3(.1)(.9)</a:t>
            </a:r>
            <a:r>
              <a:rPr lang="en-US" altLang="ko-KR" sz="2800" baseline="30000">
                <a:ea typeface="굴림" panose="020B0600000101010101" pitchFamily="34" charset="-127"/>
              </a:rPr>
              <a:t>2</a:t>
            </a:r>
            <a:r>
              <a:rPr lang="en-US" altLang="ko-KR" sz="2800">
                <a:ea typeface="굴림" panose="020B0600000101010101" pitchFamily="34" charset="-127"/>
              </a:rPr>
              <a:t> = .243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55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8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8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8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7" grpId="0" autoUpdateAnimBg="0"/>
      <p:bldP spid="108558" grpId="0" build="p" animBg="1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94E9A9CB-F20F-2934-3FD7-ADBE5AF3CD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0800" y="181304"/>
            <a:ext cx="7718612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altLang="ko-KR" sz="4400" dirty="0">
                <a:ea typeface="굴림" charset="-127"/>
              </a:rPr>
              <a:t>Example 2</a:t>
            </a:r>
          </a:p>
        </p:txBody>
      </p:sp>
      <p:sp>
        <p:nvSpPr>
          <p:cNvPr id="41987" name="Text Box 3">
            <a:extLst>
              <a:ext uri="{FF2B5EF4-FFF2-40B4-BE49-F238E27FC236}">
                <a16:creationId xmlns:a16="http://schemas.microsoft.com/office/drawing/2014/main" id="{C0283F00-AD2D-0388-0CA1-810B5007E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3316" y="1120591"/>
            <a:ext cx="985221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ko-KR" sz="2800" dirty="0">
                <a:solidFill>
                  <a:srgbClr val="339933"/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Suppose we have additional information in the previous example. We know that only </a:t>
            </a:r>
            <a:r>
              <a:rPr lang="en-US" altLang="ko-KR" sz="2800" b="1" dirty="0">
                <a:solidFill>
                  <a:srgbClr val="339933"/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49%</a:t>
            </a:r>
            <a:r>
              <a:rPr lang="en-US" altLang="ko-KR" sz="2800" dirty="0">
                <a:solidFill>
                  <a:srgbClr val="339933"/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en-US" altLang="ko-KR" sz="2800" b="1" dirty="0">
                <a:solidFill>
                  <a:srgbClr val="339933"/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of the population are female</a:t>
            </a:r>
            <a:r>
              <a:rPr lang="en-US" altLang="ko-KR" sz="2800" dirty="0">
                <a:solidFill>
                  <a:srgbClr val="339933"/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. Also, of the </a:t>
            </a:r>
            <a:r>
              <a:rPr lang="en-US" altLang="ko-KR" sz="2800" b="1" dirty="0">
                <a:solidFill>
                  <a:srgbClr val="339933"/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female patients</a:t>
            </a:r>
            <a:r>
              <a:rPr lang="en-US" altLang="ko-KR" sz="2800" dirty="0">
                <a:solidFill>
                  <a:srgbClr val="339933"/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, </a:t>
            </a:r>
            <a:r>
              <a:rPr lang="en-US" altLang="ko-KR" sz="2800" b="1" dirty="0">
                <a:solidFill>
                  <a:srgbClr val="339933"/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8%</a:t>
            </a:r>
            <a:r>
              <a:rPr lang="en-US" altLang="ko-KR" sz="2800" dirty="0">
                <a:solidFill>
                  <a:srgbClr val="339933"/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 </a:t>
            </a:r>
            <a:r>
              <a:rPr lang="en-US" altLang="ko-KR" sz="2800" b="1" dirty="0">
                <a:solidFill>
                  <a:srgbClr val="339933"/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are high risk</a:t>
            </a:r>
            <a:r>
              <a:rPr lang="en-US" altLang="ko-KR" sz="2800" dirty="0">
                <a:solidFill>
                  <a:srgbClr val="339933"/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. A single person is selected at random. What is the probability that it is a </a:t>
            </a:r>
            <a:r>
              <a:rPr lang="en-US" altLang="ko-KR" sz="2800" b="1" dirty="0">
                <a:solidFill>
                  <a:srgbClr val="339933"/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high risk female</a:t>
            </a:r>
            <a:r>
              <a:rPr lang="en-US" altLang="ko-KR" sz="2800" dirty="0">
                <a:solidFill>
                  <a:srgbClr val="339933"/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24935" name="Text Box 7">
            <a:extLst>
              <a:ext uri="{FF2B5EF4-FFF2-40B4-BE49-F238E27FC236}">
                <a16:creationId xmlns:a16="http://schemas.microsoft.com/office/drawing/2014/main" id="{4E7838B1-2E59-7B0E-D46E-93DBD962E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276601"/>
            <a:ext cx="624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</a:rPr>
              <a:t>Define H: high risk	F: female</a:t>
            </a:r>
          </a:p>
        </p:txBody>
      </p:sp>
      <p:sp>
        <p:nvSpPr>
          <p:cNvPr id="124936" name="Text Box 8">
            <a:extLst>
              <a:ext uri="{FF2B5EF4-FFF2-40B4-BE49-F238E27FC236}">
                <a16:creationId xmlns:a16="http://schemas.microsoft.com/office/drawing/2014/main" id="{D0E21253-A8C3-C5AF-A391-8C7A9D84A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886201"/>
            <a:ext cx="7086600" cy="225742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From the example,</a:t>
            </a:r>
            <a:r>
              <a:rPr lang="en-US" altLang="ko-KR" sz="2800">
                <a:ea typeface="굴림" panose="020B0600000101010101" pitchFamily="34" charset="-127"/>
              </a:rPr>
              <a:t> P(F) = .49 </a:t>
            </a: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and</a:t>
            </a:r>
            <a:r>
              <a:rPr lang="en-US" altLang="ko-KR" sz="2800">
                <a:ea typeface="굴림" panose="020B0600000101010101" pitchFamily="34" charset="-127"/>
              </a:rPr>
              <a:t> P(H|F) = .08. </a:t>
            </a:r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Use the</a:t>
            </a:r>
            <a:r>
              <a:rPr lang="en-US" altLang="ko-KR" sz="2800">
                <a:ea typeface="굴림" panose="020B0600000101010101" pitchFamily="34" charset="-127"/>
              </a:rPr>
              <a:t> Multiplicative Rule: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ko-KR" sz="2800">
                <a:ea typeface="굴림" panose="020B0600000101010101" pitchFamily="34" charset="-127"/>
              </a:rPr>
              <a:t>P(high risk female) = P(H</a:t>
            </a:r>
            <a:r>
              <a:rPr lang="en-US" altLang="ko-KR" sz="2800">
                <a:ea typeface="굴림" panose="020B0600000101010101" pitchFamily="34" charset="-127"/>
                <a:sym typeface="Symbol" panose="05050102010706020507" pitchFamily="18" charset="2"/>
              </a:rPr>
              <a:t>F</a:t>
            </a:r>
            <a:r>
              <a:rPr lang="en-US" altLang="ko-KR" sz="2800">
                <a:ea typeface="굴림" panose="020B0600000101010101" pitchFamily="34" charset="-127"/>
              </a:rPr>
              <a:t>)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ko-KR" sz="2800">
                <a:ea typeface="굴림" panose="020B0600000101010101" pitchFamily="34" charset="-127"/>
              </a:rPr>
              <a:t>= P(F)P(H|F) =.49(.08) = .0392</a:t>
            </a:r>
          </a:p>
        </p:txBody>
      </p:sp>
      <p:grpSp>
        <p:nvGrpSpPr>
          <p:cNvPr id="41991" name="Group 10">
            <a:extLst>
              <a:ext uri="{FF2B5EF4-FFF2-40B4-BE49-F238E27FC236}">
                <a16:creationId xmlns:a16="http://schemas.microsoft.com/office/drawing/2014/main" id="{7C7AE5EE-B65F-47FB-2470-A894EA4F8919}"/>
              </a:ext>
            </a:extLst>
          </p:cNvPr>
          <p:cNvGrpSpPr>
            <a:grpSpLocks/>
          </p:cNvGrpSpPr>
          <p:nvPr/>
        </p:nvGrpSpPr>
        <p:grpSpPr bwMode="auto">
          <a:xfrm>
            <a:off x="10572750" y="14288"/>
            <a:ext cx="1600200" cy="1524000"/>
            <a:chOff x="4656" y="48"/>
            <a:chExt cx="1008" cy="960"/>
          </a:xfrm>
        </p:grpSpPr>
        <p:sp>
          <p:nvSpPr>
            <p:cNvPr id="41992" name="Rectangle 11">
              <a:extLst>
                <a:ext uri="{FF2B5EF4-FFF2-40B4-BE49-F238E27FC236}">
                  <a16:creationId xmlns:a16="http://schemas.microsoft.com/office/drawing/2014/main" id="{1FF4AE50-AB85-ED45-01EE-86CA43BDE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48"/>
              <a:ext cx="1008" cy="960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41993" name="Picture 12" descr="hospital">
              <a:extLst>
                <a:ext uri="{FF2B5EF4-FFF2-40B4-BE49-F238E27FC236}">
                  <a16:creationId xmlns:a16="http://schemas.microsoft.com/office/drawing/2014/main" id="{059EBF67-EBAD-1C7A-6C1B-990F1EA710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8" y="123"/>
              <a:ext cx="897" cy="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49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9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49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49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5" grpId="0" autoUpdateAnimBg="0"/>
      <p:bldP spid="124936" grpId="0" build="p" animBg="1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F9F6-3445-B445-8B3E-9E13A7C54E7F}"/>
              </a:ext>
            </a:extLst>
          </p:cNvPr>
          <p:cNvSpPr txBox="1">
            <a:spLocks/>
          </p:cNvSpPr>
          <p:nvPr/>
        </p:nvSpPr>
        <p:spPr>
          <a:xfrm>
            <a:off x="1785103" y="2774502"/>
            <a:ext cx="9116152" cy="79208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2">
                    <a:lumMod val="25000"/>
                  </a:schemeClr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Bayes’ Rule</a:t>
            </a:r>
          </a:p>
        </p:txBody>
      </p:sp>
    </p:spTree>
    <p:extLst>
      <p:ext uri="{BB962C8B-B14F-4D97-AF65-F5344CB8AC3E}">
        <p14:creationId xmlns:p14="http://schemas.microsoft.com/office/powerpoint/2010/main" val="61660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7E9B0B8C-026E-6CAA-E660-9E5D58D45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53234" y="201145"/>
            <a:ext cx="8843683" cy="93345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 fontScale="90000"/>
          </a:bodyPr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The Law of Total Probability</a:t>
            </a:r>
          </a:p>
        </p:txBody>
      </p:sp>
      <p:sp>
        <p:nvSpPr>
          <p:cNvPr id="43011" name="Text Box 4">
            <a:extLst>
              <a:ext uri="{FF2B5EF4-FFF2-40B4-BE49-F238E27FC236}">
                <a16:creationId xmlns:a16="http://schemas.microsoft.com/office/drawing/2014/main" id="{5877F070-6C6D-5B30-1D51-428613881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038601"/>
            <a:ext cx="8077200" cy="161607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</a:rPr>
              <a:t>P(A) = P(A 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 S</a:t>
            </a:r>
            <a:r>
              <a:rPr lang="en-US" altLang="ko-KR" sz="2800" b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1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 + 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</a:rPr>
              <a:t>P(A 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 S</a:t>
            </a:r>
            <a:r>
              <a:rPr lang="en-US" altLang="ko-KR" sz="2800" b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2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 + … + 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</a:rPr>
              <a:t>P(A 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 S</a:t>
            </a:r>
            <a:r>
              <a:rPr lang="en-US" altLang="ko-KR" sz="2800" b="1" i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k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= P(S</a:t>
            </a:r>
            <a:r>
              <a:rPr lang="en-US" altLang="ko-KR" sz="2800" b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1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)P(A|S</a:t>
            </a:r>
            <a:r>
              <a:rPr lang="en-US" altLang="ko-KR" sz="2800" b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1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 + P(S</a:t>
            </a:r>
            <a:r>
              <a:rPr lang="en-US" altLang="ko-KR" sz="2800" b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2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)P(A|S</a:t>
            </a:r>
            <a:r>
              <a:rPr lang="en-US" altLang="ko-KR" sz="2800" b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2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 + … + P(S</a:t>
            </a:r>
            <a:r>
              <a:rPr lang="en-US" altLang="ko-KR" sz="2800" b="1" i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k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)P(A|S</a:t>
            </a:r>
            <a:r>
              <a:rPr lang="en-US" altLang="ko-KR" sz="2800" b="1" i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k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</a:t>
            </a:r>
          </a:p>
          <a:p>
            <a:pPr lvl="2" eaLnBrk="1" hangingPunct="1">
              <a:spcBef>
                <a:spcPct val="20000"/>
              </a:spcBef>
            </a:pPr>
            <a:endParaRPr lang="ko-KR" altLang="en-US" sz="2800" b="1">
              <a:solidFill>
                <a:srgbClr val="333333"/>
              </a:solidFill>
              <a:ea typeface="굴림" panose="020B0600000101010101" pitchFamily="34" charset="-127"/>
            </a:endParaRPr>
          </a:p>
        </p:txBody>
      </p:sp>
      <p:sp>
        <p:nvSpPr>
          <p:cNvPr id="43012" name="Rectangle 8">
            <a:extLst>
              <a:ext uri="{FF2B5EF4-FFF2-40B4-BE49-F238E27FC236}">
                <a16:creationId xmlns:a16="http://schemas.microsoft.com/office/drawing/2014/main" id="{AD298016-A8E9-A4D1-B53D-BF3F655D5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40541" y="1801905"/>
            <a:ext cx="10130117" cy="138056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None/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Let S</a:t>
            </a:r>
            <a:r>
              <a:rPr lang="en-US" altLang="ko-KR" baseline="-25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1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 , S</a:t>
            </a:r>
            <a:r>
              <a:rPr lang="en-US" altLang="ko-KR" baseline="-25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2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, S</a:t>
            </a:r>
            <a:r>
              <a:rPr lang="en-US" altLang="ko-KR" baseline="-25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3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 ,..., </a:t>
            </a:r>
            <a:r>
              <a:rPr lang="en-US" altLang="ko-KR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S</a:t>
            </a:r>
            <a:r>
              <a:rPr lang="en-US" altLang="ko-KR" i="1" baseline="-25000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k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굴림" panose="020B0600000101010101" pitchFamily="34" charset="-127"/>
                <a:cs typeface="Arial" panose="020B0604020202020204" pitchFamily="34" charset="0"/>
              </a:rPr>
              <a:t> be mutually exclusive and exhaustive events (that is, one and only one must happen).  Then the probability of another event A can be written as</a:t>
            </a:r>
          </a:p>
          <a:p>
            <a:pPr eaLnBrk="1" hangingPunct="1">
              <a:buFontTx/>
              <a:buNone/>
            </a:pPr>
            <a:endParaRPr lang="ko-KR" altLang="en-US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굴림" panose="020B0600000101010101" pitchFamily="34" charset="-127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52271390-9A3E-759B-8C53-7494B4976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1" y="1268324"/>
            <a:ext cx="4479925" cy="333057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ko-KR" altLang="en-US">
              <a:latin typeface="Book Antiqua" panose="02040602050305030304" pitchFamily="18" charset="0"/>
              <a:ea typeface="굴림" panose="020B0600000101010101" pitchFamily="34" charset="-127"/>
            </a:endParaRPr>
          </a:p>
        </p:txBody>
      </p:sp>
      <p:sp>
        <p:nvSpPr>
          <p:cNvPr id="129026" name="Rectangle 2">
            <a:extLst>
              <a:ext uri="{FF2B5EF4-FFF2-40B4-BE49-F238E27FC236}">
                <a16:creationId xmlns:a16="http://schemas.microsoft.com/office/drawing/2014/main" id="{2D9C15A9-A110-CEB1-A867-18CBFD9F7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0638" y="150724"/>
            <a:ext cx="8382000" cy="93345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algn="ctr" eaLnBrk="1" hangingPunct="1">
              <a:defRPr/>
            </a:pPr>
            <a:r>
              <a:rPr lang="en-US" altLang="ko-KR" sz="4000" dirty="0">
                <a:ea typeface="굴림" charset="-127"/>
              </a:rPr>
              <a:t>The Law of Total Probability</a:t>
            </a:r>
          </a:p>
        </p:txBody>
      </p:sp>
      <p:sp>
        <p:nvSpPr>
          <p:cNvPr id="129032" name="Oval 8">
            <a:extLst>
              <a:ext uri="{FF2B5EF4-FFF2-40B4-BE49-F238E27FC236}">
                <a16:creationId xmlns:a16="http://schemas.microsoft.com/office/drawing/2014/main" id="{CC6BF535-0258-0F0D-B007-054902D9B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738" y="2008099"/>
            <a:ext cx="2444750" cy="1933575"/>
          </a:xfrm>
          <a:prstGeom prst="ellipse">
            <a:avLst/>
          </a:prstGeom>
          <a:solidFill>
            <a:srgbClr val="F0D27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ko-KR">
                <a:latin typeface="Book Antiqua" panose="02040602050305030304" pitchFamily="18" charset="0"/>
                <a:ea typeface="굴림" panose="020B0600000101010101" pitchFamily="34" charset="-127"/>
              </a:rPr>
              <a:t>A</a:t>
            </a:r>
          </a:p>
        </p:txBody>
      </p:sp>
      <p:grpSp>
        <p:nvGrpSpPr>
          <p:cNvPr id="129045" name="Group 21">
            <a:extLst>
              <a:ext uri="{FF2B5EF4-FFF2-40B4-BE49-F238E27FC236}">
                <a16:creationId xmlns:a16="http://schemas.microsoft.com/office/drawing/2014/main" id="{EFFFE933-C627-18C6-D218-B915842617A7}"/>
              </a:ext>
            </a:extLst>
          </p:cNvPr>
          <p:cNvGrpSpPr>
            <a:grpSpLocks/>
          </p:cNvGrpSpPr>
          <p:nvPr/>
        </p:nvGrpSpPr>
        <p:grpSpPr bwMode="auto">
          <a:xfrm>
            <a:off x="6751638" y="2617698"/>
            <a:ext cx="995362" cy="609600"/>
            <a:chOff x="3293" y="1344"/>
            <a:chExt cx="627" cy="384"/>
          </a:xfrm>
        </p:grpSpPr>
        <p:sp>
          <p:nvSpPr>
            <p:cNvPr id="44050" name="Text Box 17">
              <a:extLst>
                <a:ext uri="{FF2B5EF4-FFF2-40B4-BE49-F238E27FC236}">
                  <a16:creationId xmlns:a16="http://schemas.microsoft.com/office/drawing/2014/main" id="{9D2DE3D5-50C6-DD7E-3B70-407A00C7CE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344"/>
              <a:ext cx="560" cy="258"/>
            </a:xfrm>
            <a:prstGeom prst="rect">
              <a:avLst/>
            </a:prstGeom>
            <a:solidFill>
              <a:srgbClr val="CC0066"/>
            </a:solidFill>
            <a:ln w="12700">
              <a:solidFill>
                <a:srgbClr val="F4ECC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ko-KR" sz="2000">
                  <a:solidFill>
                    <a:srgbClr val="F4ECC6"/>
                  </a:solidFill>
                  <a:ea typeface="굴림" panose="020B0600000101010101" pitchFamily="34" charset="-127"/>
                  <a:sym typeface="Symbol" panose="05050102010706020507" pitchFamily="18" charset="2"/>
                </a:rPr>
                <a:t>A </a:t>
              </a:r>
              <a:r>
                <a:rPr lang="en-US" altLang="ko-KR" sz="2000">
                  <a:solidFill>
                    <a:srgbClr val="F4ECC6"/>
                  </a:solidFill>
                  <a:ea typeface="굴림" panose="020B0600000101010101" pitchFamily="34" charset="-127"/>
                </a:rPr>
                <a:t>S</a:t>
              </a:r>
              <a:r>
                <a:rPr lang="en-US" altLang="ko-KR" sz="2000" i="1" baseline="-25000">
                  <a:solidFill>
                    <a:srgbClr val="F4ECC6"/>
                  </a:solidFill>
                  <a:ea typeface="굴림" panose="020B0600000101010101" pitchFamily="34" charset="-127"/>
                </a:rPr>
                <a:t>k</a:t>
              </a:r>
              <a:endParaRPr lang="en-US" altLang="ko-KR" sz="2000" i="1">
                <a:solidFill>
                  <a:srgbClr val="F4ECC6"/>
                </a:solidFill>
                <a:ea typeface="굴림" panose="020B0600000101010101" pitchFamily="34" charset="-127"/>
                <a:sym typeface="Symbol" panose="05050102010706020507" pitchFamily="18" charset="2"/>
              </a:endParaRPr>
            </a:p>
          </p:txBody>
        </p:sp>
        <p:sp>
          <p:nvSpPr>
            <p:cNvPr id="44051" name="Line 18">
              <a:extLst>
                <a:ext uri="{FF2B5EF4-FFF2-40B4-BE49-F238E27FC236}">
                  <a16:creationId xmlns:a16="http://schemas.microsoft.com/office/drawing/2014/main" id="{DA372E3C-6C88-56C8-4CD6-B441D82DA5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93" y="1584"/>
              <a:ext cx="211" cy="144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</p:grpSp>
      <p:grpSp>
        <p:nvGrpSpPr>
          <p:cNvPr id="129044" name="Group 20">
            <a:extLst>
              <a:ext uri="{FF2B5EF4-FFF2-40B4-BE49-F238E27FC236}">
                <a16:creationId xmlns:a16="http://schemas.microsoft.com/office/drawing/2014/main" id="{DAB5B9A5-A133-40AF-BAB8-94DFCE38F54B}"/>
              </a:ext>
            </a:extLst>
          </p:cNvPr>
          <p:cNvGrpSpPr>
            <a:grpSpLocks/>
          </p:cNvGrpSpPr>
          <p:nvPr/>
        </p:nvGrpSpPr>
        <p:grpSpPr bwMode="auto">
          <a:xfrm>
            <a:off x="3581401" y="3227299"/>
            <a:ext cx="1216025" cy="714375"/>
            <a:chOff x="1344" y="1728"/>
            <a:chExt cx="718" cy="450"/>
          </a:xfrm>
        </p:grpSpPr>
        <p:sp>
          <p:nvSpPr>
            <p:cNvPr id="44048" name="Line 16">
              <a:extLst>
                <a:ext uri="{FF2B5EF4-FFF2-40B4-BE49-F238E27FC236}">
                  <a16:creationId xmlns:a16="http://schemas.microsoft.com/office/drawing/2014/main" id="{9106ABA8-D0FC-0F25-3544-A9EB21C28E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7" y="1728"/>
              <a:ext cx="185" cy="244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D"/>
            </a:p>
          </p:txBody>
        </p:sp>
        <p:sp>
          <p:nvSpPr>
            <p:cNvPr id="44049" name="Text Box 19">
              <a:extLst>
                <a:ext uri="{FF2B5EF4-FFF2-40B4-BE49-F238E27FC236}">
                  <a16:creationId xmlns:a16="http://schemas.microsoft.com/office/drawing/2014/main" id="{E872C66F-1149-8353-C570-0765475AFE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920"/>
              <a:ext cx="560" cy="258"/>
            </a:xfrm>
            <a:prstGeom prst="rect">
              <a:avLst/>
            </a:prstGeom>
            <a:solidFill>
              <a:srgbClr val="CC0066"/>
            </a:solidFill>
            <a:ln w="12700">
              <a:solidFill>
                <a:srgbClr val="F4ECC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ko-KR" sz="2000">
                  <a:solidFill>
                    <a:srgbClr val="F4ECC6"/>
                  </a:solidFill>
                  <a:ea typeface="굴림" panose="020B0600000101010101" pitchFamily="34" charset="-127"/>
                  <a:sym typeface="Symbol" panose="05050102010706020507" pitchFamily="18" charset="2"/>
                </a:rPr>
                <a:t>A  </a:t>
              </a:r>
              <a:r>
                <a:rPr lang="en-US" altLang="ko-KR" sz="2000">
                  <a:solidFill>
                    <a:srgbClr val="F4ECC6"/>
                  </a:solidFill>
                  <a:ea typeface="굴림" panose="020B0600000101010101" pitchFamily="34" charset="-127"/>
                </a:rPr>
                <a:t>S</a:t>
              </a:r>
              <a:r>
                <a:rPr lang="en-US" altLang="ko-KR" sz="2000" baseline="-25000">
                  <a:solidFill>
                    <a:srgbClr val="F4ECC6"/>
                  </a:solidFill>
                  <a:ea typeface="굴림" panose="020B0600000101010101" pitchFamily="34" charset="-127"/>
                </a:rPr>
                <a:t>1</a:t>
              </a:r>
              <a:endParaRPr lang="en-US" altLang="ko-KR" sz="2000">
                <a:solidFill>
                  <a:srgbClr val="F4ECC6"/>
                </a:solidFill>
                <a:ea typeface="굴림" panose="020B0600000101010101" pitchFamily="34" charset="-127"/>
                <a:sym typeface="Symbol" panose="05050102010706020507" pitchFamily="18" charset="2"/>
              </a:endParaRPr>
            </a:p>
          </p:txBody>
        </p:sp>
      </p:grpSp>
      <p:grpSp>
        <p:nvGrpSpPr>
          <p:cNvPr id="129049" name="Group 25">
            <a:extLst>
              <a:ext uri="{FF2B5EF4-FFF2-40B4-BE49-F238E27FC236}">
                <a16:creationId xmlns:a16="http://schemas.microsoft.com/office/drawing/2014/main" id="{3AE8BA1C-D169-41D7-908A-37F954A27612}"/>
              </a:ext>
            </a:extLst>
          </p:cNvPr>
          <p:cNvGrpSpPr>
            <a:grpSpLocks/>
          </p:cNvGrpSpPr>
          <p:nvPr/>
        </p:nvGrpSpPr>
        <p:grpSpPr bwMode="auto">
          <a:xfrm>
            <a:off x="3798889" y="1246098"/>
            <a:ext cx="3727449" cy="3352800"/>
            <a:chOff x="1433" y="480"/>
            <a:chExt cx="2348" cy="2112"/>
          </a:xfrm>
        </p:grpSpPr>
        <p:sp>
          <p:nvSpPr>
            <p:cNvPr id="44042" name="Text Box 12">
              <a:extLst>
                <a:ext uri="{FF2B5EF4-FFF2-40B4-BE49-F238E27FC236}">
                  <a16:creationId xmlns:a16="http://schemas.microsoft.com/office/drawing/2014/main" id="{881B6B69-BC27-0126-7299-9D194D18BE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4" y="2163"/>
              <a:ext cx="39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ko-KR" sz="2000">
                  <a:solidFill>
                    <a:srgbClr val="333333"/>
                  </a:solidFill>
                  <a:ea typeface="굴림" panose="020B0600000101010101" pitchFamily="34" charset="-127"/>
                </a:rPr>
                <a:t>S</a:t>
              </a:r>
              <a:r>
                <a:rPr lang="en-US" altLang="ko-KR" sz="2000" baseline="-25000">
                  <a:solidFill>
                    <a:srgbClr val="333333"/>
                  </a:solidFill>
                  <a:ea typeface="굴림" panose="020B0600000101010101" pitchFamily="34" charset="-127"/>
                </a:rPr>
                <a:t>2….</a:t>
              </a:r>
              <a:endParaRPr lang="en-US" altLang="ko-KR" sz="2000">
                <a:solidFill>
                  <a:srgbClr val="333333"/>
                </a:solidFill>
                <a:ea typeface="굴림" panose="020B0600000101010101" pitchFamily="34" charset="-127"/>
              </a:endParaRPr>
            </a:p>
          </p:txBody>
        </p:sp>
        <p:grpSp>
          <p:nvGrpSpPr>
            <p:cNvPr id="44043" name="Group 24">
              <a:extLst>
                <a:ext uri="{FF2B5EF4-FFF2-40B4-BE49-F238E27FC236}">
                  <a16:creationId xmlns:a16="http://schemas.microsoft.com/office/drawing/2014/main" id="{23D5CA57-4DFB-AA5D-8652-3751C48365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3" y="480"/>
              <a:ext cx="2348" cy="2112"/>
              <a:chOff x="1433" y="480"/>
              <a:chExt cx="2348" cy="2112"/>
            </a:xfrm>
          </p:grpSpPr>
          <p:sp>
            <p:nvSpPr>
              <p:cNvPr id="44044" name="Text Box 11">
                <a:extLst>
                  <a:ext uri="{FF2B5EF4-FFF2-40B4-BE49-F238E27FC236}">
                    <a16:creationId xmlns:a16="http://schemas.microsoft.com/office/drawing/2014/main" id="{37AC5AD8-0125-20F0-97E7-E7E029B2AC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3" y="701"/>
                <a:ext cx="26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ko-KR" sz="2000">
                    <a:solidFill>
                      <a:srgbClr val="333333"/>
                    </a:solidFill>
                    <a:ea typeface="굴림" panose="020B0600000101010101" pitchFamily="34" charset="-127"/>
                  </a:rPr>
                  <a:t>S</a:t>
                </a:r>
                <a:r>
                  <a:rPr lang="en-US" altLang="ko-KR" sz="2000" baseline="-25000">
                    <a:solidFill>
                      <a:srgbClr val="333333"/>
                    </a:solidFill>
                    <a:ea typeface="굴림" panose="020B0600000101010101" pitchFamily="34" charset="-127"/>
                  </a:rPr>
                  <a:t>1</a:t>
                </a:r>
                <a:endParaRPr lang="en-US" altLang="ko-KR" sz="2000">
                  <a:solidFill>
                    <a:srgbClr val="333333"/>
                  </a:solidFill>
                  <a:ea typeface="굴림" panose="020B0600000101010101" pitchFamily="34" charset="-127"/>
                </a:endParaRPr>
              </a:p>
            </p:txBody>
          </p:sp>
          <p:sp>
            <p:nvSpPr>
              <p:cNvPr id="44045" name="Text Box 14">
                <a:extLst>
                  <a:ext uri="{FF2B5EF4-FFF2-40B4-BE49-F238E27FC236}">
                    <a16:creationId xmlns:a16="http://schemas.microsoft.com/office/drawing/2014/main" id="{C69BF4F8-DD69-4AE3-16B3-EE498C8187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7" y="2001"/>
                <a:ext cx="254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ko-KR" sz="2000">
                    <a:solidFill>
                      <a:srgbClr val="333333"/>
                    </a:solidFill>
                    <a:ea typeface="굴림" panose="020B0600000101010101" pitchFamily="34" charset="-127"/>
                  </a:rPr>
                  <a:t>S</a:t>
                </a:r>
                <a:r>
                  <a:rPr lang="en-US" altLang="ko-KR" sz="2000" i="1" baseline="-25000">
                    <a:solidFill>
                      <a:srgbClr val="333333"/>
                    </a:solidFill>
                    <a:ea typeface="굴림" panose="020B0600000101010101" pitchFamily="34" charset="-127"/>
                  </a:rPr>
                  <a:t>k</a:t>
                </a:r>
                <a:endParaRPr lang="en-US" altLang="ko-KR" sz="2000" i="1">
                  <a:solidFill>
                    <a:srgbClr val="333333"/>
                  </a:solidFill>
                  <a:ea typeface="굴림" panose="020B0600000101010101" pitchFamily="34" charset="-127"/>
                </a:endParaRPr>
              </a:p>
            </p:txBody>
          </p:sp>
          <p:sp>
            <p:nvSpPr>
              <p:cNvPr id="44046" name="Freeform 10">
                <a:extLst>
                  <a:ext uri="{FF2B5EF4-FFF2-40B4-BE49-F238E27FC236}">
                    <a16:creationId xmlns:a16="http://schemas.microsoft.com/office/drawing/2014/main" id="{74E847F5-1C3A-9E77-5ECF-A4FA52377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480"/>
                <a:ext cx="739" cy="2112"/>
              </a:xfrm>
              <a:custGeom>
                <a:avLst/>
                <a:gdLst>
                  <a:gd name="T0" fmla="*/ 739 w 576"/>
                  <a:gd name="T1" fmla="*/ 0 h 1248"/>
                  <a:gd name="T2" fmla="*/ 246 w 576"/>
                  <a:gd name="T3" fmla="*/ 1056 h 1248"/>
                  <a:gd name="T4" fmla="*/ 370 w 576"/>
                  <a:gd name="T5" fmla="*/ 1300 h 1248"/>
                  <a:gd name="T6" fmla="*/ 123 w 576"/>
                  <a:gd name="T7" fmla="*/ 1625 h 1248"/>
                  <a:gd name="T8" fmla="*/ 0 w 576"/>
                  <a:gd name="T9" fmla="*/ 2112 h 12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6" h="1248">
                    <a:moveTo>
                      <a:pt x="576" y="0"/>
                    </a:moveTo>
                    <a:cubicBezTo>
                      <a:pt x="408" y="248"/>
                      <a:pt x="240" y="496"/>
                      <a:pt x="192" y="624"/>
                    </a:cubicBezTo>
                    <a:cubicBezTo>
                      <a:pt x="144" y="752"/>
                      <a:pt x="304" y="712"/>
                      <a:pt x="288" y="768"/>
                    </a:cubicBezTo>
                    <a:cubicBezTo>
                      <a:pt x="272" y="824"/>
                      <a:pt x="144" y="880"/>
                      <a:pt x="96" y="960"/>
                    </a:cubicBezTo>
                    <a:cubicBezTo>
                      <a:pt x="48" y="1040"/>
                      <a:pt x="24" y="1144"/>
                      <a:pt x="0" y="1248"/>
                    </a:cubicBez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44047" name="Freeform 9">
                <a:extLst>
                  <a:ext uri="{FF2B5EF4-FFF2-40B4-BE49-F238E27FC236}">
                    <a16:creationId xmlns:a16="http://schemas.microsoft.com/office/drawing/2014/main" id="{D4E971E9-BEB1-7EA1-071D-1A909B25A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9" y="480"/>
                <a:ext cx="554" cy="2112"/>
              </a:xfrm>
              <a:custGeom>
                <a:avLst/>
                <a:gdLst>
                  <a:gd name="T0" fmla="*/ 554 w 432"/>
                  <a:gd name="T1" fmla="*/ 0 h 1248"/>
                  <a:gd name="T2" fmla="*/ 431 w 432"/>
                  <a:gd name="T3" fmla="*/ 894 h 1248"/>
                  <a:gd name="T4" fmla="*/ 246 w 432"/>
                  <a:gd name="T5" fmla="*/ 894 h 1248"/>
                  <a:gd name="T6" fmla="*/ 185 w 432"/>
                  <a:gd name="T7" fmla="*/ 1300 h 1248"/>
                  <a:gd name="T8" fmla="*/ 185 w 432"/>
                  <a:gd name="T9" fmla="*/ 1706 h 1248"/>
                  <a:gd name="T10" fmla="*/ 0 w 432"/>
                  <a:gd name="T11" fmla="*/ 2112 h 124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32" h="1248">
                    <a:moveTo>
                      <a:pt x="432" y="0"/>
                    </a:moveTo>
                    <a:cubicBezTo>
                      <a:pt x="404" y="220"/>
                      <a:pt x="376" y="440"/>
                      <a:pt x="336" y="528"/>
                    </a:cubicBezTo>
                    <a:cubicBezTo>
                      <a:pt x="296" y="616"/>
                      <a:pt x="224" y="488"/>
                      <a:pt x="192" y="528"/>
                    </a:cubicBezTo>
                    <a:cubicBezTo>
                      <a:pt x="160" y="568"/>
                      <a:pt x="152" y="688"/>
                      <a:pt x="144" y="768"/>
                    </a:cubicBezTo>
                    <a:cubicBezTo>
                      <a:pt x="136" y="848"/>
                      <a:pt x="168" y="928"/>
                      <a:pt x="144" y="1008"/>
                    </a:cubicBezTo>
                    <a:cubicBezTo>
                      <a:pt x="120" y="1088"/>
                      <a:pt x="32" y="1208"/>
                      <a:pt x="0" y="1248"/>
                    </a:cubicBezTo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</p:grpSp>
      </p:grpSp>
      <p:sp>
        <p:nvSpPr>
          <p:cNvPr id="129051" name="Text Box 27">
            <a:extLst>
              <a:ext uri="{FF2B5EF4-FFF2-40B4-BE49-F238E27FC236}">
                <a16:creationId xmlns:a16="http://schemas.microsoft.com/office/drawing/2014/main" id="{96AADB38-782B-B515-3F56-77888C23D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5056099"/>
            <a:ext cx="8077200" cy="1103313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</a:rPr>
              <a:t>P(A) = P(A 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 S</a:t>
            </a:r>
            <a:r>
              <a:rPr lang="en-US" altLang="ko-KR" sz="2800" b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1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 + 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</a:rPr>
              <a:t>P(A 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 S</a:t>
            </a:r>
            <a:r>
              <a:rPr lang="en-US" altLang="ko-KR" sz="2800" b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2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 + … + 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</a:rPr>
              <a:t>P(A 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 S</a:t>
            </a:r>
            <a:r>
              <a:rPr lang="en-US" altLang="ko-KR" sz="2800" b="1" i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k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= P(S</a:t>
            </a:r>
            <a:r>
              <a:rPr lang="en-US" altLang="ko-KR" sz="2800" b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1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)P(A|S</a:t>
            </a:r>
            <a:r>
              <a:rPr lang="en-US" altLang="ko-KR" sz="2800" b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1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 + P(S</a:t>
            </a:r>
            <a:r>
              <a:rPr lang="en-US" altLang="ko-KR" sz="2800" b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2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)P(A|S</a:t>
            </a:r>
            <a:r>
              <a:rPr lang="en-US" altLang="ko-KR" sz="2800" b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2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 + … + P(S</a:t>
            </a:r>
            <a:r>
              <a:rPr lang="en-US" altLang="ko-KR" sz="2800" b="1" i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k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)P(A|S</a:t>
            </a:r>
            <a:r>
              <a:rPr lang="en-US" altLang="ko-KR" sz="2800" b="1" i="1" baseline="-25000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k</a:t>
            </a:r>
            <a:r>
              <a:rPr lang="en-US" altLang="ko-KR" sz="2800" b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)</a:t>
            </a:r>
            <a:endParaRPr lang="en-US" altLang="ko-KR" sz="2800" b="1">
              <a:solidFill>
                <a:srgbClr val="333333"/>
              </a:solidFill>
              <a:ea typeface="굴림" panose="020B0600000101010101" pitchFamily="34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9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905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905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9051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9051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9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9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9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9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9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9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9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9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2" grpId="0" animBg="1" autoUpdateAnimBg="0"/>
      <p:bldP spid="129051" grpId="0" build="p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0EB404FA-A11F-E0B3-5FB7-01401123D5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18764" y="358588"/>
            <a:ext cx="8382000" cy="93345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Bayes’ Rule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7ACEE76E-5D20-7B0C-2443-A42A9C5FE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77788" y="1752600"/>
            <a:ext cx="9825318" cy="22098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ko-KR" sz="3200" dirty="0">
                <a:ea typeface="굴림" panose="020B0600000101010101" pitchFamily="34" charset="-127"/>
              </a:rPr>
              <a:t>Let S</a:t>
            </a:r>
            <a:r>
              <a:rPr lang="en-US" altLang="ko-KR" sz="3200" baseline="-25000" dirty="0">
                <a:ea typeface="굴림" panose="020B0600000101010101" pitchFamily="34" charset="-127"/>
              </a:rPr>
              <a:t>1</a:t>
            </a:r>
            <a:r>
              <a:rPr lang="en-US" altLang="ko-KR" sz="3200" dirty="0">
                <a:ea typeface="굴림" panose="020B0600000101010101" pitchFamily="34" charset="-127"/>
              </a:rPr>
              <a:t> , S</a:t>
            </a:r>
            <a:r>
              <a:rPr lang="en-US" altLang="ko-KR" sz="3200" baseline="-25000" dirty="0">
                <a:ea typeface="굴림" panose="020B0600000101010101" pitchFamily="34" charset="-127"/>
              </a:rPr>
              <a:t>2 </a:t>
            </a:r>
            <a:r>
              <a:rPr lang="en-US" altLang="ko-KR" sz="3200" dirty="0">
                <a:ea typeface="굴림" panose="020B0600000101010101" pitchFamily="34" charset="-127"/>
              </a:rPr>
              <a:t>, S</a:t>
            </a:r>
            <a:r>
              <a:rPr lang="en-US" altLang="ko-KR" sz="3200" baseline="-25000" dirty="0">
                <a:ea typeface="굴림" panose="020B0600000101010101" pitchFamily="34" charset="-127"/>
              </a:rPr>
              <a:t>3</a:t>
            </a:r>
            <a:r>
              <a:rPr lang="en-US" altLang="ko-KR" sz="3200" dirty="0">
                <a:ea typeface="굴림" panose="020B0600000101010101" pitchFamily="34" charset="-127"/>
              </a:rPr>
              <a:t> ,..., </a:t>
            </a:r>
            <a:r>
              <a:rPr lang="en-US" altLang="ko-KR" sz="3200" dirty="0" err="1">
                <a:ea typeface="굴림" panose="020B0600000101010101" pitchFamily="34" charset="-127"/>
              </a:rPr>
              <a:t>S</a:t>
            </a:r>
            <a:r>
              <a:rPr lang="en-US" altLang="ko-KR" sz="3200" i="1" baseline="-25000" dirty="0" err="1">
                <a:ea typeface="굴림" panose="020B0600000101010101" pitchFamily="34" charset="-127"/>
              </a:rPr>
              <a:t>k</a:t>
            </a:r>
            <a:r>
              <a:rPr lang="en-US" altLang="ko-KR" sz="3200" dirty="0">
                <a:ea typeface="굴림" panose="020B0600000101010101" pitchFamily="34" charset="-127"/>
              </a:rPr>
              <a:t> be mutually exclusive and exhaustive events with prior probabilities P(S</a:t>
            </a:r>
            <a:r>
              <a:rPr lang="en-US" altLang="ko-KR" sz="3200" baseline="-25000" dirty="0">
                <a:ea typeface="굴림" panose="020B0600000101010101" pitchFamily="34" charset="-127"/>
              </a:rPr>
              <a:t>1</a:t>
            </a:r>
            <a:r>
              <a:rPr lang="en-US" altLang="ko-KR" sz="3200" dirty="0">
                <a:ea typeface="굴림" panose="020B0600000101010101" pitchFamily="34" charset="-127"/>
              </a:rPr>
              <a:t>), P(S</a:t>
            </a:r>
            <a:r>
              <a:rPr lang="en-US" altLang="ko-KR" sz="3200" baseline="-25000" dirty="0">
                <a:ea typeface="굴림" panose="020B0600000101010101" pitchFamily="34" charset="-127"/>
              </a:rPr>
              <a:t>2</a:t>
            </a:r>
            <a:r>
              <a:rPr lang="en-US" altLang="ko-KR" sz="3200" dirty="0">
                <a:ea typeface="굴림" panose="020B0600000101010101" pitchFamily="34" charset="-127"/>
              </a:rPr>
              <a:t>),…,P(</a:t>
            </a:r>
            <a:r>
              <a:rPr lang="en-US" altLang="ko-KR" sz="3200" dirty="0" err="1">
                <a:ea typeface="굴림" panose="020B0600000101010101" pitchFamily="34" charset="-127"/>
              </a:rPr>
              <a:t>S</a:t>
            </a:r>
            <a:r>
              <a:rPr lang="en-US" altLang="ko-KR" sz="3200" i="1" baseline="-25000" dirty="0" err="1">
                <a:ea typeface="굴림" panose="020B0600000101010101" pitchFamily="34" charset="-127"/>
              </a:rPr>
              <a:t>k</a:t>
            </a:r>
            <a:r>
              <a:rPr lang="en-US" altLang="ko-KR" sz="3200" dirty="0">
                <a:ea typeface="굴림" panose="020B0600000101010101" pitchFamily="34" charset="-127"/>
              </a:rPr>
              <a:t>). If an event A occurs, the posterior probability of S</a:t>
            </a:r>
            <a:r>
              <a:rPr lang="en-US" altLang="ko-KR" sz="3200" i="1" baseline="-25000" dirty="0">
                <a:ea typeface="굴림" panose="020B0600000101010101" pitchFamily="34" charset="-127"/>
              </a:rPr>
              <a:t>i</a:t>
            </a:r>
            <a:r>
              <a:rPr lang="en-US" altLang="ko-KR" sz="3200" dirty="0">
                <a:ea typeface="굴림" panose="020B0600000101010101" pitchFamily="34" charset="-127"/>
              </a:rPr>
              <a:t>, given that A occurred is</a:t>
            </a:r>
          </a:p>
        </p:txBody>
      </p:sp>
      <p:graphicFrame>
        <p:nvGraphicFramePr>
          <p:cNvPr id="45061" name="Object 8">
            <a:extLst>
              <a:ext uri="{FF2B5EF4-FFF2-40B4-BE49-F238E27FC236}">
                <a16:creationId xmlns:a16="http://schemas.microsoft.com/office/drawing/2014/main" id="{C158B278-3638-E50C-52FF-FB7B96E2E9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1" y="4114800"/>
          <a:ext cx="7802563" cy="123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800" imgH="431800" progId="Equation.3">
                  <p:embed/>
                </p:oleObj>
              </mc:Choice>
              <mc:Fallback>
                <p:oleObj name="Equation" r:id="rId2" imgW="2717800" imgH="431800" progId="Equation.3">
                  <p:embed/>
                  <p:pic>
                    <p:nvPicPr>
                      <p:cNvPr id="45061" name="Object 8">
                        <a:extLst>
                          <a:ext uri="{FF2B5EF4-FFF2-40B4-BE49-F238E27FC236}">
                            <a16:creationId xmlns:a16="http://schemas.microsoft.com/office/drawing/2014/main" id="{C158B278-3638-E50C-52FF-FB7B96E2E9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4114800"/>
                        <a:ext cx="7802563" cy="1239838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6" name="Text Box 8">
            <a:extLst>
              <a:ext uri="{FF2B5EF4-FFF2-40B4-BE49-F238E27FC236}">
                <a16:creationId xmlns:a16="http://schemas.microsoft.com/office/drawing/2014/main" id="{3878F8BA-7D91-7C0E-3DDF-E62524C62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114800"/>
            <a:ext cx="2743200" cy="2255838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We know:</a:t>
            </a:r>
          </a:p>
          <a:p>
            <a:pPr eaLnBrk="1" hangingPunct="1"/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P(F) = </a:t>
            </a:r>
          </a:p>
          <a:p>
            <a:pPr eaLnBrk="1" hangingPunct="1"/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P(M) =  </a:t>
            </a:r>
          </a:p>
          <a:p>
            <a:pPr eaLnBrk="1" hangingPunct="1"/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P(H|F) =  </a:t>
            </a:r>
          </a:p>
          <a:p>
            <a:pPr eaLnBrk="1" hangingPunct="1"/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P(H|M) =  </a:t>
            </a:r>
            <a:endParaRPr lang="en-US" altLang="ko-KR" sz="2800">
              <a:ea typeface="굴림" panose="020B0600000101010101" pitchFamily="34" charset="-127"/>
            </a:endParaRPr>
          </a:p>
        </p:txBody>
      </p:sp>
      <p:sp>
        <p:nvSpPr>
          <p:cNvPr id="130050" name="Rectangle 2">
            <a:extLst>
              <a:ext uri="{FF2B5EF4-FFF2-40B4-BE49-F238E27FC236}">
                <a16:creationId xmlns:a16="http://schemas.microsoft.com/office/drawing/2014/main" id="{2FDCE6C1-D2D6-7481-044E-15950BC8A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21423" y="86285"/>
            <a:ext cx="63246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ko-KR" sz="4800" dirty="0">
                <a:ea typeface="굴림" charset="-127"/>
              </a:rPr>
              <a:t>Example</a:t>
            </a:r>
          </a:p>
        </p:txBody>
      </p:sp>
      <p:sp>
        <p:nvSpPr>
          <p:cNvPr id="46084" name="Text Box 3">
            <a:extLst>
              <a:ext uri="{FF2B5EF4-FFF2-40B4-BE49-F238E27FC236}">
                <a16:creationId xmlns:a16="http://schemas.microsoft.com/office/drawing/2014/main" id="{0DDA6FB9-1006-8FE7-7CE0-07EEB8CC2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2965" y="1219200"/>
            <a:ext cx="1010322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ko-KR" sz="2800">
                <a:solidFill>
                  <a:srgbClr val="339933"/>
                </a:solidFill>
                <a:ea typeface="굴림" panose="020B0600000101010101" pitchFamily="34" charset="-127"/>
              </a:rPr>
              <a:t>From a previous example, we know that 49% of the population are female. Of the female patients, 8% are high risk for heart attack, while 12% of the male patients are high risk. A single person is selected at random and found to be high risk. What is the probability that it is a male?</a:t>
            </a:r>
          </a:p>
        </p:txBody>
      </p:sp>
      <p:sp>
        <p:nvSpPr>
          <p:cNvPr id="130055" name="Text Box 7">
            <a:extLst>
              <a:ext uri="{FF2B5EF4-FFF2-40B4-BE49-F238E27FC236}">
                <a16:creationId xmlns:a16="http://schemas.microsoft.com/office/drawing/2014/main" id="{AB90D548-EE4F-F192-8922-4A536692A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429001"/>
            <a:ext cx="723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2800">
                <a:solidFill>
                  <a:srgbClr val="CC0066"/>
                </a:solidFill>
                <a:ea typeface="굴림" panose="020B0600000101010101" pitchFamily="34" charset="-127"/>
              </a:rPr>
              <a:t>Define H: high risk     F: female     M: male</a:t>
            </a:r>
          </a:p>
        </p:txBody>
      </p:sp>
      <p:graphicFrame>
        <p:nvGraphicFramePr>
          <p:cNvPr id="130058" name="Object 10">
            <a:extLst>
              <a:ext uri="{FF2B5EF4-FFF2-40B4-BE49-F238E27FC236}">
                <a16:creationId xmlns:a16="http://schemas.microsoft.com/office/drawing/2014/main" id="{8C05C95F-7C10-0228-7BE2-F8458188FC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1750" y="4038601"/>
          <a:ext cx="5245100" cy="193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400" imgH="673100" progId="Equation.3">
                  <p:embed/>
                </p:oleObj>
              </mc:Choice>
              <mc:Fallback>
                <p:oleObj name="Equation" r:id="rId2" imgW="2311400" imgH="673100" progId="Equation.3">
                  <p:embed/>
                  <p:pic>
                    <p:nvPicPr>
                      <p:cNvPr id="130058" name="Object 10">
                        <a:extLst>
                          <a:ext uri="{FF2B5EF4-FFF2-40B4-BE49-F238E27FC236}">
                            <a16:creationId xmlns:a16="http://schemas.microsoft.com/office/drawing/2014/main" id="{8C05C95F-7C10-0228-7BE2-F8458188FC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4038601"/>
                        <a:ext cx="5245100" cy="1935163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62" name="Text Box 14">
            <a:extLst>
              <a:ext uri="{FF2B5EF4-FFF2-40B4-BE49-F238E27FC236}">
                <a16:creationId xmlns:a16="http://schemas.microsoft.com/office/drawing/2014/main" id="{CC1C547E-4400-B6CB-F424-8895598D6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915026"/>
            <a:ext cx="609600" cy="461665"/>
          </a:xfrm>
          <a:prstGeom prst="rect">
            <a:avLst/>
          </a:prstGeom>
          <a:solidFill>
            <a:srgbClr val="CC00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F4ECC6"/>
                </a:solidFill>
                <a:ea typeface="굴림" panose="020B0600000101010101" pitchFamily="34" charset="-127"/>
              </a:rPr>
              <a:t>.12</a:t>
            </a:r>
          </a:p>
        </p:txBody>
      </p:sp>
      <p:sp>
        <p:nvSpPr>
          <p:cNvPr id="130063" name="Text Box 15">
            <a:extLst>
              <a:ext uri="{FF2B5EF4-FFF2-40B4-BE49-F238E27FC236}">
                <a16:creationId xmlns:a16="http://schemas.microsoft.com/office/drawing/2014/main" id="{0BC6C6B3-A948-5B6F-6AB0-8574633CF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429251"/>
            <a:ext cx="609600" cy="461665"/>
          </a:xfrm>
          <a:prstGeom prst="rect">
            <a:avLst/>
          </a:prstGeom>
          <a:solidFill>
            <a:srgbClr val="CC00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F4ECC6"/>
                </a:solidFill>
                <a:ea typeface="굴림" panose="020B0600000101010101" pitchFamily="34" charset="-127"/>
              </a:rPr>
              <a:t>.08</a:t>
            </a:r>
          </a:p>
        </p:txBody>
      </p:sp>
      <p:sp>
        <p:nvSpPr>
          <p:cNvPr id="130064" name="Text Box 16">
            <a:extLst>
              <a:ext uri="{FF2B5EF4-FFF2-40B4-BE49-F238E27FC236}">
                <a16:creationId xmlns:a16="http://schemas.microsoft.com/office/drawing/2014/main" id="{97553E9A-8DD2-5A86-0B82-1CC7B5D9F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929189"/>
            <a:ext cx="609600" cy="461665"/>
          </a:xfrm>
          <a:prstGeom prst="rect">
            <a:avLst/>
          </a:prstGeom>
          <a:solidFill>
            <a:srgbClr val="CC00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F4ECC6"/>
                </a:solidFill>
                <a:ea typeface="굴림" panose="020B0600000101010101" pitchFamily="34" charset="-127"/>
              </a:rPr>
              <a:t>.51</a:t>
            </a:r>
          </a:p>
        </p:txBody>
      </p:sp>
      <p:sp>
        <p:nvSpPr>
          <p:cNvPr id="130065" name="Text Box 17">
            <a:extLst>
              <a:ext uri="{FF2B5EF4-FFF2-40B4-BE49-F238E27FC236}">
                <a16:creationId xmlns:a16="http://schemas.microsoft.com/office/drawing/2014/main" id="{240801AE-4BD2-ADFA-EED9-B73E5A525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414839"/>
            <a:ext cx="609600" cy="461665"/>
          </a:xfrm>
          <a:prstGeom prst="rect">
            <a:avLst/>
          </a:prstGeom>
          <a:solidFill>
            <a:srgbClr val="CC00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>
                <a:solidFill>
                  <a:srgbClr val="F4ECC6"/>
                </a:solidFill>
                <a:ea typeface="굴림" panose="020B0600000101010101" pitchFamily="34" charset="-127"/>
              </a:rPr>
              <a:t>.49</a:t>
            </a:r>
          </a:p>
        </p:txBody>
      </p:sp>
      <p:grpSp>
        <p:nvGrpSpPr>
          <p:cNvPr id="46092" name="Group 18">
            <a:extLst>
              <a:ext uri="{FF2B5EF4-FFF2-40B4-BE49-F238E27FC236}">
                <a16:creationId xmlns:a16="http://schemas.microsoft.com/office/drawing/2014/main" id="{2ECDE298-A255-D26A-37E2-E7D731D8C769}"/>
              </a:ext>
            </a:extLst>
          </p:cNvPr>
          <p:cNvGrpSpPr>
            <a:grpSpLocks/>
          </p:cNvGrpSpPr>
          <p:nvPr/>
        </p:nvGrpSpPr>
        <p:grpSpPr bwMode="auto">
          <a:xfrm>
            <a:off x="10915650" y="0"/>
            <a:ext cx="1276350" cy="1219200"/>
            <a:chOff x="4656" y="48"/>
            <a:chExt cx="1008" cy="960"/>
          </a:xfrm>
        </p:grpSpPr>
        <p:sp>
          <p:nvSpPr>
            <p:cNvPr id="46093" name="Rectangle 19">
              <a:extLst>
                <a:ext uri="{FF2B5EF4-FFF2-40B4-BE49-F238E27FC236}">
                  <a16:creationId xmlns:a16="http://schemas.microsoft.com/office/drawing/2014/main" id="{D7D7C18D-1619-1B18-0DCE-C60980A6F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48"/>
              <a:ext cx="1008" cy="960"/>
            </a:xfrm>
            <a:prstGeom prst="rect">
              <a:avLst/>
            </a:prstGeom>
            <a:solidFill>
              <a:srgbClr val="F0D27E"/>
            </a:solidFill>
            <a:ln>
              <a:noFill/>
            </a:ln>
            <a:effectLst>
              <a:outerShdw dist="107763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28575">
                  <a:solidFill>
                    <a:srgbClr val="CC00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pic>
          <p:nvPicPr>
            <p:cNvPr id="46094" name="Picture 20" descr="hospital">
              <a:extLst>
                <a:ext uri="{FF2B5EF4-FFF2-40B4-BE49-F238E27FC236}">
                  <a16:creationId xmlns:a16="http://schemas.microsoft.com/office/drawing/2014/main" id="{CD1F679C-53B2-0F68-3006-31D0794AE8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8" y="123"/>
              <a:ext cx="897" cy="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0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0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0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6" grpId="0" animBg="1" autoUpdateAnimBg="0"/>
      <p:bldP spid="130055" grpId="0" autoUpdateAnimBg="0"/>
      <p:bldP spid="130062" grpId="0" animBg="1" autoUpdateAnimBg="0"/>
      <p:bldP spid="130063" grpId="0" animBg="1" autoUpdateAnimBg="0"/>
      <p:bldP spid="130064" grpId="0" animBg="1" autoUpdateAnimBg="0"/>
      <p:bldP spid="130065" grpId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A666-5D64-25FA-199F-C09C11F50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82C89-6D93-179A-DC33-5D60E1BD6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Februay</a:t>
            </a:r>
            <a:r>
              <a:rPr lang="en-US" dirty="0"/>
              <a:t> 2023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27" b="1" dirty="0"/>
              <a:t>References</a:t>
            </a:r>
            <a:endParaRPr lang="id-ID" sz="3627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1452" y="1684270"/>
            <a:ext cx="8722212" cy="452593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Jay L. Devore. (2020).  Probability and Statistics for Engineering and the Sciences, 9E.  </a:t>
            </a:r>
            <a:r>
              <a:rPr lang="en-US" dirty="0" err="1">
                <a:latin typeface="Arial" panose="020B0604020202020204" pitchFamily="34" charset="0"/>
                <a:ea typeface="Times New Roman" panose="02020603050405020304" pitchFamily="18" charset="0"/>
              </a:rPr>
              <a:t>Cancage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Learning, Boston USA.  ISBN-13: 978-0-538-73352-6</a:t>
            </a:r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FB4D3-2CC6-422C-AB6C-48DBF9748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7217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7FA9F5-F61B-45A1-B5E1-F65A5889B2EE}" type="slidenum">
              <a:rPr kumimoji="0" lang="en-US" sz="127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pPr marL="0" marR="0" lvl="0" indent="0" algn="r" defTabSz="472171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244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Template_BinusUniv2020" id="{BB71FDE9-5590-7241-AD30-26BA3BE2C6EF}" vid="{B26298DA-AF57-E443-8668-F8C525559925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Template_BinusUniv2020" id="{BB71FDE9-5590-7241-AD30-26BA3BE2C6EF}" vid="{B26298DA-AF57-E443-8668-F8C525559925}"/>
    </a:ext>
  </a:extLst>
</a:theme>
</file>

<file path=ppt/theme/theme3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4.xml><?xml version="1.0" encoding="utf-8"?>
<a:theme xmlns:a="http://schemas.openxmlformats.org/drawingml/2006/main" name="PPT Binus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01 02 Introduction to Probability" id="{AF1F3BAD-8B99-4C27-98FE-D8F949401A54}" vid="{1377BE40-1F7A-40D2-8DE3-6F9C8F5420D3}"/>
    </a:ext>
  </a:extLst>
</a:theme>
</file>

<file path=ppt/theme/theme5.xml><?xml version="1.0" encoding="utf-8"?>
<a:theme xmlns:a="http://schemas.openxmlformats.org/drawingml/2006/main" name="Template PPT 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FA0C811F0C3D48BDCB205A962F4A59" ma:contentTypeVersion="14" ma:contentTypeDescription="Create a new document." ma:contentTypeScope="" ma:versionID="502f2ff06f1543483a8631b36ee67c9e">
  <xsd:schema xmlns:xsd="http://www.w3.org/2001/XMLSchema" xmlns:xs="http://www.w3.org/2001/XMLSchema" xmlns:p="http://schemas.microsoft.com/office/2006/metadata/properties" xmlns:ns2="0d74340d-e769-4076-8861-375fbda00925" xmlns:ns3="515f7901-314b-493a-81b6-750129d910ac" targetNamespace="http://schemas.microsoft.com/office/2006/metadata/properties" ma:root="true" ma:fieldsID="156cd1d0774824496a93273b46755050" ns2:_="" ns3:_="">
    <xsd:import namespace="0d74340d-e769-4076-8861-375fbda00925"/>
    <xsd:import namespace="515f7901-314b-493a-81b6-750129d910a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74340d-e769-4076-8861-375fbda009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37819506-eb3d-43ef-a204-12bb1ef31144}" ma:internalName="TaxCatchAll" ma:showField="CatchAllData" ma:web="0d74340d-e769-4076-8861-375fbda009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5f7901-314b-493a-81b6-750129d91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5f7901-314b-493a-81b6-750129d910ac">
      <Terms xmlns="http://schemas.microsoft.com/office/infopath/2007/PartnerControls"/>
    </lcf76f155ced4ddcb4097134ff3c332f>
    <TaxCatchAll xmlns="0d74340d-e769-4076-8861-375fbda0092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70EE3E-1C57-4879-A5DC-6F34CD9EB9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d74340d-e769-4076-8861-375fbda00925"/>
    <ds:schemaRef ds:uri="515f7901-314b-493a-81b6-750129d910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2CB40B-FAEB-4318-955F-64485A31D38F}">
  <ds:schemaRefs>
    <ds:schemaRef ds:uri="http://schemas.microsoft.com/office/2006/metadata/properties"/>
    <ds:schemaRef ds:uri="http://schemas.microsoft.com/office/infopath/2007/PartnerControls"/>
    <ds:schemaRef ds:uri="515f7901-314b-493a-81b6-750129d910ac"/>
    <ds:schemaRef ds:uri="0d74340d-e769-4076-8861-375fbda00925"/>
  </ds:schemaRefs>
</ds:datastoreItem>
</file>

<file path=customXml/itemProps3.xml><?xml version="1.0" encoding="utf-8"?>
<ds:datastoreItem xmlns:ds="http://schemas.openxmlformats.org/officeDocument/2006/customXml" ds:itemID="{C98A9463-AB87-4B7D-A220-76A2D1483C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404</TotalTime>
  <Words>3636</Words>
  <Application>Microsoft Office PowerPoint</Application>
  <PresentationFormat>Widescreen</PresentationFormat>
  <Paragraphs>458</Paragraphs>
  <Slides>64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Office Theme</vt:lpstr>
      <vt:lpstr>1_Office Theme</vt:lpstr>
      <vt:lpstr>21_BasicWhite</vt:lpstr>
      <vt:lpstr>PPT Binus Template</vt:lpstr>
      <vt:lpstr>Template PPT 2015</vt:lpstr>
      <vt:lpstr>Basics Probability</vt:lpstr>
      <vt:lpstr>Jay L. Devore. (2020).  Probability and Statistics for Engineering and the Sciences, 9E.  Cancage Learning, Boston USA.  ISBN-13: 978-0-538-73352-6 </vt:lpstr>
      <vt:lpstr>PowerPoint Presentation</vt:lpstr>
      <vt:lpstr>PowerPoint Presentation</vt:lpstr>
      <vt:lpstr>PowerPoint Presentation</vt:lpstr>
      <vt:lpstr>What is Probability?</vt:lpstr>
      <vt:lpstr>What is Probability?</vt:lpstr>
      <vt:lpstr>PowerPoint Presentation</vt:lpstr>
      <vt:lpstr>Basic Concepts</vt:lpstr>
      <vt:lpstr>Experiments and Events</vt:lpstr>
      <vt:lpstr>Basic Concepts</vt:lpstr>
      <vt:lpstr>Basic Concepts</vt:lpstr>
      <vt:lpstr>Example</vt:lpstr>
      <vt:lpstr>Basic Concepts</vt:lpstr>
      <vt:lpstr>The Probability  of an Event</vt:lpstr>
      <vt:lpstr>The Probability  of an Event</vt:lpstr>
      <vt:lpstr>Finding Probabilities</vt:lpstr>
      <vt:lpstr>Calculate the Probabilities  of an Event</vt:lpstr>
      <vt:lpstr>Example</vt:lpstr>
      <vt:lpstr>Example</vt:lpstr>
      <vt:lpstr>PowerPoint Presentation</vt:lpstr>
      <vt:lpstr>Axioms of Probability</vt:lpstr>
      <vt:lpstr>Axioms of Probability</vt:lpstr>
      <vt:lpstr>Interpreting Probability</vt:lpstr>
      <vt:lpstr>Example</vt:lpstr>
      <vt:lpstr>Example</vt:lpstr>
      <vt:lpstr>Example</vt:lpstr>
      <vt:lpstr>Example</vt:lpstr>
      <vt:lpstr>Interpreting Probability</vt:lpstr>
      <vt:lpstr>Interpreting Probability</vt:lpstr>
      <vt:lpstr>PowerPoint Presentation</vt:lpstr>
      <vt:lpstr>Counting Rules</vt:lpstr>
      <vt:lpstr>The mn Rule</vt:lpstr>
      <vt:lpstr>Examples</vt:lpstr>
      <vt:lpstr>Permutations</vt:lpstr>
      <vt:lpstr>Examples</vt:lpstr>
      <vt:lpstr>Combinations</vt:lpstr>
      <vt:lpstr>Example</vt:lpstr>
      <vt:lpstr>Event Relations</vt:lpstr>
      <vt:lpstr>Event Relations</vt:lpstr>
      <vt:lpstr>Event Relations</vt:lpstr>
      <vt:lpstr>Example</vt:lpstr>
      <vt:lpstr>Calculating Probabilities for Unions and Complements</vt:lpstr>
      <vt:lpstr>Example: Additive Rule</vt:lpstr>
      <vt:lpstr>A Special Case</vt:lpstr>
      <vt:lpstr>Calculating Probabilities  for Complements</vt:lpstr>
      <vt:lpstr>Example</vt:lpstr>
      <vt:lpstr>Calculating Probabilities for Intersections</vt:lpstr>
      <vt:lpstr>PowerPoint Presentation</vt:lpstr>
      <vt:lpstr>Conditional Probabilities</vt:lpstr>
      <vt:lpstr>Example 1</vt:lpstr>
      <vt:lpstr>Example 2</vt:lpstr>
      <vt:lpstr>PowerPoint Presentation</vt:lpstr>
      <vt:lpstr>Defining Independence</vt:lpstr>
      <vt:lpstr>The Multiplicative Rule for Intersections</vt:lpstr>
      <vt:lpstr>Example 1</vt:lpstr>
      <vt:lpstr>Example 2</vt:lpstr>
      <vt:lpstr>PowerPoint Presentation</vt:lpstr>
      <vt:lpstr>The Law of Total Probability</vt:lpstr>
      <vt:lpstr>The Law of Total Probability</vt:lpstr>
      <vt:lpstr>Bayes’ Rule</vt:lpstr>
      <vt:lpstr>Example</vt:lpstr>
      <vt:lpstr>Thank you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Pramudya Munadi</dc:creator>
  <cp:lastModifiedBy>Dr. Ir. I G.A. Anom Yudistira, M.Si.</cp:lastModifiedBy>
  <cp:revision>34</cp:revision>
  <dcterms:created xsi:type="dcterms:W3CDTF">2021-09-17T03:16:30Z</dcterms:created>
  <dcterms:modified xsi:type="dcterms:W3CDTF">2023-12-20T09:09:27Z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0x0101000CFA0C811F0C3D48BDCB205A962F4A59</vt:lpwstr>
  </property>
  <property fmtid="{D5CDD505-2E9C-101B-9397-08002B2CF9AE}" pid="3" name="MediaServiceImageTags">
    <vt:lpwstr/>
  </property>
</Properties>
</file>