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  <p:sldMasterId id="2147483657" r:id="rId6"/>
    <p:sldMasterId id="2147483671" r:id="rId7"/>
    <p:sldMasterId id="2147483680" r:id="rId8"/>
  </p:sldMasterIdLst>
  <p:notesMasterIdLst>
    <p:notesMasterId r:id="rId95"/>
  </p:notesMasterIdLst>
  <p:sldIdLst>
    <p:sldId id="463" r:id="rId9"/>
    <p:sldId id="337" r:id="rId10"/>
    <p:sldId id="338" r:id="rId11"/>
    <p:sldId id="265" r:id="rId12"/>
    <p:sldId id="257" r:id="rId13"/>
    <p:sldId id="303" r:id="rId14"/>
    <p:sldId id="457" r:id="rId15"/>
    <p:sldId id="538" r:id="rId16"/>
    <p:sldId id="539" r:id="rId17"/>
    <p:sldId id="475" r:id="rId18"/>
    <p:sldId id="540" r:id="rId19"/>
    <p:sldId id="535" r:id="rId20"/>
    <p:sldId id="478" r:id="rId21"/>
    <p:sldId id="542" r:id="rId22"/>
    <p:sldId id="543" r:id="rId23"/>
    <p:sldId id="544" r:id="rId24"/>
    <p:sldId id="545" r:id="rId25"/>
    <p:sldId id="546" r:id="rId26"/>
    <p:sldId id="547" r:id="rId27"/>
    <p:sldId id="548" r:id="rId28"/>
    <p:sldId id="549" r:id="rId29"/>
    <p:sldId id="550" r:id="rId30"/>
    <p:sldId id="551" r:id="rId31"/>
    <p:sldId id="489" r:id="rId32"/>
    <p:sldId id="537" r:id="rId33"/>
    <p:sldId id="541" r:id="rId34"/>
    <p:sldId id="553" r:id="rId35"/>
    <p:sldId id="554" r:id="rId36"/>
    <p:sldId id="555" r:id="rId37"/>
    <p:sldId id="556" r:id="rId38"/>
    <p:sldId id="557" r:id="rId39"/>
    <p:sldId id="558" r:id="rId40"/>
    <p:sldId id="559" r:id="rId41"/>
    <p:sldId id="560" r:id="rId42"/>
    <p:sldId id="561" r:id="rId43"/>
    <p:sldId id="562" r:id="rId44"/>
    <p:sldId id="563" r:id="rId45"/>
    <p:sldId id="552" r:id="rId46"/>
    <p:sldId id="565" r:id="rId47"/>
    <p:sldId id="566" r:id="rId48"/>
    <p:sldId id="567" r:id="rId49"/>
    <p:sldId id="568" r:id="rId50"/>
    <p:sldId id="569" r:id="rId51"/>
    <p:sldId id="564" r:id="rId52"/>
    <p:sldId id="476" r:id="rId53"/>
    <p:sldId id="479" r:id="rId54"/>
    <p:sldId id="480" r:id="rId55"/>
    <p:sldId id="481" r:id="rId56"/>
    <p:sldId id="482" r:id="rId57"/>
    <p:sldId id="483" r:id="rId58"/>
    <p:sldId id="484" r:id="rId59"/>
    <p:sldId id="485" r:id="rId60"/>
    <p:sldId id="486" r:id="rId61"/>
    <p:sldId id="488" r:id="rId62"/>
    <p:sldId id="571" r:id="rId63"/>
    <p:sldId id="492" r:id="rId64"/>
    <p:sldId id="572" r:id="rId65"/>
    <p:sldId id="493" r:id="rId66"/>
    <p:sldId id="573" r:id="rId67"/>
    <p:sldId id="574" r:id="rId68"/>
    <p:sldId id="570" r:id="rId69"/>
    <p:sldId id="494" r:id="rId70"/>
    <p:sldId id="575" r:id="rId71"/>
    <p:sldId id="576" r:id="rId72"/>
    <p:sldId id="577" r:id="rId73"/>
    <p:sldId id="490" r:id="rId74"/>
    <p:sldId id="495" r:id="rId75"/>
    <p:sldId id="578" r:id="rId76"/>
    <p:sldId id="580" r:id="rId77"/>
    <p:sldId id="581" r:id="rId78"/>
    <p:sldId id="350" r:id="rId79"/>
    <p:sldId id="579" r:id="rId80"/>
    <p:sldId id="496" r:id="rId81"/>
    <p:sldId id="497" r:id="rId82"/>
    <p:sldId id="498" r:id="rId83"/>
    <p:sldId id="499" r:id="rId84"/>
    <p:sldId id="500" r:id="rId85"/>
    <p:sldId id="501" r:id="rId86"/>
    <p:sldId id="491" r:id="rId87"/>
    <p:sldId id="508" r:id="rId88"/>
    <p:sldId id="509" r:id="rId89"/>
    <p:sldId id="510" r:id="rId90"/>
    <p:sldId id="511" r:id="rId91"/>
    <p:sldId id="512" r:id="rId92"/>
    <p:sldId id="293" r:id="rId93"/>
    <p:sldId id="472" r:id="rId94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463"/>
          </p14:sldIdLst>
        </p14:section>
        <p14:section name="COURSE CONTENT" id="{6162E7E0-B512-4FEF-B619-C9187795397D}">
          <p14:sldIdLst>
            <p14:sldId id="337"/>
            <p14:sldId id="338"/>
            <p14:sldId id="265"/>
            <p14:sldId id="257"/>
            <p14:sldId id="303"/>
            <p14:sldId id="457"/>
            <p14:sldId id="538"/>
            <p14:sldId id="539"/>
            <p14:sldId id="475"/>
            <p14:sldId id="540"/>
            <p14:sldId id="535"/>
            <p14:sldId id="478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489"/>
            <p14:sldId id="537"/>
            <p14:sldId id="541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52"/>
            <p14:sldId id="565"/>
            <p14:sldId id="566"/>
            <p14:sldId id="567"/>
            <p14:sldId id="568"/>
            <p14:sldId id="569"/>
            <p14:sldId id="564"/>
            <p14:sldId id="476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8"/>
            <p14:sldId id="571"/>
            <p14:sldId id="492"/>
            <p14:sldId id="572"/>
            <p14:sldId id="493"/>
            <p14:sldId id="573"/>
            <p14:sldId id="574"/>
            <p14:sldId id="570"/>
            <p14:sldId id="494"/>
            <p14:sldId id="575"/>
            <p14:sldId id="576"/>
            <p14:sldId id="577"/>
            <p14:sldId id="490"/>
            <p14:sldId id="495"/>
            <p14:sldId id="578"/>
            <p14:sldId id="580"/>
            <p14:sldId id="581"/>
            <p14:sldId id="350"/>
            <p14:sldId id="579"/>
            <p14:sldId id="496"/>
            <p14:sldId id="497"/>
            <p14:sldId id="498"/>
            <p14:sldId id="499"/>
            <p14:sldId id="500"/>
            <p14:sldId id="501"/>
            <p14:sldId id="491"/>
            <p14:sldId id="508"/>
            <p14:sldId id="509"/>
            <p14:sldId id="510"/>
            <p14:sldId id="511"/>
            <p14:sldId id="512"/>
            <p14:sldId id="293"/>
          </p14:sldIdLst>
        </p14:section>
        <p14:section name="REFERENCES" id="{11ED6803-A38C-4226-8496-86D05012E7E0}">
          <p14:sldIdLst>
            <p14:sldId id="4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16" autoAdjust="0"/>
    <p:restoredTop sz="93841" autoAdjust="0"/>
  </p:normalViewPr>
  <p:slideViewPr>
    <p:cSldViewPr snapToGrid="0" snapToObjects="1">
      <p:cViewPr varScale="1">
        <p:scale>
          <a:sx n="60" d="100"/>
          <a:sy n="60" d="100"/>
        </p:scale>
        <p:origin x="1360" y="52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2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91" Type="http://schemas.openxmlformats.org/officeDocument/2006/relationships/slide" Target="slides/slide83.xml"/><Relationship Id="rId9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94" Type="http://schemas.openxmlformats.org/officeDocument/2006/relationships/slide" Target="slides/slide86.xml"/><Relationship Id="rId9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4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777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1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68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5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61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56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12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95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96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1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71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81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000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4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8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080503" y="646216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00FE9A-5B56-CC4A-AE9A-C22895A4A6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2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EFF39-44C6-4BDD-92E5-47B8BAF3FA74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3BA03-3A39-B849-9650-5243CD565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2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1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F9992-720A-45E0-AB8C-5B62103ED936}" type="datetime1">
              <a:rPr lang="en-US" smtClean="0"/>
              <a:t>12/20/2023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C9F73C-0878-E542-8513-4097881905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918182-9607-4469-B7B5-8A382FDCE8F7}" type="datetime1">
              <a:rPr lang="en-US" smtClean="0"/>
              <a:t>12/20/2023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7937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D22DC1-2584-BA45-ADB4-CB64B76C9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9D286-710B-4431-AA7C-95CB8D2880B9}" type="datetime1">
              <a:rPr lang="en-US" smtClean="0"/>
              <a:t>12/20/2023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711B1-0CB2-3642-B322-BB9057DC06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064CD7-6888-478A-8C0F-B06BE0AE70F9}" type="datetime1">
              <a:rPr lang="en-US" smtClean="0"/>
              <a:t>12/20/2023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" y="5253"/>
            <a:ext cx="10683070" cy="7125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8" name="Rectangle 7"/>
          <p:cNvSpPr/>
          <p:nvPr userDrawn="1"/>
        </p:nvSpPr>
        <p:spPr>
          <a:xfrm>
            <a:off x="1977444" y="1796204"/>
            <a:ext cx="8711192" cy="5766646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45788" y="2987337"/>
            <a:ext cx="8333014" cy="1621111"/>
          </a:xfrm>
        </p:spPr>
        <p:txBody>
          <a:bodyPr/>
          <a:lstStyle>
            <a:lvl1pPr eaLnBrk="1" hangingPunct="1">
              <a:defRPr sz="4852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529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0819" y="4737012"/>
            <a:ext cx="7482047" cy="635271"/>
          </a:xfrm>
        </p:spPr>
        <p:txBody>
          <a:bodyPr>
            <a:normAutofit/>
          </a:bodyPr>
          <a:lstStyle>
            <a:lvl1pPr marL="0" indent="0" algn="ctr">
              <a:buNone/>
              <a:defRPr sz="2647">
                <a:solidFill>
                  <a:schemeClr val="bg1"/>
                </a:solidFill>
                <a:latin typeface="Open Sans"/>
              </a:defRPr>
            </a:lvl1pPr>
            <a:lvl2pPr marL="504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2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10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5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94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3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16596"/>
            <a:ext cx="2494016" cy="402652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116596"/>
            <a:ext cx="3384735" cy="402652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116596"/>
            <a:ext cx="2494016" cy="40265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256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369"/>
            <a:ext cx="10688637" cy="712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222" y="2272657"/>
            <a:ext cx="7992064" cy="873497"/>
          </a:xfrm>
        </p:spPr>
        <p:txBody>
          <a:bodyPr>
            <a:normAutofit/>
          </a:bodyPr>
          <a:lstStyle>
            <a:lvl1pPr algn="l">
              <a:defRPr sz="3308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16596"/>
            <a:ext cx="2494016" cy="402652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116596"/>
            <a:ext cx="3384735" cy="402652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116596"/>
            <a:ext cx="2494016" cy="40265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234222" y="3781426"/>
            <a:ext cx="7992064" cy="3352910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229960" y="3146154"/>
            <a:ext cx="7996326" cy="55586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426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593293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6586" y="4859832"/>
            <a:ext cx="8585529" cy="747997"/>
          </a:xfrm>
        </p:spPr>
        <p:txBody>
          <a:bodyPr anchor="t">
            <a:noAutofit/>
          </a:bodyPr>
          <a:lstStyle>
            <a:lvl1pPr algn="l">
              <a:defRPr sz="3308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6586" y="3205459"/>
            <a:ext cx="8585529" cy="1654373"/>
          </a:xfrm>
        </p:spPr>
        <p:txBody>
          <a:bodyPr anchor="b"/>
          <a:lstStyle>
            <a:lvl1pPr marL="0" indent="0">
              <a:buNone/>
              <a:defRPr sz="2206">
                <a:solidFill>
                  <a:schemeClr val="tx1">
                    <a:tint val="75000"/>
                  </a:schemeClr>
                </a:solidFill>
              </a:defRPr>
            </a:lvl1pPr>
            <a:lvl2pPr marL="50420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2pPr>
            <a:lvl3pPr marL="100840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2600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4pPr>
            <a:lvl5pPr marL="20168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5pPr>
            <a:lvl6pPr marL="25210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6pPr>
            <a:lvl7pPr marL="30252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7pPr>
            <a:lvl8pPr marL="35294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8pPr>
            <a:lvl9pPr marL="4033601" indent="0">
              <a:buNone/>
              <a:defRPr sz="15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3495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93273" y="2907929"/>
            <a:ext cx="4040249" cy="3847868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7694" y="2907929"/>
            <a:ext cx="4136512" cy="3847868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985"/>
            </a:lvl6pPr>
            <a:lvl7pPr>
              <a:defRPr sz="1985"/>
            </a:lvl7pPr>
            <a:lvl8pPr>
              <a:defRPr sz="1985"/>
            </a:lvl8pPr>
            <a:lvl9pPr>
              <a:defRPr sz="198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21703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3273" y="1637387"/>
            <a:ext cx="8260933" cy="111172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3273" y="2352066"/>
            <a:ext cx="4040249" cy="705515"/>
          </a:xfrm>
        </p:spPr>
        <p:txBody>
          <a:bodyPr anchor="b">
            <a:noAutofit/>
          </a:bodyPr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3273" y="2987337"/>
            <a:ext cx="4040249" cy="3811623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1866" y="2987336"/>
            <a:ext cx="4052340" cy="3811625"/>
          </a:xfrm>
        </p:spPr>
        <p:txBody>
          <a:bodyPr>
            <a:normAutofit/>
          </a:bodyPr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6101866" y="2352066"/>
            <a:ext cx="4040249" cy="705515"/>
          </a:xfrm>
        </p:spPr>
        <p:txBody>
          <a:bodyPr anchor="b">
            <a:noAutofit/>
          </a:bodyPr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094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6492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3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89" y="3153813"/>
            <a:ext cx="8260933" cy="1260475"/>
          </a:xfrm>
        </p:spPr>
        <p:txBody>
          <a:bodyPr>
            <a:normAutofit/>
          </a:bodyPr>
          <a:lstStyle>
            <a:lvl1pPr>
              <a:defRPr sz="352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2583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9961" y="1796204"/>
            <a:ext cx="7912154" cy="884439"/>
          </a:xfrm>
        </p:spPr>
        <p:txBody>
          <a:bodyPr anchor="b">
            <a:normAutofit/>
          </a:bodyPr>
          <a:lstStyle>
            <a:lvl1pPr algn="l">
              <a:defRPr sz="3308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9961" y="2828519"/>
            <a:ext cx="3703562" cy="4049850"/>
          </a:xfrm>
        </p:spPr>
        <p:txBody>
          <a:bodyPr/>
          <a:lstStyle>
            <a:lvl1pPr>
              <a:defRPr sz="2206"/>
            </a:lvl1pPr>
            <a:lvl2pPr>
              <a:defRPr sz="2206"/>
            </a:lvl2pPr>
            <a:lvl3pPr>
              <a:defRPr sz="2206"/>
            </a:lvl3pPr>
            <a:lvl4pPr>
              <a:defRPr sz="2206"/>
            </a:lvl4pPr>
            <a:lvl5pPr>
              <a:defRPr sz="2206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01866" y="2828519"/>
            <a:ext cx="4009428" cy="4049576"/>
          </a:xfrm>
        </p:spPr>
        <p:txBody>
          <a:bodyPr>
            <a:normAutofit/>
          </a:bodyPr>
          <a:lstStyle>
            <a:lvl1pPr marL="0" indent="0">
              <a:buNone/>
              <a:defRPr sz="2206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7504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5048" y="5293995"/>
            <a:ext cx="8047067" cy="624986"/>
          </a:xfrm>
        </p:spPr>
        <p:txBody>
          <a:bodyPr anchor="b"/>
          <a:lstStyle>
            <a:lvl1pPr algn="l">
              <a:defRPr sz="2206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5048" y="2113840"/>
            <a:ext cx="8047067" cy="3099624"/>
          </a:xfrm>
        </p:spPr>
        <p:txBody>
          <a:bodyPr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5048" y="5918981"/>
            <a:ext cx="8047067" cy="887584"/>
          </a:xfrm>
        </p:spPr>
        <p:txBody>
          <a:bodyPr/>
          <a:lstStyle>
            <a:lvl1pPr marL="0" indent="0">
              <a:buNone/>
              <a:defRPr sz="1544"/>
            </a:lvl1pPr>
            <a:lvl2pPr marL="504200" indent="0">
              <a:buNone/>
              <a:defRPr sz="1323"/>
            </a:lvl2pPr>
            <a:lvl3pPr marL="1008400" indent="0">
              <a:buNone/>
              <a:defRPr sz="1103"/>
            </a:lvl3pPr>
            <a:lvl4pPr marL="1512600" indent="0">
              <a:buNone/>
              <a:defRPr sz="993"/>
            </a:lvl4pPr>
            <a:lvl5pPr marL="2016801" indent="0">
              <a:buNone/>
              <a:defRPr sz="993"/>
            </a:lvl5pPr>
            <a:lvl6pPr marL="2521001" indent="0">
              <a:buNone/>
              <a:defRPr sz="993"/>
            </a:lvl6pPr>
            <a:lvl7pPr marL="3025201" indent="0">
              <a:buNone/>
              <a:defRPr sz="993"/>
            </a:lvl7pPr>
            <a:lvl8pPr marL="3529401" indent="0">
              <a:buNone/>
              <a:defRPr sz="993"/>
            </a:lvl8pPr>
            <a:lvl9pPr marL="4033601" indent="0">
              <a:buNone/>
              <a:defRPr sz="9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485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54389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49262" y="1637387"/>
            <a:ext cx="2404944" cy="51184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898" y="1637387"/>
            <a:ext cx="6351220" cy="51184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83257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57603" y="250149"/>
            <a:ext cx="9619774" cy="877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Font typeface="Calibri"/>
              <a:buNone/>
              <a:defRPr sz="3308" b="1">
                <a:solidFill>
                  <a:srgbClr val="E670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67032"/>
              </a:buClr>
              <a:buSzPts val="3000"/>
              <a:buNone/>
              <a:defRPr sz="3308" b="1">
                <a:solidFill>
                  <a:srgbClr val="E67032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534432" y="1764665"/>
            <a:ext cx="9619774" cy="4991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04200" lvl="0" indent="-378150" algn="l" rtl="0">
              <a:spcBef>
                <a:spcPts val="706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1pPr>
            <a:lvl2pPr marL="1008400" lvl="1" indent="-378150" algn="l" rtl="0">
              <a:spcBef>
                <a:spcPts val="618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2pPr>
            <a:lvl3pPr marL="1512600" lvl="2" indent="-378150" algn="l" rtl="0">
              <a:spcBef>
                <a:spcPts val="52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3pPr>
            <a:lvl4pPr marL="2016801" lvl="3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/>
            </a:lvl4pPr>
            <a:lvl5pPr marL="2521001" lvl="4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/>
            </a:lvl5pPr>
            <a:lvl6pPr marL="3025201" lvl="5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6pPr>
            <a:lvl7pPr marL="3529401" lvl="6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7pPr>
            <a:lvl8pPr marL="4033601" lvl="7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8pPr>
            <a:lvl9pPr marL="4537801" lvl="8" indent="-378150" algn="l" rtl="0">
              <a:spcBef>
                <a:spcPts val="441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dt" idx="10"/>
          </p:nvPr>
        </p:nvSpPr>
        <p:spPr>
          <a:xfrm>
            <a:off x="534432" y="7009643"/>
            <a:ext cx="2494016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04200" marR="0" lvl="1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08400" marR="0" lvl="2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512600" marR="0" lvl="3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16801" marR="0" lvl="4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21001" marR="0" lvl="5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25201" marR="0" lvl="6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529401" marR="0" lvl="7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033601" marR="0" lvl="8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ftr" idx="11"/>
          </p:nvPr>
        </p:nvSpPr>
        <p:spPr>
          <a:xfrm>
            <a:off x="3651952" y="7009643"/>
            <a:ext cx="3384735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-98039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504200" marR="0" lvl="1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008400" marR="0" lvl="2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512600" marR="0" lvl="3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016801" marR="0" lvl="4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521001" marR="0" lvl="5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025201" marR="0" lvl="6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529401" marR="0" lvl="7" indent="-98039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033601" marR="0" lvl="8" indent="-98039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7660190" y="7009643"/>
            <a:ext cx="2494016" cy="40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buNone/>
              <a:defRPr/>
            </a:lvl1pPr>
            <a:lvl2pPr marL="0" marR="0" lvl="1" indent="0" algn="r" rtl="0">
              <a:buNone/>
              <a:defRPr/>
            </a:lvl2pPr>
            <a:lvl3pPr marL="0" marR="0" lvl="2" indent="0" algn="r" rtl="0">
              <a:buNone/>
              <a:defRPr/>
            </a:lvl3pPr>
            <a:lvl4pPr marL="0" marR="0" lvl="3" indent="0" algn="r" rtl="0">
              <a:buNone/>
              <a:defRPr/>
            </a:lvl4pPr>
            <a:lvl5pPr marL="0" marR="0" lvl="4" indent="0" algn="r" rtl="0">
              <a:buNone/>
              <a:defRPr/>
            </a:lvl5pPr>
            <a:lvl6pPr marL="0" marR="0" lvl="5" indent="0" algn="r" rtl="0">
              <a:buNone/>
              <a:defRPr/>
            </a:lvl6pPr>
            <a:lvl7pPr marL="0" marR="0" lvl="6" indent="0" algn="r" rtl="0">
              <a:buNone/>
              <a:defRPr/>
            </a:lvl7pPr>
            <a:lvl8pPr marL="0" marR="0" lvl="7" indent="0" algn="r" rtl="0">
              <a:buNone/>
              <a:defRPr/>
            </a:lvl8pPr>
            <a:lvl9pPr marL="0" marR="0" lvl="8" indent="0" algn="r" rtl="0">
              <a:buNone/>
              <a:defRPr/>
            </a:lvl9pPr>
          </a:lstStyle>
          <a:p>
            <a:pPr indent="-98039">
              <a:buSzPts val="1400"/>
              <a:buFontTx/>
              <a:buChar char="●"/>
            </a:pPr>
            <a:endParaRPr lang="en-ID"/>
          </a:p>
          <a:p>
            <a:pPr marL="504200" lvl="1" indent="-98039" algn="l">
              <a:buSzPts val="1400"/>
              <a:buFontTx/>
              <a:buChar char="○"/>
            </a:pPr>
            <a:endParaRPr lang="en-ID"/>
          </a:p>
          <a:p>
            <a:pPr marL="1008400" lvl="2" indent="-98039" algn="l">
              <a:buSzPts val="1400"/>
              <a:buFontTx/>
              <a:buChar char="■"/>
            </a:pPr>
            <a:endParaRPr lang="en-ID"/>
          </a:p>
          <a:p>
            <a:pPr marL="1512600" lvl="3" indent="-98039" algn="l">
              <a:buSzPts val="1400"/>
              <a:buFontTx/>
              <a:buChar char="●"/>
            </a:pPr>
            <a:endParaRPr lang="en-ID"/>
          </a:p>
          <a:p>
            <a:pPr marL="2016801" lvl="4" indent="-98039" algn="l">
              <a:buSzPts val="1400"/>
              <a:buFontTx/>
              <a:buChar char="○"/>
            </a:pPr>
            <a:endParaRPr lang="en-ID"/>
          </a:p>
          <a:p>
            <a:pPr marL="2521001" lvl="5" indent="-98039" algn="l">
              <a:buSzPts val="1400"/>
              <a:buFontTx/>
              <a:buChar char="■"/>
            </a:pPr>
            <a:endParaRPr lang="en-ID"/>
          </a:p>
          <a:p>
            <a:pPr marL="3025201" lvl="6" indent="-98039" algn="l">
              <a:buSzPts val="1400"/>
              <a:buFontTx/>
              <a:buChar char="●"/>
            </a:pPr>
            <a:endParaRPr lang="en-ID"/>
          </a:p>
          <a:p>
            <a:pPr marL="3529401" lvl="7" indent="-98039" algn="l">
              <a:buSzPts val="1400"/>
              <a:buFontTx/>
              <a:buChar char="○"/>
            </a:pPr>
            <a:endParaRPr lang="en-ID"/>
          </a:p>
          <a:p>
            <a:pPr marL="4033601" lvl="8" indent="-98039" algn="l">
              <a:buSzPts val="1400"/>
              <a:buFontTx/>
              <a:buChar char="■"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74683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648" y="2349387"/>
            <a:ext cx="9085342" cy="16211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3296" y="4285615"/>
            <a:ext cx="7482047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17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44194-3E5D-449F-9A98-3050D4C6AB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ubtitle 2"/>
          <p:cNvSpPr txBox="1">
            <a:spLocks/>
          </p:cNvSpPr>
          <p:nvPr userDrawn="1"/>
        </p:nvSpPr>
        <p:spPr bwMode="auto">
          <a:xfrm>
            <a:off x="3133726" y="3813176"/>
            <a:ext cx="68008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2907" tIns="41454" rIns="82907" bIns="41454" numCol="1" anchor="t" anchorCtr="0" compatLnSpc="1">
            <a:prstTxWarp prst="textNoShape">
              <a:avLst/>
            </a:prstTxWarp>
          </a:bodyPr>
          <a:lstStyle/>
          <a:p>
            <a:pPr marL="310464" marR="0" lvl="0" indent="-310464" algn="l" defTabSz="41395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544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en Sans" pitchFamily="-84" charset="0"/>
              <a:ea typeface="MS PGothic" pitchFamily="34" charset="-128"/>
              <a:cs typeface="ＭＳ Ｐゴシック" charset="0"/>
            </a:endParaRPr>
          </a:p>
        </p:txBody>
      </p:sp>
      <p:sp>
        <p:nvSpPr>
          <p:cNvPr id="9" name="Subtitle 2"/>
          <p:cNvSpPr txBox="1">
            <a:spLocks/>
          </p:cNvSpPr>
          <p:nvPr userDrawn="1"/>
        </p:nvSpPr>
        <p:spPr bwMode="auto">
          <a:xfrm>
            <a:off x="2678113" y="4419601"/>
            <a:ext cx="7481887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07" tIns="41454" rIns="82907" bIns="41454"/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endParaRPr lang="en-US" sz="1908">
              <a:solidFill>
                <a:schemeClr val="bg1"/>
              </a:solidFill>
              <a:latin typeface="Open Sans" pitchFamily="-84" charset="0"/>
            </a:endParaRP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6504291" y="672647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657986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9" y="681366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635352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365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0"/>
            <a:ext cx="9085342" cy="1654373"/>
          </a:xfrm>
        </p:spPr>
        <p:txBody>
          <a:bodyPr anchor="b"/>
          <a:lstStyle>
            <a:lvl1pPr marL="0" indent="0">
              <a:buNone/>
              <a:defRPr sz="1829">
                <a:solidFill>
                  <a:schemeClr val="tx1">
                    <a:tint val="75000"/>
                  </a:schemeClr>
                </a:solidFill>
              </a:defRPr>
            </a:lvl1pPr>
            <a:lvl2pPr marL="414538" indent="0">
              <a:buNone/>
              <a:defRPr sz="1669">
                <a:solidFill>
                  <a:schemeClr val="tx1">
                    <a:tint val="75000"/>
                  </a:schemeClr>
                </a:solidFill>
              </a:defRPr>
            </a:lvl2pPr>
            <a:lvl3pPr marL="829075" indent="0">
              <a:buNone/>
              <a:defRPr sz="1431">
                <a:solidFill>
                  <a:schemeClr val="tx1">
                    <a:tint val="75000"/>
                  </a:schemeClr>
                </a:solidFill>
              </a:defRPr>
            </a:lvl3pPr>
            <a:lvl4pPr marL="1243613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4pPr>
            <a:lvl5pPr marL="1658150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5pPr>
            <a:lvl6pPr marL="2072689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6pPr>
            <a:lvl7pPr marL="2487227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7pPr>
            <a:lvl8pPr marL="2901764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8pPr>
            <a:lvl9pPr marL="3316302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32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3" y="1764667"/>
            <a:ext cx="4720815" cy="4991131"/>
          </a:xfrm>
        </p:spPr>
        <p:txBody>
          <a:bodyPr/>
          <a:lstStyle>
            <a:lvl1pPr>
              <a:defRPr sz="2544"/>
            </a:lvl1pPr>
            <a:lvl2pPr>
              <a:defRPr sz="2146"/>
            </a:lvl2pPr>
            <a:lvl3pPr>
              <a:defRPr sz="1829"/>
            </a:lvl3pPr>
            <a:lvl4pPr>
              <a:defRPr sz="1669"/>
            </a:lvl4pPr>
            <a:lvl5pPr>
              <a:defRPr sz="1669"/>
            </a:lvl5pPr>
            <a:lvl6pPr>
              <a:defRPr sz="1669"/>
            </a:lvl6pPr>
            <a:lvl7pPr>
              <a:defRPr sz="1669"/>
            </a:lvl7pPr>
            <a:lvl8pPr>
              <a:defRPr sz="1669"/>
            </a:lvl8pPr>
            <a:lvl9pPr>
              <a:defRPr sz="16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2" y="1764667"/>
            <a:ext cx="4720815" cy="4991131"/>
          </a:xfrm>
        </p:spPr>
        <p:txBody>
          <a:bodyPr/>
          <a:lstStyle>
            <a:lvl1pPr>
              <a:defRPr sz="2544"/>
            </a:lvl1pPr>
            <a:lvl2pPr>
              <a:defRPr sz="2146"/>
            </a:lvl2pPr>
            <a:lvl3pPr>
              <a:defRPr sz="1829"/>
            </a:lvl3pPr>
            <a:lvl4pPr>
              <a:defRPr sz="1669"/>
            </a:lvl4pPr>
            <a:lvl5pPr>
              <a:defRPr sz="1669"/>
            </a:lvl5pPr>
            <a:lvl6pPr>
              <a:defRPr sz="1669"/>
            </a:lvl6pPr>
            <a:lvl7pPr>
              <a:defRPr sz="1669"/>
            </a:lvl7pPr>
            <a:lvl8pPr>
              <a:defRPr sz="1669"/>
            </a:lvl8pPr>
            <a:lvl9pPr>
              <a:defRPr sz="16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877735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900" y="677937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38243502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900" y="6786999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4078882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376342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41962146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2966120775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302937"/>
            <a:ext cx="10688638" cy="630578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2232"/>
            <a:ext cx="6450517" cy="281364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05176" y="2941347"/>
            <a:ext cx="6011894" cy="2493526"/>
          </a:xfrm>
        </p:spPr>
        <p:txBody>
          <a:bodyPr>
            <a:normAutofit/>
          </a:bodyPr>
          <a:lstStyle>
            <a:lvl1pPr marL="116908" indent="-116908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90389" indent="-123171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644386" indent="-109950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937352" indent="-135697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191348" indent="-122475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456990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389012179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6" y="418068"/>
            <a:ext cx="83941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6079653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6733301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10688639" cy="756285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6741034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17393904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13457612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24918" y="-14006"/>
            <a:ext cx="10738473" cy="7590861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92024161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24918" y="-14006"/>
            <a:ext cx="10738473" cy="7590861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528863" y="2499942"/>
            <a:ext cx="9630910" cy="2562966"/>
          </a:xfrm>
          <a:prstGeom prst="rect">
            <a:avLst/>
          </a:prstGeom>
        </p:spPr>
        <p:txBody>
          <a:bodyPr anchor="ctr"/>
          <a:lstStyle>
            <a:lvl1pPr algn="ctr">
              <a:defRPr kumimoji="0" sz="4384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090830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1302937"/>
            <a:ext cx="10688638" cy="6305781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2709777" y="2936223"/>
            <a:ext cx="6734026" cy="28861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950063" y="2936223"/>
            <a:ext cx="1992573" cy="288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91137" y="2754629"/>
            <a:ext cx="6047505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52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7234" y="2754629"/>
            <a:ext cx="1478228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2709777" y="4454643"/>
            <a:ext cx="6734026" cy="28861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950063" y="4454643"/>
            <a:ext cx="1992573" cy="288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091137" y="4273049"/>
            <a:ext cx="6047505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52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7234" y="4273049"/>
            <a:ext cx="1478228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2709777" y="5973062"/>
            <a:ext cx="6734026" cy="288615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950063" y="5973062"/>
            <a:ext cx="1992573" cy="2886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091137" y="5791468"/>
            <a:ext cx="6047505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052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7234" y="5791468"/>
            <a:ext cx="1478228" cy="663997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2232"/>
            <a:ext cx="6450517" cy="281364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4381567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405176" y="2941347"/>
            <a:ext cx="6011894" cy="2493526"/>
          </a:xfrm>
        </p:spPr>
        <p:txBody>
          <a:bodyPr>
            <a:normAutofit/>
          </a:bodyPr>
          <a:lstStyle>
            <a:lvl1pPr marL="116908" indent="-116908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390389" indent="-123171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644386" indent="-109950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937352" indent="-135697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191348" indent="-122475">
              <a:lnSpc>
                <a:spcPct val="100000"/>
              </a:lnSpc>
              <a:tabLst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749552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0063" y="5148512"/>
            <a:ext cx="2086207" cy="1276744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22798" y="5148512"/>
            <a:ext cx="2086207" cy="1276744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95534" y="5148512"/>
            <a:ext cx="2086207" cy="1276744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063" y="2369481"/>
            <a:ext cx="2086207" cy="23005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22798" y="2369481"/>
            <a:ext cx="2086207" cy="23005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95534" y="2369481"/>
            <a:ext cx="2086207" cy="230058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08481640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3243035" y="3755905"/>
            <a:ext cx="689799" cy="518196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950062" y="3897991"/>
            <a:ext cx="2158768" cy="270955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37179" y="3143935"/>
            <a:ext cx="1707694" cy="18200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1403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4067038" y="3897991"/>
            <a:ext cx="2158768" cy="270955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7184015" y="3897991"/>
            <a:ext cx="2158768" cy="270955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60599" y="3143935"/>
            <a:ext cx="1707694" cy="18200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1403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00578" y="3143935"/>
            <a:ext cx="1707694" cy="18200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1403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30067" y="5759420"/>
            <a:ext cx="8345303" cy="9384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227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6360011" y="3755905"/>
            <a:ext cx="689799" cy="518196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1859399" y="2261146"/>
            <a:ext cx="340094" cy="366824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4944399" y="2261146"/>
            <a:ext cx="340094" cy="366824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8093351" y="2261146"/>
            <a:ext cx="340094" cy="366824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3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2426930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0062" y="3615412"/>
            <a:ext cx="4282165" cy="307432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9164" y="2321695"/>
            <a:ext cx="3988539" cy="4368047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9870" y="2321375"/>
            <a:ext cx="4282151" cy="1124344"/>
          </a:xfrm>
        </p:spPr>
        <p:txBody>
          <a:bodyPr>
            <a:normAutofit/>
          </a:bodyPr>
          <a:lstStyle>
            <a:lvl1pPr marL="0" indent="0">
              <a:buNone/>
              <a:defRPr sz="1929">
                <a:solidFill>
                  <a:schemeClr val="bg1"/>
                </a:solidFill>
              </a:defRPr>
            </a:lvl1pPr>
            <a:lvl5pPr marL="1068873" indent="0" algn="l">
              <a:buFont typeface="Arial" panose="020B0604020202020204" pitchFamily="34" charset="0"/>
              <a:buNone/>
              <a:defRPr sz="192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0276021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3279403" y="4384547"/>
            <a:ext cx="4008239" cy="366824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5283523" y="4384547"/>
            <a:ext cx="9686" cy="2704363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3279403" y="4567959"/>
            <a:ext cx="4008239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870" y="2215882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31735" y="4022280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1735" y="4751492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0478" y="4024202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47768" y="4739680"/>
            <a:ext cx="1663701" cy="414238"/>
          </a:xfrm>
        </p:spPr>
        <p:txBody>
          <a:bodyPr>
            <a:normAutofit/>
          </a:bodyPr>
          <a:lstStyle>
            <a:lvl1pPr marL="0" indent="0" algn="ctr">
              <a:buNone/>
              <a:defRPr sz="1227">
                <a:solidFill>
                  <a:srgbClr val="002060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870" y="4928691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3993" y="2215882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63993" y="4928691"/>
            <a:ext cx="2053181" cy="1985000"/>
          </a:xfrm>
        </p:spPr>
        <p:txBody>
          <a:bodyPr>
            <a:normAutofit/>
          </a:bodyPr>
          <a:lstStyle>
            <a:lvl1pPr marL="0" indent="0">
              <a:buNone/>
              <a:defRPr sz="1227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8967" y="2756902"/>
            <a:ext cx="849053" cy="1068011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7069" y="2739686"/>
            <a:ext cx="858603" cy="1080023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6104" y="5357027"/>
            <a:ext cx="743615" cy="935382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27070" y="5354990"/>
            <a:ext cx="745235" cy="9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64665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6074" y="1301470"/>
            <a:ext cx="10694712" cy="6305781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 b="0" i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9870" y="2398404"/>
            <a:ext cx="5302984" cy="1909161"/>
          </a:xfrm>
        </p:spPr>
        <p:txBody>
          <a:bodyPr>
            <a:normAutofit/>
          </a:bodyPr>
          <a:lstStyle>
            <a:lvl1pPr marL="0" indent="0">
              <a:buNone/>
              <a:defRPr sz="1753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9870" y="4928692"/>
            <a:ext cx="8696626" cy="2027039"/>
          </a:xfrm>
        </p:spPr>
        <p:txBody>
          <a:bodyPr>
            <a:normAutofit/>
          </a:bodyPr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  <a:lvl5pPr marL="106887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0399" y="2382064"/>
            <a:ext cx="1549853" cy="194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8536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92518" y="6033751"/>
            <a:ext cx="3736122" cy="79667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59999" y="6050083"/>
            <a:ext cx="3736122" cy="796673"/>
          </a:xfrm>
        </p:spPr>
        <p:txBody>
          <a:bodyPr>
            <a:noAutofit/>
          </a:bodyPr>
          <a:lstStyle>
            <a:lvl1pPr marL="0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92518" y="2526470"/>
            <a:ext cx="3736122" cy="306350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9999" y="2526470"/>
            <a:ext cx="3736122" cy="307535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94379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5023521" y="2184823"/>
            <a:ext cx="5312309" cy="5008638"/>
          </a:xfrm>
        </p:spPr>
        <p:txBody>
          <a:bodyPr>
            <a:normAutofit/>
          </a:bodyPr>
          <a:lstStyle>
            <a:lvl1pPr marL="0" indent="0">
              <a:buNone/>
              <a:defRPr sz="1753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0461" y="2184824"/>
            <a:ext cx="3072983" cy="2237564"/>
          </a:xfrm>
        </p:spPr>
        <p:txBody>
          <a:bodyPr>
            <a:normAutofit/>
          </a:bodyPr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768" y="2184824"/>
            <a:ext cx="615229" cy="773886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0461" y="4886069"/>
            <a:ext cx="3072983" cy="2237564"/>
          </a:xfrm>
        </p:spPr>
        <p:txBody>
          <a:bodyPr>
            <a:normAutofit/>
          </a:bodyPr>
          <a:lstStyle>
            <a:lvl1pPr marL="0" indent="0">
              <a:buNone/>
              <a:defRPr sz="1578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547" y="4768822"/>
            <a:ext cx="615229" cy="77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72171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12445" y="195262"/>
            <a:ext cx="1123723" cy="59763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50063" y="2272008"/>
            <a:ext cx="4150789" cy="472462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87981" y="3563356"/>
            <a:ext cx="3517659" cy="343327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87789" y="2269319"/>
            <a:ext cx="3517647" cy="1085368"/>
          </a:xfrm>
        </p:spPr>
        <p:txBody>
          <a:bodyPr>
            <a:normAutofit/>
          </a:bodyPr>
          <a:lstStyle>
            <a:lvl1pPr marL="0" indent="0">
              <a:buNone/>
              <a:defRPr sz="1929">
                <a:solidFill>
                  <a:schemeClr val="bg1"/>
                </a:solidFill>
              </a:defRPr>
            </a:lvl1pPr>
            <a:lvl5pPr marL="1068873" indent="0" algn="l">
              <a:buFont typeface="Arial" panose="020B0604020202020204" pitchFamily="34" charset="0"/>
              <a:buNone/>
              <a:defRPr sz="1929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194358435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1301470"/>
            <a:ext cx="10688638" cy="6305781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331680" y="-2133"/>
            <a:ext cx="1220317" cy="111059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0063" y="1031739"/>
            <a:ext cx="6450517" cy="281857"/>
          </a:xfrm>
        </p:spPr>
        <p:txBody>
          <a:bodyPr>
            <a:normAutofit/>
          </a:bodyPr>
          <a:lstStyle>
            <a:lvl1pPr>
              <a:defRPr kumimoji="0" lang="en-US" sz="1666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062" y="1334212"/>
            <a:ext cx="4282151" cy="443066"/>
          </a:xfrm>
        </p:spPr>
        <p:txBody>
          <a:bodyPr/>
          <a:lstStyle>
            <a:lvl1pPr marL="0" indent="0">
              <a:buNone/>
              <a:defRPr kumimoji="0" lang="en-US" sz="1403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931195" y="5122313"/>
            <a:ext cx="3380700" cy="265910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37179" y="3996478"/>
            <a:ext cx="2988375" cy="3433279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7179" y="3015441"/>
            <a:ext cx="625815" cy="787202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5034740" y="3041383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5034740" y="3978512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5034740" y="4904176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5034740" y="5829840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5034740" y="6755504"/>
            <a:ext cx="5142278" cy="288615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268" tIns="22268" rIns="22268" bIns="22268" numCol="1" spcCol="38100" rtlCol="0" anchor="ctr">
            <a:spAutoFit/>
          </a:bodyPr>
          <a:lstStyle/>
          <a:p>
            <a:pPr marL="0" marR="0" indent="0" algn="ctr" defTabSz="36185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3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32213" y="2997949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32213" y="3935077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32213" y="4860741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32213" y="5786405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232213" y="6712069"/>
            <a:ext cx="4734942" cy="356881"/>
          </a:xfrm>
        </p:spPr>
        <p:txBody>
          <a:bodyPr>
            <a:noAutofit/>
          </a:bodyPr>
          <a:lstStyle>
            <a:lvl1pPr marL="0" indent="0">
              <a:buNone/>
              <a:defRPr kumimoji="0" lang="en-US" sz="114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267218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534436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801654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1068873" indent="0">
              <a:buNone/>
              <a:defRPr kumimoji="0" lang="en-US" sz="964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4106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05970" y="4612973"/>
            <a:ext cx="1926810" cy="131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052"/>
              <a:t>UNIVERSITAS</a:t>
            </a:r>
            <a:r>
              <a:rPr sz="1052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4976334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6" y="418068"/>
            <a:ext cx="83941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4101416"/>
            <a:ext cx="9630909" cy="476771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686566"/>
            <a:ext cx="9630910" cy="20656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78245" y="5230895"/>
            <a:ext cx="2727626" cy="197551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11581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10688638" cy="756285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31315" tIns="31315" rIns="31315" bIns="31315" anchor="ctr"/>
          <a:lstStyle/>
          <a:p>
            <a:pPr defTabSz="360119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315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4305970" y="4612973"/>
            <a:ext cx="1926810" cy="131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052"/>
              <a:t>UNIVERSITAS</a:t>
            </a:r>
            <a:r>
              <a:rPr sz="1052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4976334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4101416"/>
            <a:ext cx="9630909" cy="476771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686566"/>
            <a:ext cx="9630910" cy="2065658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78245" y="5230895"/>
            <a:ext cx="2727626" cy="197551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14220063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539BE2-12B7-4434-89E0-DFE32BB14338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29EBDB-E5DA-C246-981F-4C19F8FC45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40" y="263856"/>
            <a:ext cx="1708498" cy="12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736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5369"/>
            <a:ext cx="10688637" cy="712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222" y="2272657"/>
            <a:ext cx="7992064" cy="873497"/>
          </a:xfrm>
        </p:spPr>
        <p:txBody>
          <a:bodyPr>
            <a:normAutofit/>
          </a:bodyPr>
          <a:lstStyle>
            <a:lvl1pPr algn="l">
              <a:defRPr sz="3308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4432" y="7116596"/>
            <a:ext cx="2494016" cy="402652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51952" y="7116596"/>
            <a:ext cx="3384735" cy="402652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0190" y="7116596"/>
            <a:ext cx="2494016" cy="402652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2234222" y="3781426"/>
            <a:ext cx="7992064" cy="3352910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2229960" y="3146154"/>
            <a:ext cx="7996326" cy="55586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426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11160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7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23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5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48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5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23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46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/>
        </p:nvPicPr>
        <p:blipFill>
          <a:blip r:embed="rId9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D4E8849-CB45-4FAD-B44C-942F8AD376A7}" type="datetime1">
              <a:rPr lang="en-US" smtClean="0"/>
              <a:t>12/20/2023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7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520700" rtl="0" eaLnBrk="1" fontAlgn="base" hangingPunct="1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520700" rtl="0" eaLnBrk="1" fontAlgn="base" hangingPunct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5" indent="-390525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38" indent="-325438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38" indent="-260350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38" indent="-260350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25" indent="-260350" algn="l" defTabSz="5207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38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75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1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7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4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8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5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49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254"/>
            <a:ext cx="10688637" cy="712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687237"/>
            <a:ext cx="10688636" cy="187561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2316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3273" y="1637387"/>
            <a:ext cx="8260933" cy="1260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3273" y="2907929"/>
            <a:ext cx="8260933" cy="3847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432" y="7116596"/>
            <a:ext cx="249401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20/12/2023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952" y="7116596"/>
            <a:ext cx="3384735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0190" y="7116596"/>
            <a:ext cx="249401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77533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txStyles>
    <p:titleStyle>
      <a:lvl1pPr algn="ctr" defTabSz="1008400" rtl="0" eaLnBrk="1" latinLnBrk="0" hangingPunct="1">
        <a:spcBef>
          <a:spcPct val="0"/>
        </a:spcBef>
        <a:buNone/>
        <a:defRPr sz="3308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78150" indent="-37815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Open Sans"/>
          <a:ea typeface="+mn-ea"/>
          <a:cs typeface="+mn-cs"/>
        </a:defRPr>
      </a:lvl1pPr>
      <a:lvl2pPr marL="819325" indent="-315125" algn="l" defTabSz="1008400" rtl="0" eaLnBrk="1" latinLnBrk="0" hangingPunct="1">
        <a:spcBef>
          <a:spcPct val="20000"/>
        </a:spcBef>
        <a:buFont typeface="Arial" pitchFamily="34" charset="0"/>
        <a:buChar char="–"/>
        <a:defRPr sz="2206" kern="1200">
          <a:solidFill>
            <a:schemeClr val="tx1"/>
          </a:solidFill>
          <a:latin typeface="Open Sans"/>
          <a:ea typeface="+mn-ea"/>
          <a:cs typeface="+mn-cs"/>
        </a:defRPr>
      </a:lvl2pPr>
      <a:lvl3pPr marL="1260500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Open Sans"/>
          <a:ea typeface="+mn-ea"/>
          <a:cs typeface="+mn-cs"/>
        </a:defRPr>
      </a:lvl3pPr>
      <a:lvl4pPr marL="1764701" indent="-252100" algn="l" defTabSz="1008400" rtl="0" eaLnBrk="1" latinLnBrk="0" hangingPunct="1">
        <a:spcBef>
          <a:spcPct val="20000"/>
        </a:spcBef>
        <a:buFont typeface="Arial" pitchFamily="34" charset="0"/>
        <a:buChar char="–"/>
        <a:defRPr sz="2206" kern="1200">
          <a:solidFill>
            <a:schemeClr val="tx1"/>
          </a:solidFill>
          <a:latin typeface="Open Sans"/>
          <a:ea typeface="+mn-ea"/>
          <a:cs typeface="+mn-cs"/>
        </a:defRPr>
      </a:lvl4pPr>
      <a:lvl5pPr marL="2268901" indent="-252100" algn="l" defTabSz="1008400" rtl="0" eaLnBrk="1" latinLnBrk="0" hangingPunct="1">
        <a:spcBef>
          <a:spcPct val="20000"/>
        </a:spcBef>
        <a:buFont typeface="Arial" pitchFamily="34" charset="0"/>
        <a:buChar char="»"/>
        <a:defRPr sz="2206" kern="1200">
          <a:solidFill>
            <a:schemeClr val="tx1"/>
          </a:solidFill>
          <a:latin typeface="Open Sans"/>
          <a:ea typeface="+mn-ea"/>
          <a:cs typeface="+mn-cs"/>
        </a:defRPr>
      </a:lvl5pPr>
      <a:lvl6pPr marL="27731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spcBef>
          <a:spcPct val="20000"/>
        </a:spcBef>
        <a:buFont typeface="Arial" pitchFamily="34" charset="0"/>
        <a:buChar char="•"/>
        <a:defRPr sz="22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02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76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113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414538" fontAlgn="auto">
              <a:spcBef>
                <a:spcPts val="0"/>
              </a:spcBef>
              <a:spcAft>
                <a:spcPts val="0"/>
              </a:spcAft>
              <a:defRPr sz="1113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113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2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hdr="0" ftr="0" dt="0"/>
  <p:txStyles>
    <p:titleStyle>
      <a:lvl1pPr algn="l" defTabSz="413952" rtl="0" eaLnBrk="0" fontAlgn="base" hangingPunct="0">
        <a:spcBef>
          <a:spcPct val="0"/>
        </a:spcBef>
        <a:spcAft>
          <a:spcPct val="0"/>
        </a:spcAft>
        <a:defRPr sz="2544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13952" rtl="0" eaLnBrk="0" fontAlgn="base" hangingPunct="0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363470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726940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090411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453881" algn="ctr" defTabSz="413952" rtl="0" fontAlgn="base">
        <a:spcBef>
          <a:spcPct val="0"/>
        </a:spcBef>
        <a:spcAft>
          <a:spcPct val="0"/>
        </a:spcAft>
        <a:defRPr sz="3975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10464" indent="-310464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62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672673" indent="-258720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544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036143" indent="-206976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146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450095" indent="-206976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29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1865309" indent="-206976" algn="l" defTabSz="413952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829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279957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6pPr>
      <a:lvl7pPr marL="2694495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7pPr>
      <a:lvl8pPr marL="3109033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8pPr>
      <a:lvl9pPr marL="3523570" indent="-207269" algn="l" defTabSz="414538" rtl="0" eaLnBrk="1" latinLnBrk="0" hangingPunct="1">
        <a:spcBef>
          <a:spcPct val="20000"/>
        </a:spcBef>
        <a:buFont typeface="Arial"/>
        <a:buChar char="•"/>
        <a:defRPr sz="18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1pPr>
      <a:lvl2pPr marL="414538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2pPr>
      <a:lvl3pPr marL="829075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3pPr>
      <a:lvl4pPr marL="1243613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4pPr>
      <a:lvl5pPr marL="1658150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5pPr>
      <a:lvl6pPr marL="2072689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6pPr>
      <a:lvl7pPr marL="2487227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7pPr>
      <a:lvl8pPr marL="2901764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8pPr>
      <a:lvl9pPr marL="3316302" algn="l" defTabSz="414538" rtl="0" eaLnBrk="1" latinLnBrk="0" hangingPunct="1">
        <a:defRPr sz="1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528865" y="595224"/>
            <a:ext cx="9630908" cy="79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528865" y="2342578"/>
            <a:ext cx="9630908" cy="4552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255503" y="7195232"/>
            <a:ext cx="219612" cy="22403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256084">
              <a:defRPr sz="789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008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5" r:id="rId24"/>
    <p:sldLayoutId id="2147483706" r:id="rId25"/>
  </p:sldLayoutIdLst>
  <p:transition spd="med"/>
  <p:hf hdr="0" ftr="0" dt="0"/>
  <p:txStyles>
    <p:titleStyle>
      <a:lvl1pPr marL="0" marR="0" indent="0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200414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00827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01241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801654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002068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202482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402895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603309" algn="l" defTabSz="1068845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726" b="1" i="0" u="none" strike="noStrike" cap="none" spc="-7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267218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534436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801654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1068873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1336091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1603309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1870527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137745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404963" marR="0" indent="-267218" algn="l" defTabSz="1068845" rtl="0" eaLnBrk="1" latinLnBrk="0" hangingPunct="1">
        <a:lnSpc>
          <a:spcPct val="90000"/>
        </a:lnSpc>
        <a:spcBef>
          <a:spcPts val="1973"/>
        </a:spcBef>
        <a:spcAft>
          <a:spcPts val="0"/>
        </a:spcAft>
        <a:buClrTx/>
        <a:buSzPct val="123000"/>
        <a:buFontTx/>
        <a:buChar char="•"/>
        <a:tabLst/>
        <a:defRPr sz="2104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00414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00827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01241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801654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002068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202482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402895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603309" algn="ctr" defTabSz="256084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89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7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5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5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96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5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02.jpeg"/><Relationship Id="rId4" Type="http://schemas.openxmlformats.org/officeDocument/2006/relationships/image" Target="../media/image10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0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07.jpe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jpeg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5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13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5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5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1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120.jpeg"/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8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13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2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130.png"/><Relationship Id="rId4" Type="http://schemas.openxmlformats.org/officeDocument/2006/relationships/image" Target="../media/image12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5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136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5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490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5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52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5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5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5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5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5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88804" y="3573373"/>
            <a:ext cx="9630909" cy="835051"/>
          </a:xfrm>
        </p:spPr>
        <p:txBody>
          <a:bodyPr/>
          <a:lstStyle/>
          <a:p>
            <a:pPr algn="ctr"/>
            <a:r>
              <a:rPr lang="en-US" sz="2455" b="1" dirty="0">
                <a:solidFill>
                  <a:schemeClr val="bg1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09 - 12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62" y="2169041"/>
            <a:ext cx="9630910" cy="1181496"/>
          </a:xfrm>
        </p:spPr>
        <p:txBody>
          <a:bodyPr>
            <a:noAutofit/>
          </a:bodyPr>
          <a:lstStyle/>
          <a:p>
            <a:r>
              <a:rPr lang="en-US" sz="3507" b="1" dirty="0">
                <a:solidFill>
                  <a:schemeClr val="bg1"/>
                </a:solidFill>
                <a:latin typeface="Cambria"/>
                <a:ea typeface="Cambria"/>
                <a:cs typeface="ＭＳ Ｐゴシック" charset="0"/>
              </a:rPr>
              <a:t>Continuous Random Variables and Probability Distributions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Anom Yudistira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886" y="2140682"/>
            <a:ext cx="4495800" cy="4954066"/>
          </a:xfrm>
        </p:spPr>
        <p:txBody>
          <a:bodyPr>
            <a:normAutofit/>
          </a:bodyPr>
          <a:lstStyle/>
          <a:p>
            <a:r>
              <a:rPr lang="en-US" sz="3200" dirty="0"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Jay L. Devore. (2020).  Probability and Statistics for Engineering and the Sciences, 9E.  </a:t>
            </a:r>
            <a:r>
              <a:rPr lang="en-US" sz="3200" dirty="0" err="1"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Cancage</a:t>
            </a:r>
            <a:r>
              <a:rPr lang="en-US" sz="3200" dirty="0">
                <a:effectLst/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Learning, Boston USA.  ISBN-13: 978-0-538-73352-6</a:t>
            </a:r>
            <a:br>
              <a:rPr lang="en-ID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</a:br>
            <a:endParaRPr lang="id-ID" sz="280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81070" y="1399160"/>
            <a:ext cx="5034962" cy="873497"/>
          </a:xfrm>
          <a:prstGeom prst="rect">
            <a:avLst/>
          </a:prstGeom>
        </p:spPr>
        <p:txBody>
          <a:bodyPr vert="horz" lIns="100838" tIns="50419" rIns="100838" bIns="50419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1" kern="120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algn="ctr" defTabSz="1008400" fontAlgn="auto">
              <a:spcAft>
                <a:spcPts val="0"/>
              </a:spcAft>
            </a:pPr>
            <a:r>
              <a:rPr lang="en-US" sz="3308" dirty="0"/>
              <a:t>References</a:t>
            </a:r>
            <a:endParaRPr lang="id-ID" sz="3308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82773-2F70-CD24-17F1-7A8B5F45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982" y="1122898"/>
            <a:ext cx="4255925" cy="531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130" y="3781426"/>
            <a:ext cx="8984512" cy="20345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LO 2: Calculate Descriptive Measures, Probability, Discrete</a:t>
            </a:r>
          </a:p>
          <a:p>
            <a:pPr marL="0" indent="0">
              <a:buNone/>
            </a:pPr>
            <a:r>
              <a:rPr lang="en-US" sz="24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         and Continuous Distribution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On successful completion of this course, student will be able to: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754008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4222" y="1687866"/>
            <a:ext cx="7992064" cy="873497"/>
          </a:xfrm>
        </p:spPr>
        <p:txBody>
          <a:bodyPr/>
          <a:lstStyle/>
          <a:p>
            <a:r>
              <a:rPr lang="en-US" dirty="0"/>
              <a:t>Sub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762" y="2561363"/>
            <a:ext cx="9048307" cy="453055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Probability Density Functions </a:t>
            </a:r>
          </a:p>
          <a:p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Comulative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Distributions Functions and Expected Values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Normal Distributions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The Exponential Distributions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Others Continuous Distributions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Probability Plots</a:t>
            </a:r>
          </a:p>
          <a:p>
            <a:endParaRPr lang="en-US" sz="2800" b="1" dirty="0">
              <a:solidFill>
                <a:schemeClr val="tx2">
                  <a:lumMod val="75000"/>
                </a:schemeClr>
              </a:solidFill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06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4000" b="1" dirty="0" err="1"/>
              <a:t>Learning</a:t>
            </a:r>
            <a:r>
              <a:rPr lang="id-ID" sz="4000" b="1" dirty="0"/>
              <a:t> </a:t>
            </a:r>
            <a:r>
              <a:rPr lang="id-ID" sz="4000" b="1" dirty="0" err="1"/>
              <a:t>Objectives</a:t>
            </a:r>
            <a:endParaRPr lang="id-ID" sz="40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DE6C99D-0C60-84AD-49CC-DA0BA8E49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043056"/>
              </p:ext>
            </p:extLst>
          </p:nvPr>
        </p:nvGraphicFramePr>
        <p:xfrm>
          <a:off x="1238250" y="3403075"/>
          <a:ext cx="9172281" cy="1171840"/>
        </p:xfrm>
        <a:graphic>
          <a:graphicData uri="http://schemas.openxmlformats.org/drawingml/2006/table">
            <a:tbl>
              <a:tblPr firstRow="1" firstCol="1" bandRow="1"/>
              <a:tblGrid>
                <a:gridCol w="9172281">
                  <a:extLst>
                    <a:ext uri="{9D8B030D-6E8A-4147-A177-3AD203B41FA5}">
                      <a16:colId xmlns:a16="http://schemas.microsoft.com/office/drawing/2014/main" val="1102802147"/>
                    </a:ext>
                  </a:extLst>
                </a:gridCol>
              </a:tblGrid>
              <a:tr h="455227">
                <a:tc>
                  <a:txBody>
                    <a:bodyPr/>
                    <a:lstStyle/>
                    <a:p>
                      <a:pPr marL="457200" indent="-457200"/>
                      <a:r>
                        <a:rPr 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 2: Calculate Descriptive Measures, Probability, Discrete</a:t>
                      </a:r>
                    </a:p>
                    <a:p>
                      <a:pPr marL="457200" indent="-457200"/>
                      <a:r>
                        <a:rPr lang="en-US" sz="2400" b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and Continuous Distribution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803355"/>
                  </a:ext>
                </a:extLst>
              </a:tr>
              <a:tr h="440320">
                <a:tc>
                  <a:txBody>
                    <a:bodyPr/>
                    <a:lstStyle/>
                    <a:p>
                      <a:pPr marL="457200" indent="-457200"/>
                      <a:endParaRPr lang="en-ID" sz="28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Verdana" panose="020B060403050404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1085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13D9E-C7DC-4AC4-9231-DCDAABFF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7FA9F5-F61B-45A1-B5E1-F65A5889B2E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1796902" y="3636078"/>
            <a:ext cx="7442789" cy="6858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lang="en-ID" sz="3857" b="1" dirty="0">
                <a:solidFill>
                  <a:srgbClr val="00B0F0"/>
                </a:solidFill>
                <a:latin typeface="Helvetica Neue"/>
              </a:rPr>
              <a:t>Continuous Random Variables</a:t>
            </a:r>
          </a:p>
        </p:txBody>
      </p:sp>
    </p:spTree>
    <p:extLst>
      <p:ext uri="{BB962C8B-B14F-4D97-AF65-F5344CB8AC3E}">
        <p14:creationId xmlns:p14="http://schemas.microsoft.com/office/powerpoint/2010/main" val="25141864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5F4282-AF20-6DE7-091D-2CCB72AE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0270"/>
            <a:ext cx="9604513" cy="727075"/>
          </a:xfrm>
        </p:spPr>
        <p:txBody>
          <a:bodyPr/>
          <a:lstStyle/>
          <a:p>
            <a:pPr algn="ctr"/>
            <a:r>
              <a:rPr kumimoji="0" lang="en-US" altLang="ko-KR" sz="4000" b="1" i="0" u="none" strike="noStrike" kern="0" cap="none" spc="-75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Open Sans ExtraBold" panose="020B0606030504020204" pitchFamily="34" charset="0"/>
                <a:ea typeface="굴림" charset="-127"/>
                <a:cs typeface="Open Sans ExtraBold" panose="020B0606030504020204" pitchFamily="34" charset="0"/>
                <a:sym typeface="Helvetica Neue"/>
              </a:rPr>
              <a:t>Continuous Random Variables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4B820B-68D7-9551-F7CE-145853B74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990" y="1822155"/>
            <a:ext cx="9120497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10000"/>
              </a:lnSpc>
            </a:pPr>
            <a:r>
              <a:rPr lang="en-US" altLang="ko-KR" dirty="0">
                <a:ea typeface="굴림" panose="020B0600000101010101" pitchFamily="34" charset="-127"/>
              </a:rPr>
              <a:t>Continuous random variables can assume the infinitely many values corresponding to points on a line interval.</a:t>
            </a:r>
          </a:p>
          <a:p>
            <a:pPr defTabSz="914400">
              <a:lnSpc>
                <a:spcPct val="110000"/>
              </a:lnSpc>
            </a:pPr>
            <a:r>
              <a:rPr lang="en-US" altLang="ko-KR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Examples:</a:t>
            </a:r>
            <a:r>
              <a:rPr lang="en-US" altLang="ko-KR" dirty="0">
                <a:ea typeface="굴림" panose="020B0600000101010101" pitchFamily="34" charset="-127"/>
              </a:rPr>
              <a:t> </a:t>
            </a:r>
          </a:p>
          <a:p>
            <a:pPr lvl="1" defTabSz="914400">
              <a:lnSpc>
                <a:spcPct val="110000"/>
              </a:lnSpc>
            </a:pPr>
            <a:r>
              <a:rPr lang="en-US" altLang="ko-KR" dirty="0">
                <a:solidFill>
                  <a:srgbClr val="CC0066"/>
                </a:solidFill>
                <a:ea typeface="굴림" panose="020B0600000101010101" pitchFamily="34" charset="-127"/>
              </a:rPr>
              <a:t> Heights, weights</a:t>
            </a:r>
          </a:p>
          <a:p>
            <a:pPr lvl="1" defTabSz="914400">
              <a:lnSpc>
                <a:spcPct val="110000"/>
              </a:lnSpc>
            </a:pPr>
            <a:r>
              <a:rPr lang="en-US" altLang="ko-KR" dirty="0">
                <a:solidFill>
                  <a:srgbClr val="CC0066"/>
                </a:solidFill>
                <a:ea typeface="굴림" panose="020B0600000101010101" pitchFamily="34" charset="-127"/>
              </a:rPr>
              <a:t> length of life of a particular product</a:t>
            </a:r>
          </a:p>
          <a:p>
            <a:pPr lvl="1" defTabSz="914400">
              <a:lnSpc>
                <a:spcPct val="110000"/>
              </a:lnSpc>
            </a:pPr>
            <a:r>
              <a:rPr lang="en-US" altLang="ko-KR" dirty="0">
                <a:solidFill>
                  <a:srgbClr val="CC0066"/>
                </a:solidFill>
                <a:ea typeface="굴림" panose="020B0600000101010101" pitchFamily="34" charset="-127"/>
              </a:rPr>
              <a:t> experimental laboratory error</a:t>
            </a:r>
          </a:p>
        </p:txBody>
      </p:sp>
    </p:spTree>
    <p:extLst>
      <p:ext uri="{BB962C8B-B14F-4D97-AF65-F5344CB8AC3E}">
        <p14:creationId xmlns:p14="http://schemas.microsoft.com/office/powerpoint/2010/main" val="64779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15F4282-AF20-6DE7-091D-2CCB72AE8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837" y="396136"/>
            <a:ext cx="8314662" cy="9754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algn="ctr"/>
            <a:r>
              <a:rPr kumimoji="0" lang="en-US" altLang="ko-KR" sz="4000" b="1" i="0" u="none" strike="noStrike" kern="0" cap="none" spc="-75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Open Sans ExtraBold" panose="020B0606030504020204" pitchFamily="34" charset="0"/>
                <a:ea typeface="굴림" charset="-127"/>
                <a:cs typeface="Open Sans ExtraBold" panose="020B0606030504020204" pitchFamily="34" charset="0"/>
                <a:sym typeface="Helvetica Neue"/>
              </a:rPr>
              <a:t>Relative Frequency Histogram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8225EC1C-6C63-D2DB-6FC7-20D6C172BB2F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4644" y="1611905"/>
            <a:ext cx="3598862" cy="2565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4941819-5773-737A-A804-BFD08D11D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5094" y="1611905"/>
            <a:ext cx="3598862" cy="25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E1DD5EA-343F-048F-C3F8-6951AAA18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4644" y="4132855"/>
            <a:ext cx="3598862" cy="25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E707FA8-FA15-401C-03B6-F64D6082D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2069" y="4132855"/>
            <a:ext cx="3598862" cy="256698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Line 7">
            <a:extLst>
              <a:ext uri="{FF2B5EF4-FFF2-40B4-BE49-F238E27FC236}">
                <a16:creationId xmlns:a16="http://schemas.microsoft.com/office/drawing/2014/main" id="{4A2338B5-C047-A326-9C20-94EAF4FA2B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7119" y="6004517"/>
            <a:ext cx="360362" cy="506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2BA993FD-9D89-6D50-D345-26A4A7850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444" y="6436317"/>
            <a:ext cx="7493100" cy="369332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latinLnBrk="1">
              <a:spcBef>
                <a:spcPct val="50000"/>
              </a:spcBef>
            </a:pPr>
            <a:r>
              <a:rPr kumimoji="1" lang="en-US" altLang="ko-KR" sz="1800" b="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Describing the probability distribution of the continuous RV</a:t>
            </a:r>
          </a:p>
        </p:txBody>
      </p:sp>
    </p:spTree>
    <p:extLst>
      <p:ext uri="{BB962C8B-B14F-4D97-AF65-F5344CB8AC3E}">
        <p14:creationId xmlns:p14="http://schemas.microsoft.com/office/powerpoint/2010/main" val="2929706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12399-053C-8480-5215-7CA1401CA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6631" y="314763"/>
            <a:ext cx="8197703" cy="1152530"/>
          </a:xfrm>
          <a:solidFill>
            <a:schemeClr val="bg1">
              <a:lumMod val="95000"/>
            </a:schemeClr>
          </a:solidFill>
        </p:spPr>
        <p:txBody>
          <a:bodyPr lIns="99788" tIns="49018" rIns="99788" bIns="49018">
            <a:noAutofit/>
          </a:bodyPr>
          <a:lstStyle/>
          <a:p>
            <a:pPr algn="ctr" eaLnBrk="1" hangingPunct="1">
              <a:defRPr/>
            </a:pP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Continuous Random Variables</a:t>
            </a:r>
            <a:endParaRPr lang="en-US" altLang="ko-KR" sz="4400" dirty="0">
              <a:ea typeface="굴림" charset="-127"/>
            </a:endParaRP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49AE482C-D761-1389-0677-1EC33BBF0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86" y="1099921"/>
            <a:ext cx="9015855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10000"/>
              </a:lnSpc>
            </a:pPr>
            <a:r>
              <a:rPr lang="en-US" altLang="ko-KR" sz="3000" dirty="0">
                <a:ea typeface="굴림" panose="020B0600000101010101" pitchFamily="34" charset="-127"/>
              </a:rPr>
              <a:t>A </a:t>
            </a:r>
            <a:r>
              <a:rPr lang="en-US" altLang="ko-KR" sz="30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smooth curve</a:t>
            </a:r>
            <a:r>
              <a:rPr lang="en-US" altLang="ko-KR" sz="3000" dirty="0">
                <a:ea typeface="굴림" panose="020B0600000101010101" pitchFamily="34" charset="-127"/>
              </a:rPr>
              <a:t> describes the probability distribution of a continuous random variable.</a:t>
            </a:r>
          </a:p>
        </p:txBody>
      </p:sp>
      <p:grpSp>
        <p:nvGrpSpPr>
          <p:cNvPr id="3" name="Group 1040">
            <a:extLst>
              <a:ext uri="{FF2B5EF4-FFF2-40B4-BE49-F238E27FC236}">
                <a16:creationId xmlns:a16="http://schemas.microsoft.com/office/drawing/2014/main" id="{29A58208-9D17-404A-59F3-E4F2D12BC51F}"/>
              </a:ext>
            </a:extLst>
          </p:cNvPr>
          <p:cNvGrpSpPr>
            <a:grpSpLocks/>
          </p:cNvGrpSpPr>
          <p:nvPr/>
        </p:nvGrpSpPr>
        <p:grpSpPr bwMode="auto">
          <a:xfrm>
            <a:off x="2835348" y="2282459"/>
            <a:ext cx="3473999" cy="1981200"/>
            <a:chOff x="1920" y="2640"/>
            <a:chExt cx="2016" cy="1248"/>
          </a:xfrm>
        </p:grpSpPr>
        <p:sp>
          <p:nvSpPr>
            <p:cNvPr id="7" name="Rectangle 1030">
              <a:extLst>
                <a:ext uri="{FF2B5EF4-FFF2-40B4-BE49-F238E27FC236}">
                  <a16:creationId xmlns:a16="http://schemas.microsoft.com/office/drawing/2014/main" id="{F70CA2E4-C3F7-9CE2-BB84-9EC963FC5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640"/>
              <a:ext cx="2016" cy="124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8" name="Picture 1037">
              <a:extLst>
                <a:ext uri="{FF2B5EF4-FFF2-40B4-BE49-F238E27FC236}">
                  <a16:creationId xmlns:a16="http://schemas.microsoft.com/office/drawing/2014/main" id="{F4AAECC7-4B5A-2622-C241-54C08D43AA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2688"/>
              <a:ext cx="1824" cy="1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 Box 1041">
            <a:extLst>
              <a:ext uri="{FF2B5EF4-FFF2-40B4-BE49-F238E27FC236}">
                <a16:creationId xmlns:a16="http://schemas.microsoft.com/office/drawing/2014/main" id="{FA35474A-88D6-092B-56E0-4A9D5AF0E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148" y="4455049"/>
            <a:ext cx="9204252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depth or density of the probability, which varies with </a:t>
            </a:r>
            <a:r>
              <a:rPr lang="en-US" altLang="ko-KR" sz="3000" i="1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,  may be described by a mathematical formula </a:t>
            </a:r>
            <a:r>
              <a:rPr lang="en-US" altLang="ko-KR" sz="3000" i="1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 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(</a:t>
            </a:r>
            <a:r>
              <a:rPr lang="en-US" altLang="ko-KR" sz="3000" i="1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 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)</a:t>
            </a:r>
            <a:r>
              <a:rPr lang="en-US" altLang="ko-KR" sz="3000" i="1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, 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called the </a:t>
            </a:r>
            <a:r>
              <a:rPr lang="en-US" altLang="ko-KR" sz="30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probability distribution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or </a:t>
            </a:r>
            <a:r>
              <a:rPr lang="en-US" altLang="ko-KR" sz="3000" b="1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probability density function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for the random variable </a:t>
            </a:r>
            <a:r>
              <a:rPr lang="en-US" altLang="ko-KR" sz="3000" i="1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30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.</a:t>
            </a:r>
            <a:endParaRPr lang="en-US" altLang="ko-KR" sz="2400" b="1">
              <a:solidFill>
                <a:srgbClr val="0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182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12399-053C-8480-5215-7CA1401CA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6631" y="314763"/>
            <a:ext cx="8197703" cy="1152530"/>
          </a:xfrm>
          <a:solidFill>
            <a:schemeClr val="bg1">
              <a:lumMod val="95000"/>
            </a:schemeClr>
          </a:solidFill>
        </p:spPr>
        <p:txBody>
          <a:bodyPr lIns="99788" tIns="49018" rIns="99788" bIns="49018">
            <a:noAutofit/>
          </a:bodyPr>
          <a:lstStyle/>
          <a:p>
            <a:pPr algn="ctr" eaLnBrk="1" hangingPunct="1">
              <a:defRPr/>
            </a:pP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Properties of Continuous</a:t>
            </a:r>
            <a:b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</a:b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Probability Distributions</a:t>
            </a:r>
            <a:endParaRPr lang="en-US" altLang="ko-KR" sz="4800" dirty="0">
              <a:ea typeface="굴림" charset="-127"/>
            </a:endParaRPr>
          </a:p>
        </p:txBody>
      </p:sp>
      <p:sp>
        <p:nvSpPr>
          <p:cNvPr id="15" name="Rectangle 82">
            <a:extLst>
              <a:ext uri="{FF2B5EF4-FFF2-40B4-BE49-F238E27FC236}">
                <a16:creationId xmlns:a16="http://schemas.microsoft.com/office/drawing/2014/main" id="{77C22F80-DBAD-5CB5-17F7-15B484710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86" y="1435398"/>
            <a:ext cx="9404498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The area under the curve is equal to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1.</a:t>
            </a:r>
          </a:p>
          <a:p>
            <a:pPr defTabSz="914400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P(a </a:t>
            </a:r>
            <a:r>
              <a:rPr lang="en-US" altLang="ko-KR" sz="3200" dirty="0">
                <a:ea typeface="굴림" panose="020B0600000101010101" pitchFamily="34" charset="-127"/>
                <a:sym typeface="Symbol" panose="05050102010706020507" pitchFamily="18" charset="2"/>
              </a:rPr>
              <a:t> </a:t>
            </a:r>
            <a:r>
              <a:rPr lang="en-US" altLang="ko-KR" sz="3200" i="1" dirty="0"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200" dirty="0">
                <a:ea typeface="굴림" panose="020B0600000101010101" pitchFamily="34" charset="-127"/>
                <a:sym typeface="Symbol" panose="05050102010706020507" pitchFamily="18" charset="2"/>
              </a:rPr>
              <a:t>  b) =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  <a:sym typeface="Symbol" panose="05050102010706020507" pitchFamily="18" charset="2"/>
              </a:rPr>
              <a:t>area under the curve</a:t>
            </a:r>
            <a:r>
              <a:rPr lang="en-US" altLang="ko-KR" sz="3200" dirty="0">
                <a:ea typeface="굴림" panose="020B0600000101010101" pitchFamily="34" charset="-127"/>
                <a:sym typeface="Symbol" panose="05050102010706020507" pitchFamily="18" charset="2"/>
              </a:rPr>
              <a:t> between a and b.</a:t>
            </a:r>
          </a:p>
        </p:txBody>
      </p:sp>
      <p:grpSp>
        <p:nvGrpSpPr>
          <p:cNvPr id="16" name="Group 89">
            <a:extLst>
              <a:ext uri="{FF2B5EF4-FFF2-40B4-BE49-F238E27FC236}">
                <a16:creationId xmlns:a16="http://schemas.microsoft.com/office/drawing/2014/main" id="{E3513FFB-AF7A-F3A7-3894-782721821E3E}"/>
              </a:ext>
            </a:extLst>
          </p:cNvPr>
          <p:cNvGrpSpPr>
            <a:grpSpLocks/>
          </p:cNvGrpSpPr>
          <p:nvPr/>
        </p:nvGrpSpPr>
        <p:grpSpPr bwMode="auto">
          <a:xfrm>
            <a:off x="2934586" y="2982433"/>
            <a:ext cx="3276600" cy="2286000"/>
            <a:chOff x="1344" y="2688"/>
            <a:chExt cx="2064" cy="1440"/>
          </a:xfrm>
        </p:grpSpPr>
        <p:sp>
          <p:nvSpPr>
            <p:cNvPr id="17" name="Rectangle 84">
              <a:extLst>
                <a:ext uri="{FF2B5EF4-FFF2-40B4-BE49-F238E27FC236}">
                  <a16:creationId xmlns:a16="http://schemas.microsoft.com/office/drawing/2014/main" id="{61AFDA69-4FE9-352A-5BDB-6B11A4299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2688"/>
              <a:ext cx="2064" cy="144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8" name="Picture 88">
              <a:extLst>
                <a:ext uri="{FF2B5EF4-FFF2-40B4-BE49-F238E27FC236}">
                  <a16:creationId xmlns:a16="http://schemas.microsoft.com/office/drawing/2014/main" id="{1587F362-BD11-486E-45FB-EAA3337CD8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8" y="2736"/>
              <a:ext cx="1920" cy="1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 Box 90">
            <a:extLst>
              <a:ext uri="{FF2B5EF4-FFF2-40B4-BE49-F238E27FC236}">
                <a16:creationId xmlns:a16="http://schemas.microsoft.com/office/drawing/2014/main" id="{5A4E26A6-E8A8-BED4-AAC7-0E53B1FA3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386" y="5544885"/>
            <a:ext cx="901995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spcBef>
                <a:spcPct val="20000"/>
              </a:spcBef>
              <a:buFontTx/>
              <a:buChar char="•"/>
            </a:pPr>
            <a:r>
              <a:rPr lang="en-US" altLang="ko-KR" sz="3200" dirty="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There is no probability attached to any single value of </a:t>
            </a:r>
            <a:r>
              <a:rPr lang="en-US" altLang="ko-KR" sz="3200" i="1" dirty="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200" dirty="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. That is, </a:t>
            </a:r>
            <a:r>
              <a:rPr lang="en-US" altLang="ko-K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P(</a:t>
            </a:r>
            <a:r>
              <a:rPr lang="en-US" altLang="ko-KR" sz="3200" b="1" i="1" dirty="0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x</a:t>
            </a:r>
            <a:r>
              <a:rPr lang="en-US" altLang="ko-K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 = a) = 0.</a:t>
            </a:r>
            <a:endParaRPr lang="en-US" altLang="ko-KR" sz="2000" b="1" dirty="0">
              <a:solidFill>
                <a:srgbClr val="0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6555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12399-053C-8480-5215-7CA1401CA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6631" y="314763"/>
            <a:ext cx="8197703" cy="1152530"/>
          </a:xfrm>
          <a:solidFill>
            <a:schemeClr val="bg1">
              <a:lumMod val="95000"/>
            </a:schemeClr>
          </a:solidFill>
        </p:spPr>
        <p:txBody>
          <a:bodyPr lIns="99788" tIns="49018" rIns="99788" bIns="49018">
            <a:noAutofit/>
          </a:bodyPr>
          <a:lstStyle/>
          <a:p>
            <a:pPr algn="ctr" eaLnBrk="1" hangingPunct="1">
              <a:defRPr/>
            </a:pP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Continuous Random Variables</a:t>
            </a:r>
            <a:endParaRPr lang="en-US" altLang="ko-KR" sz="4400" dirty="0">
              <a:ea typeface="굴림" charset="-127"/>
            </a:endParaRPr>
          </a:p>
        </p:txBody>
      </p:sp>
      <p:sp>
        <p:nvSpPr>
          <p:cNvPr id="5" name="Rectangle 21">
            <a:extLst>
              <a:ext uri="{FF2B5EF4-FFF2-40B4-BE49-F238E27FC236}">
                <a16:creationId xmlns:a16="http://schemas.microsoft.com/office/drawing/2014/main" id="{92B51472-0E7A-D155-F2C5-CFD3046FE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528" y="2542947"/>
            <a:ext cx="8153400" cy="4325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defTabSz="914400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There are many different types of continuous random variables</a:t>
            </a:r>
          </a:p>
          <a:p>
            <a:pPr marL="685800" indent="-685800" defTabSz="914400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We try to pick a model that</a:t>
            </a:r>
          </a:p>
          <a:p>
            <a:pPr marL="1143000" lvl="1" indent="-685800"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Fits the data well</a:t>
            </a:r>
          </a:p>
          <a:p>
            <a:pPr marL="1143000" lvl="1" indent="-685800"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CC0066"/>
                </a:solidFill>
                <a:ea typeface="굴림" panose="020B0600000101010101" pitchFamily="34" charset="-127"/>
              </a:rPr>
              <a:t>Allows us to make the best possible inferences using the data.</a:t>
            </a:r>
          </a:p>
          <a:p>
            <a:pPr marL="685800" indent="-685800" defTabSz="914400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</a:rPr>
              <a:t>One important continuous random variable is the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normal random variable</a:t>
            </a:r>
            <a:r>
              <a:rPr lang="en-US" altLang="ko-KR" sz="3200" dirty="0">
                <a:ea typeface="굴림" panose="020B0600000101010101" pitchFamily="34" charset="-127"/>
              </a:rPr>
              <a:t>.</a:t>
            </a:r>
          </a:p>
        </p:txBody>
      </p:sp>
      <p:grpSp>
        <p:nvGrpSpPr>
          <p:cNvPr id="10" name="Group 33">
            <a:extLst>
              <a:ext uri="{FF2B5EF4-FFF2-40B4-BE49-F238E27FC236}">
                <a16:creationId xmlns:a16="http://schemas.microsoft.com/office/drawing/2014/main" id="{2107102C-F8AB-2219-3901-F437287C27A3}"/>
              </a:ext>
            </a:extLst>
          </p:cNvPr>
          <p:cNvGrpSpPr>
            <a:grpSpLocks/>
          </p:cNvGrpSpPr>
          <p:nvPr/>
        </p:nvGrpSpPr>
        <p:grpSpPr bwMode="auto">
          <a:xfrm>
            <a:off x="1770328" y="1476148"/>
            <a:ext cx="1676400" cy="1066800"/>
            <a:chOff x="432" y="528"/>
            <a:chExt cx="1056" cy="672"/>
          </a:xfrm>
        </p:grpSpPr>
        <p:sp>
          <p:nvSpPr>
            <p:cNvPr id="11" name="Rectangle 32">
              <a:extLst>
                <a:ext uri="{FF2B5EF4-FFF2-40B4-BE49-F238E27FC236}">
                  <a16:creationId xmlns:a16="http://schemas.microsoft.com/office/drawing/2014/main" id="{3F486A7B-E491-9949-0DEB-7743FD097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528"/>
              <a:ext cx="1056" cy="672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00"/>
              <a:endParaRPr lang="en-ID" sz="2400" b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2" name="Picture 30">
              <a:extLst>
                <a:ext uri="{FF2B5EF4-FFF2-40B4-BE49-F238E27FC236}">
                  <a16:creationId xmlns:a16="http://schemas.microsoft.com/office/drawing/2014/main" id="{DA20235A-0796-513F-C527-4DC65C723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576"/>
              <a:ext cx="960" cy="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38">
            <a:extLst>
              <a:ext uri="{FF2B5EF4-FFF2-40B4-BE49-F238E27FC236}">
                <a16:creationId xmlns:a16="http://schemas.microsoft.com/office/drawing/2014/main" id="{6B06DE0E-803C-888D-541B-B5BFD0A0E38E}"/>
              </a:ext>
            </a:extLst>
          </p:cNvPr>
          <p:cNvGrpSpPr>
            <a:grpSpLocks/>
          </p:cNvGrpSpPr>
          <p:nvPr/>
        </p:nvGrpSpPr>
        <p:grpSpPr bwMode="auto">
          <a:xfrm>
            <a:off x="8323528" y="1476148"/>
            <a:ext cx="1676400" cy="1066800"/>
            <a:chOff x="4560" y="528"/>
            <a:chExt cx="1056" cy="672"/>
          </a:xfrm>
        </p:grpSpPr>
        <p:sp>
          <p:nvSpPr>
            <p:cNvPr id="14" name="Rectangle 31">
              <a:extLst>
                <a:ext uri="{FF2B5EF4-FFF2-40B4-BE49-F238E27FC236}">
                  <a16:creationId xmlns:a16="http://schemas.microsoft.com/office/drawing/2014/main" id="{F3B236B4-2341-6D08-9298-BD3BB276D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528"/>
              <a:ext cx="1056" cy="672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00"/>
              <a:endParaRPr lang="en-ID" sz="2400" b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5" name="Picture 37">
              <a:extLst>
                <a:ext uri="{FF2B5EF4-FFF2-40B4-BE49-F238E27FC236}">
                  <a16:creationId xmlns:a16="http://schemas.microsoft.com/office/drawing/2014/main" id="{ACCD3906-433B-CFFB-C4AB-D16335916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4" y="576"/>
              <a:ext cx="912" cy="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795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1839434" y="3636078"/>
            <a:ext cx="7176976" cy="6858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lang="en-ID" sz="3857" b="1" dirty="0">
                <a:solidFill>
                  <a:srgbClr val="00B0F0"/>
                </a:solidFill>
                <a:latin typeface="Helvetica Neue"/>
              </a:rPr>
              <a:t>Probability Density Functions </a:t>
            </a:r>
          </a:p>
        </p:txBody>
      </p:sp>
    </p:spTree>
    <p:extLst>
      <p:ext uri="{BB962C8B-B14F-4D97-AF65-F5344CB8AC3E}">
        <p14:creationId xmlns:p14="http://schemas.microsoft.com/office/powerpoint/2010/main" val="222852562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679043"/>
            <a:ext cx="7134447" cy="7902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Probability Distributions for Continuous Random Variables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33ECF-390F-BD7E-5435-16AEE2767A5F}"/>
              </a:ext>
            </a:extLst>
          </p:cNvPr>
          <p:cNvSpPr txBox="1"/>
          <p:nvPr/>
        </p:nvSpPr>
        <p:spPr>
          <a:xfrm>
            <a:off x="1052623" y="1882677"/>
            <a:ext cx="934601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Suppose the variable X of interest is the depth of a lake at a randomly chosen point on the surface.</a:t>
            </a:r>
            <a:endParaRPr lang="en-ID" sz="28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B71EF-FCF5-A4A2-335D-FC039AD164B1}"/>
              </a:ext>
            </a:extLst>
          </p:cNvPr>
          <p:cNvSpPr txBox="1"/>
          <p:nvPr/>
        </p:nvSpPr>
        <p:spPr>
          <a:xfrm>
            <a:off x="1052623" y="3295958"/>
            <a:ext cx="9346019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Let M = the maximum depth (in meters), so that any number in the interval [0, M] is a possible value of X.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F1240-EDE3-695D-ACE1-5D685C79ECAA}"/>
              </a:ext>
            </a:extLst>
          </p:cNvPr>
          <p:cNvSpPr txBox="1"/>
          <p:nvPr/>
        </p:nvSpPr>
        <p:spPr>
          <a:xfrm>
            <a:off x="1052622" y="4709239"/>
            <a:ext cx="9346019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If we “discretize” X by measuring depth to the nearest meter, then possible values are nonnegative integers less than or equal to M.</a:t>
            </a:r>
            <a:endParaRPr lang="en-ID" sz="28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750113-EA86-4126-B1EC-BC70E0E2B8DE}"/>
              </a:ext>
            </a:extLst>
          </p:cNvPr>
          <p:cNvSpPr txBox="1"/>
          <p:nvPr/>
        </p:nvSpPr>
        <p:spPr>
          <a:xfrm>
            <a:off x="1034898" y="6149892"/>
            <a:ext cx="9346019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The resulting discrete distribution of depth can be pictured using a probability histogram.</a:t>
            </a:r>
          </a:p>
        </p:txBody>
      </p:sp>
    </p:spTree>
    <p:extLst>
      <p:ext uri="{BB962C8B-B14F-4D97-AF65-F5344CB8AC3E}">
        <p14:creationId xmlns:p14="http://schemas.microsoft.com/office/powerpoint/2010/main" val="4220232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679043"/>
            <a:ext cx="7134447" cy="7902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Probability Distributions for Continuous Random Variables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3CE15-945F-F4AD-01E4-1FC48A0D4CFA}"/>
              </a:ext>
            </a:extLst>
          </p:cNvPr>
          <p:cNvSpPr txBox="1"/>
          <p:nvPr/>
        </p:nvSpPr>
        <p:spPr>
          <a:xfrm>
            <a:off x="1052623" y="1613613"/>
            <a:ext cx="947361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If we draw the histogram so that the area of the rectangle above any possible integer k is the proportion of the lake whose depth is (to the nearest meter) k, then the total area of all rectangles is 1:</a:t>
            </a:r>
            <a:endParaRPr lang="en-ID" sz="24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4808D-B99A-9E29-5CFC-252F7AFFC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62" y="3781425"/>
            <a:ext cx="7652546" cy="2858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04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679043"/>
            <a:ext cx="7134447" cy="7902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Probability Distributions for Continuous Random Variables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3CE15-945F-F4AD-01E4-1FC48A0D4CFA}"/>
              </a:ext>
            </a:extLst>
          </p:cNvPr>
          <p:cNvSpPr txBox="1"/>
          <p:nvPr/>
        </p:nvSpPr>
        <p:spPr>
          <a:xfrm>
            <a:off x="1052623" y="1613613"/>
            <a:ext cx="947361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If depth is measured much more accurately, each rectangle in the resulting probability histogram is much narrower, though the total area of all rectangles is still 1.</a:t>
            </a:r>
            <a:endParaRPr lang="en-ID" sz="28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1F77A-6FF1-6DC0-8C86-8DFC8A1B3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750" y="3656244"/>
            <a:ext cx="8615901" cy="30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828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679043"/>
            <a:ext cx="7134447" cy="79023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Probability Distributions for Continuous Random Variables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3CE15-945F-F4AD-01E4-1FC48A0D4CFA}"/>
              </a:ext>
            </a:extLst>
          </p:cNvPr>
          <p:cNvSpPr txBox="1"/>
          <p:nvPr/>
        </p:nvSpPr>
        <p:spPr>
          <a:xfrm>
            <a:off x="1052623" y="1613613"/>
            <a:ext cx="9473610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If we continue in this way to measure depth more and more finely, the resulting sequence of histograms approaches a smooth curve.</a:t>
            </a:r>
            <a:endParaRPr lang="en-ID" sz="2800" dirty="0"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1C6B8-F4FA-FE10-4CFE-AE2EAA812A45}"/>
              </a:ext>
            </a:extLst>
          </p:cNvPr>
          <p:cNvSpPr txBox="1"/>
          <p:nvPr/>
        </p:nvSpPr>
        <p:spPr>
          <a:xfrm>
            <a:off x="1052623" y="2998608"/>
            <a:ext cx="9473610" cy="138499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Because for each histogram the total area of all rectangles equals 1, the total area under the smooth curve is also 1.</a:t>
            </a:r>
            <a:endParaRPr lang="en-ID" sz="2800" dirty="0">
              <a:solidFill>
                <a:srgbClr val="002060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3F7170-86BE-0919-BB26-91C428978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409" y="4383603"/>
            <a:ext cx="6119445" cy="306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872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829343"/>
            <a:ext cx="7134447" cy="6698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Probability Density Functions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1C6B8-F4FA-FE10-4CFE-AE2EAA812A45}"/>
              </a:ext>
            </a:extLst>
          </p:cNvPr>
          <p:cNvSpPr txBox="1"/>
          <p:nvPr/>
        </p:nvSpPr>
        <p:spPr>
          <a:xfrm>
            <a:off x="1052623" y="1581942"/>
            <a:ext cx="9473610" cy="224676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Definition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X be a continuous </a:t>
            </a:r>
            <a:r>
              <a:rPr lang="en-US" sz="2800" dirty="0" err="1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r.v.</a:t>
            </a: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Then a </a:t>
            </a:r>
            <a:r>
              <a:rPr lang="en-US" sz="28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probability distribution</a:t>
            </a: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</a:t>
            </a:r>
            <a:r>
              <a:rPr lang="en-US" sz="28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probability density function (pdf) </a:t>
            </a: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X is a function f(x) such that for any two numbers a and b with a ≤ b, we have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4DF9CB-0B8D-D90F-8DD4-7784280E6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061" y="3781424"/>
            <a:ext cx="5016758" cy="11875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B98876-BCE9-B1AD-3F97-52D96662D586}"/>
              </a:ext>
            </a:extLst>
          </p:cNvPr>
          <p:cNvSpPr txBox="1"/>
          <p:nvPr/>
        </p:nvSpPr>
        <p:spPr>
          <a:xfrm>
            <a:off x="1020724" y="5282832"/>
            <a:ext cx="9473610" cy="95410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probability that X is in the interval [a, b] can be calculated by integrating the pdf of the </a:t>
            </a:r>
            <a:r>
              <a:rPr lang="en-US" sz="2800" dirty="0" err="1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r.v.</a:t>
            </a: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X.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3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829343"/>
            <a:ext cx="7134447" cy="6698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Probability Density Functions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1C6B8-F4FA-FE10-4CFE-AE2EAA812A45}"/>
              </a:ext>
            </a:extLst>
          </p:cNvPr>
          <p:cNvSpPr txBox="1"/>
          <p:nvPr/>
        </p:nvSpPr>
        <p:spPr>
          <a:xfrm>
            <a:off x="1052623" y="1613841"/>
            <a:ext cx="9473610" cy="138499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probability that X takes on a value in the interval [a, b] is the area above this interval and under the graph of the density function: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D9E39-6B31-CCCE-4CDC-EED0CB40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68" y="3317635"/>
            <a:ext cx="8163763" cy="364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0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1786" y="829343"/>
            <a:ext cx="7134447" cy="66985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/>
              <a:t>Probability Density Functions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1C6B8-F4FA-FE10-4CFE-AE2EAA812A45}"/>
              </a:ext>
            </a:extLst>
          </p:cNvPr>
          <p:cNvSpPr txBox="1"/>
          <p:nvPr/>
        </p:nvSpPr>
        <p:spPr>
          <a:xfrm>
            <a:off x="1052623" y="1975353"/>
            <a:ext cx="9473610" cy="95410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f(x) to be a legitimate pdf, it must satisfy the following two conditions: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DFAA82-92FF-7694-A289-C58F450F9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22" y="3574639"/>
            <a:ext cx="7645793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21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38894" y="829343"/>
            <a:ext cx="7687340" cy="669853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1C6B8-F4FA-FE10-4CFE-AE2EAA812A45}"/>
              </a:ext>
            </a:extLst>
          </p:cNvPr>
          <p:cNvSpPr txBox="1"/>
          <p:nvPr/>
        </p:nvSpPr>
        <p:spPr>
          <a:xfrm>
            <a:off x="1052623" y="1975353"/>
            <a:ext cx="9473610" cy="95410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Consider the reference line connecting the valve stem on a tire to the center point.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0904A-ADE7-AF0E-E2E8-2D6584B42BE0}"/>
              </a:ext>
            </a:extLst>
          </p:cNvPr>
          <p:cNvSpPr txBox="1"/>
          <p:nvPr/>
        </p:nvSpPr>
        <p:spPr>
          <a:xfrm>
            <a:off x="1052623" y="3069646"/>
            <a:ext cx="9473610" cy="954107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X be the angle measured clockwise to the location of an imperfection. One possible pdf for X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A66FE-6738-4D37-AF9E-BC23E9F11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131" y="4484492"/>
            <a:ext cx="5488543" cy="1788719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398384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38894" y="829343"/>
            <a:ext cx="7687340" cy="669853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1C6B8-F4FA-FE10-4CFE-AE2EAA812A45}"/>
              </a:ext>
            </a:extLst>
          </p:cNvPr>
          <p:cNvSpPr txBox="1"/>
          <p:nvPr/>
        </p:nvSpPr>
        <p:spPr>
          <a:xfrm>
            <a:off x="1052623" y="1975353"/>
            <a:ext cx="9473610" cy="523220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pdf is graphed in the following figure.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4716E-968F-CF26-C2C7-EDC065CA8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36" y="3526245"/>
            <a:ext cx="9680104" cy="22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00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38894" y="829343"/>
            <a:ext cx="7687340" cy="669853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C1C6B8-F4FA-FE10-4CFE-AE2EAA812A45}"/>
                  </a:ext>
                </a:extLst>
              </p:cNvPr>
              <p:cNvSpPr txBox="1"/>
              <p:nvPr/>
            </p:nvSpPr>
            <p:spPr>
              <a:xfrm>
                <a:off x="1052623" y="1975353"/>
                <a:ext cx="9473610" cy="954107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Clearly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𝑓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)≥0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. How can we show that the area of this pdf is equal to 1?</a:t>
                </a:r>
                <a:endParaRPr lang="en-ID" sz="2800" dirty="0">
                  <a:solidFill>
                    <a:srgbClr val="00206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C1C6B8-F4FA-FE10-4CFE-AE2EAA81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23" y="1975353"/>
                <a:ext cx="9473610" cy="954107"/>
              </a:xfrm>
              <a:prstGeom prst="rect">
                <a:avLst/>
              </a:prstGeom>
              <a:blipFill>
                <a:blip r:embed="rId2"/>
                <a:stretch>
                  <a:fillRect l="-1158" t="-6369" b="-1656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856FE9-2DDB-87F8-1EFB-D539CB77F1FD}"/>
                  </a:ext>
                </a:extLst>
              </p:cNvPr>
              <p:cNvSpPr txBox="1"/>
              <p:nvPr/>
            </p:nvSpPr>
            <p:spPr>
              <a:xfrm>
                <a:off x="1013639" y="3127218"/>
                <a:ext cx="9473610" cy="523220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How do we calculate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𝑃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(90 ≤ 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𝑋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≤ 180)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?</a:t>
                </a:r>
                <a:endParaRPr lang="en-ID" sz="2800" dirty="0">
                  <a:solidFill>
                    <a:srgbClr val="00206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856FE9-2DDB-87F8-1EFB-D539CB77F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39" y="3127218"/>
                <a:ext cx="9473610" cy="523220"/>
              </a:xfrm>
              <a:prstGeom prst="rect">
                <a:avLst/>
              </a:prstGeom>
              <a:blipFill>
                <a:blip r:embed="rId3"/>
                <a:stretch>
                  <a:fillRect l="-1158" t="-12791" b="-3139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08F0BCF-506D-7896-65CA-AA46944EF734}"/>
              </a:ext>
            </a:extLst>
          </p:cNvPr>
          <p:cNvSpPr txBox="1"/>
          <p:nvPr/>
        </p:nvSpPr>
        <p:spPr>
          <a:xfrm>
            <a:off x="1017180" y="3832511"/>
            <a:ext cx="9473610" cy="138499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probability that the angle of occurrence is within 90° of the reference line (reference line is at 0 degrees)?</a:t>
            </a:r>
            <a:endParaRPr lang="en-ID" sz="2800" dirty="0">
              <a:solidFill>
                <a:srgbClr val="00206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2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38894" y="701747"/>
            <a:ext cx="7687340" cy="948252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Probability Distributions for Continuous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C1C6B8-F4FA-FE10-4CFE-AE2EAA812A45}"/>
                  </a:ext>
                </a:extLst>
              </p:cNvPr>
              <p:cNvSpPr txBox="1"/>
              <p:nvPr/>
            </p:nvSpPr>
            <p:spPr>
              <a:xfrm>
                <a:off x="1052623" y="1783965"/>
                <a:ext cx="9473610" cy="1815882"/>
              </a:xfrm>
              <a:prstGeom prst="rect">
                <a:avLst/>
              </a:prstGeom>
              <a:solidFill>
                <a:schemeClr val="bg1"/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Because whenever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0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≤ 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𝑎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≤ 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𝑏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≤ 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360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o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 the previous Example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𝑃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𝑎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≤ 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𝑋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≤ 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𝑏</m:t>
                    </m:r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depends only on the width b – a of the interval, X is said to have a </a:t>
                </a:r>
                <a:r>
                  <a:rPr lang="en-US" sz="2800" b="1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uniform distribution</a:t>
                </a:r>
                <a:r>
                  <a:rPr lang="en-US" sz="280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.</a:t>
                </a:r>
                <a:endParaRPr lang="en-ID" sz="2800" dirty="0">
                  <a:solidFill>
                    <a:srgbClr val="00206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C1C6B8-F4FA-FE10-4CFE-AE2EAA81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623" y="1783965"/>
                <a:ext cx="9473610" cy="1815882"/>
              </a:xfrm>
              <a:prstGeom prst="rect">
                <a:avLst/>
              </a:prstGeom>
              <a:blipFill>
                <a:blip r:embed="rId2"/>
                <a:stretch>
                  <a:fillRect l="-1158" t="-3691" b="-838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225F87-5467-845E-8498-CE33A1650854}"/>
              </a:ext>
            </a:extLst>
          </p:cNvPr>
          <p:cNvSpPr txBox="1"/>
          <p:nvPr/>
        </p:nvSpPr>
        <p:spPr>
          <a:xfrm>
            <a:off x="1034898" y="3690741"/>
            <a:ext cx="9473610" cy="138499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continuous </a:t>
            </a:r>
            <a:r>
              <a:rPr lang="en-US" sz="2800" dirty="0" err="1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rv</a:t>
            </a:r>
            <a:r>
              <a:rPr lang="en-US" sz="280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X is said to have a uniform distribution on the interval [A, B] if the pdf of X 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CD978B-D86B-DF95-5EE1-4D3CA7B9F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359" y="5453711"/>
            <a:ext cx="5740637" cy="155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07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009553" y="3561393"/>
            <a:ext cx="7155711" cy="11104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3308" b="1" i="0" u="none" strike="noStrike" kern="0" cap="none" spc="-75" normalizeH="0" baseline="0" noProof="0" dirty="0" err="1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Comulative</a:t>
            </a: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 Distributions Functions and Expected Values</a:t>
            </a:r>
            <a:endParaRPr lang="en-ID" sz="3857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4209498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B5AF1-CA63-4639-AAFD-D9C8168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1812399-053C-8480-5215-7CA1401CA7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96631" y="314763"/>
            <a:ext cx="8197703" cy="1152530"/>
          </a:xfrm>
          <a:solidFill>
            <a:schemeClr val="bg1">
              <a:lumMod val="95000"/>
            </a:schemeClr>
          </a:solidFill>
        </p:spPr>
        <p:txBody>
          <a:bodyPr lIns="99788" tIns="49018" rIns="99788" bIns="49018">
            <a:noAutofit/>
          </a:bodyPr>
          <a:lstStyle/>
          <a:p>
            <a:pPr algn="ctr" eaLnBrk="1" hangingPunct="1">
              <a:defRPr/>
            </a:pPr>
            <a:r>
              <a:rPr kumimoji="0" lang="en-US" altLang="en-US" sz="3308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The Cumulative Distribution Function</a:t>
            </a:r>
            <a:endParaRPr lang="en-US" altLang="ko-KR" sz="4400" dirty="0">
              <a:ea typeface="굴림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5B2B8202-A250-CBC3-641D-1AE990473406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90641" y="1340455"/>
                <a:ext cx="9495578" cy="15090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defRPr/>
                </a:pPr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cumulative distribution function </a:t>
                </a:r>
                <a14:m>
                  <m:oMath xmlns:m="http://schemas.openxmlformats.org/officeDocument/2006/math"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for a continuous </a:t>
                </a:r>
                <a:r>
                  <a:rPr lang="en-US" altLang="ko-KR" sz="3200" kern="0" dirty="0" err="1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rv</a:t>
                </a:r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X is defined for every number x by</a:t>
                </a: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5B2B8202-A250-CBC3-641D-1AE990473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41" y="1340455"/>
                <a:ext cx="9495578" cy="1509058"/>
              </a:xfrm>
              <a:prstGeom prst="rect">
                <a:avLst/>
              </a:prstGeom>
              <a:blipFill>
                <a:blip r:embed="rId2"/>
                <a:stretch>
                  <a:fillRect l="-3081" t="-21457" b="-72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D94B67D-68B7-71D5-B283-C1B04BA28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390" y="2394964"/>
            <a:ext cx="4709554" cy="1003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271618F-675C-8686-748D-71921C65234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72917" y="3459872"/>
                <a:ext cx="9495578" cy="15090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20000"/>
                  </a:lnSpc>
                  <a:defRPr/>
                </a:pP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For each x,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 </m:t>
                    </m:r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is the area under the density curve to the left of x. This is illustrated in the following figure, where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increases smoothly as x increases.</a:t>
                </a:r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271618F-675C-8686-748D-71921C652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17" y="3459872"/>
                <a:ext cx="9495578" cy="1509058"/>
              </a:xfrm>
              <a:prstGeom prst="rect">
                <a:avLst/>
              </a:prstGeom>
              <a:blipFill>
                <a:blip r:embed="rId4"/>
                <a:stretch>
                  <a:fillRect l="-2632" t="-12551" b="-1700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B52FA7B-4C2A-90BF-F193-C4AE2100E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6102" y="5108827"/>
            <a:ext cx="5484721" cy="23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4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  <p:bldP spid="7" grpId="0" build="p" bldLvl="2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FA81BA5-C8CB-532D-8D32-122C9EFA0828}"/>
              </a:ext>
            </a:extLst>
          </p:cNvPr>
          <p:cNvSpPr txBox="1">
            <a:spLocks noChangeArrowheads="1"/>
          </p:cNvSpPr>
          <p:nvPr/>
        </p:nvSpPr>
        <p:spPr>
          <a:xfrm>
            <a:off x="996966" y="1736317"/>
            <a:ext cx="9495578" cy="1091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X, the thickness of a certain metal sheet, have a </a:t>
            </a:r>
            <a:r>
              <a:rPr lang="en-US" altLang="ko-KR" sz="3200" b="1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uniform distribution </a:t>
            </a: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[A, B].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3909484-A925-E4FE-C877-5DE43D4DA3C2}"/>
              </a:ext>
            </a:extLst>
          </p:cNvPr>
          <p:cNvSpPr txBox="1">
            <a:spLocks noChangeArrowheads="1"/>
          </p:cNvSpPr>
          <p:nvPr/>
        </p:nvSpPr>
        <p:spPr>
          <a:xfrm>
            <a:off x="996966" y="2689482"/>
            <a:ext cx="9495578" cy="1091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density function is shown on the following figure.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8505D-D72F-2EB1-9EC0-C8D3CE30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18" y="3736758"/>
            <a:ext cx="8304152" cy="333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5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  <p:bldP spid="3" grpId="0" build="p" bldLvl="2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0FA81BA5-C8CB-532D-8D32-122C9EFA082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96966" y="1736317"/>
                <a:ext cx="9495578" cy="177242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&lt;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𝐴</m:t>
                    </m:r>
                  </m:oMath>
                </a14:m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)=0</m:t>
                    </m:r>
                  </m:oMath>
                </a14:m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since there is no area under the graph of the density function to the left of such an x.</a:t>
                </a: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0FA81BA5-C8CB-532D-8D32-122C9EFA0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66" y="1736317"/>
                <a:ext cx="9495578" cy="1772427"/>
              </a:xfrm>
              <a:prstGeom prst="rect">
                <a:avLst/>
              </a:prstGeom>
              <a:blipFill>
                <a:blip r:embed="rId2"/>
                <a:stretch>
                  <a:fillRect l="-3147" t="-15464" r="-231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AB1B4C3-1252-1497-2051-0E97C151C77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968608" y="3334745"/>
                <a:ext cx="9720029" cy="104586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≥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𝐵</m:t>
                    </m:r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)=1</m:t>
                    </m:r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since all the area is accumulated to the left of such an x. Finally for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𝐴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≤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≤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𝐵</m:t>
                    </m:r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AB1B4C3-1252-1497-2051-0E97C151C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608" y="3334745"/>
                <a:ext cx="9720029" cy="1045869"/>
              </a:xfrm>
              <a:prstGeom prst="rect">
                <a:avLst/>
              </a:prstGeom>
              <a:blipFill>
                <a:blip r:embed="rId3"/>
                <a:stretch>
                  <a:fillRect l="-2572" t="-22674" b="-69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7A227C0-6D42-6396-D5C0-A55A20B36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30" y="5001091"/>
            <a:ext cx="10299790" cy="122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3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  <p:bldP spid="4" grpId="0" build="p" bldLvl="2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FA81BA5-C8CB-532D-8D32-122C9EFA0828}"/>
              </a:ext>
            </a:extLst>
          </p:cNvPr>
          <p:cNvSpPr txBox="1">
            <a:spLocks noChangeArrowheads="1"/>
          </p:cNvSpPr>
          <p:nvPr/>
        </p:nvSpPr>
        <p:spPr>
          <a:xfrm>
            <a:off x="996966" y="1736318"/>
            <a:ext cx="9495578" cy="677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entire </a:t>
            </a:r>
            <a:r>
              <a:rPr lang="en-US" altLang="ko-KR" sz="32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cdf</a:t>
            </a: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E1B816-FEF2-87DD-51D0-254D3C4CB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211" y="2240702"/>
            <a:ext cx="3895610" cy="1650813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6838F85-13B6-671A-13D3-B9C6318875AE}"/>
              </a:ext>
            </a:extLst>
          </p:cNvPr>
          <p:cNvSpPr txBox="1">
            <a:spLocks noChangeArrowheads="1"/>
          </p:cNvSpPr>
          <p:nvPr/>
        </p:nvSpPr>
        <p:spPr>
          <a:xfrm>
            <a:off x="947344" y="3919536"/>
            <a:ext cx="9741294" cy="1229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graph of this </a:t>
            </a:r>
            <a:r>
              <a:rPr lang="en-US" altLang="ko-KR" sz="32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cdf</a:t>
            </a: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appears on the following  Figure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482D38-34D2-1069-FCD1-B12C145BC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6753" y="4628695"/>
            <a:ext cx="4561852" cy="278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8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bldLvl="2" autoUpdateAnimBg="0"/>
      <p:bldP spid="6" grpId="0" build="p" bldLvl="2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7175" y="584590"/>
            <a:ext cx="7345307" cy="1169780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Using F(x) to Compute Probabilities</a:t>
            </a:r>
            <a:br>
              <a:rPr lang="en-US" altLang="en-US" sz="4400" dirty="0"/>
            </a:br>
            <a:endParaRPr lang="en-US" altLang="en-US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4FF555-EA0C-CBD8-25B5-C28E2717B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462" y="2162092"/>
            <a:ext cx="9246075" cy="16193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4D1F711-361D-BDB6-09F8-77713B392D0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193060" y="4001053"/>
                <a:ext cx="9495578" cy="6772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indent="0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𝑎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&lt;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&lt;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&lt;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−</m:t>
                      </m:r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&lt;</m:t>
                          </m:r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altLang="ko-KR" sz="3200" b="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0" indent="0" fontAlgn="auto">
                  <a:lnSpc>
                    <a:spcPct val="100000"/>
                  </a:lnSpc>
                  <a:buNone/>
                  <a:defRPr/>
                </a:pPr>
                <a:endParaRPr lang="en-US" altLang="ko-KR" sz="32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4D1F711-361D-BDB6-09F8-77713B392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60" y="4001053"/>
                <a:ext cx="9495578" cy="6772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25E43841-19AC-0B0F-5155-ECF030792940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193060" y="4678327"/>
                <a:ext cx="9495578" cy="6772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indent="0" algn="ctr" fontAlgn="auto">
                  <a:lnSpc>
                    <a:spcPct val="100000"/>
                  </a:lnSpc>
                  <a:buNone/>
                  <a:defRPr/>
                </a:pPr>
                <a14:m>
                  <m:oMath xmlns:m="http://schemas.openxmlformats.org/officeDocument/2006/math">
                    <m:r>
                      <a:rPr lang="en-US" altLang="ko-KR" sz="3200" b="0" i="1" kern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𝑃</m:t>
                    </m:r>
                    <m:d>
                      <m:dPr>
                        <m:ctrlP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𝑎</m:t>
                        </m:r>
                        <m: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&lt;</m:t>
                        </m:r>
                        <m: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𝑥</m:t>
                        </m:r>
                        <m: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&lt;</m:t>
                        </m:r>
                        <m: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ko-KR" sz="3200" b="0" i="1" kern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>
                      <a:rPr lang="en-US" altLang="ko-KR" sz="3200" b="0" i="1" kern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d>
                      <m:dPr>
                        <m:ctrlP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altLang="ko-KR" sz="3200" b="0" i="1" kern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ko-KR" sz="3200" b="0" i="1" kern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−</m:t>
                    </m:r>
                    <m:r>
                      <a:rPr lang="en-US" altLang="ko-KR" sz="3200" b="0" i="1" kern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</m:oMath>
                </a14:m>
                <a:r>
                  <a:rPr lang="en-US" altLang="ko-KR" sz="3200" b="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(a)</a:t>
                </a:r>
              </a:p>
              <a:p>
                <a:pPr marL="0" indent="0" algn="ctr" fontAlgn="auto">
                  <a:lnSpc>
                    <a:spcPct val="100000"/>
                  </a:lnSpc>
                  <a:buNone/>
                  <a:defRPr/>
                </a:pPr>
                <a:endParaRPr lang="en-US" altLang="ko-KR" sz="32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Rectangle 3">
                <a:extLst>
                  <a:ext uri="{FF2B5EF4-FFF2-40B4-BE49-F238E27FC236}">
                    <a16:creationId xmlns:a16="http://schemas.microsoft.com/office/drawing/2014/main" id="{25E43841-19AC-0B0F-5155-ECF030792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60" y="4678327"/>
                <a:ext cx="9495578" cy="677274"/>
              </a:xfrm>
              <a:prstGeom prst="rect">
                <a:avLst/>
              </a:prstGeom>
              <a:blipFill>
                <a:blip r:embed="rId4"/>
                <a:stretch>
                  <a:fillRect t="-10714" b="-1517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91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utoUpdateAnimBg="0"/>
      <p:bldP spid="9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7175" y="584590"/>
            <a:ext cx="7345307" cy="1169780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Probability Calculation Example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195127" y="1863908"/>
            <a:ext cx="9495578" cy="191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“Time headway” in traffic flow is the elapsed time between the time that one car finishes passing a fixed point and the instant that the next car begins to pass that point.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95A03B4-5F8E-6625-8448-A7DAB7EEDF46}"/>
              </a:ext>
            </a:extLst>
          </p:cNvPr>
          <p:cNvSpPr txBox="1">
            <a:spLocks noChangeArrowheads="1"/>
          </p:cNvSpPr>
          <p:nvPr/>
        </p:nvSpPr>
        <p:spPr>
          <a:xfrm>
            <a:off x="1113611" y="3643093"/>
            <a:ext cx="9495578" cy="1311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 </a:t>
            </a:r>
            <a:r>
              <a:rPr lang="en-US" altLang="ko-KR" sz="2800" b="1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 </a:t>
            </a:r>
            <a:r>
              <a:rPr lang="en-US" altLang="ko-KR" sz="2800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the time headway for two randomly chosen consecutive cars on a freeway during a period of heavy flow.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5EB30E-681F-AA05-9842-338F4BE38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414" y="5344831"/>
            <a:ext cx="5797848" cy="110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0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5" grpId="0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701192"/>
            <a:ext cx="7345307" cy="87207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Example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195127" y="1863908"/>
            <a:ext cx="9495578" cy="1917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graph of f(x) is given in the figure below; there is no density associated with headway times less than .5, and headway density decreases rapidly (exponentially fast) as x increases from .5.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EDDF5-1682-D60E-4DFA-3B6E5D4DF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367" y="3740819"/>
            <a:ext cx="7646281" cy="352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4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701192"/>
            <a:ext cx="7345307" cy="87207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Example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195127" y="1832009"/>
            <a:ext cx="9495578" cy="581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Clearly, f(x) ≥ 0; 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5661C-9123-FDA9-6FC0-95866FB9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507" y="2501191"/>
            <a:ext cx="6979009" cy="1816193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860A60F-C5BD-3A51-EEDA-35535AE3672E}"/>
              </a:ext>
            </a:extLst>
          </p:cNvPr>
          <p:cNvSpPr txBox="1">
            <a:spLocks noChangeArrowheads="1"/>
          </p:cNvSpPr>
          <p:nvPr/>
        </p:nvSpPr>
        <p:spPr>
          <a:xfrm>
            <a:off x="1134879" y="4568126"/>
            <a:ext cx="9495578" cy="1099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probability that headway time is at most 5 seconds?</a:t>
            </a:r>
          </a:p>
        </p:txBody>
      </p:sp>
    </p:spTree>
    <p:extLst>
      <p:ext uri="{BB962C8B-B14F-4D97-AF65-F5344CB8AC3E}">
        <p14:creationId xmlns:p14="http://schemas.microsoft.com/office/powerpoint/2010/main" val="354247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6" grpId="0" build="p" bldLvl="2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701192"/>
            <a:ext cx="7345307" cy="87207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Example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067534" y="1832008"/>
            <a:ext cx="9495578" cy="1485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distribution of the amount of gravel (in tons) sold by a particular construction supply company in a given week is a continuous </a:t>
            </a:r>
            <a:r>
              <a:rPr lang="en-US" altLang="ko-KR" sz="28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rv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X with pdf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685C3-7FF9-8BB0-7525-5C4A5E4CC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359" y="3343833"/>
            <a:ext cx="4736887" cy="1398285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E0AB026-59D3-702A-B0A5-ED9994E38A12}"/>
              </a:ext>
            </a:extLst>
          </p:cNvPr>
          <p:cNvSpPr txBox="1">
            <a:spLocks noChangeArrowheads="1"/>
          </p:cNvSpPr>
          <p:nvPr/>
        </p:nvSpPr>
        <p:spPr>
          <a:xfrm>
            <a:off x="1081706" y="4887107"/>
            <a:ext cx="9495578" cy="182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</a:t>
            </a:r>
            <a:r>
              <a:rPr lang="en-US" altLang="ko-KR" sz="28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cdf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sales for any x? How do you use this to find the probability that X is less than .25? What about the probability that X is greater than .75? What about P(.25 &lt; X &lt; .75)?</a:t>
            </a:r>
          </a:p>
        </p:txBody>
      </p:sp>
    </p:spTree>
    <p:extLst>
      <p:ext uri="{BB962C8B-B14F-4D97-AF65-F5344CB8AC3E}">
        <p14:creationId xmlns:p14="http://schemas.microsoft.com/office/powerpoint/2010/main" val="2918101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8" grpId="0" build="p" bldLvl="2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350317"/>
            <a:ext cx="7345307" cy="125519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 dirty="0"/>
              <a:t>Percentiles of a Continuous Distribution</a:t>
            </a:r>
            <a:br>
              <a:rPr lang="en-US" altLang="en-US" sz="4000" dirty="0"/>
            </a:b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7534" y="1832008"/>
                <a:ext cx="9495578" cy="26761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median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of a continuous distribution, denoted by , is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50th percentile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so satisfies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.5=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𝐹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en-US" altLang="ko-KR" sz="2800" i="1" kern="0" dirty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accPr>
                      <m:e>
                        <m:r>
                          <a:rPr lang="ko-KR" altLang="en-US" sz="2800" i="1" kern="0" dirty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𝜇</m:t>
                        </m:r>
                      </m:e>
                    </m:acc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) </m:t>
                    </m:r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That is, half the area under the density curve is to the left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2800" i="1" kern="0" dirty="0" smtClean="0">
                            <a:latin typeface="Cambria Math" panose="02040503050406030204" pitchFamily="18" charset="0"/>
                            <a:cs typeface="Open Sans" panose="020B0606030504020204" pitchFamily="34" charset="0"/>
                          </a:rPr>
                        </m:ctrlPr>
                      </m:accPr>
                      <m:e>
                        <m:r>
                          <a:rPr lang="ko-KR" altLang="en-US" sz="2800" i="1" kern="0" dirty="0" smtClean="0">
                            <a:latin typeface="Cambria Math" panose="02040503050406030204" pitchFamily="18" charset="0"/>
                            <a:cs typeface="Open Sans" panose="020B0606030504020204" pitchFamily="34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half is to the right of </a:t>
                </a:r>
                <a:r>
                  <a:rPr lang="ko-KR" altLang="en-US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𝜇 ̃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.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25th percentile 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is called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lower quartile 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and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75th percentile 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is called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upper quartile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34" y="1832008"/>
                <a:ext cx="9495578" cy="2676197"/>
              </a:xfrm>
              <a:prstGeom prst="rect">
                <a:avLst/>
              </a:prstGeom>
              <a:blipFill>
                <a:blip r:embed="rId3"/>
                <a:stretch>
                  <a:fillRect l="-2632" t="-8884" r="-963" b="-546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3">
            <a:extLst>
              <a:ext uri="{FF2B5EF4-FFF2-40B4-BE49-F238E27FC236}">
                <a16:creationId xmlns:a16="http://schemas.microsoft.com/office/drawing/2014/main" id="{F4056E29-FAB9-876E-87FD-4A9A0650CC30}"/>
              </a:ext>
            </a:extLst>
          </p:cNvPr>
          <p:cNvSpPr txBox="1">
            <a:spLocks noChangeArrowheads="1"/>
          </p:cNvSpPr>
          <p:nvPr/>
        </p:nvSpPr>
        <p:spPr>
          <a:xfrm>
            <a:off x="1017913" y="4727616"/>
            <a:ext cx="9495578" cy="1907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we say that an individual’s test score was at the </a:t>
            </a:r>
            <a:r>
              <a:rPr lang="en-US" altLang="ko-KR" sz="2800" b="1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85th percentile 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 population, we mean that 85% of all population scores were below that score and 15% were above.</a:t>
            </a:r>
          </a:p>
        </p:txBody>
      </p:sp>
    </p:spTree>
    <p:extLst>
      <p:ext uri="{BB962C8B-B14F-4D97-AF65-F5344CB8AC3E}">
        <p14:creationId xmlns:p14="http://schemas.microsoft.com/office/powerpoint/2010/main" val="218580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2" grpId="0" build="p" bldLvl="2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350317"/>
            <a:ext cx="7345307" cy="125519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 dirty="0"/>
              <a:t>Percentiles of a Continuous Distribution</a:t>
            </a:r>
            <a:br>
              <a:rPr lang="en-US" altLang="en-US" sz="4000" dirty="0"/>
            </a:b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7534" y="1832009"/>
                <a:ext cx="9495578" cy="142234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Let p be a number between 0 and 1.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(100p)</a:t>
                </a:r>
                <a:r>
                  <a:rPr lang="en-US" altLang="ko-KR" sz="2800" b="1" kern="0" dirty="0" err="1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percentile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of the distribution of a continuous </a:t>
                </a:r>
                <a:r>
                  <a:rPr lang="en-US" altLang="ko-KR" sz="2800" kern="0" dirty="0" err="1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rv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X, denoted by </a:t>
                </a:r>
                <a14:m>
                  <m:oMath xmlns:m="http://schemas.openxmlformats.org/officeDocument/2006/math"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𝜂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𝑝</m:t>
                    </m:r>
                    <m:r>
                      <a:rPr lang="en-US" altLang="ko-KR" sz="28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)=</m:t>
                    </m:r>
                    <m:sSub>
                      <m:sSubPr>
                        <m:ctrlPr>
                          <a:rPr lang="en-US" altLang="ko-KR" sz="2800" i="1" kern="0" dirty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sz="2800" b="0" i="1" kern="0" dirty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800" b="0" i="1" kern="0" dirty="0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is defined by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34" y="1832009"/>
                <a:ext cx="9495578" cy="1422340"/>
              </a:xfrm>
              <a:prstGeom prst="rect">
                <a:avLst/>
              </a:prstGeom>
              <a:blipFill>
                <a:blip r:embed="rId3"/>
                <a:stretch>
                  <a:fillRect l="-2632" t="-16738" b="-858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01E0803-666C-DD9D-004F-420426745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472" y="3254348"/>
            <a:ext cx="4743694" cy="10541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FF914BF-BDC5-C1D8-F2F4-8368675C123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39176" y="4493691"/>
                <a:ext cx="9495578" cy="142234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r>
                      <a:rPr lang="en-US" altLang="ko-KR" sz="2800" i="1" kern="0" dirty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𝜂</m:t>
                    </m:r>
                    <m:r>
                      <a:rPr lang="en-US" altLang="ko-KR" sz="2800" i="1" kern="0" dirty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2800" i="1" kern="0" dirty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𝑝</m:t>
                    </m:r>
                    <m:r>
                      <a:rPr lang="en-US" altLang="ko-KR" sz="2800" i="1" kern="0" dirty="0">
                        <a:solidFill>
                          <a:srgbClr val="5E5E5E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)=</m:t>
                    </m:r>
                    <m:sSub>
                      <m:sSubPr>
                        <m:ctrlPr>
                          <a:rPr lang="en-US" altLang="ko-KR" sz="2800" i="1" kern="0" dirty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altLang="ko-KR" sz="2800" i="1" kern="0" dirty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800" i="1" kern="0" dirty="0">
                            <a:solidFill>
                              <a:srgbClr val="5E5E5E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is the specific value such that 100p% of the area under the graph of f(x) lies to the left of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η(p)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and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100(1–p)% 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lies to the right.</a:t>
                </a:r>
              </a:p>
            </p:txBody>
          </p:sp>
        </mc:Choice>
        <mc:Fallback xmlns="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FF914BF-BDC5-C1D8-F2F4-8368675C1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76" y="4493691"/>
                <a:ext cx="9495578" cy="1422340"/>
              </a:xfrm>
              <a:prstGeom prst="rect">
                <a:avLst/>
              </a:prstGeom>
              <a:blipFill>
                <a:blip r:embed="rId5"/>
                <a:stretch>
                  <a:fillRect t="-4292" b="-1115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27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6" grpId="0" build="p" bldLvl="2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350317"/>
            <a:ext cx="7345307" cy="125519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 dirty="0"/>
              <a:t>Percentiles of a Continuous Distribution</a:t>
            </a:r>
            <a:br>
              <a:rPr lang="en-US" altLang="en-US" sz="4000" dirty="0"/>
            </a:br>
            <a:endParaRPr lang="en-US" altLang="en-US" sz="40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067534" y="1832009"/>
            <a:ext cx="9495578" cy="1145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Thus η(.75), the </a:t>
            </a:r>
            <a:r>
              <a:rPr lang="en-US" altLang="ko-KR" sz="2800" b="1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75th percentile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is such that the area under the graph of f(x) to the left of η(.75) is .75.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AA8318-E788-5EA6-3219-F855EB219D85}"/>
              </a:ext>
            </a:extLst>
          </p:cNvPr>
          <p:cNvSpPr txBox="1">
            <a:spLocks noChangeArrowheads="1"/>
          </p:cNvSpPr>
          <p:nvPr/>
        </p:nvSpPr>
        <p:spPr>
          <a:xfrm>
            <a:off x="1017913" y="2962597"/>
            <a:ext cx="9495578" cy="652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Figure below illustrates the definition.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DE639F-8031-34C1-EDF8-8B33302E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564" y="3731217"/>
            <a:ext cx="8435134" cy="33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2" grpId="0" build="p" bldLvl="2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1482" y="728051"/>
            <a:ext cx="7345307" cy="75546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Example</a:t>
            </a:r>
            <a:br>
              <a:rPr lang="en-US" altLang="en-US" sz="4400" dirty="0"/>
            </a:br>
            <a:endParaRPr lang="en-US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7534" y="1832010"/>
                <a:ext cx="9495578" cy="66664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indent="0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36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36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6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=2</m:t>
                      </m:r>
                      <m:sSup>
                        <m:sSupPr>
                          <m:ctrlPr>
                            <a:rPr lang="en-US" altLang="ko-KR" sz="36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altLang="ko-KR" sz="36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36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−2</m:t>
                          </m:r>
                          <m:r>
                            <a:rPr lang="en-US" altLang="ko-KR" sz="36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sup>
                      </m:sSup>
                      <m:r>
                        <a:rPr lang="en-US" altLang="ko-KR" sz="36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, </m:t>
                      </m:r>
                      <m:r>
                        <a:rPr lang="en-US" altLang="ko-KR" sz="36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𝑥</m:t>
                      </m:r>
                      <m:r>
                        <a:rPr lang="en-US" altLang="ko-KR" sz="36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&gt;0</m:t>
                      </m:r>
                    </m:oMath>
                  </m:oMathPara>
                </a14:m>
                <a:endParaRPr lang="en-US" altLang="ko-KR" sz="36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34" y="1832010"/>
                <a:ext cx="9495578" cy="666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345C9B5-9D1A-D576-CDC5-2B73EF79EC7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7534" y="2636319"/>
                <a:ext cx="9495578" cy="185062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Calculate F(x).</a:t>
                </a:r>
              </a:p>
              <a:p>
                <a:pPr marL="0" indent="0" fontAlgn="auto">
                  <a:lnSpc>
                    <a:spcPct val="100000"/>
                  </a:lnSpc>
                  <a:spcBef>
                    <a:spcPts val="60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𝑋</m:t>
                          </m:r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=</m:t>
                          </m:r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ko-KR" sz="3600" i="1" ker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ko-KR" sz="3600" i="1" kern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3600" i="1" kern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3600" i="1" kern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−2</m:t>
                              </m:r>
                              <m:r>
                                <a:rPr lang="en-US" altLang="ko-KR" sz="3600" b="0" i="1" kern="0" smtClean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𝑦</m:t>
                              </m:r>
                            </m:sup>
                          </m:sSup>
                          <m:r>
                            <a:rPr lang="en-US" altLang="ko-KR" sz="3600" b="0" i="1" kern="0" smtClea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𝑑𝑦</m:t>
                          </m:r>
                          <m:r>
                            <a:rPr lang="en-US" altLang="ko-KR" sz="3600" b="0" i="1" kern="0" smtClea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=1−</m:t>
                          </m:r>
                        </m:e>
                      </m:nary>
                      <m:sSup>
                        <m:sSupPr>
                          <m:ctrlP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−2</m:t>
                          </m:r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altLang="ko-KR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345C9B5-9D1A-D576-CDC5-2B73EF79E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34" y="2636319"/>
                <a:ext cx="9495578" cy="1850622"/>
              </a:xfrm>
              <a:prstGeom prst="rect">
                <a:avLst/>
              </a:prstGeom>
              <a:blipFill>
                <a:blip r:embed="rId4"/>
                <a:stretch>
                  <a:fillRect l="-2632" t="-125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1CB05702-3AB1-81AC-C369-F5B12FB1F36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39178" y="4415495"/>
                <a:ext cx="9495578" cy="174075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180000" fontAlgn="auto">
                  <a:lnSpc>
                    <a:spcPct val="100000"/>
                  </a:lnSpc>
                  <a:defRPr/>
                </a:pP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How would you find the </a:t>
                </a:r>
                <a:r>
                  <a:rPr lang="en-US" altLang="ko-KR" sz="2800" b="1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median</a:t>
                </a:r>
                <a:r>
                  <a:rPr lang="en-US" altLang="ko-KR" sz="28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of this distribution?</a:t>
                </a:r>
              </a:p>
              <a:p>
                <a:pPr marL="534436" lvl="2" indent="0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=1−</m:t>
                      </m:r>
                      <m:sSup>
                        <m:sSupPr>
                          <m:ctrlPr>
                            <a:rPr lang="en-US" altLang="ko-KR" sz="2800" i="1" ker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sSupPr>
                        <m:e>
                          <m:r>
                            <a:rPr lang="en-US" altLang="ko-KR" sz="2800" i="1" ker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2800" i="1" ker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−2</m:t>
                          </m:r>
                          <m:r>
                            <a:rPr lang="en-US" altLang="ko-KR" sz="2800" i="1" kern="0">
                              <a:solidFill>
                                <a:srgbClr val="5E5E5E"/>
                              </a:solidFill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sup>
                      </m:sSup>
                      <m:r>
                        <a:rPr lang="en-US" altLang="ko-KR" sz="2800" b="0" i="1" kern="0" smtClean="0">
                          <a:solidFill>
                            <a:srgbClr val="5E5E5E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=0.5</m:t>
                      </m:r>
                    </m:oMath>
                  </m:oMathPara>
                </a14:m>
                <a:endParaRPr lang="en-US" altLang="ko-KR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marL="534436" lvl="2" indent="0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𝑥</m:t>
                      </m:r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2800" b="0" i="1" kern="0" smtClean="0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800" b="0" i="0" kern="0" smtClean="0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800" b="0" i="1" kern="0" smtClean="0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800" b="0" i="1" kern="0" smtClean="0"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altLang="ko-KR" sz="28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2</m:t>
                          </m:r>
                        </m:den>
                      </m:f>
                      <m:r>
                        <a:rPr lang="en-US" altLang="ko-KR" sz="28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=0.35</m:t>
                      </m:r>
                    </m:oMath>
                  </m:oMathPara>
                </a14:m>
                <a:endParaRPr lang="en-US" altLang="ko-KR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fontAlgn="auto">
                  <a:lnSpc>
                    <a:spcPct val="100000"/>
                  </a:lnSpc>
                  <a:defRPr/>
                </a:pPr>
                <a:endParaRPr lang="en-US" altLang="ko-KR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1CB05702-3AB1-81AC-C369-F5B12FB1F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78" y="4415495"/>
                <a:ext cx="9495578" cy="1740756"/>
              </a:xfrm>
              <a:prstGeom prst="rect">
                <a:avLst/>
              </a:prstGeom>
              <a:blipFill>
                <a:blip r:embed="rId5"/>
                <a:stretch>
                  <a:fillRect l="-2632" t="-132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1F496779-371C-2052-477D-02D4E6495A96}"/>
              </a:ext>
            </a:extLst>
          </p:cNvPr>
          <p:cNvSpPr txBox="1">
            <a:spLocks noChangeArrowheads="1"/>
          </p:cNvSpPr>
          <p:nvPr/>
        </p:nvSpPr>
        <p:spPr>
          <a:xfrm>
            <a:off x="904497" y="6279750"/>
            <a:ext cx="9552292" cy="67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180000"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we find the </a:t>
            </a:r>
            <a:r>
              <a:rPr lang="en-US" altLang="ko-KR" sz="2800" b="1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40th percentile 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this distribution?</a:t>
            </a:r>
          </a:p>
        </p:txBody>
      </p:sp>
    </p:spTree>
    <p:extLst>
      <p:ext uri="{BB962C8B-B14F-4D97-AF65-F5344CB8AC3E}">
        <p14:creationId xmlns:p14="http://schemas.microsoft.com/office/powerpoint/2010/main" val="293323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4" grpId="0" build="p" bldLvl="2" autoUpdateAnimBg="0"/>
      <p:bldP spid="5" grpId="0" build="p" bldLvl="2" autoUpdateAnimBg="0"/>
      <p:bldP spid="6" grpId="0" build="p" bldLvl="2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009553" y="3561393"/>
            <a:ext cx="7155711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Expected Values</a:t>
            </a:r>
            <a:endParaRPr lang="en-ID" sz="44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2563609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0096" y="446014"/>
            <a:ext cx="7345307" cy="87242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 dirty="0"/>
              <a:t>Expected Values</a:t>
            </a:r>
            <a:br>
              <a:rPr lang="en-US" altLang="en-US" sz="4000" dirty="0"/>
            </a:br>
            <a:endParaRPr lang="en-US" altLang="en-US" sz="40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067534" y="1832008"/>
            <a:ext cx="9495578" cy="99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expected (or mean) value of a continuous </a:t>
            </a:r>
            <a:r>
              <a:rPr lang="en-US" altLang="ko-KR" sz="28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r.v.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X with the pdf f(x) is: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752555-F371-EDD1-77FE-476BD6906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532" y="2852852"/>
            <a:ext cx="5321573" cy="97795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CCC80A5-3E2F-C216-DF75-60D749FB80A2}"/>
              </a:ext>
            </a:extLst>
          </p:cNvPr>
          <p:cNvSpPr txBox="1">
            <a:spLocks noChangeArrowheads="1"/>
          </p:cNvSpPr>
          <p:nvPr/>
        </p:nvSpPr>
        <p:spPr>
          <a:xfrm>
            <a:off x="1049809" y="3898267"/>
            <a:ext cx="9495578" cy="56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2800" b="1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64F1FC9-DE51-01AD-BE9B-83072514FB90}"/>
              </a:ext>
            </a:extLst>
          </p:cNvPr>
          <p:cNvSpPr txBox="1">
            <a:spLocks noChangeArrowheads="1"/>
          </p:cNvSpPr>
          <p:nvPr/>
        </p:nvSpPr>
        <p:spPr>
          <a:xfrm>
            <a:off x="1053350" y="4369647"/>
            <a:ext cx="9495578" cy="108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267218" lvl="1" indent="0" fontAlgn="auto">
              <a:lnSpc>
                <a:spcPct val="100000"/>
              </a:lnSpc>
              <a:buNone/>
              <a:defRPr/>
            </a:pP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 to the gravel example, the pdf of the amount of weekly gravel sales X is: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3A95FB-5A22-3BC7-799A-1DEC41690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806" y="5415419"/>
            <a:ext cx="4369025" cy="1282766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4DE531D0-A3E9-0B95-EF2D-221270743419}"/>
              </a:ext>
            </a:extLst>
          </p:cNvPr>
          <p:cNvSpPr txBox="1">
            <a:spLocks noChangeArrowheads="1"/>
          </p:cNvSpPr>
          <p:nvPr/>
        </p:nvSpPr>
        <p:spPr>
          <a:xfrm>
            <a:off x="1056888" y="6691092"/>
            <a:ext cx="9495578" cy="567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267218" lvl="1" indent="0" fontAlgn="auto">
              <a:lnSpc>
                <a:spcPct val="100000"/>
              </a:lnSpc>
              <a:buNone/>
              <a:defRPr/>
            </a:pPr>
            <a:r>
              <a:rPr lang="en-US" altLang="ko-KR" sz="2800" b="1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E(X) </a:t>
            </a:r>
            <a:r>
              <a:rPr lang="en-US" altLang="ko-KR" sz="28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3882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8" grpId="0" build="p" bldLvl="2" autoUpdateAnimBg="0"/>
      <p:bldP spid="9" grpId="0" build="p" bldLvl="2" autoUpdateAnimBg="0"/>
      <p:bldP spid="13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0096" y="446014"/>
            <a:ext cx="7345307" cy="87242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 dirty="0"/>
              <a:t>Example …</a:t>
            </a:r>
            <a:br>
              <a:rPr lang="en-US" altLang="en-US" sz="4000" dirty="0"/>
            </a:b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8CCC80A5-3E2F-C216-DF75-60D749FB80A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49809" y="1718584"/>
                <a:ext cx="9495578" cy="255570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2400" b="1" kern="0" dirty="0">
                    <a:solidFill>
                      <a:srgbClr val="00206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Answer</a:t>
                </a:r>
                <a:r>
                  <a:rPr lang="en-US" altLang="ko-KR" sz="24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:</a:t>
                </a:r>
              </a:p>
              <a:p>
                <a:pPr marL="0" indent="0" algn="ctr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 kern="0" dirty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𝐸</m:t>
                      </m:r>
                      <m:r>
                        <a:rPr lang="en-US" altLang="ko-KR" sz="2400" i="1" kern="0" dirty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(</m:t>
                      </m:r>
                      <m:r>
                        <a:rPr lang="en-US" altLang="ko-KR" sz="2400" i="1" kern="0" dirty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𝑥</m:t>
                      </m:r>
                      <m:r>
                        <a:rPr lang="en-US" altLang="ko-KR" sz="2400" i="1" kern="0" dirty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)=</m:t>
                      </m:r>
                      <m:nary>
                        <m:naryPr>
                          <m:ctrlPr>
                            <a:rPr lang="en-US" altLang="ko-KR" sz="2400" i="1" kern="0" dirty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2400" b="0" i="1" kern="0" dirty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−</m:t>
                          </m:r>
                          <m:r>
                            <a:rPr lang="en-US" altLang="ko-KR" sz="2400" b="0" i="1" kern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ko-KR" sz="2400" i="1" kern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ko-KR" sz="2400" b="0" i="1" kern="0" dirty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US" altLang="ko-KR" sz="2400" b="0" i="1" kern="0" dirty="0" smtClean="0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kern="0" dirty="0" smtClean="0"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400" b="0" i="1" kern="0" dirty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𝑑𝑥</m:t>
                          </m:r>
                          <m:r>
                            <a:rPr lang="en-US" altLang="ko-KR" sz="2400" b="0" i="1" kern="0" dirty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ko-KR" sz="2400" i="1" kern="0" dirty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2400" i="1" kern="0" dirty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−</m:t>
                              </m:r>
                              <m:r>
                                <a:rPr lang="en-US" altLang="ko-KR" sz="2400" i="1" kern="0" dirty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ko-KR" sz="2400" b="0" i="1" kern="0" dirty="0" smtClean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0</m:t>
                              </m:r>
                            </m:sup>
                            <m:e>
                              <m:r>
                                <a:rPr lang="en-US" altLang="ko-KR" sz="2400" i="1" kern="0" dirty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𝑥𝑓</m:t>
                              </m:r>
                              <m:d>
                                <m:dPr>
                                  <m:ctrlPr>
                                    <a:rPr lang="en-US" altLang="ko-KR" sz="2400" i="1" kern="0" dirty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 kern="0" dirty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ko-KR" sz="2400" i="1" kern="0" dirty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𝑑𝑥</m:t>
                              </m:r>
                              <m:r>
                                <a:rPr lang="en-US" altLang="ko-KR" sz="2400" b="0" i="1" kern="0" dirty="0" smtClean="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+</m:t>
                              </m:r>
                              <m:nary>
                                <m:naryPr>
                                  <m:ctrlPr>
                                    <a:rPr lang="en-US" altLang="ko-KR" sz="2400" i="1" kern="0" dirty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ko-KR" sz="2400" b="0" i="1" kern="0" dirty="0" smtClean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ko-KR" sz="2400" b="0" i="1" kern="0" dirty="0" smtClean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altLang="ko-KR" sz="2400" i="1" kern="0" dirty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𝑥𝑓</m:t>
                                  </m:r>
                                  <m:d>
                                    <m:dPr>
                                      <m:ctrlPr>
                                        <a:rPr lang="en-US" altLang="ko-KR" sz="2400" i="1" kern="0" dirty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400" i="1" kern="0" dirty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ko-KR" sz="2400" i="1" kern="0" dirty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𝑑𝑥</m:t>
                                  </m:r>
                                  <m:r>
                                    <a:rPr lang="en-US" altLang="ko-KR" sz="2400" b="0" i="1" kern="0" dirty="0" smtClean="0">
                                      <a:solidFill>
                                        <a:srgbClr val="5E5E5E"/>
                                      </a:solidFill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trlPr>
                                        <a:rPr lang="en-US" altLang="ko-KR" sz="2400" i="1" kern="0" dirty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ko-KR" sz="2400" b="0" i="1" kern="0" dirty="0" smtClean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 panose="020B0606030504020204" pitchFamily="34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ko-KR" sz="2400" i="1" kern="0" dirty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Open Sans" panose="020B0606030504020204" pitchFamily="34" charset="0"/>
                                        </a:rPr>
                                        <m:t>∞</m:t>
                                      </m:r>
                                    </m:sup>
                                    <m:e>
                                      <m:r>
                                        <a:rPr lang="en-US" altLang="ko-KR" sz="2400" i="1" kern="0" dirty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𝑥𝑓</m:t>
                                      </m:r>
                                      <m:d>
                                        <m:dPr>
                                          <m:ctrlPr>
                                            <a:rPr lang="en-US" altLang="ko-KR" sz="2400" i="1" kern="0" dirty="0">
                                              <a:solidFill>
                                                <a:srgbClr val="5E5E5E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sz="2400" i="1" kern="0" dirty="0">
                                              <a:solidFill>
                                                <a:srgbClr val="5E5E5E"/>
                                              </a:solidFill>
                                              <a:latin typeface="Cambria Math" panose="02040503050406030204" pitchFamily="18" charset="0"/>
                                              <a:ea typeface="Open Sans" panose="020B0606030504020204" pitchFamily="34" charset="0"/>
                                              <a:cs typeface="Open Sans" panose="020B0606030504020204" pitchFamily="34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altLang="ko-KR" sz="2400" i="1" kern="0" dirty="0">
                                          <a:solidFill>
                                            <a:srgbClr val="5E5E5E"/>
                                          </a:solidFill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𝑑𝑥</m:t>
                                      </m:r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sz="24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8CCC80A5-3E2F-C216-DF75-60D749FB8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09" y="1718584"/>
                <a:ext cx="9495578" cy="2555703"/>
              </a:xfrm>
              <a:prstGeom prst="rect">
                <a:avLst/>
              </a:prstGeom>
              <a:blipFill>
                <a:blip r:embed="rId3"/>
                <a:stretch>
                  <a:fillRect l="-2182" t="-763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4DE531D0-A3E9-0B95-EF2D-22127074341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49809" y="4511409"/>
                <a:ext cx="9495578" cy="5674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267218" lvl="1" indent="0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kern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𝐸</m:t>
                      </m:r>
                      <m:r>
                        <a:rPr lang="en-US" altLang="ko-KR" sz="2800" i="1" kern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(</m:t>
                      </m:r>
                      <m:r>
                        <a:rPr lang="en-US" altLang="ko-KR" sz="2800" i="1" kern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𝑋</m:t>
                      </m:r>
                      <m:r>
                        <a:rPr lang="en-US" altLang="ko-KR" sz="2800" i="1" kern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)</m:t>
                      </m:r>
                      <m:r>
                        <a:rPr lang="en-US" altLang="ko-KR" sz="2800" b="1" i="1" kern="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</m:t>
                      </m:r>
                      <m:r>
                        <a:rPr lang="en-US" altLang="ko-KR" sz="2800" i="1" kern="0" dirty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 3/8 = 0.375</m:t>
                      </m:r>
                    </m:oMath>
                  </m:oMathPara>
                </a14:m>
                <a:endParaRPr lang="en-US" altLang="ko-KR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4DE531D0-A3E9-0B95-EF2D-221270743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09" y="4511409"/>
                <a:ext cx="9495578" cy="5674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49A8BD-0C71-D0F3-A0F5-D764E39B2CBC}"/>
                  </a:ext>
                </a:extLst>
              </p:cNvPr>
              <p:cNvSpPr txBox="1"/>
              <p:nvPr/>
            </p:nvSpPr>
            <p:spPr>
              <a:xfrm>
                <a:off x="1286541" y="3132780"/>
                <a:ext cx="8978862" cy="9227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altLang="ko-KR" sz="24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5E5E5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      =</m:t>
                      </m:r>
                      <m:nary>
                        <m:naryPr>
                          <m:ctrlPr>
                            <a:rPr kumimoji="0" lang="en-US" altLang="ko-KR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ko-KR" sz="24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−</m:t>
                          </m:r>
                          <m:r>
                            <a:rPr kumimoji="0" lang="en-US" altLang="ko-KR" sz="24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kumimoji="0" lang="en-US" altLang="ko-KR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Open Sans" panose="020B0606030504020204" pitchFamily="34" charset="0"/>
                            </a:rPr>
                            <m:t>0</m:t>
                          </m:r>
                        </m:sup>
                        <m:e>
                          <m:r>
                            <a:rPr kumimoji="0" lang="en-US" altLang="ko-KR" sz="24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  <m:r>
                            <a:rPr kumimoji="0" lang="en-US" altLang="ko-KR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 0</m:t>
                          </m:r>
                          <m:r>
                            <a:rPr kumimoji="0" lang="en-US" altLang="ko-KR" sz="24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𝑑𝑥</m:t>
                          </m:r>
                          <m:r>
                            <a:rPr kumimoji="0" lang="en-US" altLang="ko-KR" sz="24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5E5E5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kumimoji="0" lang="en-US" altLang="ko-KR" sz="24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</m:ctrlPr>
                            </m:naryPr>
                            <m:sub>
                              <m:r>
                                <a:rPr kumimoji="0" lang="en-US" altLang="ko-KR" sz="24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kumimoji="0" lang="en-US" altLang="ko-KR" sz="24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Open Sans" panose="020B0606030504020204" pitchFamily="34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kumimoji="0" lang="en-US" altLang="ko-KR" sz="24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𝑥</m:t>
                              </m:r>
                              <m:f>
                                <m:fPr>
                                  <m:ctrlP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2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kumimoji="0" lang="en-US" altLang="ko-KR" sz="24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E5E5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ko-KR" sz="24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E5E5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0" lang="en-US" altLang="ko-KR" sz="24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E5E5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Open Sans" panose="020B0606030504020204" pitchFamily="34" charset="0"/>
                                          <a:cs typeface="Open Sans" panose="020B0606030504020204" pitchFamily="34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kumimoji="0" lang="en-US" altLang="ko-KR" sz="24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𝑑𝑥</m:t>
                              </m:r>
                              <m:r>
                                <a:rPr kumimoji="0" lang="en-US" altLang="ko-KR" sz="24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5E5E5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Open Sans" panose="020B0606030504020204" pitchFamily="34" charset="0"/>
                                  <a:cs typeface="Open Sans" panose="020B0606030504020204" pitchFamily="34" charset="0"/>
                                </a:rPr>
                                <m:t>+</m:t>
                              </m:r>
                              <m:nary>
                                <m:naryPr>
                                  <m:ctrlPr>
                                    <a:rPr kumimoji="0" lang="en-US" altLang="ko-KR" sz="2400" b="0" i="1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0" lang="en-US" altLang="ko-KR" sz="2400" b="0" i="1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Open Sans" panose="020B0606030504020204" pitchFamily="34" charset="0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kumimoji="0" lang="en-US" altLang="ko-KR" sz="2400" b="0" i="1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𝑥</m:t>
                                  </m:r>
                                  <m:r>
                                    <a:rPr kumimoji="0" lang="en-US" altLang="ko-KR" sz="24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 0 </m:t>
                                  </m:r>
                                  <m:r>
                                    <a:rPr kumimoji="0" lang="en-US" altLang="ko-KR" sz="2400" b="0" i="1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5E5E5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Open Sans" panose="020B0606030504020204" pitchFamily="34" charset="0"/>
                                      <a:cs typeface="Open Sans" panose="020B0606030504020204" pitchFamily="34" charset="0"/>
                                    </a:rPr>
                                    <m:t>𝑑𝑥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49A8BD-0C71-D0F3-A0F5-D764E39B2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541" y="3132780"/>
                <a:ext cx="8978862" cy="9227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35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utoUpdateAnimBg="0"/>
      <p:bldP spid="13" grpId="0" build="p" bldLvl="2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42660" y="446014"/>
            <a:ext cx="6060559" cy="122683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000" dirty="0"/>
              <a:t>Expected Values of functions of </a:t>
            </a:r>
            <a:r>
              <a:rPr lang="en-US" altLang="en-US" sz="4000" dirty="0" err="1"/>
              <a:t>r.v.</a:t>
            </a:r>
            <a:br>
              <a:rPr lang="en-US" altLang="en-US" sz="4000" dirty="0"/>
            </a:br>
            <a:endParaRPr lang="en-US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7534" y="1832009"/>
                <a:ext cx="9495578" cy="5674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h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𝑋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is a function of X, then</a:t>
                </a: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27ACA7DD-7DF8-8C7A-E8B4-05B3CEDF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34" y="1832009"/>
                <a:ext cx="9495578" cy="567408"/>
              </a:xfrm>
              <a:prstGeom prst="rect">
                <a:avLst/>
              </a:prstGeom>
              <a:blipFill>
                <a:blip r:embed="rId3"/>
                <a:stretch>
                  <a:fillRect l="-3081" t="-49462" b="-6236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6520331-3A23-D1CC-2663-E8F3F2420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799" y="5133910"/>
            <a:ext cx="6617040" cy="596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BDD854-1AF7-C66F-4EED-AF609119F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7697" y="2542917"/>
            <a:ext cx="6693244" cy="1009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0595C763-5D5B-D3F4-51A6-98BAA1E8691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28546" y="3983338"/>
                <a:ext cx="9495578" cy="5674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  <a:defRPr/>
                </a:pPr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h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(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𝑋</m:t>
                    </m:r>
                    <m:r>
                      <a:rPr lang="en-US" altLang="ko-KR" sz="3200" i="1" kern="0" dirty="0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)=</m:t>
                    </m:r>
                    <m:r>
                      <a:rPr lang="en-US" altLang="ko-KR" sz="3200" i="1" kern="0" dirty="0" err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𝑎𝑋</m:t>
                    </m:r>
                    <m:r>
                      <a:rPr lang="en-US" altLang="ko-KR" sz="3200" i="1" kern="0" dirty="0" err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+</m:t>
                    </m:r>
                    <m:r>
                      <a:rPr lang="en-US" altLang="ko-KR" sz="3200" i="1" kern="0" dirty="0" err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𝑏</m:t>
                    </m:r>
                  </m:oMath>
                </a14:m>
                <a:r>
                  <a:rPr lang="en-US" altLang="ko-KR" sz="3200" kern="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 a linear function,</a:t>
                </a:r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0595C763-5D5B-D3F4-51A6-98BAA1E86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46" y="3983338"/>
                <a:ext cx="9495578" cy="567408"/>
              </a:xfrm>
              <a:prstGeom prst="rect">
                <a:avLst/>
              </a:prstGeom>
              <a:blipFill>
                <a:blip r:embed="rId6"/>
                <a:stretch>
                  <a:fillRect l="-3083" t="-47872" b="-6170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27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10" grpId="0" build="p" bldLvl="2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42660" y="635840"/>
            <a:ext cx="6060559" cy="76545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Variance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067534" y="1832009"/>
            <a:ext cx="9495578" cy="111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altLang="ko-KR" sz="3200" b="1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variance</a:t>
            </a: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a continuous random variable X with pdf f(x) and mean value µ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3E9AB-F70F-6FC0-55D6-D90BA53C9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991" y="2914605"/>
            <a:ext cx="4978656" cy="1733639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CF8D672-57E3-7261-61B2-F7FC1245F114}"/>
              </a:ext>
            </a:extLst>
          </p:cNvPr>
          <p:cNvSpPr txBox="1">
            <a:spLocks noChangeArrowheads="1"/>
          </p:cNvSpPr>
          <p:nvPr/>
        </p:nvSpPr>
        <p:spPr>
          <a:xfrm>
            <a:off x="1071072" y="4727619"/>
            <a:ext cx="9495578" cy="588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US" altLang="ko-KR" sz="3200" b="1" kern="0" dirty="0">
                <a:solidFill>
                  <a:srgbClr val="00206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 deviation </a:t>
            </a: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(SD) of X 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F78734-1CFD-D1A4-223B-84DD1F028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661" y="5283857"/>
            <a:ext cx="2235315" cy="482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CFB407-3487-14AD-2007-A9AEDB9FA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766" y="5979464"/>
            <a:ext cx="8716325" cy="111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8" grpId="0" build="p" bldLvl="2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42660" y="635840"/>
            <a:ext cx="6060559" cy="765450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en-US" sz="4400" dirty="0"/>
              <a:t>Example</a:t>
            </a:r>
            <a:br>
              <a:rPr lang="en-US" altLang="en-US" sz="4400" dirty="0"/>
            </a:br>
            <a:endParaRPr lang="en-US" altLang="en-US" sz="4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7ACA7DD-7DF8-8C7A-E8B4-05B3CEDF138C}"/>
              </a:ext>
            </a:extLst>
          </p:cNvPr>
          <p:cNvSpPr txBox="1">
            <a:spLocks noChangeArrowheads="1"/>
          </p:cNvSpPr>
          <p:nvPr/>
        </p:nvSpPr>
        <p:spPr>
          <a:xfrm>
            <a:off x="1067534" y="1832009"/>
            <a:ext cx="9495578" cy="1113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  <a:defRPr/>
            </a:pPr>
            <a:r>
              <a:rPr lang="en-US" altLang="ko-KR" sz="32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do we compute the variance for the weekly gravel sales example?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2203FD83-F76E-B7EB-DD69-7A47E545D10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60441" y="3249680"/>
                <a:ext cx="9495578" cy="11132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 Light" panose="020B0606030504020204" pitchFamily="34" charset="0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indent="0" fontAlgn="auto">
                  <a:lnSpc>
                    <a:spcPct val="100000"/>
                  </a:lnSpc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𝑉</m:t>
                      </m:r>
                      <m:d>
                        <m:dPr>
                          <m:ctrl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dPr>
                        <m:e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</m:t>
                          </m:r>
                        </m:sup>
                        <m:e>
                          <m:r>
                            <a:rPr lang="en-US" altLang="ko-KR" sz="3200" i="1" ker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(</m:t>
                          </m:r>
                          <m:r>
                            <a:rPr lang="ko-KR" altLang="en-US" sz="3200" i="1" ker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  <m:r>
                            <a:rPr lang="ko-KR" altLang="en-US" sz="3200" i="1" ker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−3/8)^2  3/2(</m:t>
                          </m:r>
                          <m:r>
                            <a:rPr lang="en-US" altLang="ko-KR" sz="3200" i="1" ker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1−</m:t>
                          </m:r>
                          <m:r>
                            <a:rPr lang="ko-KR" altLang="en-US" sz="3200" i="1" ker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𝑥</m:t>
                          </m:r>
                          <m:r>
                            <a:rPr lang="en-US" altLang="ko-KR" sz="3200" i="1" ker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^2)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altLang="ko-KR" sz="3200" b="0" i="0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dx</m:t>
                      </m:r>
                      <m:r>
                        <a:rPr lang="en-US" altLang="ko-KR" sz="3200" b="0" i="0" kern="0" smtClean="0">
                          <a:latin typeface="Cambria Math" panose="02040503050406030204" pitchFamily="18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</m:ctrlPr>
                        </m:fPr>
                        <m:num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19</m:t>
                          </m:r>
                        </m:num>
                        <m:den>
                          <m:r>
                            <a:rPr lang="en-US" altLang="ko-KR" sz="3200" b="0" i="1" kern="0" smtClean="0">
                              <a:latin typeface="Cambria Math" panose="02040503050406030204" pitchFamily="18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320</m:t>
                          </m:r>
                        </m:den>
                      </m:f>
                    </m:oMath>
                  </m:oMathPara>
                </a14:m>
                <a:endParaRPr lang="en-US" altLang="ko-KR" sz="32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2203FD83-F76E-B7EB-DD69-7A47E545D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41" y="3249680"/>
                <a:ext cx="9495578" cy="1113210"/>
              </a:xfrm>
              <a:prstGeom prst="rect">
                <a:avLst/>
              </a:prstGeom>
              <a:blipFill>
                <a:blip r:embed="rId3"/>
                <a:stretch>
                  <a:fillRect b="-273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86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 autoUpdateAnimBg="0"/>
      <p:bldP spid="2" grpId="0" build="p" bldLvl="2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009553" y="3561393"/>
            <a:ext cx="7155711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4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The Normal Distribution</a:t>
            </a:r>
            <a:endParaRPr lang="en-ID" sz="48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34654319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5460" y="914201"/>
            <a:ext cx="6858000" cy="790231"/>
          </a:xfrm>
        </p:spPr>
        <p:txBody>
          <a:bodyPr>
            <a:normAutofit/>
          </a:bodyPr>
          <a:lstStyle/>
          <a:p>
            <a:pPr algn="ctr"/>
            <a:r>
              <a:rPr lang="en-US" altLang="en-US" sz="4000" dirty="0"/>
              <a:t>The Normal Distribution</a:t>
            </a:r>
          </a:p>
        </p:txBody>
      </p:sp>
      <p:graphicFrame>
        <p:nvGraphicFramePr>
          <p:cNvPr id="2" name="Object 69">
            <a:extLst>
              <a:ext uri="{FF2B5EF4-FFF2-40B4-BE49-F238E27FC236}">
                <a16:creationId xmlns:a16="http://schemas.microsoft.com/office/drawing/2014/main" id="{3B9DBA36-043E-AAA1-69FA-9EA34F227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501640"/>
              </p:ext>
            </p:extLst>
          </p:nvPr>
        </p:nvGraphicFramePr>
        <p:xfrm>
          <a:off x="1231607" y="2915095"/>
          <a:ext cx="7810500" cy="217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9000" imgH="952200" progId="Equation.3">
                  <p:embed/>
                </p:oleObj>
              </mc:Choice>
              <mc:Fallback>
                <p:oleObj name="Equation" r:id="rId2" imgW="3429000" imgH="952200" progId="Equation.3">
                  <p:embed/>
                  <p:pic>
                    <p:nvPicPr>
                      <p:cNvPr id="2" name="Object 69">
                        <a:extLst>
                          <a:ext uri="{FF2B5EF4-FFF2-40B4-BE49-F238E27FC236}">
                            <a16:creationId xmlns:a16="http://schemas.microsoft.com/office/drawing/2014/main" id="{3B9DBA36-043E-AAA1-69FA-9EA34F227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607" y="2915095"/>
                        <a:ext cx="7810500" cy="217011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70">
            <a:extLst>
              <a:ext uri="{FF2B5EF4-FFF2-40B4-BE49-F238E27FC236}">
                <a16:creationId xmlns:a16="http://schemas.microsoft.com/office/drawing/2014/main" id="{18A76357-074E-8766-A2D1-E861B86B1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006" y="5498805"/>
            <a:ext cx="9140453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200" b="0" dirty="0">
                <a:solidFill>
                  <a:srgbClr val="339933"/>
                </a:solidFill>
                <a:ea typeface="굴림" panose="020B0600000101010101" pitchFamily="34" charset="-127"/>
              </a:rPr>
              <a:t>The shape and location of the normal curve changes as the mean and standard deviation change. </a:t>
            </a:r>
          </a:p>
        </p:txBody>
      </p:sp>
      <p:sp>
        <p:nvSpPr>
          <p:cNvPr id="4" name="Rectangle 71">
            <a:extLst>
              <a:ext uri="{FF2B5EF4-FFF2-40B4-BE49-F238E27FC236}">
                <a16:creationId xmlns:a16="http://schemas.microsoft.com/office/drawing/2014/main" id="{EE8178F1-DB97-2A71-7E98-DB4FD63D2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207" y="1543495"/>
            <a:ext cx="8153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200" b="0" dirty="0">
                <a:solidFill>
                  <a:srgbClr val="339933"/>
                </a:solidFill>
                <a:ea typeface="굴림" panose="020B0600000101010101" pitchFamily="34" charset="-127"/>
              </a:rPr>
              <a:t>The formula that generates the normal probability distribution is:</a:t>
            </a:r>
          </a:p>
        </p:txBody>
      </p:sp>
    </p:spTree>
    <p:extLst>
      <p:ext uri="{BB962C8B-B14F-4D97-AF65-F5344CB8AC3E}">
        <p14:creationId xmlns:p14="http://schemas.microsoft.com/office/powerpoint/2010/main" val="33169407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02419" y="754913"/>
            <a:ext cx="6379534" cy="949520"/>
          </a:xfrm>
        </p:spPr>
        <p:txBody>
          <a:bodyPr>
            <a:normAutofit/>
          </a:bodyPr>
          <a:lstStyle/>
          <a:p>
            <a:pPr algn="ctr"/>
            <a:r>
              <a:rPr lang="en-US" altLang="en-US" dirty="0"/>
              <a:t>The Standard Normal Distribution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C96B39-01E2-57D4-CD64-5B6B891B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371" y="1761463"/>
            <a:ext cx="9255637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ko-KR" sz="3200" dirty="0">
                <a:ea typeface="굴림" panose="020B0600000101010101" pitchFamily="34" charset="-127"/>
              </a:rPr>
              <a:t>To find P(a &lt; </a:t>
            </a:r>
            <a:r>
              <a:rPr lang="en-US" altLang="ko-KR" sz="3200" i="1" dirty="0">
                <a:ea typeface="굴림" panose="020B0600000101010101" pitchFamily="34" charset="-127"/>
              </a:rPr>
              <a:t>x &lt; </a:t>
            </a:r>
            <a:r>
              <a:rPr lang="en-US" altLang="ko-KR" sz="3200" dirty="0">
                <a:ea typeface="굴림" panose="020B0600000101010101" pitchFamily="34" charset="-127"/>
              </a:rPr>
              <a:t>b), we need to find the area under the appropriate normal curve.</a:t>
            </a:r>
          </a:p>
          <a:p>
            <a:pPr defTabSz="914400"/>
            <a:r>
              <a:rPr lang="en-US" altLang="ko-KR" sz="3200" dirty="0">
                <a:ea typeface="굴림" panose="020B0600000101010101" pitchFamily="34" charset="-127"/>
              </a:rPr>
              <a:t>To simplify the tabulation of these areas, we </a:t>
            </a:r>
            <a:r>
              <a:rPr lang="en-US" altLang="ko-KR" sz="32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standardize </a:t>
            </a:r>
            <a:r>
              <a:rPr lang="en-US" altLang="ko-KR" sz="3200" dirty="0">
                <a:ea typeface="굴림" panose="020B0600000101010101" pitchFamily="34" charset="-127"/>
              </a:rPr>
              <a:t>each value of </a:t>
            </a:r>
            <a:r>
              <a:rPr lang="en-US" altLang="ko-KR" sz="3200" i="1" dirty="0">
                <a:ea typeface="굴림" panose="020B0600000101010101" pitchFamily="34" charset="-127"/>
              </a:rPr>
              <a:t>x</a:t>
            </a:r>
            <a:r>
              <a:rPr lang="en-US" altLang="ko-KR" sz="3200" dirty="0">
                <a:ea typeface="굴림" panose="020B0600000101010101" pitchFamily="34" charset="-127"/>
              </a:rPr>
              <a:t> by expressing it as a </a:t>
            </a:r>
            <a:r>
              <a:rPr lang="en-US" altLang="ko-KR" sz="3200" i="1" dirty="0">
                <a:ea typeface="굴림" panose="020B0600000101010101" pitchFamily="34" charset="-127"/>
              </a:rPr>
              <a:t>z</a:t>
            </a:r>
            <a:r>
              <a:rPr lang="en-US" altLang="ko-KR" sz="3200" dirty="0">
                <a:ea typeface="굴림" panose="020B0600000101010101" pitchFamily="34" charset="-127"/>
              </a:rPr>
              <a:t>-score, the number of standard deviations </a:t>
            </a:r>
            <a:r>
              <a:rPr lang="en-US" altLang="ko-KR" sz="3200" dirty="0">
                <a:latin typeface="Symbol" panose="05050102010706020507" pitchFamily="18" charset="2"/>
                <a:ea typeface="굴림" panose="020B0600000101010101" pitchFamily="34" charset="-127"/>
              </a:rPr>
              <a:t>s</a:t>
            </a:r>
            <a:r>
              <a:rPr lang="en-US" altLang="ko-KR" sz="3200" dirty="0">
                <a:ea typeface="굴림" panose="020B0600000101010101" pitchFamily="34" charset="-127"/>
              </a:rPr>
              <a:t> it lies from the mean </a:t>
            </a:r>
            <a:r>
              <a:rPr lang="en-US" altLang="ko-KR" sz="3200" dirty="0">
                <a:latin typeface="Symbol" panose="05050102010706020507" pitchFamily="18" charset="2"/>
                <a:ea typeface="굴림" panose="020B0600000101010101" pitchFamily="34" charset="-127"/>
              </a:rPr>
              <a:t>m</a:t>
            </a:r>
            <a:r>
              <a:rPr lang="en-US" altLang="ko-KR" sz="3200" dirty="0">
                <a:ea typeface="굴림" panose="020B0600000101010101" pitchFamily="34" charset="-127"/>
              </a:rPr>
              <a:t>.</a:t>
            </a:r>
            <a:endParaRPr lang="en-US" altLang="ko-KR" sz="3200" b="1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A64DFE23-C7F1-5105-4366-0D8BC4E44A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379798"/>
              </p:ext>
            </p:extLst>
          </p:nvPr>
        </p:nvGraphicFramePr>
        <p:xfrm>
          <a:off x="4256572" y="4961863"/>
          <a:ext cx="1924050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393480" progId="Equation.3">
                  <p:embed/>
                </p:oleObj>
              </mc:Choice>
              <mc:Fallback>
                <p:oleObj name="Equation" r:id="rId2" imgW="609480" imgH="393480" progId="Equation.3">
                  <p:embed/>
                  <p:pic>
                    <p:nvPicPr>
                      <p:cNvPr id="5" name="Object 14">
                        <a:extLst>
                          <a:ext uri="{FF2B5EF4-FFF2-40B4-BE49-F238E27FC236}">
                            <a16:creationId xmlns:a16="http://schemas.microsoft.com/office/drawing/2014/main" id="{A64DFE23-C7F1-5105-4366-0D8BC4E44A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572" y="4961863"/>
                        <a:ext cx="1924050" cy="1241425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519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50">
            <a:extLst>
              <a:ext uri="{FF2B5EF4-FFF2-40B4-BE49-F238E27FC236}">
                <a16:creationId xmlns:a16="http://schemas.microsoft.com/office/drawing/2014/main" id="{60E5CCA5-B1EE-218C-3F50-C78DCD790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0792" y="125818"/>
            <a:ext cx="4038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400" kern="12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defTabSz="914400"/>
            <a:r>
              <a:rPr lang="en-US" altLang="ko-KR" sz="3600" b="1" dirty="0">
                <a:ea typeface="굴림" panose="020B0600000101010101" pitchFamily="34" charset="-127"/>
              </a:rPr>
              <a:t>The Standard Normal (</a:t>
            </a:r>
            <a:r>
              <a:rPr lang="en-US" altLang="ko-KR" sz="3600" b="1" i="1" dirty="0">
                <a:ea typeface="굴림" panose="020B0600000101010101" pitchFamily="34" charset="-127"/>
              </a:rPr>
              <a:t>z</a:t>
            </a:r>
            <a:r>
              <a:rPr lang="en-US" altLang="ko-KR" sz="3600" b="1" dirty="0">
                <a:ea typeface="굴림" panose="020B0600000101010101" pitchFamily="34" charset="-127"/>
              </a:rPr>
              <a:t>) Distribution</a:t>
            </a:r>
            <a:r>
              <a:rPr lang="en-US" altLang="ko-KR" sz="4000" b="1" dirty="0">
                <a:ea typeface="굴림" panose="020B0600000101010101" pitchFamily="34" charset="-127"/>
              </a:rPr>
              <a:t> </a:t>
            </a:r>
          </a:p>
        </p:txBody>
      </p:sp>
      <p:sp>
        <p:nvSpPr>
          <p:cNvPr id="5" name="Rectangle 2052">
            <a:extLst>
              <a:ext uri="{FF2B5EF4-FFF2-40B4-BE49-F238E27FC236}">
                <a16:creationId xmlns:a16="http://schemas.microsoft.com/office/drawing/2014/main" id="{3A2A8CB8-0377-B65A-2BE5-6F901584B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579" y="3345716"/>
            <a:ext cx="9319429" cy="3427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Mean = 0; Standard deviation = 1</a:t>
            </a:r>
          </a:p>
          <a:p>
            <a:pPr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When </a:t>
            </a:r>
            <a:r>
              <a:rPr lang="en-US" altLang="ko-KR" sz="3200" i="1" dirty="0">
                <a:solidFill>
                  <a:srgbClr val="002060"/>
                </a:solidFill>
                <a:ea typeface="굴림" panose="020B0600000101010101" pitchFamily="34" charset="-127"/>
              </a:rPr>
              <a:t>x</a:t>
            </a: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 = </a:t>
            </a:r>
            <a:r>
              <a:rPr lang="en-US" altLang="ko-KR" sz="3200" dirty="0">
                <a:solidFill>
                  <a:srgbClr val="002060"/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m</a:t>
            </a: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, </a:t>
            </a:r>
            <a:r>
              <a:rPr lang="en-US" altLang="ko-KR" sz="3200" i="1" dirty="0">
                <a:solidFill>
                  <a:srgbClr val="002060"/>
                </a:solidFill>
                <a:ea typeface="굴림" panose="020B0600000101010101" pitchFamily="34" charset="-127"/>
              </a:rPr>
              <a:t>z</a:t>
            </a: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 = 0</a:t>
            </a:r>
          </a:p>
          <a:p>
            <a:pPr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Symmetric about </a:t>
            </a:r>
            <a:r>
              <a:rPr lang="en-US" altLang="ko-KR" sz="3200" i="1" dirty="0">
                <a:solidFill>
                  <a:srgbClr val="002060"/>
                </a:solidFill>
                <a:ea typeface="굴림" panose="020B0600000101010101" pitchFamily="34" charset="-127"/>
              </a:rPr>
              <a:t>z</a:t>
            </a: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 = 0</a:t>
            </a:r>
          </a:p>
          <a:p>
            <a:pPr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Values of </a:t>
            </a:r>
            <a:r>
              <a:rPr lang="en-US" altLang="ko-KR" sz="3200" i="1" dirty="0">
                <a:solidFill>
                  <a:srgbClr val="002060"/>
                </a:solidFill>
                <a:ea typeface="굴림" panose="020B0600000101010101" pitchFamily="34" charset="-127"/>
              </a:rPr>
              <a:t>z</a:t>
            </a: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 to the left of center are negative</a:t>
            </a:r>
          </a:p>
          <a:p>
            <a:pPr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Values of </a:t>
            </a:r>
            <a:r>
              <a:rPr lang="en-US" altLang="ko-KR" sz="3200" i="1" dirty="0">
                <a:solidFill>
                  <a:srgbClr val="002060"/>
                </a:solidFill>
                <a:ea typeface="굴림" panose="020B0600000101010101" pitchFamily="34" charset="-127"/>
              </a:rPr>
              <a:t>z</a:t>
            </a: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 to the right of center are positive</a:t>
            </a:r>
          </a:p>
          <a:p>
            <a:pPr defTabSz="914400">
              <a:lnSpc>
                <a:spcPct val="90000"/>
              </a:lnSpc>
            </a:pPr>
            <a:r>
              <a:rPr lang="en-US" altLang="ko-KR" sz="3200" dirty="0">
                <a:solidFill>
                  <a:srgbClr val="002060"/>
                </a:solidFill>
                <a:ea typeface="굴림" panose="020B0600000101010101" pitchFamily="34" charset="-127"/>
              </a:rPr>
              <a:t>Total area under the curve is 1.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9D8A3F-4836-0F72-732B-7B7FBD575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867" y="158718"/>
            <a:ext cx="3761558" cy="269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2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6133FD20-6FDF-3D32-F2F5-91402E48D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944" y="264042"/>
            <a:ext cx="5486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5400" kern="12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5400"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defRPr>
            </a:lvl9pPr>
          </a:lstStyle>
          <a:p>
            <a:pPr defTabSz="914400"/>
            <a:r>
              <a:rPr lang="en-US" altLang="ko-KR" sz="4800" b="1" dirty="0">
                <a:solidFill>
                  <a:srgbClr val="002060"/>
                </a:solidFill>
                <a:ea typeface="굴림" panose="020B0600000101010101" pitchFamily="34" charset="-127"/>
              </a:rPr>
              <a:t>Using Table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0AD2C9C-A2B5-0350-4DBD-201062AA4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6647" y="1643515"/>
            <a:ext cx="934247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ko-KR" sz="28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four digit probability in a particular row and column of the </a:t>
            </a:r>
            <a:r>
              <a:rPr lang="en-US" altLang="ko-KR" sz="2800" b="1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Cumulative</a:t>
            </a:r>
            <a:r>
              <a:rPr lang="en-US" altLang="ko-KR" sz="28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en-US" altLang="ko-KR" sz="2800" b="1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Standard Normal Table</a:t>
            </a:r>
            <a:r>
              <a:rPr lang="en-US" altLang="ko-KR" sz="28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, gives the area under the </a:t>
            </a:r>
            <a:r>
              <a:rPr lang="en-US" altLang="ko-KR" sz="2800" i="1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z</a:t>
            </a:r>
            <a:r>
              <a:rPr lang="en-US" altLang="ko-KR" sz="28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curve to the left that particular value of </a:t>
            </a:r>
            <a:r>
              <a:rPr lang="en-US" altLang="ko-KR" sz="2800" i="1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z.</a:t>
            </a:r>
            <a:endParaRPr lang="en-US" altLang="ko-KR" sz="2800" dirty="0">
              <a:solidFill>
                <a:srgbClr val="00206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grpSp>
        <p:nvGrpSpPr>
          <p:cNvPr id="6" name="Group 53">
            <a:extLst>
              <a:ext uri="{FF2B5EF4-FFF2-40B4-BE49-F238E27FC236}">
                <a16:creationId xmlns:a16="http://schemas.microsoft.com/office/drawing/2014/main" id="{5943FEDC-127A-759F-A307-9DE796A94EF0}"/>
              </a:ext>
            </a:extLst>
          </p:cNvPr>
          <p:cNvGrpSpPr>
            <a:grpSpLocks/>
          </p:cNvGrpSpPr>
          <p:nvPr/>
        </p:nvGrpSpPr>
        <p:grpSpPr bwMode="auto">
          <a:xfrm>
            <a:off x="5645894" y="3257110"/>
            <a:ext cx="3581400" cy="2590800"/>
            <a:chOff x="3168" y="1824"/>
            <a:chExt cx="2256" cy="1632"/>
          </a:xfrm>
        </p:grpSpPr>
        <p:sp>
          <p:nvSpPr>
            <p:cNvPr id="8" name="Rectangle 50">
              <a:extLst>
                <a:ext uri="{FF2B5EF4-FFF2-40B4-BE49-F238E27FC236}">
                  <a16:creationId xmlns:a16="http://schemas.microsoft.com/office/drawing/2014/main" id="{093C72E2-C409-39A5-98DC-6B244E131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824"/>
              <a:ext cx="2256" cy="1632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914400"/>
              <a:endParaRPr lang="en-ID" sz="2400" b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9" name="Picture 52">
              <a:extLst>
                <a:ext uri="{FF2B5EF4-FFF2-40B4-BE49-F238E27FC236}">
                  <a16:creationId xmlns:a16="http://schemas.microsoft.com/office/drawing/2014/main" id="{86E4F7E1-1524-CDCD-D0E5-C225C00BF6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1920"/>
              <a:ext cx="2128" cy="14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56">
            <a:extLst>
              <a:ext uri="{FF2B5EF4-FFF2-40B4-BE49-F238E27FC236}">
                <a16:creationId xmlns:a16="http://schemas.microsoft.com/office/drawing/2014/main" id="{B60149BB-022F-451E-FF99-260F83F5A313}"/>
              </a:ext>
            </a:extLst>
          </p:cNvPr>
          <p:cNvGrpSpPr>
            <a:grpSpLocks/>
          </p:cNvGrpSpPr>
          <p:nvPr/>
        </p:nvGrpSpPr>
        <p:grpSpPr bwMode="auto">
          <a:xfrm>
            <a:off x="1302494" y="3257110"/>
            <a:ext cx="4267200" cy="3124200"/>
            <a:chOff x="432" y="1824"/>
            <a:chExt cx="2688" cy="1968"/>
          </a:xfrm>
        </p:grpSpPr>
        <p:sp>
          <p:nvSpPr>
            <p:cNvPr id="11" name="Rectangle 55">
              <a:extLst>
                <a:ext uri="{FF2B5EF4-FFF2-40B4-BE49-F238E27FC236}">
                  <a16:creationId xmlns:a16="http://schemas.microsoft.com/office/drawing/2014/main" id="{F4614D01-0FAF-FF64-3E1C-811417B61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824"/>
              <a:ext cx="2688" cy="196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3" name="Picture 54">
              <a:extLst>
                <a:ext uri="{FF2B5EF4-FFF2-40B4-BE49-F238E27FC236}">
                  <a16:creationId xmlns:a16="http://schemas.microsoft.com/office/drawing/2014/main" id="{4C95A32B-D57B-D416-F73F-70705E7D4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" y="1886"/>
              <a:ext cx="2544" cy="1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 Box 59">
            <a:extLst>
              <a:ext uri="{FF2B5EF4-FFF2-40B4-BE49-F238E27FC236}">
                <a16:creationId xmlns:a16="http://schemas.microsoft.com/office/drawing/2014/main" id="{BDF3A51F-B2BD-B77F-A3BC-78154FDC6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4494" y="6076510"/>
            <a:ext cx="2895600" cy="48577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ko-KR" sz="24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Area for </a:t>
            </a:r>
            <a:r>
              <a:rPr lang="en-US" altLang="ko-KR" sz="2400" b="1" i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z</a:t>
            </a:r>
            <a:r>
              <a:rPr lang="en-US" altLang="ko-KR" sz="24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1.36</a:t>
            </a:r>
          </a:p>
        </p:txBody>
      </p:sp>
      <p:sp>
        <p:nvSpPr>
          <p:cNvPr id="15" name="Line 60">
            <a:extLst>
              <a:ext uri="{FF2B5EF4-FFF2-40B4-BE49-F238E27FC236}">
                <a16:creationId xmlns:a16="http://schemas.microsoft.com/office/drawing/2014/main" id="{15B1B0A7-1992-6352-E297-F2A46D95C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7294" y="6000310"/>
            <a:ext cx="762000" cy="22860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6" name="Freeform 61">
            <a:extLst>
              <a:ext uri="{FF2B5EF4-FFF2-40B4-BE49-F238E27FC236}">
                <a16:creationId xmlns:a16="http://schemas.microsoft.com/office/drawing/2014/main" id="{49170281-A47A-D678-5F64-CB86D8DA30CB}"/>
              </a:ext>
            </a:extLst>
          </p:cNvPr>
          <p:cNvSpPr>
            <a:spLocks/>
          </p:cNvSpPr>
          <p:nvPr/>
        </p:nvSpPr>
        <p:spPr bwMode="auto">
          <a:xfrm>
            <a:off x="1478707" y="5778060"/>
            <a:ext cx="4029075" cy="444500"/>
          </a:xfrm>
          <a:custGeom>
            <a:avLst/>
            <a:gdLst>
              <a:gd name="T0" fmla="*/ 2502 w 2538"/>
              <a:gd name="T1" fmla="*/ 99 h 280"/>
              <a:gd name="T2" fmla="*/ 1615 w 2538"/>
              <a:gd name="T3" fmla="*/ 71 h 280"/>
              <a:gd name="T4" fmla="*/ 1176 w 2538"/>
              <a:gd name="T5" fmla="*/ 81 h 280"/>
              <a:gd name="T6" fmla="*/ 115 w 2538"/>
              <a:gd name="T7" fmla="*/ 108 h 280"/>
              <a:gd name="T8" fmla="*/ 24 w 2538"/>
              <a:gd name="T9" fmla="*/ 163 h 280"/>
              <a:gd name="T10" fmla="*/ 143 w 2538"/>
              <a:gd name="T11" fmla="*/ 245 h 280"/>
              <a:gd name="T12" fmla="*/ 1916 w 2538"/>
              <a:gd name="T13" fmla="*/ 254 h 280"/>
              <a:gd name="T14" fmla="*/ 2310 w 2538"/>
              <a:gd name="T15" fmla="*/ 263 h 280"/>
              <a:gd name="T16" fmla="*/ 2419 w 2538"/>
              <a:gd name="T17" fmla="*/ 236 h 280"/>
              <a:gd name="T18" fmla="*/ 2474 w 2538"/>
              <a:gd name="T19" fmla="*/ 218 h 280"/>
              <a:gd name="T20" fmla="*/ 2538 w 2538"/>
              <a:gd name="T21" fmla="*/ 108 h 280"/>
              <a:gd name="T22" fmla="*/ 2511 w 2538"/>
              <a:gd name="T23" fmla="*/ 90 h 280"/>
              <a:gd name="T24" fmla="*/ 2474 w 2538"/>
              <a:gd name="T25" fmla="*/ 99 h 280"/>
              <a:gd name="T26" fmla="*/ 2502 w 2538"/>
              <a:gd name="T27" fmla="*/ 99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38" h="280">
                <a:moveTo>
                  <a:pt x="2502" y="99"/>
                </a:moveTo>
                <a:cubicBezTo>
                  <a:pt x="2196" y="94"/>
                  <a:pt x="1915" y="85"/>
                  <a:pt x="1615" y="71"/>
                </a:cubicBezTo>
                <a:cubicBezTo>
                  <a:pt x="1469" y="74"/>
                  <a:pt x="1322" y="79"/>
                  <a:pt x="1176" y="81"/>
                </a:cubicBezTo>
                <a:cubicBezTo>
                  <a:pt x="822" y="86"/>
                  <a:pt x="452" y="0"/>
                  <a:pt x="115" y="108"/>
                </a:cubicBezTo>
                <a:cubicBezTo>
                  <a:pt x="84" y="131"/>
                  <a:pt x="55" y="142"/>
                  <a:pt x="24" y="163"/>
                </a:cubicBezTo>
                <a:cubicBezTo>
                  <a:pt x="0" y="235"/>
                  <a:pt x="85" y="244"/>
                  <a:pt x="143" y="245"/>
                </a:cubicBezTo>
                <a:cubicBezTo>
                  <a:pt x="734" y="251"/>
                  <a:pt x="1325" y="251"/>
                  <a:pt x="1916" y="254"/>
                </a:cubicBezTo>
                <a:cubicBezTo>
                  <a:pt x="2169" y="280"/>
                  <a:pt x="2038" y="276"/>
                  <a:pt x="2310" y="263"/>
                </a:cubicBezTo>
                <a:cubicBezTo>
                  <a:pt x="2384" y="251"/>
                  <a:pt x="2346" y="260"/>
                  <a:pt x="2419" y="236"/>
                </a:cubicBezTo>
                <a:cubicBezTo>
                  <a:pt x="2437" y="230"/>
                  <a:pt x="2474" y="218"/>
                  <a:pt x="2474" y="218"/>
                </a:cubicBezTo>
                <a:cubicBezTo>
                  <a:pt x="2518" y="188"/>
                  <a:pt x="2526" y="158"/>
                  <a:pt x="2538" y="108"/>
                </a:cubicBezTo>
                <a:cubicBezTo>
                  <a:pt x="2529" y="102"/>
                  <a:pt x="2522" y="92"/>
                  <a:pt x="2511" y="90"/>
                </a:cubicBezTo>
                <a:cubicBezTo>
                  <a:pt x="2498" y="88"/>
                  <a:pt x="2483" y="90"/>
                  <a:pt x="2474" y="99"/>
                </a:cubicBezTo>
                <a:cubicBezTo>
                  <a:pt x="2467" y="106"/>
                  <a:pt x="2493" y="99"/>
                  <a:pt x="2502" y="99"/>
                </a:cubicBezTo>
                <a:close/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7" name="Freeform 62">
            <a:extLst>
              <a:ext uri="{FF2B5EF4-FFF2-40B4-BE49-F238E27FC236}">
                <a16:creationId xmlns:a16="http://schemas.microsoft.com/office/drawing/2014/main" id="{46AE7C96-61C0-0721-6284-B2EF683C1C7A}"/>
              </a:ext>
            </a:extLst>
          </p:cNvPr>
          <p:cNvSpPr>
            <a:spLocks/>
          </p:cNvSpPr>
          <p:nvPr/>
        </p:nvSpPr>
        <p:spPr bwMode="auto">
          <a:xfrm>
            <a:off x="4853732" y="3336485"/>
            <a:ext cx="719137" cy="2852738"/>
          </a:xfrm>
          <a:custGeom>
            <a:avLst/>
            <a:gdLst>
              <a:gd name="T0" fmla="*/ 101 w 453"/>
              <a:gd name="T1" fmla="*/ 55 h 1797"/>
              <a:gd name="T2" fmla="*/ 74 w 453"/>
              <a:gd name="T3" fmla="*/ 905 h 1797"/>
              <a:gd name="T4" fmla="*/ 65 w 453"/>
              <a:gd name="T5" fmla="*/ 1335 h 1797"/>
              <a:gd name="T6" fmla="*/ 147 w 453"/>
              <a:gd name="T7" fmla="*/ 1765 h 1797"/>
              <a:gd name="T8" fmla="*/ 385 w 453"/>
              <a:gd name="T9" fmla="*/ 1719 h 1797"/>
              <a:gd name="T10" fmla="*/ 376 w 453"/>
              <a:gd name="T11" fmla="*/ 1052 h 1797"/>
              <a:gd name="T12" fmla="*/ 366 w 453"/>
              <a:gd name="T13" fmla="*/ 412 h 1797"/>
              <a:gd name="T14" fmla="*/ 357 w 453"/>
              <a:gd name="T15" fmla="*/ 73 h 1797"/>
              <a:gd name="T16" fmla="*/ 312 w 453"/>
              <a:gd name="T17" fmla="*/ 19 h 1797"/>
              <a:gd name="T18" fmla="*/ 257 w 453"/>
              <a:gd name="T19" fmla="*/ 0 h 1797"/>
              <a:gd name="T20" fmla="*/ 110 w 453"/>
              <a:gd name="T21" fmla="*/ 9 h 1797"/>
              <a:gd name="T22" fmla="*/ 101 w 453"/>
              <a:gd name="T23" fmla="*/ 55 h 17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53" h="1797">
                <a:moveTo>
                  <a:pt x="101" y="55"/>
                </a:moveTo>
                <a:cubicBezTo>
                  <a:pt x="130" y="322"/>
                  <a:pt x="128" y="634"/>
                  <a:pt x="74" y="905"/>
                </a:cubicBezTo>
                <a:cubicBezTo>
                  <a:pt x="71" y="1048"/>
                  <a:pt x="70" y="1192"/>
                  <a:pt x="65" y="1335"/>
                </a:cubicBezTo>
                <a:cubicBezTo>
                  <a:pt x="60" y="1493"/>
                  <a:pt x="0" y="1667"/>
                  <a:pt x="147" y="1765"/>
                </a:cubicBezTo>
                <a:cubicBezTo>
                  <a:pt x="362" y="1755"/>
                  <a:pt x="303" y="1797"/>
                  <a:pt x="385" y="1719"/>
                </a:cubicBezTo>
                <a:cubicBezTo>
                  <a:pt x="453" y="1510"/>
                  <a:pt x="392" y="1269"/>
                  <a:pt x="376" y="1052"/>
                </a:cubicBezTo>
                <a:cubicBezTo>
                  <a:pt x="380" y="847"/>
                  <a:pt x="404" y="620"/>
                  <a:pt x="366" y="412"/>
                </a:cubicBezTo>
                <a:cubicBezTo>
                  <a:pt x="363" y="299"/>
                  <a:pt x="365" y="186"/>
                  <a:pt x="357" y="73"/>
                </a:cubicBezTo>
                <a:cubicBezTo>
                  <a:pt x="356" y="62"/>
                  <a:pt x="318" y="22"/>
                  <a:pt x="312" y="19"/>
                </a:cubicBezTo>
                <a:cubicBezTo>
                  <a:pt x="295" y="10"/>
                  <a:pt x="257" y="0"/>
                  <a:pt x="257" y="0"/>
                </a:cubicBezTo>
                <a:cubicBezTo>
                  <a:pt x="208" y="3"/>
                  <a:pt x="158" y="1"/>
                  <a:pt x="110" y="9"/>
                </a:cubicBezTo>
                <a:cubicBezTo>
                  <a:pt x="107" y="10"/>
                  <a:pt x="51" y="55"/>
                  <a:pt x="101" y="55"/>
                </a:cubicBezTo>
                <a:close/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6698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4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1FFDB759-C9C1-5FBD-4255-CB601B715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247" y="2902690"/>
            <a:ext cx="3962400" cy="2743200"/>
          </a:xfrm>
          <a:prstGeom prst="rect">
            <a:avLst/>
          </a:prstGeom>
          <a:solidFill>
            <a:srgbClr val="F0D27E"/>
          </a:solidFill>
          <a:ln w="2857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E5D1FC76-227F-EAA9-198E-D500366EB8D0}"/>
              </a:ext>
            </a:extLst>
          </p:cNvPr>
          <p:cNvGrpSpPr>
            <a:grpSpLocks/>
          </p:cNvGrpSpPr>
          <p:nvPr/>
        </p:nvGrpSpPr>
        <p:grpSpPr bwMode="auto">
          <a:xfrm>
            <a:off x="1724247" y="2978890"/>
            <a:ext cx="7620000" cy="2495550"/>
            <a:chOff x="624" y="1488"/>
            <a:chExt cx="4800" cy="1572"/>
          </a:xfrm>
        </p:grpSpPr>
        <p:sp>
          <p:nvSpPr>
            <p:cNvPr id="5" name="Text Box 23">
              <a:extLst>
                <a:ext uri="{FF2B5EF4-FFF2-40B4-BE49-F238E27FC236}">
                  <a16:creationId xmlns:a16="http://schemas.microsoft.com/office/drawing/2014/main" id="{5023DC50-C16F-6A61-6B33-9A840757B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488"/>
              <a:ext cx="2016" cy="345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P(</a:t>
              </a:r>
              <a:r>
                <a:rPr kumimoji="0" lang="en-US" altLang="ko-KR" sz="2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1.36) = .9131</a:t>
              </a:r>
              <a:endParaRPr kumimoji="0" lang="en-US" altLang="ko-K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pic>
          <p:nvPicPr>
            <p:cNvPr id="6" name="Picture 29">
              <a:extLst>
                <a:ext uri="{FF2B5EF4-FFF2-40B4-BE49-F238E27FC236}">
                  <a16:creationId xmlns:a16="http://schemas.microsoft.com/office/drawing/2014/main" id="{5E2B921B-5360-DA18-9994-F8140353AC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" y="1572"/>
              <a:ext cx="2304" cy="1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33">
            <a:extLst>
              <a:ext uri="{FF2B5EF4-FFF2-40B4-BE49-F238E27FC236}">
                <a16:creationId xmlns:a16="http://schemas.microsoft.com/office/drawing/2014/main" id="{F676F6CC-D223-4129-BD75-E359B27B1D56}"/>
              </a:ext>
            </a:extLst>
          </p:cNvPr>
          <p:cNvGrpSpPr>
            <a:grpSpLocks/>
          </p:cNvGrpSpPr>
          <p:nvPr/>
        </p:nvGrpSpPr>
        <p:grpSpPr bwMode="auto">
          <a:xfrm>
            <a:off x="1800447" y="3131290"/>
            <a:ext cx="7429500" cy="2336800"/>
            <a:chOff x="672" y="1584"/>
            <a:chExt cx="4680" cy="1472"/>
          </a:xfrm>
        </p:grpSpPr>
        <p:sp>
          <p:nvSpPr>
            <p:cNvPr id="9" name="Text Box 24">
              <a:extLst>
                <a:ext uri="{FF2B5EF4-FFF2-40B4-BE49-F238E27FC236}">
                  <a16:creationId xmlns:a16="http://schemas.microsoft.com/office/drawing/2014/main" id="{BD6853B1-EE0F-F1E5-E498-D7CEF9A3F4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064"/>
              <a:ext cx="2016" cy="749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P(</a:t>
              </a:r>
              <a:r>
                <a:rPr kumimoji="0" lang="en-US" altLang="ko-KR" sz="2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&gt;1.36)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= 1 - .9131 = .0869</a:t>
              </a:r>
              <a:endParaRPr kumimoji="0" lang="en-US" altLang="ko-K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pic>
          <p:nvPicPr>
            <p:cNvPr id="10" name="Picture 30">
              <a:extLst>
                <a:ext uri="{FF2B5EF4-FFF2-40B4-BE49-F238E27FC236}">
                  <a16:creationId xmlns:a16="http://schemas.microsoft.com/office/drawing/2014/main" id="{505C58BE-D4A9-7400-9420-42DBFDAE8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584"/>
              <a:ext cx="2184" cy="1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DCF88A57-3DF1-EE55-DD5F-091395E5CEBD}"/>
              </a:ext>
            </a:extLst>
          </p:cNvPr>
          <p:cNvGrpSpPr>
            <a:grpSpLocks/>
          </p:cNvGrpSpPr>
          <p:nvPr/>
        </p:nvGrpSpPr>
        <p:grpSpPr bwMode="auto">
          <a:xfrm>
            <a:off x="1571847" y="3131290"/>
            <a:ext cx="7670800" cy="3336925"/>
            <a:chOff x="528" y="1584"/>
            <a:chExt cx="4832" cy="2102"/>
          </a:xfrm>
        </p:grpSpPr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3E3E0E3F-D82E-DFA4-033E-F529D44C7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072"/>
              <a:ext cx="2160" cy="614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P(-1.20 </a:t>
              </a: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 </a:t>
              </a:r>
              <a:r>
                <a:rPr kumimoji="0" lang="en-US" altLang="ko-KR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kumimoji="0" lang="en-US" altLang="ko-KR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 1.36) = .9131 - .1151 = .7980</a:t>
              </a:r>
              <a:endParaRPr kumimoji="0" lang="en-US" altLang="ko-K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pic>
          <p:nvPicPr>
            <p:cNvPr id="14" name="Picture 31">
              <a:extLst>
                <a:ext uri="{FF2B5EF4-FFF2-40B4-BE49-F238E27FC236}">
                  <a16:creationId xmlns:a16="http://schemas.microsoft.com/office/drawing/2014/main" id="{71AE7D2A-8E81-D5AB-02CD-029972CDA4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584"/>
              <a:ext cx="2192" cy="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 Box 5">
            <a:extLst>
              <a:ext uri="{FF2B5EF4-FFF2-40B4-BE49-F238E27FC236}">
                <a16:creationId xmlns:a16="http://schemas.microsoft.com/office/drawing/2014/main" id="{CD2731AE-AE5F-90D5-A5F5-ED55F685A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738" y="1692347"/>
            <a:ext cx="940486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Use the </a:t>
            </a:r>
            <a:r>
              <a:rPr lang="en-US" altLang="ko-KR" sz="3200" b="1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cumulative Standard Normal Table  </a:t>
            </a:r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to calculate these probabilities:</a:t>
            </a:r>
            <a:endParaRPr lang="en-US" altLang="ko-KR" sz="3200" b="1" i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137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3776" y="914201"/>
            <a:ext cx="9404862" cy="790231"/>
          </a:xfrm>
        </p:spPr>
        <p:txBody>
          <a:bodyPr/>
          <a:lstStyle/>
          <a:p>
            <a:pPr algn="ctr"/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Using Table</a:t>
            </a:r>
            <a:endParaRPr lang="en-US" altLang="en-US" dirty="0"/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3AC76B96-8BDC-D5BD-FAEE-6DB1ADD47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774" y="1759770"/>
            <a:ext cx="8305800" cy="268287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To find an area to the left of a 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z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-value, find the area directly from the table.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To find an area to the right of a 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z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-value, find the area in Table and subtract from 1.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To find the area between two values of 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z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, find the two areas in Table, and subtract one from the other.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BDE4097F-6895-3537-0339-1180D5FF2E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8174" y="4290245"/>
            <a:ext cx="3886200" cy="2590800"/>
          </a:xfrm>
          <a:prstGeom prst="rect">
            <a:avLst/>
          </a:prstGeom>
          <a:solidFill>
            <a:srgbClr val="F0D27E"/>
          </a:solidFill>
          <a:ln w="28575">
            <a:solidFill>
              <a:srgbClr val="CC006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grpSp>
        <p:nvGrpSpPr>
          <p:cNvPr id="17" name="Group 21">
            <a:extLst>
              <a:ext uri="{FF2B5EF4-FFF2-40B4-BE49-F238E27FC236}">
                <a16:creationId xmlns:a16="http://schemas.microsoft.com/office/drawing/2014/main" id="{32ECFA83-AA8E-03D9-6841-6317B51A93CC}"/>
              </a:ext>
            </a:extLst>
          </p:cNvPr>
          <p:cNvGrpSpPr>
            <a:grpSpLocks/>
          </p:cNvGrpSpPr>
          <p:nvPr/>
        </p:nvGrpSpPr>
        <p:grpSpPr bwMode="auto">
          <a:xfrm>
            <a:off x="1461974" y="4442645"/>
            <a:ext cx="7658100" cy="2362200"/>
            <a:chOff x="432" y="2544"/>
            <a:chExt cx="4824" cy="1488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8DA3B672-C18C-3801-D1B7-99F0B293B9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24"/>
              <a:ext cx="2160" cy="614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P(-1.96 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 </a:t>
              </a:r>
              <a:r>
                <a:rPr kumimoji="0" lang="en-US" altLang="ko-KR" sz="2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 1.96) = .9750 - .0250 = .9500</a:t>
              </a:r>
              <a:endParaRPr kumimoji="0" lang="en-US" altLang="ko-K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pic>
          <p:nvPicPr>
            <p:cNvPr id="19" name="Picture 17">
              <a:extLst>
                <a:ext uri="{FF2B5EF4-FFF2-40B4-BE49-F238E27FC236}">
                  <a16:creationId xmlns:a16="http://schemas.microsoft.com/office/drawing/2014/main" id="{F5F2A256-E9EF-303E-5E41-F518DBD0D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544"/>
              <a:ext cx="2280" cy="1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8C791A8-5EDC-4616-3533-873B036B6D82}"/>
              </a:ext>
            </a:extLst>
          </p:cNvPr>
          <p:cNvGrpSpPr>
            <a:grpSpLocks/>
          </p:cNvGrpSpPr>
          <p:nvPr/>
        </p:nvGrpSpPr>
        <p:grpSpPr bwMode="auto">
          <a:xfrm>
            <a:off x="1461974" y="4442645"/>
            <a:ext cx="7670800" cy="2362200"/>
            <a:chOff x="432" y="2544"/>
            <a:chExt cx="4832" cy="1488"/>
          </a:xfrm>
        </p:grpSpPr>
        <p:sp>
          <p:nvSpPr>
            <p:cNvPr id="21" name="Text Box 15">
              <a:extLst>
                <a:ext uri="{FF2B5EF4-FFF2-40B4-BE49-F238E27FC236}">
                  <a16:creationId xmlns:a16="http://schemas.microsoft.com/office/drawing/2014/main" id="{EBA6E25D-EF64-EF59-F584-2C1F458FC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024"/>
              <a:ext cx="2160" cy="614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P(-3 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 </a:t>
              </a:r>
              <a:r>
                <a:rPr kumimoji="0" lang="en-US" altLang="ko-KR" sz="2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 3)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  <a:sym typeface="Symbol" panose="05050102010706020507" pitchFamily="18" charset="2"/>
                </a:rPr>
                <a:t>= .9987 - .0013=.9974</a:t>
              </a:r>
              <a:endParaRPr kumimoji="0" lang="en-US" altLang="ko-K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endParaRPr>
            </a:p>
          </p:txBody>
        </p:sp>
        <p:pic>
          <p:nvPicPr>
            <p:cNvPr id="22" name="Picture 18">
              <a:extLst>
                <a:ext uri="{FF2B5EF4-FFF2-40B4-BE49-F238E27FC236}">
                  <a16:creationId xmlns:a16="http://schemas.microsoft.com/office/drawing/2014/main" id="{B318BFE2-4B80-D5AF-0559-4D7CDFAA3F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544"/>
              <a:ext cx="2288" cy="14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ext Box 16">
            <a:extLst>
              <a:ext uri="{FF2B5EF4-FFF2-40B4-BE49-F238E27FC236}">
                <a16:creationId xmlns:a16="http://schemas.microsoft.com/office/drawing/2014/main" id="{FBA4FF44-110E-C350-E6D7-C4DD24D24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174" y="3071045"/>
            <a:ext cx="3886200" cy="133985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ko-KR" sz="2000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Remember the Empirical Rule: Approximately 99.7% of the measurements lie within 3 standard deviations of the mean.</a:t>
            </a:r>
          </a:p>
        </p:txBody>
      </p:sp>
      <p:sp>
        <p:nvSpPr>
          <p:cNvPr id="24" name="Text Box 12">
            <a:extLst>
              <a:ext uri="{FF2B5EF4-FFF2-40B4-BE49-F238E27FC236}">
                <a16:creationId xmlns:a16="http://schemas.microsoft.com/office/drawing/2014/main" id="{74F6DDB8-A7BC-12E1-02FA-7D17E00C8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4174" y="3071045"/>
            <a:ext cx="3886200" cy="133985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ko-KR" sz="2000" dirty="0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Remember the Empirical Rule: Approximately 95% of the measurements lie within 2 standard deviations of the mean.</a:t>
            </a:r>
          </a:p>
        </p:txBody>
      </p:sp>
    </p:spTree>
    <p:extLst>
      <p:ext uri="{BB962C8B-B14F-4D97-AF65-F5344CB8AC3E}">
        <p14:creationId xmlns:p14="http://schemas.microsoft.com/office/powerpoint/2010/main" val="15646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nimBg="1" autoUpdateAnimBg="0"/>
      <p:bldP spid="23" grpId="0" animBg="1" autoUpdateAnimBg="0"/>
      <p:bldP spid="24" grpId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7059" y="510164"/>
            <a:ext cx="9181579" cy="123357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Working Backwards</a:t>
            </a:r>
            <a:b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</a:br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(Percentile)</a:t>
            </a: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" name="Group 34">
            <a:extLst>
              <a:ext uri="{FF2B5EF4-FFF2-40B4-BE49-F238E27FC236}">
                <a16:creationId xmlns:a16="http://schemas.microsoft.com/office/drawing/2014/main" id="{B75F99CA-D7F4-106C-EF5E-A435DFA7A83A}"/>
              </a:ext>
            </a:extLst>
          </p:cNvPr>
          <p:cNvGrpSpPr>
            <a:grpSpLocks/>
          </p:cNvGrpSpPr>
          <p:nvPr/>
        </p:nvGrpSpPr>
        <p:grpSpPr bwMode="auto">
          <a:xfrm>
            <a:off x="3273061" y="4828957"/>
            <a:ext cx="6248400" cy="1524000"/>
            <a:chOff x="1680" y="2928"/>
            <a:chExt cx="3936" cy="960"/>
          </a:xfrm>
        </p:grpSpPr>
        <p:sp>
          <p:nvSpPr>
            <p:cNvPr id="4" name="Rectangle 25">
              <a:extLst>
                <a:ext uri="{FF2B5EF4-FFF2-40B4-BE49-F238E27FC236}">
                  <a16:creationId xmlns:a16="http://schemas.microsoft.com/office/drawing/2014/main" id="{77E3ED78-4069-2F3C-502D-E5CA69E56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3936" cy="96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5" name="Picture 24">
              <a:extLst>
                <a:ext uri="{FF2B5EF4-FFF2-40B4-BE49-F238E27FC236}">
                  <a16:creationId xmlns:a16="http://schemas.microsoft.com/office/drawing/2014/main" id="{CE20286E-7575-9794-5D42-5F09F7327E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3216"/>
              <a:ext cx="3792" cy="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9">
              <a:extLst>
                <a:ext uri="{FF2B5EF4-FFF2-40B4-BE49-F238E27FC236}">
                  <a16:creationId xmlns:a16="http://schemas.microsoft.com/office/drawing/2014/main" id="{51220EBE-B6B1-00F0-0C4E-602B6A9A0A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28" y="2976"/>
              <a:ext cx="3768" cy="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 Box 12">
            <a:extLst>
              <a:ext uri="{FF2B5EF4-FFF2-40B4-BE49-F238E27FC236}">
                <a16:creationId xmlns:a16="http://schemas.microsoft.com/office/drawing/2014/main" id="{307CD42D-862F-7EA5-2500-7B4E5C42C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461" y="2695357"/>
            <a:ext cx="4495800" cy="23114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Look for the four digit area closest to .2500 in the Table. 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What row and column does this value correspond to?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sym typeface="Symbol" panose="05050102010706020507" pitchFamily="18" charset="2"/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2A399773-E51D-4C7D-0568-916B1A1E5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461" y="1933357"/>
            <a:ext cx="792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/>
            <a:r>
              <a:rPr lang="en-US" altLang="ko-KR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Find the value of </a:t>
            </a:r>
            <a:r>
              <a:rPr lang="en-US" altLang="ko-KR" sz="32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z </a:t>
            </a:r>
            <a:r>
              <a:rPr lang="en-US" altLang="ko-KR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that has area .25 to its left.</a:t>
            </a:r>
          </a:p>
        </p:txBody>
      </p:sp>
      <p:grpSp>
        <p:nvGrpSpPr>
          <p:cNvPr id="10" name="Group 35">
            <a:extLst>
              <a:ext uri="{FF2B5EF4-FFF2-40B4-BE49-F238E27FC236}">
                <a16:creationId xmlns:a16="http://schemas.microsoft.com/office/drawing/2014/main" id="{A0FBAB12-CE2D-DFA9-C3E0-3B8B93399C7C}"/>
              </a:ext>
            </a:extLst>
          </p:cNvPr>
          <p:cNvGrpSpPr>
            <a:grpSpLocks/>
          </p:cNvGrpSpPr>
          <p:nvPr/>
        </p:nvGrpSpPr>
        <p:grpSpPr bwMode="auto">
          <a:xfrm>
            <a:off x="5787661" y="2695357"/>
            <a:ext cx="3810000" cy="1981200"/>
            <a:chOff x="3264" y="1584"/>
            <a:chExt cx="2400" cy="1248"/>
          </a:xfrm>
        </p:grpSpPr>
        <p:grpSp>
          <p:nvGrpSpPr>
            <p:cNvPr id="11" name="Group 22">
              <a:extLst>
                <a:ext uri="{FF2B5EF4-FFF2-40B4-BE49-F238E27FC236}">
                  <a16:creationId xmlns:a16="http://schemas.microsoft.com/office/drawing/2014/main" id="{194BC391-8549-172C-BD05-E0BB0879AF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584"/>
              <a:ext cx="2400" cy="1248"/>
              <a:chOff x="3264" y="1872"/>
              <a:chExt cx="2400" cy="1248"/>
            </a:xfrm>
          </p:grpSpPr>
          <p:sp>
            <p:nvSpPr>
              <p:cNvPr id="14" name="Rectangle 19">
                <a:extLst>
                  <a:ext uri="{FF2B5EF4-FFF2-40B4-BE49-F238E27FC236}">
                    <a16:creationId xmlns:a16="http://schemas.microsoft.com/office/drawing/2014/main" id="{7754535C-913D-7FD7-AD83-72584A9158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872"/>
                <a:ext cx="2400" cy="1248"/>
              </a:xfrm>
              <a:prstGeom prst="rect">
                <a:avLst/>
              </a:prstGeom>
              <a:solidFill>
                <a:srgbClr val="F0D27E"/>
              </a:solidFill>
              <a:ln w="28575">
                <a:solidFill>
                  <a:srgbClr val="CC0066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</a:endParaRPr>
              </a:p>
            </p:txBody>
          </p:sp>
          <p:pic>
            <p:nvPicPr>
              <p:cNvPr id="15" name="Picture 21">
                <a:extLst>
                  <a:ext uri="{FF2B5EF4-FFF2-40B4-BE49-F238E27FC236}">
                    <a16:creationId xmlns:a16="http://schemas.microsoft.com/office/drawing/2014/main" id="{543C0211-0841-78D1-2A93-EC6583CC96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0" y="1968"/>
                <a:ext cx="2208" cy="10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3">
              <a:extLst>
                <a:ext uri="{FF2B5EF4-FFF2-40B4-BE49-F238E27FC236}">
                  <a16:creationId xmlns:a16="http://schemas.microsoft.com/office/drawing/2014/main" id="{BABEB680-1E0A-0674-7F54-FB1C9D8AFC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1680"/>
              <a:ext cx="2208" cy="1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Freeform 31">
            <a:extLst>
              <a:ext uri="{FF2B5EF4-FFF2-40B4-BE49-F238E27FC236}">
                <a16:creationId xmlns:a16="http://schemas.microsoft.com/office/drawing/2014/main" id="{C0B4DC4B-9D2D-7C10-1ACE-9EEAE2205B3B}"/>
              </a:ext>
            </a:extLst>
          </p:cNvPr>
          <p:cNvSpPr>
            <a:spLocks/>
          </p:cNvSpPr>
          <p:nvPr/>
        </p:nvSpPr>
        <p:spPr bwMode="auto">
          <a:xfrm>
            <a:off x="3404824" y="5778282"/>
            <a:ext cx="4618037" cy="381000"/>
          </a:xfrm>
          <a:custGeom>
            <a:avLst/>
            <a:gdLst>
              <a:gd name="T0" fmla="*/ 2909 w 2909"/>
              <a:gd name="T1" fmla="*/ 104 h 240"/>
              <a:gd name="T2" fmla="*/ 1565 w 2909"/>
              <a:gd name="T3" fmla="*/ 58 h 240"/>
              <a:gd name="T4" fmla="*/ 139 w 2909"/>
              <a:gd name="T5" fmla="*/ 40 h 240"/>
              <a:gd name="T6" fmla="*/ 56 w 2909"/>
              <a:gd name="T7" fmla="*/ 67 h 240"/>
              <a:gd name="T8" fmla="*/ 29 w 2909"/>
              <a:gd name="T9" fmla="*/ 76 h 240"/>
              <a:gd name="T10" fmla="*/ 11 w 2909"/>
              <a:gd name="T11" fmla="*/ 95 h 240"/>
              <a:gd name="T12" fmla="*/ 175 w 2909"/>
              <a:gd name="T13" fmla="*/ 213 h 240"/>
              <a:gd name="T14" fmla="*/ 312 w 2909"/>
              <a:gd name="T15" fmla="*/ 168 h 240"/>
              <a:gd name="T16" fmla="*/ 331 w 2909"/>
              <a:gd name="T17" fmla="*/ 67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09" h="240">
                <a:moveTo>
                  <a:pt x="2909" y="104"/>
                </a:moveTo>
                <a:cubicBezTo>
                  <a:pt x="2460" y="96"/>
                  <a:pt x="2013" y="76"/>
                  <a:pt x="1565" y="58"/>
                </a:cubicBezTo>
                <a:cubicBezTo>
                  <a:pt x="1097" y="0"/>
                  <a:pt x="601" y="36"/>
                  <a:pt x="139" y="40"/>
                </a:cubicBezTo>
                <a:cubicBezTo>
                  <a:pt x="111" y="49"/>
                  <a:pt x="84" y="58"/>
                  <a:pt x="56" y="67"/>
                </a:cubicBezTo>
                <a:cubicBezTo>
                  <a:pt x="47" y="70"/>
                  <a:pt x="29" y="76"/>
                  <a:pt x="29" y="76"/>
                </a:cubicBezTo>
                <a:cubicBezTo>
                  <a:pt x="23" y="82"/>
                  <a:pt x="12" y="86"/>
                  <a:pt x="11" y="95"/>
                </a:cubicBezTo>
                <a:cubicBezTo>
                  <a:pt x="0" y="240"/>
                  <a:pt x="50" y="204"/>
                  <a:pt x="175" y="213"/>
                </a:cubicBezTo>
                <a:cubicBezTo>
                  <a:pt x="246" y="205"/>
                  <a:pt x="266" y="214"/>
                  <a:pt x="312" y="168"/>
                </a:cubicBezTo>
                <a:cubicBezTo>
                  <a:pt x="336" y="99"/>
                  <a:pt x="331" y="132"/>
                  <a:pt x="331" y="67"/>
                </a:cubicBezTo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7" name="Freeform 30">
            <a:extLst>
              <a:ext uri="{FF2B5EF4-FFF2-40B4-BE49-F238E27FC236}">
                <a16:creationId xmlns:a16="http://schemas.microsoft.com/office/drawing/2014/main" id="{D53DFB62-2A83-5771-96FF-EE1BE1ED737B}"/>
              </a:ext>
            </a:extLst>
          </p:cNvPr>
          <p:cNvSpPr>
            <a:spLocks/>
          </p:cNvSpPr>
          <p:nvPr/>
        </p:nvSpPr>
        <p:spPr bwMode="auto">
          <a:xfrm>
            <a:off x="7986349" y="5806857"/>
            <a:ext cx="858837" cy="366713"/>
          </a:xfrm>
          <a:custGeom>
            <a:avLst/>
            <a:gdLst>
              <a:gd name="T0" fmla="*/ 508 w 541"/>
              <a:gd name="T1" fmla="*/ 113 h 231"/>
              <a:gd name="T2" fmla="*/ 370 w 541"/>
              <a:gd name="T3" fmla="*/ 40 h 231"/>
              <a:gd name="T4" fmla="*/ 151 w 541"/>
              <a:gd name="T5" fmla="*/ 13 h 231"/>
              <a:gd name="T6" fmla="*/ 41 w 541"/>
              <a:gd name="T7" fmla="*/ 22 h 231"/>
              <a:gd name="T8" fmla="*/ 105 w 541"/>
              <a:gd name="T9" fmla="*/ 141 h 231"/>
              <a:gd name="T10" fmla="*/ 197 w 541"/>
              <a:gd name="T11" fmla="*/ 159 h 231"/>
              <a:gd name="T12" fmla="*/ 380 w 541"/>
              <a:gd name="T13" fmla="*/ 195 h 231"/>
              <a:gd name="T14" fmla="*/ 508 w 541"/>
              <a:gd name="T15" fmla="*/ 113 h 2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41" h="231">
                <a:moveTo>
                  <a:pt x="508" y="113"/>
                </a:moveTo>
                <a:cubicBezTo>
                  <a:pt x="482" y="44"/>
                  <a:pt x="441" y="50"/>
                  <a:pt x="370" y="40"/>
                </a:cubicBezTo>
                <a:cubicBezTo>
                  <a:pt x="164" y="11"/>
                  <a:pt x="358" y="30"/>
                  <a:pt x="151" y="13"/>
                </a:cubicBezTo>
                <a:cubicBezTo>
                  <a:pt x="114" y="16"/>
                  <a:pt x="71" y="0"/>
                  <a:pt x="41" y="22"/>
                </a:cubicBezTo>
                <a:cubicBezTo>
                  <a:pt x="0" y="52"/>
                  <a:pt x="87" y="132"/>
                  <a:pt x="105" y="141"/>
                </a:cubicBezTo>
                <a:cubicBezTo>
                  <a:pt x="118" y="148"/>
                  <a:pt x="191" y="158"/>
                  <a:pt x="197" y="159"/>
                </a:cubicBezTo>
                <a:cubicBezTo>
                  <a:pt x="258" y="171"/>
                  <a:pt x="318" y="185"/>
                  <a:pt x="380" y="195"/>
                </a:cubicBezTo>
                <a:cubicBezTo>
                  <a:pt x="541" y="184"/>
                  <a:pt x="523" y="231"/>
                  <a:pt x="508" y="113"/>
                </a:cubicBezTo>
                <a:close/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8" name="Freeform 32">
            <a:extLst>
              <a:ext uri="{FF2B5EF4-FFF2-40B4-BE49-F238E27FC236}">
                <a16:creationId xmlns:a16="http://schemas.microsoft.com/office/drawing/2014/main" id="{A180AC01-EFA5-AE1D-5259-C9E0376E4810}"/>
              </a:ext>
            </a:extLst>
          </p:cNvPr>
          <p:cNvSpPr>
            <a:spLocks/>
          </p:cNvSpPr>
          <p:nvPr/>
        </p:nvSpPr>
        <p:spPr bwMode="auto">
          <a:xfrm>
            <a:off x="8183199" y="4927382"/>
            <a:ext cx="569912" cy="957263"/>
          </a:xfrm>
          <a:custGeom>
            <a:avLst/>
            <a:gdLst>
              <a:gd name="T0" fmla="*/ 320 w 359"/>
              <a:gd name="T1" fmla="*/ 603 h 603"/>
              <a:gd name="T2" fmla="*/ 347 w 359"/>
              <a:gd name="T3" fmla="*/ 402 h 603"/>
              <a:gd name="T4" fmla="*/ 301 w 359"/>
              <a:gd name="T5" fmla="*/ 119 h 603"/>
              <a:gd name="T6" fmla="*/ 173 w 359"/>
              <a:gd name="T7" fmla="*/ 27 h 603"/>
              <a:gd name="T8" fmla="*/ 118 w 359"/>
              <a:gd name="T9" fmla="*/ 9 h 603"/>
              <a:gd name="T10" fmla="*/ 91 w 359"/>
              <a:gd name="T11" fmla="*/ 0 h 603"/>
              <a:gd name="T12" fmla="*/ 45 w 359"/>
              <a:gd name="T13" fmla="*/ 9 h 603"/>
              <a:gd name="T14" fmla="*/ 0 w 359"/>
              <a:gd name="T15" fmla="*/ 100 h 603"/>
              <a:gd name="T16" fmla="*/ 256 w 359"/>
              <a:gd name="T17" fmla="*/ 164 h 603"/>
              <a:gd name="T18" fmla="*/ 310 w 359"/>
              <a:gd name="T19" fmla="*/ 119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59" h="603">
                <a:moveTo>
                  <a:pt x="320" y="603"/>
                </a:moveTo>
                <a:cubicBezTo>
                  <a:pt x="326" y="527"/>
                  <a:pt x="337" y="474"/>
                  <a:pt x="347" y="402"/>
                </a:cubicBezTo>
                <a:cubicBezTo>
                  <a:pt x="342" y="304"/>
                  <a:pt x="359" y="201"/>
                  <a:pt x="301" y="119"/>
                </a:cubicBezTo>
                <a:cubicBezTo>
                  <a:pt x="283" y="44"/>
                  <a:pt x="236" y="46"/>
                  <a:pt x="173" y="27"/>
                </a:cubicBezTo>
                <a:cubicBezTo>
                  <a:pt x="155" y="21"/>
                  <a:pt x="136" y="15"/>
                  <a:pt x="118" y="9"/>
                </a:cubicBezTo>
                <a:cubicBezTo>
                  <a:pt x="109" y="6"/>
                  <a:pt x="91" y="0"/>
                  <a:pt x="91" y="0"/>
                </a:cubicBezTo>
                <a:cubicBezTo>
                  <a:pt x="76" y="3"/>
                  <a:pt x="58" y="0"/>
                  <a:pt x="45" y="9"/>
                </a:cubicBezTo>
                <a:cubicBezTo>
                  <a:pt x="36" y="15"/>
                  <a:pt x="5" y="85"/>
                  <a:pt x="0" y="100"/>
                </a:cubicBezTo>
                <a:cubicBezTo>
                  <a:pt x="22" y="232"/>
                  <a:pt x="112" y="170"/>
                  <a:pt x="256" y="164"/>
                </a:cubicBezTo>
                <a:cubicBezTo>
                  <a:pt x="312" y="126"/>
                  <a:pt x="310" y="150"/>
                  <a:pt x="310" y="119"/>
                </a:cubicBezTo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0B17B58E-3C92-A1C0-1CB4-D73C7EC6E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61" y="5133757"/>
            <a:ext cx="3124200" cy="12160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24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4.   What percentile does this value represent?</a:t>
            </a:r>
            <a:endParaRPr kumimoji="0" lang="en-US" altLang="ko-KR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0" name="Text Box 33">
            <a:extLst>
              <a:ext uri="{FF2B5EF4-FFF2-40B4-BE49-F238E27FC236}">
                <a16:creationId xmlns:a16="http://schemas.microsoft.com/office/drawing/2014/main" id="{5558A2EE-6878-3B4D-CA02-B7C047FEC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5861" y="5971957"/>
            <a:ext cx="2438400" cy="66992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/>
            <a:r>
              <a:rPr lang="en-US" altLang="ko-KR" sz="18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25</a:t>
            </a:r>
            <a:r>
              <a:rPr lang="en-US" altLang="ko-KR" sz="1800" b="1" baseline="30000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</a:t>
            </a:r>
            <a:r>
              <a:rPr lang="en-US" altLang="ko-KR" sz="18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percentile, </a:t>
            </a:r>
          </a:p>
          <a:p>
            <a:pPr algn="ctr" defTabSz="914400"/>
            <a:r>
              <a:rPr lang="en-US" altLang="ko-KR" sz="18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or 1</a:t>
            </a:r>
            <a:r>
              <a:rPr lang="en-US" altLang="ko-KR" sz="1800" b="1" baseline="30000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st</a:t>
            </a:r>
            <a:r>
              <a:rPr lang="en-US" altLang="ko-KR" sz="18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quartile (Q</a:t>
            </a:r>
            <a:r>
              <a:rPr lang="en-US" altLang="ko-KR" sz="1800" b="1" baseline="-25000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1</a:t>
            </a:r>
            <a:r>
              <a:rPr lang="en-US" altLang="ko-KR" sz="18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)</a:t>
            </a:r>
          </a:p>
        </p:txBody>
      </p:sp>
      <p:sp>
        <p:nvSpPr>
          <p:cNvPr id="21" name="Text Box 36">
            <a:extLst>
              <a:ext uri="{FF2B5EF4-FFF2-40B4-BE49-F238E27FC236}">
                <a16:creationId xmlns:a16="http://schemas.microsoft.com/office/drawing/2014/main" id="{E6B1A891-1494-8BC1-E8E0-57CD7B5AA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5661" y="4447957"/>
            <a:ext cx="1563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914400"/>
            <a:r>
              <a:rPr lang="en-US" altLang="ko-KR" sz="2400" b="1">
                <a:solidFill>
                  <a:srgbClr val="0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3.   </a:t>
            </a:r>
            <a:r>
              <a:rPr lang="en-US" altLang="ko-KR" sz="2400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z</a:t>
            </a:r>
            <a:r>
              <a:rPr lang="en-US" altLang="ko-KR" sz="2400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 = -.67</a:t>
            </a:r>
          </a:p>
        </p:txBody>
      </p:sp>
    </p:spTree>
    <p:extLst>
      <p:ext uri="{BB962C8B-B14F-4D97-AF65-F5344CB8AC3E}">
        <p14:creationId xmlns:p14="http://schemas.microsoft.com/office/powerpoint/2010/main" val="64506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 autoUpdateAnimBg="0"/>
      <p:bldP spid="19" grpId="0" animBg="1" autoUpdateAnimBg="0"/>
      <p:bldP spid="20" grpId="0" animBg="1" autoUpdateAnimBg="0"/>
      <p:bldP spid="21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3050" y="840318"/>
            <a:ext cx="7102549" cy="790231"/>
          </a:xfrm>
        </p:spPr>
        <p:txBody>
          <a:bodyPr/>
          <a:lstStyle/>
          <a:p>
            <a:pPr algn="ctr"/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Working Backwards</a:t>
            </a: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56597CF0-9FC6-DC28-B8D4-7D87FC578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105" y="2583049"/>
            <a:ext cx="5105400" cy="3844925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The area to its left will be 1 - .05 = .95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r>
              <a:rPr kumimoji="0" lang="en-US" altLang="ko-KR" sz="2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Look for the four digit area closest to .9500 in the Table. </a:t>
            </a: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sym typeface="Symbol" panose="05050102010706020507" pitchFamily="18" charset="2"/>
            </a:endParaRP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sym typeface="Symbol" panose="05050102010706020507" pitchFamily="18" charset="2"/>
            </a:endParaRP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sym typeface="Symbol" panose="05050102010706020507" pitchFamily="18" charset="2"/>
            </a:endParaRP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AutoNum type="arabicPeriod"/>
              <a:tabLst/>
              <a:defRPr/>
            </a:pPr>
            <a:endParaRPr kumimoji="0" lang="en-US" altLang="ko-KR" sz="2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sym typeface="Symbol" panose="05050102010706020507" pitchFamily="18" charset="2"/>
            </a:endParaRPr>
          </a:p>
          <a:p>
            <a:pPr marL="457200" marR="0" lvl="0" indent="-457200" algn="l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  <a:sym typeface="Symbol" panose="05050102010706020507" pitchFamily="18" charset="2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53F9E5D6-C7B6-E506-A915-FAAF2CE26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3105" y="1939334"/>
            <a:ext cx="792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/>
            <a:r>
              <a:rPr lang="en-US" altLang="ko-KR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Find the value of </a:t>
            </a:r>
            <a:r>
              <a:rPr lang="en-US" altLang="ko-KR" sz="32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z </a:t>
            </a:r>
            <a:r>
              <a:rPr lang="en-US" altLang="ko-KR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that has area .05 to its right.</a:t>
            </a:r>
          </a:p>
        </p:txBody>
      </p:sp>
      <p:grpSp>
        <p:nvGrpSpPr>
          <p:cNvPr id="34" name="Group 18">
            <a:extLst>
              <a:ext uri="{FF2B5EF4-FFF2-40B4-BE49-F238E27FC236}">
                <a16:creationId xmlns:a16="http://schemas.microsoft.com/office/drawing/2014/main" id="{B563506F-301E-716A-2B22-BF76F30CE803}"/>
              </a:ext>
            </a:extLst>
          </p:cNvPr>
          <p:cNvGrpSpPr>
            <a:grpSpLocks/>
          </p:cNvGrpSpPr>
          <p:nvPr/>
        </p:nvGrpSpPr>
        <p:grpSpPr bwMode="auto">
          <a:xfrm>
            <a:off x="4095305" y="5411974"/>
            <a:ext cx="5638800" cy="1600200"/>
            <a:chOff x="2352" y="1632"/>
            <a:chExt cx="3264" cy="768"/>
          </a:xfrm>
        </p:grpSpPr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AD654199-0340-0514-3A2C-3FB4BC142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632"/>
              <a:ext cx="3264" cy="76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36" name="Picture 11">
              <a:extLst>
                <a:ext uri="{FF2B5EF4-FFF2-40B4-BE49-F238E27FC236}">
                  <a16:creationId xmlns:a16="http://schemas.microsoft.com/office/drawing/2014/main" id="{4604A925-729E-FCC9-DBFC-113DDFEEB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0" y="1872"/>
              <a:ext cx="3181" cy="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2">
              <a:extLst>
                <a:ext uri="{FF2B5EF4-FFF2-40B4-BE49-F238E27FC236}">
                  <a16:creationId xmlns:a16="http://schemas.microsoft.com/office/drawing/2014/main" id="{E4A12944-723E-8B8F-0BB6-73BA6AE1D6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0" y="1680"/>
              <a:ext cx="3193" cy="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oup 19">
            <a:extLst>
              <a:ext uri="{FF2B5EF4-FFF2-40B4-BE49-F238E27FC236}">
                <a16:creationId xmlns:a16="http://schemas.microsoft.com/office/drawing/2014/main" id="{E51362AC-5F5B-3281-2AF6-C59F3548B8BC}"/>
              </a:ext>
            </a:extLst>
          </p:cNvPr>
          <p:cNvGrpSpPr>
            <a:grpSpLocks/>
          </p:cNvGrpSpPr>
          <p:nvPr/>
        </p:nvGrpSpPr>
        <p:grpSpPr bwMode="auto">
          <a:xfrm>
            <a:off x="6305105" y="3125974"/>
            <a:ext cx="3505200" cy="1676400"/>
            <a:chOff x="3408" y="2880"/>
            <a:chExt cx="2208" cy="1056"/>
          </a:xfrm>
        </p:grpSpPr>
        <p:sp>
          <p:nvSpPr>
            <p:cNvPr id="39" name="Rectangle 17">
              <a:extLst>
                <a:ext uri="{FF2B5EF4-FFF2-40B4-BE49-F238E27FC236}">
                  <a16:creationId xmlns:a16="http://schemas.microsoft.com/office/drawing/2014/main" id="{357DB542-6D9D-42C6-6185-2C1E1B27D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880"/>
              <a:ext cx="2208" cy="1056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D4B19A25-65DE-F40F-4FAA-A558825714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2928"/>
              <a:ext cx="2096" cy="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Freeform 20">
            <a:extLst>
              <a:ext uri="{FF2B5EF4-FFF2-40B4-BE49-F238E27FC236}">
                <a16:creationId xmlns:a16="http://schemas.microsoft.com/office/drawing/2014/main" id="{23652DB8-0DD0-C411-DD5A-2816DA89DB0C}"/>
              </a:ext>
            </a:extLst>
          </p:cNvPr>
          <p:cNvSpPr>
            <a:spLocks/>
          </p:cNvSpPr>
          <p:nvPr/>
        </p:nvSpPr>
        <p:spPr bwMode="auto">
          <a:xfrm>
            <a:off x="6559105" y="6024749"/>
            <a:ext cx="1095375" cy="511175"/>
          </a:xfrm>
          <a:custGeom>
            <a:avLst/>
            <a:gdLst>
              <a:gd name="T0" fmla="*/ 645 w 690"/>
              <a:gd name="T1" fmla="*/ 85 h 322"/>
              <a:gd name="T2" fmla="*/ 498 w 690"/>
              <a:gd name="T3" fmla="*/ 48 h 322"/>
              <a:gd name="T4" fmla="*/ 306 w 690"/>
              <a:gd name="T5" fmla="*/ 21 h 322"/>
              <a:gd name="T6" fmla="*/ 32 w 690"/>
              <a:gd name="T7" fmla="*/ 57 h 322"/>
              <a:gd name="T8" fmla="*/ 23 w 690"/>
              <a:gd name="T9" fmla="*/ 167 h 322"/>
              <a:gd name="T10" fmla="*/ 50 w 690"/>
              <a:gd name="T11" fmla="*/ 176 h 322"/>
              <a:gd name="T12" fmla="*/ 224 w 690"/>
              <a:gd name="T13" fmla="*/ 204 h 322"/>
              <a:gd name="T14" fmla="*/ 690 w 690"/>
              <a:gd name="T15" fmla="*/ 140 h 322"/>
              <a:gd name="T16" fmla="*/ 645 w 690"/>
              <a:gd name="T17" fmla="*/ 85 h 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90" h="322">
                <a:moveTo>
                  <a:pt x="645" y="85"/>
                </a:moveTo>
                <a:cubicBezTo>
                  <a:pt x="591" y="50"/>
                  <a:pt x="572" y="57"/>
                  <a:pt x="498" y="48"/>
                </a:cubicBezTo>
                <a:cubicBezTo>
                  <a:pt x="432" y="40"/>
                  <a:pt x="374" y="27"/>
                  <a:pt x="306" y="21"/>
                </a:cubicBezTo>
                <a:cubicBezTo>
                  <a:pt x="183" y="26"/>
                  <a:pt x="118" y="0"/>
                  <a:pt x="32" y="57"/>
                </a:cubicBezTo>
                <a:cubicBezTo>
                  <a:pt x="20" y="95"/>
                  <a:pt x="0" y="126"/>
                  <a:pt x="23" y="167"/>
                </a:cubicBezTo>
                <a:cubicBezTo>
                  <a:pt x="28" y="175"/>
                  <a:pt x="41" y="173"/>
                  <a:pt x="50" y="176"/>
                </a:cubicBezTo>
                <a:cubicBezTo>
                  <a:pt x="107" y="192"/>
                  <a:pt x="165" y="198"/>
                  <a:pt x="224" y="204"/>
                </a:cubicBezTo>
                <a:cubicBezTo>
                  <a:pt x="480" y="199"/>
                  <a:pt x="629" y="322"/>
                  <a:pt x="690" y="140"/>
                </a:cubicBezTo>
                <a:cubicBezTo>
                  <a:pt x="677" y="101"/>
                  <a:pt x="672" y="112"/>
                  <a:pt x="645" y="85"/>
                </a:cubicBezTo>
                <a:close/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2" name="Freeform 21">
            <a:extLst>
              <a:ext uri="{FF2B5EF4-FFF2-40B4-BE49-F238E27FC236}">
                <a16:creationId xmlns:a16="http://schemas.microsoft.com/office/drawing/2014/main" id="{0D7C90CA-5612-BFF2-5F49-5CEDE147CE35}"/>
              </a:ext>
            </a:extLst>
          </p:cNvPr>
          <p:cNvSpPr>
            <a:spLocks/>
          </p:cNvSpPr>
          <p:nvPr/>
        </p:nvSpPr>
        <p:spPr bwMode="auto">
          <a:xfrm>
            <a:off x="4128643" y="6100949"/>
            <a:ext cx="2466975" cy="222250"/>
          </a:xfrm>
          <a:custGeom>
            <a:avLst/>
            <a:gdLst>
              <a:gd name="T0" fmla="*/ 1554 w 1554"/>
              <a:gd name="T1" fmla="*/ 28 h 140"/>
              <a:gd name="T2" fmla="*/ 292 w 1554"/>
              <a:gd name="T3" fmla="*/ 0 h 140"/>
              <a:gd name="T4" fmla="*/ 45 w 1554"/>
              <a:gd name="T5" fmla="*/ 19 h 140"/>
              <a:gd name="T6" fmla="*/ 18 w 1554"/>
              <a:gd name="T7" fmla="*/ 28 h 140"/>
              <a:gd name="T8" fmla="*/ 0 w 1554"/>
              <a:gd name="T9" fmla="*/ 83 h 140"/>
              <a:gd name="T10" fmla="*/ 73 w 1554"/>
              <a:gd name="T11" fmla="*/ 137 h 140"/>
              <a:gd name="T12" fmla="*/ 237 w 1554"/>
              <a:gd name="T13" fmla="*/ 128 h 140"/>
              <a:gd name="T14" fmla="*/ 210 w 1554"/>
              <a:gd name="T15" fmla="*/ 19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54" h="140">
                <a:moveTo>
                  <a:pt x="1554" y="28"/>
                </a:moveTo>
                <a:cubicBezTo>
                  <a:pt x="1138" y="37"/>
                  <a:pt x="705" y="68"/>
                  <a:pt x="292" y="0"/>
                </a:cubicBezTo>
                <a:cubicBezTo>
                  <a:pt x="210" y="6"/>
                  <a:pt x="127" y="11"/>
                  <a:pt x="45" y="19"/>
                </a:cubicBezTo>
                <a:cubicBezTo>
                  <a:pt x="36" y="20"/>
                  <a:pt x="23" y="20"/>
                  <a:pt x="18" y="28"/>
                </a:cubicBezTo>
                <a:cubicBezTo>
                  <a:pt x="7" y="44"/>
                  <a:pt x="0" y="83"/>
                  <a:pt x="0" y="83"/>
                </a:cubicBezTo>
                <a:cubicBezTo>
                  <a:pt x="14" y="140"/>
                  <a:pt x="22" y="121"/>
                  <a:pt x="73" y="137"/>
                </a:cubicBezTo>
                <a:cubicBezTo>
                  <a:pt x="128" y="134"/>
                  <a:pt x="183" y="139"/>
                  <a:pt x="237" y="128"/>
                </a:cubicBezTo>
                <a:cubicBezTo>
                  <a:pt x="267" y="122"/>
                  <a:pt x="278" y="19"/>
                  <a:pt x="210" y="19"/>
                </a:cubicBezTo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3" name="Freeform 23">
            <a:extLst>
              <a:ext uri="{FF2B5EF4-FFF2-40B4-BE49-F238E27FC236}">
                <a16:creationId xmlns:a16="http://schemas.microsoft.com/office/drawing/2014/main" id="{66287FF5-E2F4-EC39-E712-533C2C2A6854}"/>
              </a:ext>
            </a:extLst>
          </p:cNvPr>
          <p:cNvSpPr>
            <a:spLocks/>
          </p:cNvSpPr>
          <p:nvPr/>
        </p:nvSpPr>
        <p:spPr bwMode="auto">
          <a:xfrm>
            <a:off x="6740080" y="5484999"/>
            <a:ext cx="981075" cy="688975"/>
          </a:xfrm>
          <a:custGeom>
            <a:avLst/>
            <a:gdLst>
              <a:gd name="T0" fmla="*/ 549 w 618"/>
              <a:gd name="T1" fmla="*/ 434 h 434"/>
              <a:gd name="T2" fmla="*/ 494 w 618"/>
              <a:gd name="T3" fmla="*/ 87 h 434"/>
              <a:gd name="T4" fmla="*/ 448 w 618"/>
              <a:gd name="T5" fmla="*/ 59 h 434"/>
              <a:gd name="T6" fmla="*/ 238 w 618"/>
              <a:gd name="T7" fmla="*/ 4 h 434"/>
              <a:gd name="T8" fmla="*/ 64 w 618"/>
              <a:gd name="T9" fmla="*/ 13 h 434"/>
              <a:gd name="T10" fmla="*/ 0 w 618"/>
              <a:gd name="T11" fmla="*/ 105 h 434"/>
              <a:gd name="T12" fmla="*/ 9 w 618"/>
              <a:gd name="T13" fmla="*/ 178 h 434"/>
              <a:gd name="T14" fmla="*/ 64 w 618"/>
              <a:gd name="T15" fmla="*/ 205 h 434"/>
              <a:gd name="T16" fmla="*/ 192 w 618"/>
              <a:gd name="T17" fmla="*/ 215 h 434"/>
              <a:gd name="T18" fmla="*/ 476 w 618"/>
              <a:gd name="T19" fmla="*/ 205 h 434"/>
              <a:gd name="T20" fmla="*/ 540 w 618"/>
              <a:gd name="T21" fmla="*/ 169 h 4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18" h="434">
                <a:moveTo>
                  <a:pt x="549" y="434"/>
                </a:moveTo>
                <a:cubicBezTo>
                  <a:pt x="547" y="370"/>
                  <a:pt x="618" y="128"/>
                  <a:pt x="494" y="87"/>
                </a:cubicBezTo>
                <a:cubicBezTo>
                  <a:pt x="455" y="46"/>
                  <a:pt x="500" y="87"/>
                  <a:pt x="448" y="59"/>
                </a:cubicBezTo>
                <a:cubicBezTo>
                  <a:pt x="339" y="0"/>
                  <a:pt x="408" y="16"/>
                  <a:pt x="238" y="4"/>
                </a:cubicBezTo>
                <a:cubicBezTo>
                  <a:pt x="180" y="7"/>
                  <a:pt x="122" y="5"/>
                  <a:pt x="64" y="13"/>
                </a:cubicBezTo>
                <a:cubicBezTo>
                  <a:pt x="27" y="18"/>
                  <a:pt x="0" y="105"/>
                  <a:pt x="0" y="105"/>
                </a:cubicBezTo>
                <a:cubicBezTo>
                  <a:pt x="3" y="129"/>
                  <a:pt x="0" y="155"/>
                  <a:pt x="9" y="178"/>
                </a:cubicBezTo>
                <a:cubicBezTo>
                  <a:pt x="13" y="188"/>
                  <a:pt x="54" y="204"/>
                  <a:pt x="64" y="205"/>
                </a:cubicBezTo>
                <a:cubicBezTo>
                  <a:pt x="106" y="210"/>
                  <a:pt x="149" y="212"/>
                  <a:pt x="192" y="215"/>
                </a:cubicBezTo>
                <a:cubicBezTo>
                  <a:pt x="287" y="212"/>
                  <a:pt x="382" y="213"/>
                  <a:pt x="476" y="205"/>
                </a:cubicBezTo>
                <a:cubicBezTo>
                  <a:pt x="530" y="201"/>
                  <a:pt x="525" y="199"/>
                  <a:pt x="540" y="169"/>
                </a:cubicBezTo>
              </a:path>
            </a:pathLst>
          </a:custGeom>
          <a:noFill/>
          <a:ln w="28575" cap="flat" cmpd="sng">
            <a:solidFill>
              <a:srgbClr val="CC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4" name="Text Box 24">
            <a:extLst>
              <a:ext uri="{FF2B5EF4-FFF2-40B4-BE49-F238E27FC236}">
                <a16:creationId xmlns:a16="http://schemas.microsoft.com/office/drawing/2014/main" id="{B00867B1-CF52-3652-9AB6-515779B99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305" y="4116574"/>
            <a:ext cx="495300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spcBef>
                <a:spcPct val="20000"/>
              </a:spcBef>
              <a:buFont typeface="Wingdings" panose="05000000000000000000" pitchFamily="2" charset="2"/>
              <a:buAutoNum type="arabicPeriod" startAt="3"/>
            </a:pP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Since the value .9500 is halfway between .9495 and .9505, we choose </a:t>
            </a:r>
            <a:r>
              <a:rPr lang="en-US" altLang="ko-KR" i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z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halfway between 1.64 and 1.65.</a:t>
            </a:r>
          </a:p>
          <a:p>
            <a:pPr defTabSz="914400">
              <a:spcBef>
                <a:spcPct val="20000"/>
              </a:spcBef>
              <a:buFont typeface="Wingdings" panose="05000000000000000000" pitchFamily="2" charset="2"/>
              <a:buAutoNum type="arabicPeriod" startAt="3"/>
            </a:pPr>
            <a:r>
              <a:rPr lang="en-US" altLang="ko-KR" i="1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z</a:t>
            </a:r>
            <a:r>
              <a:rPr lang="en-US" altLang="ko-KR">
                <a:solidFill>
                  <a:srgbClr val="333333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 = 1.645</a:t>
            </a:r>
            <a:endParaRPr lang="en-US" altLang="ko-KR" b="1">
              <a:solidFill>
                <a:srgbClr val="000000"/>
              </a:solidFill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27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 autoUpdateAnimBg="0"/>
      <p:bldP spid="44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3683" y="488898"/>
            <a:ext cx="7169261" cy="1031557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Finding Probabilities for the General Normal Random Variable</a:t>
            </a:r>
            <a:endParaRPr lang="en-US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5C886E-A10E-7FFF-C112-32A08943F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409" y="1736656"/>
            <a:ext cx="8305800" cy="1828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To find an area for a normal random variable 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 with mean 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Symbol" panose="05050102010706020507" pitchFamily="18" charset="2"/>
                <a:ea typeface="굴림" panose="020B0600000101010101" pitchFamily="34" charset="-127"/>
              </a:rPr>
              <a:t>m 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and standard deviation 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Symbol" panose="05050102010706020507" pitchFamily="18" charset="2"/>
                <a:ea typeface="굴림" panose="020B0600000101010101" pitchFamily="34" charset="-127"/>
              </a:rPr>
              <a:t>s,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standardize or rescale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 the interval in terms of </a:t>
            </a:r>
            <a:r>
              <a:rPr kumimoji="0" lang="en-US" altLang="ko-KR" sz="2800" b="0" i="1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z.</a:t>
            </a: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ko-KR" sz="2800" b="0" i="0" u="none" strike="noStrike" kern="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굴림" panose="020B0600000101010101" pitchFamily="34" charset="-127"/>
              </a:rPr>
              <a:t>Find the appropriate area using Table.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073163E4-A484-8F5D-939B-EE8B4C23D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2609" y="3870256"/>
            <a:ext cx="434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ko-KR" sz="2400" b="1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Example: </a:t>
            </a:r>
            <a:r>
              <a:rPr lang="en-US" altLang="ko-KR" sz="24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 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has a normal distribution with 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m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5 and 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Symbol" panose="05050102010706020507" pitchFamily="18" charset="2"/>
                <a:ea typeface="굴림" panose="020B0600000101010101" pitchFamily="34" charset="-127"/>
              </a:rPr>
              <a:t>s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2. Find P(</a:t>
            </a:r>
            <a:r>
              <a:rPr lang="en-US" altLang="ko-KR" sz="2400" i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&gt; 7). </a:t>
            </a:r>
            <a:endParaRPr lang="en-US" altLang="ko-KR" sz="2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graphicFrame>
        <p:nvGraphicFramePr>
          <p:cNvPr id="8" name="Object 18">
            <a:extLst>
              <a:ext uri="{FF2B5EF4-FFF2-40B4-BE49-F238E27FC236}">
                <a16:creationId xmlns:a16="http://schemas.microsoft.com/office/drawing/2014/main" id="{8A1584DF-D9C3-161A-05D0-B617BC7865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749734"/>
              </p:ext>
            </p:extLst>
          </p:nvPr>
        </p:nvGraphicFramePr>
        <p:xfrm>
          <a:off x="1548809" y="5165656"/>
          <a:ext cx="3810000" cy="1328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482400" progId="Equation.3">
                  <p:embed/>
                </p:oleObj>
              </mc:Choice>
              <mc:Fallback>
                <p:oleObj name="Equation" r:id="rId2" imgW="1384200" imgH="482400" progId="Equation.3">
                  <p:embed/>
                  <p:pic>
                    <p:nvPicPr>
                      <p:cNvPr id="8" name="Object 18">
                        <a:extLst>
                          <a:ext uri="{FF2B5EF4-FFF2-40B4-BE49-F238E27FC236}">
                            <a16:creationId xmlns:a16="http://schemas.microsoft.com/office/drawing/2014/main" id="{8A1584DF-D9C3-161A-05D0-B617BC7865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809" y="5165656"/>
                        <a:ext cx="3810000" cy="1328738"/>
                      </a:xfrm>
                      <a:prstGeom prst="rect">
                        <a:avLst/>
                      </a:prstGeom>
                      <a:solidFill>
                        <a:srgbClr val="CC0066"/>
                      </a:solidFill>
                      <a:ln w="28575">
                        <a:solidFill>
                          <a:srgbClr val="F4ECC6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23">
            <a:extLst>
              <a:ext uri="{FF2B5EF4-FFF2-40B4-BE49-F238E27FC236}">
                <a16:creationId xmlns:a16="http://schemas.microsoft.com/office/drawing/2014/main" id="{34137D69-2120-4FB7-24E5-044F339D35AB}"/>
              </a:ext>
            </a:extLst>
          </p:cNvPr>
          <p:cNvGrpSpPr>
            <a:grpSpLocks/>
          </p:cNvGrpSpPr>
          <p:nvPr/>
        </p:nvGrpSpPr>
        <p:grpSpPr bwMode="auto">
          <a:xfrm>
            <a:off x="5816009" y="3717856"/>
            <a:ext cx="3733800" cy="2590800"/>
            <a:chOff x="3168" y="2208"/>
            <a:chExt cx="2352" cy="1632"/>
          </a:xfrm>
        </p:grpSpPr>
        <p:grpSp>
          <p:nvGrpSpPr>
            <p:cNvPr id="10" name="Group 21">
              <a:extLst>
                <a:ext uri="{FF2B5EF4-FFF2-40B4-BE49-F238E27FC236}">
                  <a16:creationId xmlns:a16="http://schemas.microsoft.com/office/drawing/2014/main" id="{D3C2600D-8723-4C7E-B3D5-1BCC083CA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208"/>
              <a:ext cx="2352" cy="1632"/>
              <a:chOff x="3168" y="2208"/>
              <a:chExt cx="2352" cy="1632"/>
            </a:xfrm>
          </p:grpSpPr>
          <p:sp>
            <p:nvSpPr>
              <p:cNvPr id="13" name="Rectangle 20">
                <a:extLst>
                  <a:ext uri="{FF2B5EF4-FFF2-40B4-BE49-F238E27FC236}">
                    <a16:creationId xmlns:a16="http://schemas.microsoft.com/office/drawing/2014/main" id="{AC37AD47-79AD-6AD0-5E23-E179620E2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208"/>
                <a:ext cx="2352" cy="1632"/>
              </a:xfrm>
              <a:prstGeom prst="rect">
                <a:avLst/>
              </a:prstGeom>
              <a:solidFill>
                <a:srgbClr val="F0D27E"/>
              </a:solidFill>
              <a:ln w="28575">
                <a:solidFill>
                  <a:srgbClr val="CC0066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D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</a:endParaRPr>
              </a:p>
            </p:txBody>
          </p:sp>
          <p:pic>
            <p:nvPicPr>
              <p:cNvPr id="14" name="Picture 19">
                <a:extLst>
                  <a:ext uri="{FF2B5EF4-FFF2-40B4-BE49-F238E27FC236}">
                    <a16:creationId xmlns:a16="http://schemas.microsoft.com/office/drawing/2014/main" id="{288E6631-68D5-85BD-E7F1-76CA0FA749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16" y="2304"/>
                <a:ext cx="2240" cy="14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Text Box 22">
              <a:extLst>
                <a:ext uri="{FF2B5EF4-FFF2-40B4-BE49-F238E27FC236}">
                  <a16:creationId xmlns:a16="http://schemas.microsoft.com/office/drawing/2014/main" id="{9D676885-50F1-1BA7-2530-C276B586E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3504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1 </a:t>
              </a:r>
              <a:r>
                <a:rPr kumimoji="0" lang="en-US" altLang="ko-KR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           </a:t>
              </a:r>
              <a:r>
                <a:rPr kumimoji="0" lang="en-US" altLang="ko-KR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z</a:t>
              </a:r>
              <a:r>
                <a:rPr kumimoji="0" lang="en-US" altLang="ko-KR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</a:t>
              </a:r>
              <a:r>
                <a:rPr kumimoji="0" lang="en-US" altLang="ko-KR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굴림" panose="020B0600000101010101" pitchFamily="34" charset="-127"/>
                </a:rPr>
                <a:t>     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19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 autoUpdateAnimBg="0"/>
      <p:bldP spid="6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841059"/>
            <a:ext cx="8328057" cy="581817"/>
          </a:xfrm>
        </p:spPr>
        <p:txBody>
          <a:bodyPr>
            <a:noAutofit/>
          </a:bodyPr>
          <a:lstStyle/>
          <a:p>
            <a:pPr algn="ctr"/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Example</a:t>
            </a:r>
            <a:endParaRPr lang="en-US" alt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633E1DF4-6D94-8C41-CDB3-254F126EB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842" y="4027967"/>
            <a:ext cx="3962400" cy="2438400"/>
          </a:xfrm>
          <a:prstGeom prst="rect">
            <a:avLst/>
          </a:prstGeom>
          <a:solidFill>
            <a:srgbClr val="F0D27E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A56DA4C2-A1AE-E740-10F3-606BAFE21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041" y="1710059"/>
            <a:ext cx="941335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ko-KR" sz="32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weights of packages of ground beef are normally distributed with mean 1 pound and standard deviation .10. What is the probability that a randomly selected package weighs between 0.80 and 0.85 pounds?</a:t>
            </a:r>
            <a:endParaRPr lang="en-US" altLang="ko-KR" sz="32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graphicFrame>
        <p:nvGraphicFramePr>
          <p:cNvPr id="5" name="Object 68">
            <a:extLst>
              <a:ext uri="{FF2B5EF4-FFF2-40B4-BE49-F238E27FC236}">
                <a16:creationId xmlns:a16="http://schemas.microsoft.com/office/drawing/2014/main" id="{55129D83-6DB9-190C-93CE-122B3A506B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7462010"/>
              </p:ext>
            </p:extLst>
          </p:nvPr>
        </p:nvGraphicFramePr>
        <p:xfrm>
          <a:off x="1394642" y="4256567"/>
          <a:ext cx="31496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164880" progId="Equation.3">
                  <p:embed/>
                </p:oleObj>
              </mc:Choice>
              <mc:Fallback>
                <p:oleObj name="Equation" r:id="rId2" imgW="863280" imgH="164880" progId="Equation.3">
                  <p:embed/>
                  <p:pic>
                    <p:nvPicPr>
                      <p:cNvPr id="5" name="Object 68">
                        <a:extLst>
                          <a:ext uri="{FF2B5EF4-FFF2-40B4-BE49-F238E27FC236}">
                            <a16:creationId xmlns:a16="http://schemas.microsoft.com/office/drawing/2014/main" id="{55129D83-6DB9-190C-93CE-122B3A506B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642" y="4256567"/>
                        <a:ext cx="314960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9">
            <a:extLst>
              <a:ext uri="{FF2B5EF4-FFF2-40B4-BE49-F238E27FC236}">
                <a16:creationId xmlns:a16="http://schemas.microsoft.com/office/drawing/2014/main" id="{A0FDB610-4636-5606-789B-BDBD425ED4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9147566"/>
              </p:ext>
            </p:extLst>
          </p:nvPr>
        </p:nvGraphicFramePr>
        <p:xfrm>
          <a:off x="1394642" y="4942367"/>
          <a:ext cx="3287713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1440" imgH="164880" progId="Equation.3">
                  <p:embed/>
                </p:oleObj>
              </mc:Choice>
              <mc:Fallback>
                <p:oleObj name="Equation" r:id="rId4" imgW="901440" imgH="164880" progId="Equation.3">
                  <p:embed/>
                  <p:pic>
                    <p:nvPicPr>
                      <p:cNvPr id="6" name="Object 69">
                        <a:extLst>
                          <a:ext uri="{FF2B5EF4-FFF2-40B4-BE49-F238E27FC236}">
                            <a16:creationId xmlns:a16="http://schemas.microsoft.com/office/drawing/2014/main" id="{A0FDB610-4636-5606-789B-BDBD425ED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4642" y="4942367"/>
                        <a:ext cx="3287713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0">
            <a:extLst>
              <a:ext uri="{FF2B5EF4-FFF2-40B4-BE49-F238E27FC236}">
                <a16:creationId xmlns:a16="http://schemas.microsoft.com/office/drawing/2014/main" id="{DC63CB64-CF46-585E-860D-CBD56C4024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627485"/>
              </p:ext>
            </p:extLst>
          </p:nvPr>
        </p:nvGraphicFramePr>
        <p:xfrm>
          <a:off x="1166042" y="5551967"/>
          <a:ext cx="3705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152280" progId="Equation.3">
                  <p:embed/>
                </p:oleObj>
              </mc:Choice>
              <mc:Fallback>
                <p:oleObj name="Equation" r:id="rId6" imgW="1015920" imgH="152280" progId="Equation.3">
                  <p:embed/>
                  <p:pic>
                    <p:nvPicPr>
                      <p:cNvPr id="8" name="Object 70">
                        <a:extLst>
                          <a:ext uri="{FF2B5EF4-FFF2-40B4-BE49-F238E27FC236}">
                            <a16:creationId xmlns:a16="http://schemas.microsoft.com/office/drawing/2014/main" id="{DC63CB64-CF46-585E-860D-CBD56C4024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042" y="5551967"/>
                        <a:ext cx="3705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73">
            <a:extLst>
              <a:ext uri="{FF2B5EF4-FFF2-40B4-BE49-F238E27FC236}">
                <a16:creationId xmlns:a16="http://schemas.microsoft.com/office/drawing/2014/main" id="{E76149C4-6CF3-96D5-789E-10328261F7C5}"/>
              </a:ext>
            </a:extLst>
          </p:cNvPr>
          <p:cNvGrpSpPr>
            <a:grpSpLocks/>
          </p:cNvGrpSpPr>
          <p:nvPr/>
        </p:nvGrpSpPr>
        <p:grpSpPr bwMode="auto">
          <a:xfrm>
            <a:off x="5509442" y="4027967"/>
            <a:ext cx="3352800" cy="2362200"/>
            <a:chOff x="3216" y="2256"/>
            <a:chExt cx="2112" cy="1488"/>
          </a:xfrm>
        </p:grpSpPr>
        <p:sp>
          <p:nvSpPr>
            <p:cNvPr id="10" name="Rectangle 72">
              <a:extLst>
                <a:ext uri="{FF2B5EF4-FFF2-40B4-BE49-F238E27FC236}">
                  <a16:creationId xmlns:a16="http://schemas.microsoft.com/office/drawing/2014/main" id="{5FB92E49-7EC5-DA44-10CE-501E35B69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256"/>
              <a:ext cx="2112" cy="148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1" name="Picture 71">
              <a:extLst>
                <a:ext uri="{FF2B5EF4-FFF2-40B4-BE49-F238E27FC236}">
                  <a16:creationId xmlns:a16="http://schemas.microsoft.com/office/drawing/2014/main" id="{3B130946-D680-1E1F-BD07-D9E22F0883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2304"/>
              <a:ext cx="2024" cy="13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8384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841059"/>
            <a:ext cx="8328057" cy="581817"/>
          </a:xfrm>
        </p:spPr>
        <p:txBody>
          <a:bodyPr>
            <a:noAutofit/>
          </a:bodyPr>
          <a:lstStyle/>
          <a:p>
            <a:pPr algn="ctr"/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Example</a:t>
            </a:r>
            <a:endParaRPr lang="en-US" alt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Box 33">
            <a:extLst>
              <a:ext uri="{FF2B5EF4-FFF2-40B4-BE49-F238E27FC236}">
                <a16:creationId xmlns:a16="http://schemas.microsoft.com/office/drawing/2014/main" id="{4DB57A49-DE4F-77CE-1951-0EA3368AE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5911" y="1896292"/>
            <a:ext cx="841212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ko-KR" sz="32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What is the weight of a package such that only 1% of all packages exceed this weight?</a:t>
            </a:r>
            <a:endParaRPr lang="en-US" altLang="ko-KR" sz="3200" b="1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grpSp>
        <p:nvGrpSpPr>
          <p:cNvPr id="12" name="Group 82">
            <a:extLst>
              <a:ext uri="{FF2B5EF4-FFF2-40B4-BE49-F238E27FC236}">
                <a16:creationId xmlns:a16="http://schemas.microsoft.com/office/drawing/2014/main" id="{8D702918-1DCE-31F8-3FE2-3C6CFB66A87A}"/>
              </a:ext>
            </a:extLst>
          </p:cNvPr>
          <p:cNvGrpSpPr>
            <a:grpSpLocks/>
          </p:cNvGrpSpPr>
          <p:nvPr/>
        </p:nvGrpSpPr>
        <p:grpSpPr bwMode="auto">
          <a:xfrm>
            <a:off x="5259574" y="3476851"/>
            <a:ext cx="3505200" cy="1905000"/>
            <a:chOff x="3264" y="1392"/>
            <a:chExt cx="2208" cy="1200"/>
          </a:xfrm>
        </p:grpSpPr>
        <p:sp>
          <p:nvSpPr>
            <p:cNvPr id="13" name="Rectangle 81">
              <a:extLst>
                <a:ext uri="{FF2B5EF4-FFF2-40B4-BE49-F238E27FC236}">
                  <a16:creationId xmlns:a16="http://schemas.microsoft.com/office/drawing/2014/main" id="{6C1ED862-6DB1-7230-249A-5E09ABC9D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392"/>
              <a:ext cx="2208" cy="120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4" name="Picture 80">
              <a:extLst>
                <a:ext uri="{FF2B5EF4-FFF2-40B4-BE49-F238E27FC236}">
                  <a16:creationId xmlns:a16="http://schemas.microsoft.com/office/drawing/2014/main" id="{08C1C6FE-1B8A-5762-44CD-60EFF87C8E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1440"/>
              <a:ext cx="2112" cy="10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5" name="Object 86">
            <a:extLst>
              <a:ext uri="{FF2B5EF4-FFF2-40B4-BE49-F238E27FC236}">
                <a16:creationId xmlns:a16="http://schemas.microsoft.com/office/drawing/2014/main" id="{8CF628F5-7B83-FED1-93FB-D1D786FBE7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253731"/>
              </p:ext>
            </p:extLst>
          </p:nvPr>
        </p:nvGraphicFramePr>
        <p:xfrm>
          <a:off x="1220974" y="3476851"/>
          <a:ext cx="3683000" cy="291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74640" imgH="1244520" progId="Equation.3">
                  <p:embed/>
                </p:oleObj>
              </mc:Choice>
              <mc:Fallback>
                <p:oleObj name="Equation" r:id="rId3" imgW="1574640" imgH="1244520" progId="Equation.3">
                  <p:embed/>
                  <p:pic>
                    <p:nvPicPr>
                      <p:cNvPr id="15" name="Object 86">
                        <a:extLst>
                          <a:ext uri="{FF2B5EF4-FFF2-40B4-BE49-F238E27FC236}">
                            <a16:creationId xmlns:a16="http://schemas.microsoft.com/office/drawing/2014/main" id="{8CF628F5-7B83-FED1-93FB-D1D786FBE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974" y="3476851"/>
                        <a:ext cx="3683000" cy="2913063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807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5340" y="681574"/>
            <a:ext cx="7230140" cy="1072797"/>
          </a:xfrm>
        </p:spPr>
        <p:txBody>
          <a:bodyPr>
            <a:noAutofit/>
          </a:bodyPr>
          <a:lstStyle/>
          <a:p>
            <a:pPr algn="ctr"/>
            <a:r>
              <a:rPr lang="en-US" altLang="en-US" sz="4000" dirty="0"/>
              <a:t>The Normal Approximation to the Binomial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7BEDA6-578D-9427-4E8D-7199592BA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736" y="1908541"/>
            <a:ext cx="9340701" cy="355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3600" kern="1200">
                <a:solidFill>
                  <a:srgbClr val="33993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90000"/>
              </a:lnSpc>
            </a:pPr>
            <a:r>
              <a:rPr lang="en-US" altLang="ko-KR" sz="2800" dirty="0">
                <a:ea typeface="굴림" panose="020B0600000101010101" pitchFamily="34" charset="-127"/>
              </a:rPr>
              <a:t>We can calculate binomial probabilities using</a:t>
            </a:r>
          </a:p>
          <a:p>
            <a:pPr lvl="1" defTabSz="914400">
              <a:lnSpc>
                <a:spcPct val="90000"/>
              </a:lnSpc>
            </a:pPr>
            <a:r>
              <a:rPr lang="en-US" altLang="ko-KR" sz="2800" dirty="0">
                <a:solidFill>
                  <a:srgbClr val="CC0066"/>
                </a:solidFill>
                <a:ea typeface="굴림" panose="020B0600000101010101" pitchFamily="34" charset="-127"/>
              </a:rPr>
              <a:t>The binomial formula</a:t>
            </a:r>
          </a:p>
          <a:p>
            <a:pPr lvl="1" defTabSz="914400">
              <a:lnSpc>
                <a:spcPct val="90000"/>
              </a:lnSpc>
            </a:pPr>
            <a:r>
              <a:rPr lang="en-US" altLang="ko-KR" sz="2800" dirty="0">
                <a:solidFill>
                  <a:srgbClr val="CC0066"/>
                </a:solidFill>
                <a:ea typeface="굴림" panose="020B0600000101010101" pitchFamily="34" charset="-127"/>
              </a:rPr>
              <a:t>The cumulative binomial tables</a:t>
            </a:r>
          </a:p>
          <a:p>
            <a:pPr defTabSz="914400">
              <a:lnSpc>
                <a:spcPct val="90000"/>
              </a:lnSpc>
            </a:pPr>
            <a:r>
              <a:rPr lang="en-US" altLang="ko-KR" sz="2800" dirty="0">
                <a:ea typeface="굴림" panose="020B0600000101010101" pitchFamily="34" charset="-127"/>
              </a:rPr>
              <a:t>When </a:t>
            </a:r>
            <a:r>
              <a:rPr lang="en-US" altLang="ko-KR" sz="2800" i="1" dirty="0">
                <a:ea typeface="굴림" panose="020B0600000101010101" pitchFamily="34" charset="-127"/>
              </a:rPr>
              <a:t>n </a:t>
            </a:r>
            <a:r>
              <a:rPr lang="en-US" altLang="ko-KR" sz="2800" dirty="0">
                <a:ea typeface="굴림" panose="020B0600000101010101" pitchFamily="34" charset="-127"/>
              </a:rPr>
              <a:t>is large, and </a:t>
            </a:r>
            <a:r>
              <a:rPr lang="en-US" altLang="ko-KR" sz="2800" i="1" dirty="0">
                <a:ea typeface="굴림" panose="020B0600000101010101" pitchFamily="34" charset="-127"/>
              </a:rPr>
              <a:t>p </a:t>
            </a:r>
            <a:r>
              <a:rPr lang="en-US" altLang="ko-KR" sz="2800" dirty="0">
                <a:ea typeface="굴림" panose="020B0600000101010101" pitchFamily="34" charset="-127"/>
              </a:rPr>
              <a:t>is not too close to zero or one, areas under the normal curve with mean  </a:t>
            </a:r>
            <a:r>
              <a:rPr lang="en-US" altLang="ko-KR" sz="2800" i="1" dirty="0">
                <a:ea typeface="굴림" panose="020B0600000101010101" pitchFamily="34" charset="-127"/>
              </a:rPr>
              <a:t>np</a:t>
            </a:r>
            <a:r>
              <a:rPr lang="en-US" altLang="ko-KR" sz="2800" dirty="0">
                <a:ea typeface="굴림" panose="020B0600000101010101" pitchFamily="34" charset="-127"/>
              </a:rPr>
              <a:t> and variance </a:t>
            </a:r>
            <a:r>
              <a:rPr lang="en-US" altLang="ko-KR" sz="2800" i="1" dirty="0" err="1">
                <a:ea typeface="굴림" panose="020B0600000101010101" pitchFamily="34" charset="-127"/>
              </a:rPr>
              <a:t>npq</a:t>
            </a:r>
            <a:r>
              <a:rPr lang="en-US" altLang="ko-KR" sz="2800" i="1" dirty="0">
                <a:ea typeface="굴림" panose="020B0600000101010101" pitchFamily="34" charset="-127"/>
              </a:rPr>
              <a:t> </a:t>
            </a:r>
            <a:r>
              <a:rPr lang="en-US" altLang="ko-KR" sz="2800" dirty="0">
                <a:ea typeface="굴림" panose="020B0600000101010101" pitchFamily="34" charset="-127"/>
              </a:rPr>
              <a:t>can be used to approximate binomial probabilities. </a:t>
            </a:r>
          </a:p>
        </p:txBody>
      </p:sp>
      <p:grpSp>
        <p:nvGrpSpPr>
          <p:cNvPr id="5" name="Group 44">
            <a:extLst>
              <a:ext uri="{FF2B5EF4-FFF2-40B4-BE49-F238E27FC236}">
                <a16:creationId xmlns:a16="http://schemas.microsoft.com/office/drawing/2014/main" id="{329289DF-4F11-B2C8-A7C3-73CE35647161}"/>
              </a:ext>
            </a:extLst>
          </p:cNvPr>
          <p:cNvGrpSpPr>
            <a:grpSpLocks/>
          </p:cNvGrpSpPr>
          <p:nvPr/>
        </p:nvGrpSpPr>
        <p:grpSpPr bwMode="auto">
          <a:xfrm>
            <a:off x="2721937" y="4954772"/>
            <a:ext cx="2895600" cy="2057400"/>
            <a:chOff x="1440" y="2880"/>
            <a:chExt cx="1824" cy="1296"/>
          </a:xfrm>
        </p:grpSpPr>
        <p:sp>
          <p:nvSpPr>
            <p:cNvPr id="6" name="Rectangle 43">
              <a:extLst>
                <a:ext uri="{FF2B5EF4-FFF2-40B4-BE49-F238E27FC236}">
                  <a16:creationId xmlns:a16="http://schemas.microsoft.com/office/drawing/2014/main" id="{4F61ABAA-71EA-0B16-CD0A-8614BA923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80"/>
              <a:ext cx="1824" cy="1296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8" name="Picture 42">
              <a:extLst>
                <a:ext uri="{FF2B5EF4-FFF2-40B4-BE49-F238E27FC236}">
                  <a16:creationId xmlns:a16="http://schemas.microsoft.com/office/drawing/2014/main" id="{ED2EA394-1FEF-519D-507A-0C2E697B4C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2928"/>
              <a:ext cx="1728" cy="12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Freeform 45">
            <a:extLst>
              <a:ext uri="{FF2B5EF4-FFF2-40B4-BE49-F238E27FC236}">
                <a16:creationId xmlns:a16="http://schemas.microsoft.com/office/drawing/2014/main" id="{C0C010ED-EE16-0E28-B2AF-57B88C473CF9}"/>
              </a:ext>
            </a:extLst>
          </p:cNvPr>
          <p:cNvSpPr>
            <a:spLocks/>
          </p:cNvSpPr>
          <p:nvPr/>
        </p:nvSpPr>
        <p:spPr bwMode="auto">
          <a:xfrm>
            <a:off x="3179137" y="5286560"/>
            <a:ext cx="1785938" cy="1344612"/>
          </a:xfrm>
          <a:custGeom>
            <a:avLst/>
            <a:gdLst>
              <a:gd name="T0" fmla="*/ 0 w 1107"/>
              <a:gd name="T1" fmla="*/ 824 h 846"/>
              <a:gd name="T2" fmla="*/ 211 w 1107"/>
              <a:gd name="T3" fmla="*/ 815 h 846"/>
              <a:gd name="T4" fmla="*/ 293 w 1107"/>
              <a:gd name="T5" fmla="*/ 724 h 846"/>
              <a:gd name="T6" fmla="*/ 348 w 1107"/>
              <a:gd name="T7" fmla="*/ 522 h 846"/>
              <a:gd name="T8" fmla="*/ 421 w 1107"/>
              <a:gd name="T9" fmla="*/ 212 h 846"/>
              <a:gd name="T10" fmla="*/ 476 w 1107"/>
              <a:gd name="T11" fmla="*/ 84 h 846"/>
              <a:gd name="T12" fmla="*/ 549 w 1107"/>
              <a:gd name="T13" fmla="*/ 1 h 846"/>
              <a:gd name="T14" fmla="*/ 613 w 1107"/>
              <a:gd name="T15" fmla="*/ 10 h 846"/>
              <a:gd name="T16" fmla="*/ 704 w 1107"/>
              <a:gd name="T17" fmla="*/ 138 h 846"/>
              <a:gd name="T18" fmla="*/ 796 w 1107"/>
              <a:gd name="T19" fmla="*/ 431 h 846"/>
              <a:gd name="T20" fmla="*/ 851 w 1107"/>
              <a:gd name="T21" fmla="*/ 559 h 846"/>
              <a:gd name="T22" fmla="*/ 905 w 1107"/>
              <a:gd name="T23" fmla="*/ 660 h 846"/>
              <a:gd name="T24" fmla="*/ 1107 w 1107"/>
              <a:gd name="T25" fmla="*/ 842 h 8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07" h="846">
                <a:moveTo>
                  <a:pt x="0" y="824"/>
                </a:moveTo>
                <a:cubicBezTo>
                  <a:pt x="69" y="846"/>
                  <a:pt x="143" y="837"/>
                  <a:pt x="211" y="815"/>
                </a:cubicBezTo>
                <a:cubicBezTo>
                  <a:pt x="241" y="785"/>
                  <a:pt x="270" y="759"/>
                  <a:pt x="293" y="724"/>
                </a:cubicBezTo>
                <a:cubicBezTo>
                  <a:pt x="315" y="657"/>
                  <a:pt x="327" y="589"/>
                  <a:pt x="348" y="522"/>
                </a:cubicBezTo>
                <a:cubicBezTo>
                  <a:pt x="360" y="416"/>
                  <a:pt x="388" y="313"/>
                  <a:pt x="421" y="212"/>
                </a:cubicBezTo>
                <a:cubicBezTo>
                  <a:pt x="436" y="168"/>
                  <a:pt x="442" y="117"/>
                  <a:pt x="476" y="84"/>
                </a:cubicBezTo>
                <a:cubicBezTo>
                  <a:pt x="490" y="42"/>
                  <a:pt x="506" y="15"/>
                  <a:pt x="549" y="1"/>
                </a:cubicBezTo>
                <a:cubicBezTo>
                  <a:pt x="570" y="4"/>
                  <a:pt x="594" y="0"/>
                  <a:pt x="613" y="10"/>
                </a:cubicBezTo>
                <a:cubicBezTo>
                  <a:pt x="663" y="35"/>
                  <a:pt x="676" y="96"/>
                  <a:pt x="704" y="138"/>
                </a:cubicBezTo>
                <a:cubicBezTo>
                  <a:pt x="735" y="236"/>
                  <a:pt x="764" y="334"/>
                  <a:pt x="796" y="431"/>
                </a:cubicBezTo>
                <a:cubicBezTo>
                  <a:pt x="811" y="475"/>
                  <a:pt x="817" y="526"/>
                  <a:pt x="851" y="559"/>
                </a:cubicBezTo>
                <a:cubicBezTo>
                  <a:pt x="863" y="594"/>
                  <a:pt x="880" y="633"/>
                  <a:pt x="905" y="660"/>
                </a:cubicBezTo>
                <a:cubicBezTo>
                  <a:pt x="943" y="763"/>
                  <a:pt x="986" y="842"/>
                  <a:pt x="1107" y="842"/>
                </a:cubicBezTo>
              </a:path>
            </a:pathLst>
          </a:custGeom>
          <a:noFill/>
          <a:ln w="28575" cap="flat" cmpd="sng">
            <a:solidFill>
              <a:srgbClr val="339933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/>
            <a:endParaRPr lang="en-ID" sz="2400" b="1">
              <a:solidFill>
                <a:srgbClr val="000000"/>
              </a:solidFill>
              <a:latin typeface="Times New Roman" panose="02020603050405020304" pitchFamily="18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4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5340" y="617776"/>
            <a:ext cx="7230140" cy="1072797"/>
          </a:xfrm>
        </p:spPr>
        <p:txBody>
          <a:bodyPr>
            <a:noAutofit/>
          </a:bodyPr>
          <a:lstStyle/>
          <a:p>
            <a:pPr algn="ctr"/>
            <a:r>
              <a:rPr kumimoji="0" lang="en-US" altLang="ko-KR" sz="48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굴림" panose="020B0600000101010101" pitchFamily="34" charset="-127"/>
                <a:cs typeface="+mj-cs"/>
              </a:rPr>
              <a:t>Approximating the Binomial</a:t>
            </a:r>
            <a:endParaRPr lang="en-US" altLang="en-US" sz="4000" dirty="0"/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3BB1341D-524E-083D-D137-5D91D4CCA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188" y="1871301"/>
            <a:ext cx="872578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buFont typeface="Wingdings" panose="05000000000000000000" pitchFamily="2" charset="2"/>
              <a:buChar char="ü"/>
            </a:pPr>
            <a:r>
              <a:rPr lang="en-US" altLang="ko-KR" sz="32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Make sure to include the entire rectangle for the values of </a:t>
            </a:r>
            <a:r>
              <a:rPr lang="en-US" altLang="ko-KR" sz="3200" i="1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32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in the interval of interest. This is called the </a:t>
            </a:r>
            <a:r>
              <a:rPr lang="en-US" altLang="ko-KR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굴림" panose="020B0600000101010101" pitchFamily="34" charset="-127"/>
              </a:rPr>
              <a:t>continuity correction. </a:t>
            </a:r>
            <a:endParaRPr lang="en-US" altLang="ko-KR" sz="3200" dirty="0">
              <a:solidFill>
                <a:srgbClr val="C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  <a:p>
            <a:pPr defTabSz="914400">
              <a:buFont typeface="Wingdings" panose="05000000000000000000" pitchFamily="2" charset="2"/>
              <a:buChar char="ü"/>
            </a:pPr>
            <a:r>
              <a:rPr lang="en-US" altLang="ko-KR" sz="32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Standardize the values of </a:t>
            </a:r>
            <a:r>
              <a:rPr lang="en-US" altLang="ko-KR" sz="3200" i="1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3200" dirty="0">
                <a:solidFill>
                  <a:srgbClr val="C0000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using</a:t>
            </a: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24517109-C037-4C90-99AA-9BFEAAA8E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399725"/>
              </p:ext>
            </p:extLst>
          </p:nvPr>
        </p:nvGraphicFramePr>
        <p:xfrm>
          <a:off x="3620389" y="4035063"/>
          <a:ext cx="150812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68280" progId="Equation.3">
                  <p:embed/>
                </p:oleObj>
              </mc:Choice>
              <mc:Fallback>
                <p:oleObj name="Equation" r:id="rId2" imgW="533160" imgH="368280" progId="Equation.3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24517109-C037-4C90-99AA-9BFEAAA8EC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0389" y="4035063"/>
                        <a:ext cx="1508125" cy="1041400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8">
            <a:extLst>
              <a:ext uri="{FF2B5EF4-FFF2-40B4-BE49-F238E27FC236}">
                <a16:creationId xmlns:a16="http://schemas.microsoft.com/office/drawing/2014/main" id="{52ABAB27-BD85-8117-0A3B-4FF630306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989" y="5406663"/>
            <a:ext cx="8474078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>
              <a:buFont typeface="Wingdings" panose="05000000000000000000" pitchFamily="2" charset="2"/>
              <a:buChar char="ü"/>
            </a:pPr>
            <a:r>
              <a:rPr lang="en-US" altLang="ko-KR" sz="32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Make sure that </a:t>
            </a:r>
            <a:r>
              <a:rPr lang="en-US" altLang="ko-KR" sz="32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np </a:t>
            </a:r>
            <a:r>
              <a:rPr lang="en-US" altLang="ko-KR" sz="32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and </a:t>
            </a:r>
            <a:r>
              <a:rPr lang="en-US" altLang="ko-KR" sz="32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nq</a:t>
            </a:r>
            <a:r>
              <a:rPr lang="en-US" altLang="ko-KR" sz="32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are both greater than 5</a:t>
            </a:r>
            <a:r>
              <a:rPr lang="en-US" altLang="ko-KR" sz="3200">
                <a:solidFill>
                  <a:srgbClr val="3399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to avoid inaccurate approximations!</a:t>
            </a:r>
            <a:endParaRPr lang="en-US" altLang="ko-KR" sz="2400" b="1">
              <a:solidFill>
                <a:srgbClr val="0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847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10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2483" y="829339"/>
            <a:ext cx="8328057" cy="838089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0D981669-B7EC-1927-3D75-8E1CDEA22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9835" y="1733105"/>
            <a:ext cx="885868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ko-KR" sz="3200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Suppose </a:t>
            </a:r>
            <a:r>
              <a:rPr lang="en-US" altLang="ko-KR" sz="3200" i="1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3200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is a binomial random variable with </a:t>
            </a:r>
            <a:r>
              <a:rPr lang="en-US" altLang="ko-KR" sz="3200" i="1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3200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30 and </a:t>
            </a:r>
            <a:r>
              <a:rPr lang="en-US" altLang="ko-KR" sz="3200" i="1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p</a:t>
            </a:r>
            <a:r>
              <a:rPr lang="en-US" altLang="ko-KR" sz="3200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.4. Using the normal approximation to find P(</a:t>
            </a:r>
            <a:r>
              <a:rPr lang="en-US" altLang="ko-KR" sz="3200" i="1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</a:t>
            </a:r>
            <a:r>
              <a:rPr lang="en-US" altLang="ko-KR" sz="3200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</a:t>
            </a:r>
            <a:r>
              <a:rPr lang="en-US" altLang="ko-KR" sz="3200" dirty="0">
                <a:solidFill>
                  <a:srgbClr val="0079B8"/>
                </a:solidFill>
                <a:latin typeface="Times New Roman" panose="02020603050405020304" pitchFamily="18" charset="0"/>
                <a:ea typeface="굴림" panose="020B0600000101010101" pitchFamily="34" charset="-127"/>
                <a:sym typeface="Symbol" panose="05050102010706020507" pitchFamily="18" charset="2"/>
              </a:rPr>
              <a:t> 10).</a:t>
            </a:r>
            <a:endParaRPr lang="en-US" altLang="ko-KR" sz="3200" b="1" dirty="0">
              <a:solidFill>
                <a:srgbClr val="0079B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4D23C6EB-B60A-F5B2-69FE-21BE5A042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236" y="3333305"/>
            <a:ext cx="3733800" cy="1447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80507E5A-E770-8B28-8DBC-F6B04BD60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636" y="3485705"/>
            <a:ext cx="36576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4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30    </a:t>
            </a: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p</a:t>
            </a:r>
            <a:r>
              <a:rPr lang="en-US" altLang="ko-KR" sz="24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.4      </a:t>
            </a: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q</a:t>
            </a:r>
            <a:r>
              <a:rPr lang="en-US" altLang="ko-KR" sz="24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.6</a:t>
            </a:r>
          </a:p>
          <a:p>
            <a:pPr defTabSz="914400">
              <a:spcBef>
                <a:spcPct val="50000"/>
              </a:spcBef>
            </a:pP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np = 12	nq = 18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FA3CB0A4-1586-27CA-8CD7-E89DF870AB72}"/>
              </a:ext>
            </a:extLst>
          </p:cNvPr>
          <p:cNvGrpSpPr>
            <a:grpSpLocks/>
          </p:cNvGrpSpPr>
          <p:nvPr/>
        </p:nvGrpSpPr>
        <p:grpSpPr bwMode="auto">
          <a:xfrm>
            <a:off x="5865636" y="3333305"/>
            <a:ext cx="2895600" cy="2362200"/>
            <a:chOff x="3360" y="1584"/>
            <a:chExt cx="1824" cy="1488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2124EA07-D9B5-0E50-7007-E91A2E2B6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84"/>
              <a:ext cx="1824" cy="148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0" name="Picture 20">
              <a:extLst>
                <a:ext uri="{FF2B5EF4-FFF2-40B4-BE49-F238E27FC236}">
                  <a16:creationId xmlns:a16="http://schemas.microsoft.com/office/drawing/2014/main" id="{D5B830F5-9050-FFC1-4048-7F81D6CAB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632"/>
              <a:ext cx="1720" cy="1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CDE8883A-F48B-E9EB-F1E9-D6ABDA3BC3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09224"/>
              </p:ext>
            </p:extLst>
          </p:nvPr>
        </p:nvGraphicFramePr>
        <p:xfrm>
          <a:off x="1217436" y="5390705"/>
          <a:ext cx="5181600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711000" progId="Equation.3">
                  <p:embed/>
                </p:oleObj>
              </mc:Choice>
              <mc:Fallback>
                <p:oleObj name="Equation" r:id="rId3" imgW="1993680" imgH="711000" progId="Equation.3">
                  <p:embed/>
                  <p:pic>
                    <p:nvPicPr>
                      <p:cNvPr id="11" name="Object 24">
                        <a:extLst>
                          <a:ext uri="{FF2B5EF4-FFF2-40B4-BE49-F238E27FC236}">
                            <a16:creationId xmlns:a16="http://schemas.microsoft.com/office/drawing/2014/main" id="{CDE8883A-F48B-E9EB-F1E9-D6ABDA3BC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436" y="5390705"/>
                        <a:ext cx="5181600" cy="1849438"/>
                      </a:xfrm>
                      <a:prstGeom prst="rect">
                        <a:avLst/>
                      </a:prstGeom>
                      <a:solidFill>
                        <a:srgbClr val="F4ECC6"/>
                      </a:solidFill>
                      <a:ln w="28575">
                        <a:solidFill>
                          <a:srgbClr val="CC0066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9">
            <a:extLst>
              <a:ext uri="{FF2B5EF4-FFF2-40B4-BE49-F238E27FC236}">
                <a16:creationId xmlns:a16="http://schemas.microsoft.com/office/drawing/2014/main" id="{0DFBC303-FD23-73BC-F8E6-C4024034E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7236" y="4628705"/>
            <a:ext cx="1905000" cy="103505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ko-KR" sz="20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normal approximation is ok!</a:t>
            </a:r>
          </a:p>
        </p:txBody>
      </p:sp>
    </p:spTree>
    <p:extLst>
      <p:ext uri="{BB962C8B-B14F-4D97-AF65-F5344CB8AC3E}">
        <p14:creationId xmlns:p14="http://schemas.microsoft.com/office/powerpoint/2010/main" val="366235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build="p" autoUpdateAnimBg="0"/>
      <p:bldP spid="12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2483" y="829339"/>
            <a:ext cx="8328057" cy="838089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066A44E7-BD6B-677F-1C68-DBC9BA6CB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549" y="4832504"/>
            <a:ext cx="4724400" cy="1828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A8963231-E3F5-1F41-FE36-57E841D90A21}"/>
              </a:ext>
            </a:extLst>
          </p:cNvPr>
          <p:cNvGrpSpPr>
            <a:grpSpLocks/>
          </p:cNvGrpSpPr>
          <p:nvPr/>
        </p:nvGrpSpPr>
        <p:grpSpPr bwMode="auto">
          <a:xfrm>
            <a:off x="1908549" y="2013104"/>
            <a:ext cx="2895600" cy="2362200"/>
            <a:chOff x="3360" y="1584"/>
            <a:chExt cx="1824" cy="1488"/>
          </a:xfrm>
        </p:grpSpPr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C1FBB0B5-DE13-3D60-8890-9BC30EB0B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84"/>
              <a:ext cx="1824" cy="1488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4" name="Picture 10">
              <a:extLst>
                <a:ext uri="{FF2B5EF4-FFF2-40B4-BE49-F238E27FC236}">
                  <a16:creationId xmlns:a16="http://schemas.microsoft.com/office/drawing/2014/main" id="{F6777773-33BD-31E2-4E59-4A5AF1D35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" y="1632"/>
              <a:ext cx="1720" cy="1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BEF4D980-9878-0374-C000-2D85255357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618927"/>
              </p:ext>
            </p:extLst>
          </p:nvPr>
        </p:nvGraphicFramePr>
        <p:xfrm>
          <a:off x="2822949" y="4908704"/>
          <a:ext cx="419417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393480" progId="Equation.3">
                  <p:embed/>
                </p:oleObj>
              </mc:Choice>
              <mc:Fallback>
                <p:oleObj name="Equation" r:id="rId3" imgW="1752480" imgH="393480" progId="Equation.3">
                  <p:embed/>
                  <p:pic>
                    <p:nvPicPr>
                      <p:cNvPr id="15" name="Object 11">
                        <a:extLst>
                          <a:ext uri="{FF2B5EF4-FFF2-40B4-BE49-F238E27FC236}">
                            <a16:creationId xmlns:a16="http://schemas.microsoft.com/office/drawing/2014/main" id="{BEF4D980-9878-0374-C000-2D85255357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949" y="4908704"/>
                        <a:ext cx="4194175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C8B9D474-2B19-7434-02E2-93814D4EF6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777563"/>
              </p:ext>
            </p:extLst>
          </p:nvPr>
        </p:nvGraphicFramePr>
        <p:xfrm>
          <a:off x="3203949" y="6051704"/>
          <a:ext cx="32512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203040" progId="Equation.3">
                  <p:embed/>
                </p:oleObj>
              </mc:Choice>
              <mc:Fallback>
                <p:oleObj name="Equation" r:id="rId5" imgW="1358640" imgH="203040" progId="Equation.3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C8B9D474-2B19-7434-02E2-93814D4EF6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949" y="6051704"/>
                        <a:ext cx="32512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5">
            <a:extLst>
              <a:ext uri="{FF2B5EF4-FFF2-40B4-BE49-F238E27FC236}">
                <a16:creationId xmlns:a16="http://schemas.microsoft.com/office/drawing/2014/main" id="{079F3F61-D4C6-698B-3763-0FED5E4A2CFD}"/>
              </a:ext>
            </a:extLst>
          </p:cNvPr>
          <p:cNvGrpSpPr>
            <a:grpSpLocks/>
          </p:cNvGrpSpPr>
          <p:nvPr/>
        </p:nvGrpSpPr>
        <p:grpSpPr bwMode="auto">
          <a:xfrm>
            <a:off x="5718549" y="1936904"/>
            <a:ext cx="2971800" cy="2667000"/>
            <a:chOff x="3120" y="624"/>
            <a:chExt cx="1872" cy="1680"/>
          </a:xfrm>
        </p:grpSpPr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0CBA0F6F-E294-4E4E-498A-7CE98F3C1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624"/>
              <a:ext cx="1872" cy="1680"/>
            </a:xfrm>
            <a:prstGeom prst="rect">
              <a:avLst/>
            </a:prstGeom>
            <a:solidFill>
              <a:srgbClr val="F0D27E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D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</a:endParaRPr>
            </a:p>
          </p:txBody>
        </p:sp>
        <p:pic>
          <p:nvPicPr>
            <p:cNvPr id="19" name="Picture 13">
              <a:extLst>
                <a:ext uri="{FF2B5EF4-FFF2-40B4-BE49-F238E27FC236}">
                  <a16:creationId xmlns:a16="http://schemas.microsoft.com/office/drawing/2014/main" id="{4C34400C-22C3-20C5-764D-EFC845713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720"/>
              <a:ext cx="1688" cy="1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89909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2483" y="829339"/>
            <a:ext cx="8328057" cy="838089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 dirty="0"/>
              <a:t>Example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307722D-0411-6105-4AE0-F2E35AC86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137" y="3581403"/>
            <a:ext cx="4876800" cy="1447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1" i="0" u="none" strike="noStrike" kern="0" cap="none" spc="0" normalizeH="0" baseline="0" noProof="0">
              <a:ln>
                <a:noFill/>
              </a:ln>
              <a:solidFill>
                <a:srgbClr val="CC0066"/>
              </a:solidFill>
              <a:effectLst/>
              <a:uLnTx/>
              <a:uFillTx/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43DDC293-5356-1F2F-1016-A886E1F46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736" y="1508048"/>
            <a:ext cx="930880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/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 production line produces AA batteries with a reliability rate of 95%. A sample of </a:t>
            </a:r>
            <a:r>
              <a:rPr lang="en-US" altLang="ko-KR" sz="3200" i="1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200 batteries is selected. Find the probability that at least 195 of the batteries work.</a:t>
            </a:r>
            <a:endParaRPr lang="en-US" altLang="ko-KR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17D99E3F-0F05-310D-E1E9-DD53097CE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7475" y="3733803"/>
            <a:ext cx="51816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>
              <a:spcBef>
                <a:spcPct val="50000"/>
              </a:spcBef>
            </a:pPr>
            <a:r>
              <a:rPr lang="en-US" altLang="ko-KR" sz="24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Success = working battery  </a:t>
            </a: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</a:t>
            </a:r>
            <a:r>
              <a:rPr lang="en-US" altLang="ko-KR" sz="24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200</a:t>
            </a:r>
          </a:p>
          <a:p>
            <a:pPr defTabSz="914400">
              <a:spcBef>
                <a:spcPct val="50000"/>
              </a:spcBef>
            </a:pP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p</a:t>
            </a:r>
            <a:r>
              <a:rPr lang="en-US" altLang="ko-KR" sz="2400" b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 = .95     </a:t>
            </a:r>
            <a:r>
              <a:rPr lang="en-US" altLang="ko-KR" sz="2400" b="1" i="1">
                <a:solidFill>
                  <a:srgbClr val="333333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np = 190	nq = 10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5F3EB041-BD5C-BD8E-1E1C-9E74341C2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737" y="3581403"/>
            <a:ext cx="1905000" cy="1035050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914400">
              <a:spcBef>
                <a:spcPct val="50000"/>
              </a:spcBef>
            </a:pPr>
            <a:r>
              <a:rPr lang="en-US" altLang="ko-KR" sz="2000" b="1">
                <a:solidFill>
                  <a:srgbClr val="F4ECC6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normal approximation is ok!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95FDA577-C23F-BD5A-7C95-619C1AF68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737" y="4876803"/>
            <a:ext cx="6172200" cy="1828800"/>
          </a:xfrm>
          <a:prstGeom prst="rect">
            <a:avLst/>
          </a:prstGeom>
          <a:solidFill>
            <a:srgbClr val="F4ECC6"/>
          </a:solidFill>
          <a:ln w="28575">
            <a:solidFill>
              <a:srgbClr val="CC0066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</p:txBody>
      </p:sp>
      <p:graphicFrame>
        <p:nvGraphicFramePr>
          <p:cNvPr id="10" name="Object 18">
            <a:extLst>
              <a:ext uri="{FF2B5EF4-FFF2-40B4-BE49-F238E27FC236}">
                <a16:creationId xmlns:a16="http://schemas.microsoft.com/office/drawing/2014/main" id="{39F4112B-CAE8-A1E5-C010-98BEEE41F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772680"/>
              </p:ext>
            </p:extLst>
          </p:nvPr>
        </p:nvGraphicFramePr>
        <p:xfrm>
          <a:off x="3560137" y="5029203"/>
          <a:ext cx="492442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444240" progId="Equation.3">
                  <p:embed/>
                </p:oleObj>
              </mc:Choice>
              <mc:Fallback>
                <p:oleObj name="Equation" r:id="rId2" imgW="2234880" imgH="444240" progId="Equation.3">
                  <p:embed/>
                  <p:pic>
                    <p:nvPicPr>
                      <p:cNvPr id="10" name="Object 18">
                        <a:extLst>
                          <a:ext uri="{FF2B5EF4-FFF2-40B4-BE49-F238E27FC236}">
                            <a16:creationId xmlns:a16="http://schemas.microsoft.com/office/drawing/2014/main" id="{39F4112B-CAE8-A1E5-C010-98BEEE41FE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0137" y="5029203"/>
                        <a:ext cx="492442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9">
            <a:extLst>
              <a:ext uri="{FF2B5EF4-FFF2-40B4-BE49-F238E27FC236}">
                <a16:creationId xmlns:a16="http://schemas.microsoft.com/office/drawing/2014/main" id="{F550D30D-BD19-47FB-7EE8-9F0C720939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319230"/>
              </p:ext>
            </p:extLst>
          </p:nvPr>
        </p:nvGraphicFramePr>
        <p:xfrm>
          <a:off x="3788737" y="6019803"/>
          <a:ext cx="47704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203040" progId="Equation.3">
                  <p:embed/>
                </p:oleObj>
              </mc:Choice>
              <mc:Fallback>
                <p:oleObj name="Equation" r:id="rId4" imgW="1993680" imgH="203040" progId="Equation.3">
                  <p:embed/>
                  <p:pic>
                    <p:nvPicPr>
                      <p:cNvPr id="11" name="Object 19">
                        <a:extLst>
                          <a:ext uri="{FF2B5EF4-FFF2-40B4-BE49-F238E27FC236}">
                            <a16:creationId xmlns:a16="http://schemas.microsoft.com/office/drawing/2014/main" id="{F550D30D-BD19-47FB-7EE8-9F0C720939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737" y="6019803"/>
                        <a:ext cx="47704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691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6" grpId="0" build="p" autoUpdateAnimBg="0"/>
      <p:bldP spid="8" grpId="0" animBg="1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009553" y="3561393"/>
            <a:ext cx="7155711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4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Exponential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758867257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4828" y="915488"/>
            <a:ext cx="7070652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The Exponential Distributions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DB52BAE-7C2A-BFE0-446F-4B8F954A8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736" y="1508048"/>
            <a:ext cx="94363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The family of exponential distributions provides probability models that are very widely used in engineering and science disciplines. </a:t>
            </a:r>
            <a:endParaRPr lang="en-US" altLang="ko-KR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02B5380-DBCA-D9EE-3806-6DA7C2704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851" y="3138375"/>
            <a:ext cx="943639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X is said to have an exponential distribution with the rate parameter λ (λ &gt; 0) if the pdf of X is</a:t>
            </a:r>
            <a:endParaRPr lang="en-US" altLang="ko-KR" sz="3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B612C2-E03F-88DF-901A-0722B9D24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159" y="4671799"/>
            <a:ext cx="5226319" cy="11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271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4828" y="915488"/>
            <a:ext cx="7070652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The Exponential Distributions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DB52BAE-7C2A-BFE0-446F-4B8F954A8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736" y="1561213"/>
            <a:ext cx="94363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Integration by parts give the following results:</a:t>
            </a:r>
            <a:endParaRPr lang="en-US" altLang="ko-KR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40FED2-2DC3-F063-606C-EAA2D1881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504" y="2283015"/>
            <a:ext cx="3473629" cy="8064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484DC1E5-CB2A-A490-4651-363B692A52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2748" y="3117109"/>
                <a:ext cx="9436394" cy="15696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457200" indent="-457200" defTabSz="914400">
                  <a:buFont typeface="Arial" panose="020B0604020202020204" pitchFamily="34" charset="0"/>
                  <a:buChar char="•"/>
                </a:pPr>
                <a:r>
                  <a:rPr lang="en-US" altLang="ko-KR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How would we set up the calculation for </a:t>
                </a:r>
                <a14:m>
                  <m:oMath xmlns:m="http://schemas.openxmlformats.org/officeDocument/2006/math">
                    <m:r>
                      <a:rPr lang="en-US" altLang="ko-KR" sz="3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𝐸</m:t>
                    </m:r>
                    <m:r>
                      <a:rPr lang="en-US" altLang="ko-KR" sz="32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(</m:t>
                    </m:r>
                    <m:r>
                      <a:rPr lang="en-US" altLang="ko-KR" sz="32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𝑋</m:t>
                    </m:r>
                    <m:r>
                      <a:rPr lang="en-US" altLang="ko-KR" sz="32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)</m:t>
                    </m:r>
                  </m:oMath>
                </a14:m>
                <a:r>
                  <a:rPr lang="en-US" altLang="ko-KR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?</a:t>
                </a:r>
              </a:p>
              <a:p>
                <a:pPr marL="457200" indent="-457200" defTabSz="914400">
                  <a:buFont typeface="Arial" panose="020B0604020202020204" pitchFamily="34" charset="0"/>
                  <a:buChar char="•"/>
                </a:pPr>
                <a:r>
                  <a:rPr lang="en-US" altLang="ko-KR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Both the </a:t>
                </a:r>
                <a:r>
                  <a:rPr lang="en-US" altLang="ko-KR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mean</a:t>
                </a:r>
                <a:r>
                  <a:rPr lang="en-US" altLang="ko-KR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 and </a:t>
                </a:r>
                <a:r>
                  <a:rPr lang="en-US" altLang="ko-KR" sz="3200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standard deviation </a:t>
                </a:r>
                <a:r>
                  <a:rPr lang="en-US" altLang="ko-KR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of the exponential distribution equal 1/λ.</a:t>
                </a:r>
                <a:endParaRPr lang="en-US" altLang="ko-KR" sz="32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484DC1E5-CB2A-A490-4651-363B692A5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748" y="3117109"/>
                <a:ext cx="9436394" cy="1569660"/>
              </a:xfrm>
              <a:prstGeom prst="rect">
                <a:avLst/>
              </a:prstGeom>
              <a:blipFill>
                <a:blip r:embed="rId3"/>
                <a:stretch>
                  <a:fillRect l="-1486" t="-5426" b="-1124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3B83BC4-49B9-E4C2-8F9A-5A544C8CF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442" y="4979477"/>
            <a:ext cx="6883754" cy="128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720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4828" y="915488"/>
            <a:ext cx="7070652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The Exponential Distributions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DB52BAE-7C2A-BFE0-446F-4B8F954A8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736" y="1933356"/>
            <a:ext cx="94363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Another important application of the exponential distribution is to model the distribution of lifetimes, or times to an event.</a:t>
            </a:r>
            <a:endParaRPr lang="en-US" altLang="ko-KR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4A88E6B3-6582-1989-80E9-64E391B4C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013" y="3436091"/>
            <a:ext cx="94363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32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A partial reason for the popularity of such applications is the “memoryless” property of the Exponential distribution. </a:t>
            </a:r>
            <a:endParaRPr lang="en-US" altLang="ko-KR" sz="32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6485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4828" y="915488"/>
            <a:ext cx="7070652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The Exponential Distributions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1DB52BAE-7C2A-BFE0-446F-4B8F954A8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736" y="1667540"/>
            <a:ext cx="943639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Suppose a light bulb’s lifetime is exponentially distributed with parameter λ. </a:t>
            </a:r>
            <a:endParaRPr lang="en-US" altLang="ko-KR" sz="28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4A88E6B3-6582-1989-80E9-64E391B4C7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013" y="2744758"/>
                <a:ext cx="9436394" cy="13849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457200" indent="-457200" defTabSz="9144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Say you turn the light on, and then we leave and come back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 hours to find it still on. What is the probability that the light bulb will last for at least additional </a:t>
                </a:r>
                <a:r>
                  <a:rPr lang="en-US" altLang="ko-KR" sz="2800" i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t </a:t>
                </a:r>
                <a:r>
                  <a:rPr lang="en-US" altLang="ko-K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hours? </a:t>
                </a:r>
                <a:endParaRPr lang="en-US" altLang="ko-KR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4A88E6B3-6582-1989-80E9-64E391B4C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4013" y="2744758"/>
                <a:ext cx="9436394" cy="1384995"/>
              </a:xfrm>
              <a:prstGeom prst="rect">
                <a:avLst/>
              </a:prstGeom>
              <a:blipFill>
                <a:blip r:embed="rId2"/>
                <a:stretch>
                  <a:fillRect l="-1163" t="-4405" b="-1145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5">
                <a:extLst>
                  <a:ext uri="{FF2B5EF4-FFF2-40B4-BE49-F238E27FC236}">
                    <a16:creationId xmlns:a16="http://schemas.microsoft.com/office/drawing/2014/main" id="{8A1A951A-B4A4-1313-8609-DDCC607B7A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423" y="4215592"/>
                <a:ext cx="9895366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 defTabSz="914400">
                  <a:buFont typeface="Arial" panose="020B0604020202020204" pitchFamily="34" charset="0"/>
                  <a:buChar char="•"/>
                </a:pPr>
                <a:r>
                  <a:rPr lang="en-US" altLang="ko-KR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굴림" panose="020B0600000101010101" pitchFamily="34" charset="-127"/>
                  </a:rPr>
                  <a:t>In symbols, we are looking for </a:t>
                </a:r>
                <a14:m>
                  <m:oMath xmlns:m="http://schemas.openxmlformats.org/officeDocument/2006/math"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𝑃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(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𝑋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≥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𝑡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+</m:t>
                    </m:r>
                    <m:sSub>
                      <m:sSubPr>
                        <m:ctrlPr>
                          <a:rPr lang="en-US" altLang="ko-KR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  <m:t>0</m:t>
                        </m:r>
                      </m:sub>
                    </m:sSub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 | 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𝑋</m:t>
                    </m:r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≥</m:t>
                    </m:r>
                    <m:sSub>
                      <m:sSubPr>
                        <m:ctrlPr>
                          <a:rPr lang="en-US" altLang="ko-KR" sz="280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</m:ctrlPr>
                      </m:sSubPr>
                      <m:e>
                        <m:r>
                          <a:rPr lang="en-US" altLang="ko-KR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  <m:t>𝑡</m:t>
                        </m:r>
                      </m:e>
                      <m:sub>
                        <m:r>
                          <a:rPr lang="en-US" altLang="ko-KR" sz="2800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굴림" panose="020B0600000101010101" pitchFamily="34" charset="-127"/>
                          </a:rPr>
                          <m:t>0</m:t>
                        </m:r>
                      </m:sub>
                    </m:sSub>
                    <m:r>
                      <a:rPr lang="en-US" altLang="ko-KR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굴림" panose="020B0600000101010101" pitchFamily="34" charset="-127"/>
                      </a:rPr>
                      <m:t>).</m:t>
                    </m:r>
                  </m:oMath>
                </a14:m>
                <a:endParaRPr lang="en-US" altLang="ko-KR" sz="28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굴림" panose="020B0600000101010101" pitchFamily="34" charset="-127"/>
                </a:endParaRPr>
              </a:p>
            </p:txBody>
          </p:sp>
        </mc:Choice>
        <mc:Fallback xmlns="">
          <p:sp>
            <p:nvSpPr>
              <p:cNvPr id="3" name="Text Box 5">
                <a:extLst>
                  <a:ext uri="{FF2B5EF4-FFF2-40B4-BE49-F238E27FC236}">
                    <a16:creationId xmlns:a16="http://schemas.microsoft.com/office/drawing/2014/main" id="{8A1A951A-B4A4-1313-8609-DDCC607B7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423" y="4215592"/>
                <a:ext cx="9895366" cy="523220"/>
              </a:xfrm>
              <a:prstGeom prst="rect">
                <a:avLst/>
              </a:prstGeom>
              <a:blipFill>
                <a:blip r:embed="rId3"/>
                <a:stretch>
                  <a:fillRect l="-1109" t="-12941" b="-329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5">
            <a:extLst>
              <a:ext uri="{FF2B5EF4-FFF2-40B4-BE49-F238E27FC236}">
                <a16:creationId xmlns:a16="http://schemas.microsoft.com/office/drawing/2014/main" id="{139FC321-6DBA-953E-A2C4-B665ABE55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338" y="4857092"/>
            <a:ext cx="989536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457200" indent="-457200" defTabSz="914400"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rgbClr val="002060"/>
                </a:solidFill>
                <a:latin typeface="Times New Roman" panose="02020603050405020304" pitchFamily="18" charset="0"/>
                <a:ea typeface="굴림" panose="020B0600000101010101" pitchFamily="34" charset="-127"/>
              </a:rPr>
              <a:t>How would we calculate this?  (Devore, p. 172)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C659E-8B34-43BA-2528-F675C2B01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33" y="6472727"/>
            <a:ext cx="9191762" cy="9520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68B18B-9441-9629-49B9-C910083693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075" y="5456061"/>
            <a:ext cx="7708068" cy="95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815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671547" y="3636078"/>
            <a:ext cx="534309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4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Probability Plots</a:t>
            </a:r>
            <a:endParaRPr lang="en-ID" sz="48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62362152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Sample Percentiles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7255C13-9284-0086-8D72-754865EF756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57729" y="1893064"/>
                <a:ext cx="9511033" cy="132859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80000"/>
                  </a:lnSpc>
                </a:pP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Order the n sample observations from smallest to largest. Then the </a:t>
                </a:r>
                <a:r>
                  <a:rPr lang="en-US" altLang="en-US" sz="2800" kern="0" dirty="0" err="1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ith</a:t>
                </a: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smallest observation in the list is taken to be the </a:t>
                </a:r>
                <a14:m>
                  <m:oMath xmlns:m="http://schemas.openxmlformats.org/officeDocument/2006/math"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[100(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𝑖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−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.5)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/</m:t>
                    </m:r>
                    <m:r>
                      <a:rPr lang="en-US" altLang="en-US" sz="2800" i="1" kern="0" dirty="0" err="1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𝑛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] </m:t>
                    </m:r>
                  </m:oMath>
                </a14:m>
                <a:r>
                  <a:rPr lang="en-US" altLang="en-US" sz="2800" kern="0" dirty="0" err="1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th</a:t>
                </a: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sample percentile.</a:t>
                </a:r>
                <a:endParaRPr lang="en-US" altLang="en-US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7255C13-9284-0086-8D72-754865EF7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729" y="1893064"/>
                <a:ext cx="9511033" cy="1328597"/>
              </a:xfrm>
              <a:prstGeom prst="rect">
                <a:avLst/>
              </a:prstGeom>
              <a:blipFill>
                <a:blip r:embed="rId2"/>
                <a:stretch>
                  <a:fillRect l="-2692" t="-23963" r="-10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06C340F6-F7F4-DF7A-FD90-8AB9E85D493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50634" y="3161889"/>
                <a:ext cx="9511033" cy="220755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 lnSpcReduction="10000"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00000"/>
                  </a:lnSpc>
                </a:pP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For example, if </a:t>
                </a:r>
                <a14:m>
                  <m:oMath xmlns:m="http://schemas.openxmlformats.org/officeDocument/2006/math"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𝑛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10</m:t>
                    </m:r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, the percentages corresponding to the ordered sample observations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fPr>
                      <m:num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100</m:t>
                        </m:r>
                        <m:d>
                          <m:dPr>
                            <m:ctrlP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1</m:t>
                            </m:r>
                            <m:r>
                              <a:rPr lang="en-US" altLang="en-US" sz="2800" b="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−</m:t>
                            </m:r>
                            <m: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.5</m:t>
                            </m:r>
                          </m:e>
                        </m:d>
                      </m:num>
                      <m:den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10</m:t>
                        </m:r>
                      </m:den>
                    </m:f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5%,</m:t>
                    </m:r>
                    <m:f>
                      <m:fPr>
                        <m:ctrlP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fPr>
                      <m:num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100</m:t>
                        </m:r>
                        <m:d>
                          <m:dPr>
                            <m:ctrlP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2</m:t>
                            </m:r>
                            <m:r>
                              <a:rPr lang="en-US" altLang="en-US" sz="2800" b="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−</m:t>
                            </m:r>
                            <m: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.5</m:t>
                            </m:r>
                          </m:e>
                        </m:d>
                      </m:num>
                      <m:den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10</m:t>
                        </m:r>
                      </m:den>
                    </m:f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15%</m:t>
                    </m:r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25</m:t>
                    </m:r>
                    <m:r>
                      <a:rPr lang="en-US" altLang="en-US" sz="2800" i="1" kern="0" dirty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%,…, </m:t>
                    </m:r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fPr>
                      <m:num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100</m:t>
                        </m:r>
                        <m:d>
                          <m:dPr>
                            <m:ctrlP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</m:ctrlPr>
                          </m:dPr>
                          <m:e>
                            <m: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10</m:t>
                            </m:r>
                            <m:r>
                              <a:rPr lang="en-US" altLang="en-US" sz="2800" b="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−</m:t>
                            </m:r>
                            <m:r>
                              <a:rPr lang="en-US" altLang="en-US" sz="2800" i="1" kern="0" dirty="0" smtClean="0">
                                <a:latin typeface="Cambria Math" panose="02040503050406030204" pitchFamily="18" charset="0"/>
                                <a:ea typeface="Open Sans Semibold" panose="020B0706030804020204" pitchFamily="34" charset="0"/>
                                <a:cs typeface="Open Sans Semibold" panose="020B0706030804020204" pitchFamily="34" charset="0"/>
                              </a:rPr>
                              <m:t>.5</m:t>
                            </m:r>
                          </m:e>
                        </m:d>
                      </m:num>
                      <m:den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10</m:t>
                        </m:r>
                      </m:den>
                    </m:f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95%</m:t>
                    </m:r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.</a:t>
                </a:r>
              </a:p>
              <a:p>
                <a:pPr fontAlgn="auto">
                  <a:lnSpc>
                    <a:spcPct val="100000"/>
                  </a:lnSpc>
                </a:pPr>
                <a:endParaRPr lang="en-US" altLang="en-US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06C340F6-F7F4-DF7A-FD90-8AB9E85D4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34" y="3161889"/>
                <a:ext cx="9511033" cy="2207553"/>
              </a:xfrm>
              <a:prstGeom prst="rect">
                <a:avLst/>
              </a:prstGeom>
              <a:blipFill>
                <a:blip r:embed="rId3"/>
                <a:stretch>
                  <a:fillRect l="-2627" t="-1270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DD1826BB-B3B4-FF65-26FC-D383005A2E93}"/>
              </a:ext>
            </a:extLst>
          </p:cNvPr>
          <p:cNvSpPr txBox="1">
            <a:spLocks noChangeArrowheads="1"/>
          </p:cNvSpPr>
          <p:nvPr/>
        </p:nvSpPr>
        <p:spPr>
          <a:xfrm>
            <a:off x="1029370" y="5320302"/>
            <a:ext cx="9511033" cy="1328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80000"/>
              </a:lnSpc>
            </a:pP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The </a:t>
            </a:r>
            <a:r>
              <a:rPr lang="en-US" altLang="en-US" sz="2800" b="1" kern="0" dirty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10th percentile </a:t>
            </a: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is then halfway between the </a:t>
            </a:r>
            <a:r>
              <a:rPr lang="en-US" altLang="en-US" sz="2800" kern="0" dirty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5th percentile </a:t>
            </a: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(smallest sample observation) and the </a:t>
            </a:r>
            <a:r>
              <a:rPr lang="en-US" altLang="en-US" sz="2800" kern="0" dirty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15th percentile </a:t>
            </a: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(second smallest observation).</a:t>
            </a:r>
            <a:endParaRPr lang="en-US" altLang="en-US" sz="28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5839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A Probability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7255C13-9284-0086-8D72-754865EF756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57729" y="1893064"/>
                <a:ext cx="9511033" cy="164757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Suppose now that for percentages </a:t>
                </a:r>
                <a14:m>
                  <m:oMath xmlns:m="http://schemas.openxmlformats.org/officeDocument/2006/math"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100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(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𝑖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−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.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5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)/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𝑛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 (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𝑖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1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,…, 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𝑛</m:t>
                    </m:r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)</m:t>
                    </m:r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the percentiles are determined for a specified population distribution whose plausibility is being investigated.</a:t>
                </a:r>
                <a:endParaRPr lang="en-US" altLang="en-US" sz="2800" kern="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7255C13-9284-0086-8D72-754865EF7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729" y="1893064"/>
                <a:ext cx="9511033" cy="1647578"/>
              </a:xfrm>
              <a:prstGeom prst="rect">
                <a:avLst/>
              </a:prstGeom>
              <a:blipFill>
                <a:blip r:embed="rId2"/>
                <a:stretch>
                  <a:fillRect l="-2692" t="-13333" r="-1987" b="-2851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0391F96B-0DC5-9AF7-E8DF-6EDA0449C200}"/>
              </a:ext>
            </a:extLst>
          </p:cNvPr>
          <p:cNvSpPr txBox="1">
            <a:spLocks noChangeArrowheads="1"/>
          </p:cNvSpPr>
          <p:nvPr/>
        </p:nvSpPr>
        <p:spPr>
          <a:xfrm>
            <a:off x="1008107" y="3853006"/>
            <a:ext cx="9511033" cy="234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00000"/>
              </a:lnSpc>
            </a:pP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 If the sample was actually selected from the specified distribution, the sample percentiles (ordered sample observations) should be reasonably close to the corresponding population distribution percentiles.</a:t>
            </a:r>
            <a:endParaRPr lang="en-US" altLang="en-US" sz="28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5352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A Probability Plot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55C13-9284-0086-8D72-754865EF756B}"/>
              </a:ext>
            </a:extLst>
          </p:cNvPr>
          <p:cNvSpPr txBox="1">
            <a:spLocks noChangeArrowheads="1"/>
          </p:cNvSpPr>
          <p:nvPr/>
        </p:nvSpPr>
        <p:spPr>
          <a:xfrm>
            <a:off x="1057729" y="1552820"/>
            <a:ext cx="9511033" cy="1084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10000"/>
              </a:lnSpc>
            </a:pP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Let’s consider the (population percentile, sample percentile) pairs—that is, the pairs</a:t>
            </a:r>
            <a:endParaRPr lang="en-US" altLang="en-US" sz="28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C028C-2B73-42B9-355C-006430ACC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032" y="2626236"/>
            <a:ext cx="7102964" cy="10840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33EB9-4E70-F91C-28DF-9B8678D1AEF5}"/>
                  </a:ext>
                </a:extLst>
              </p:cNvPr>
              <p:cNvSpPr txBox="1"/>
              <p:nvPr/>
            </p:nvSpPr>
            <p:spPr>
              <a:xfrm>
                <a:off x="1331727" y="3694392"/>
                <a:ext cx="5342860" cy="5232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lang="nn-NO" sz="280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nn-NO" sz="2800" i="1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𝑖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nn-NO" sz="2800" i="1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1,…, </m:t>
                    </m:r>
                    <m:r>
                      <a:rPr lang="nn-NO" sz="2800" i="1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𝑛</m:t>
                    </m:r>
                  </m:oMath>
                </a14:m>
                <a:r>
                  <a:rPr lang="nn-NO" sz="280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.</a:t>
                </a:r>
                <a:endParaRPr lang="en-ID" sz="2800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7333EB9-4E70-F91C-28DF-9B8678D1A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727" y="3694392"/>
                <a:ext cx="5342860" cy="523220"/>
              </a:xfrm>
              <a:prstGeom prst="rect">
                <a:avLst/>
              </a:prstGeom>
              <a:blipFill>
                <a:blip r:embed="rId3"/>
                <a:stretch>
                  <a:fillRect l="-2281" t="-11628" b="-3139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3">
            <a:extLst>
              <a:ext uri="{FF2B5EF4-FFF2-40B4-BE49-F238E27FC236}">
                <a16:creationId xmlns:a16="http://schemas.microsoft.com/office/drawing/2014/main" id="{9605BFDA-2560-F663-70D8-DA3F84A86AE2}"/>
              </a:ext>
            </a:extLst>
          </p:cNvPr>
          <p:cNvSpPr txBox="1">
            <a:spLocks noChangeArrowheads="1"/>
          </p:cNvSpPr>
          <p:nvPr/>
        </p:nvSpPr>
        <p:spPr>
          <a:xfrm>
            <a:off x="1057728" y="4238402"/>
            <a:ext cx="9511033" cy="1084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110000"/>
              </a:lnSpc>
            </a:pP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Each such pair can be plotted as a point on a two-dimensional coordinate system.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F23CFDA2-5E1D-F0FC-74AC-1BFE63D01A7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29368" y="5326471"/>
                <a:ext cx="9511033" cy="196746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110000"/>
                  </a:lnSpc>
                </a:pP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The plotted points will then fall close to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sSupPr>
                      <m:e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45</m:t>
                        </m:r>
                      </m:e>
                      <m:sup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line. Substantial deviations of the plotted points from 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kern="0" dirty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sSupPr>
                      <m:e>
                        <m:r>
                          <a:rPr lang="en-US" altLang="en-US" sz="2800" i="1" kern="0" dirty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45</m:t>
                        </m:r>
                      </m:e>
                      <m:sup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𝑜</m:t>
                        </m:r>
                      </m:sup>
                    </m:sSup>
                  </m:oMath>
                </a14:m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line cast doubt on the assumption that the distribution under consideration is the correct one.</a:t>
                </a: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F23CFDA2-5E1D-F0FC-74AC-1BFE63D01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68" y="5326471"/>
                <a:ext cx="9511033" cy="1967464"/>
              </a:xfrm>
              <a:prstGeom prst="rect">
                <a:avLst/>
              </a:prstGeom>
              <a:blipFill>
                <a:blip r:embed="rId4"/>
                <a:stretch>
                  <a:fillRect l="-2628" t="-11146" b="-774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1242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A Probability Plot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E91387-77C2-5997-FCD2-7F0D26248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703" y="1841857"/>
            <a:ext cx="6316003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82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3B4B6-DF82-FCD5-0BB4-A96F970A23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FF4FD2-3730-E556-436C-FD0C038A3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A5433F-B509-A8DD-00B7-DE04C4971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569" y="2022742"/>
            <a:ext cx="6316475" cy="43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15423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2671547" y="3636078"/>
            <a:ext cx="5343093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4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Probability Plots</a:t>
            </a:r>
            <a:endParaRPr lang="en-ID" sz="48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17435435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55C13-9284-0086-8D72-754865EF756B}"/>
              </a:ext>
            </a:extLst>
          </p:cNvPr>
          <p:cNvSpPr txBox="1">
            <a:spLocks noChangeArrowheads="1"/>
          </p:cNvSpPr>
          <p:nvPr/>
        </p:nvSpPr>
        <p:spPr>
          <a:xfrm>
            <a:off x="1015198" y="2041924"/>
            <a:ext cx="9630908" cy="1305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>
              <a:lnSpc>
                <a:spcPct val="80000"/>
              </a:lnSpc>
            </a:pPr>
            <a:r>
              <a:rPr lang="en-US" altLang="en-US" sz="28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Each value a random variable could take is subtracted from its expectation, squared, and weighted by its probability of occurrence</a:t>
            </a:r>
            <a:endParaRPr lang="en-US" altLang="en-US" sz="2800" kern="0" dirty="0"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graphicFrame>
        <p:nvGraphicFramePr>
          <p:cNvPr id="2" name="Object 4">
            <a:extLst>
              <a:ext uri="{FF2B5EF4-FFF2-40B4-BE49-F238E27FC236}">
                <a16:creationId xmlns:a16="http://schemas.microsoft.com/office/drawing/2014/main" id="{0B0935D5-36F6-5BE4-B2BF-24840D1B47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334214"/>
              </p:ext>
            </p:extLst>
          </p:nvPr>
        </p:nvGraphicFramePr>
        <p:xfrm>
          <a:off x="1932363" y="3643546"/>
          <a:ext cx="7226723" cy="130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355320" progId="Equation.3">
                  <p:embed/>
                </p:oleObj>
              </mc:Choice>
              <mc:Fallback>
                <p:oleObj name="Equation" r:id="rId2" imgW="1968480" imgH="355320" progId="Equation.3">
                  <p:embed/>
                  <p:pic>
                    <p:nvPicPr>
                      <p:cNvPr id="2" name="Object 4">
                        <a:extLst>
                          <a:ext uri="{FF2B5EF4-FFF2-40B4-BE49-F238E27FC236}">
                            <a16:creationId xmlns:a16="http://schemas.microsoft.com/office/drawing/2014/main" id="{0B0935D5-36F6-5BE4-B2BF-24840D1B47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2363" y="3643546"/>
                        <a:ext cx="7226723" cy="1305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D0CCA6D-2362-4E1F-9E9B-68546DF48A4F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050635" y="4746144"/>
                <a:ext cx="9630908" cy="130599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fontAlgn="auto">
                  <a:lnSpc>
                    <a:spcPct val="80000"/>
                  </a:lnSpc>
                </a:pPr>
                <a:r>
                  <a:rPr lang="en-US" altLang="en-US" sz="280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Another notation of variance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Open Sans Semibold" panose="020B0706030804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2800" kern="0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7D0CCA6D-2362-4E1F-9E9B-68546DF48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635" y="4746144"/>
                <a:ext cx="9630908" cy="1305993"/>
              </a:xfrm>
              <a:prstGeom prst="rect">
                <a:avLst/>
              </a:prstGeom>
              <a:blipFill>
                <a:blip r:embed="rId4"/>
                <a:stretch>
                  <a:fillRect l="-2595" t="-2429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81192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pSp>
        <p:nvGrpSpPr>
          <p:cNvPr id="6" name="Group 446">
            <a:extLst>
              <a:ext uri="{FF2B5EF4-FFF2-40B4-BE49-F238E27FC236}">
                <a16:creationId xmlns:a16="http://schemas.microsoft.com/office/drawing/2014/main" id="{8E5D26EE-55B3-2538-AAE1-24596937F9C0}"/>
              </a:ext>
            </a:extLst>
          </p:cNvPr>
          <p:cNvGrpSpPr>
            <a:grpSpLocks/>
          </p:cNvGrpSpPr>
          <p:nvPr/>
        </p:nvGrpSpPr>
        <p:grpSpPr bwMode="auto">
          <a:xfrm>
            <a:off x="2067084" y="3376021"/>
            <a:ext cx="6722533" cy="3529330"/>
            <a:chOff x="-2" y="-2"/>
            <a:chExt cx="3738" cy="4148"/>
          </a:xfrm>
        </p:grpSpPr>
        <p:grpSp>
          <p:nvGrpSpPr>
            <p:cNvPr id="8" name="Group 444">
              <a:extLst>
                <a:ext uri="{FF2B5EF4-FFF2-40B4-BE49-F238E27FC236}">
                  <a16:creationId xmlns:a16="http://schemas.microsoft.com/office/drawing/2014/main" id="{13361322-DA21-B988-0A51-06E6233F89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734" cy="4144"/>
              <a:chOff x="0" y="0"/>
              <a:chExt cx="3734" cy="4144"/>
            </a:xfrm>
          </p:grpSpPr>
          <p:grpSp>
            <p:nvGrpSpPr>
              <p:cNvPr id="10" name="Group 365">
                <a:extLst>
                  <a:ext uri="{FF2B5EF4-FFF2-40B4-BE49-F238E27FC236}">
                    <a16:creationId xmlns:a16="http://schemas.microsoft.com/office/drawing/2014/main" id="{C43C73C3-3379-86D7-EC7C-F27175288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68" cy="518"/>
                <a:chOff x="0" y="0"/>
                <a:chExt cx="468" cy="518"/>
              </a:xfrm>
            </p:grpSpPr>
            <p:sp>
              <p:nvSpPr>
                <p:cNvPr id="128" name="Rectangle 324">
                  <a:extLst>
                    <a:ext uri="{FF2B5EF4-FFF2-40B4-BE49-F238E27FC236}">
                      <a16:creationId xmlns:a16="http://schemas.microsoft.com/office/drawing/2014/main" id="{E581C3DA-7D73-76B3-4127-5A1209D34E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9" name="Rectangle 364">
                  <a:extLst>
                    <a:ext uri="{FF2B5EF4-FFF2-40B4-BE49-F238E27FC236}">
                      <a16:creationId xmlns:a16="http://schemas.microsoft.com/office/drawing/2014/main" id="{C20A4CBB-71EC-25B8-EC1D-3865AC5E56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1" name="Group 367">
                <a:extLst>
                  <a:ext uri="{FF2B5EF4-FFF2-40B4-BE49-F238E27FC236}">
                    <a16:creationId xmlns:a16="http://schemas.microsoft.com/office/drawing/2014/main" id="{6655BC59-9E6B-D44F-07E6-3187AFE7D0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0"/>
                <a:ext cx="746" cy="518"/>
                <a:chOff x="468" y="0"/>
                <a:chExt cx="746" cy="518"/>
              </a:xfrm>
            </p:grpSpPr>
            <p:sp>
              <p:nvSpPr>
                <p:cNvPr id="126" name="Rectangle 325">
                  <a:extLst>
                    <a:ext uri="{FF2B5EF4-FFF2-40B4-BE49-F238E27FC236}">
                      <a16:creationId xmlns:a16="http://schemas.microsoft.com/office/drawing/2014/main" id="{0C2C4647-8735-E3E5-9D19-E564F94AE2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0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x-E(X)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7" name="Rectangle 366">
                  <a:extLst>
                    <a:ext uri="{FF2B5EF4-FFF2-40B4-BE49-F238E27FC236}">
                      <a16:creationId xmlns:a16="http://schemas.microsoft.com/office/drawing/2014/main" id="{15DABAF1-838E-C371-28D0-416A23ED1C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0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2" name="Group 369">
                <a:extLst>
                  <a:ext uri="{FF2B5EF4-FFF2-40B4-BE49-F238E27FC236}">
                    <a16:creationId xmlns:a16="http://schemas.microsoft.com/office/drawing/2014/main" id="{3B1EB3BB-C4C2-61D7-1DB9-43317209EF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0"/>
                <a:ext cx="938" cy="518"/>
                <a:chOff x="1214" y="0"/>
                <a:chExt cx="938" cy="518"/>
              </a:xfrm>
            </p:grpSpPr>
            <p:sp>
              <p:nvSpPr>
                <p:cNvPr id="124" name="Rectangle 326">
                  <a:extLst>
                    <a:ext uri="{FF2B5EF4-FFF2-40B4-BE49-F238E27FC236}">
                      <a16:creationId xmlns:a16="http://schemas.microsoft.com/office/drawing/2014/main" id="{E004509F-4A86-CF93-297C-AFB38CEF97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0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(x-E(X))</a:t>
                  </a:r>
                  <a:r>
                    <a:rPr kumimoji="1" lang="en-US" altLang="en-US" sz="2316" baseline="30000">
                      <a:latin typeface="Times New (W1)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5" name="Rectangle 368">
                  <a:extLst>
                    <a:ext uri="{FF2B5EF4-FFF2-40B4-BE49-F238E27FC236}">
                      <a16:creationId xmlns:a16="http://schemas.microsoft.com/office/drawing/2014/main" id="{A99D2214-57E2-DC0C-2A5D-340AA90FB2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0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3" name="Group 371">
                <a:extLst>
                  <a:ext uri="{FF2B5EF4-FFF2-40B4-BE49-F238E27FC236}">
                    <a16:creationId xmlns:a16="http://schemas.microsoft.com/office/drawing/2014/main" id="{3DA3E73F-CB07-C4FF-4DB5-0A4720892A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0"/>
                <a:ext cx="780" cy="518"/>
                <a:chOff x="2152" y="0"/>
                <a:chExt cx="780" cy="518"/>
              </a:xfrm>
            </p:grpSpPr>
            <p:sp>
              <p:nvSpPr>
                <p:cNvPr id="122" name="Rectangle 327">
                  <a:extLst>
                    <a:ext uri="{FF2B5EF4-FFF2-40B4-BE49-F238E27FC236}">
                      <a16:creationId xmlns:a16="http://schemas.microsoft.com/office/drawing/2014/main" id="{14260CF3-EDBB-7E91-B353-2E9DA7928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P(X=x)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23" name="Rectangle 370">
                  <a:extLst>
                    <a:ext uri="{FF2B5EF4-FFF2-40B4-BE49-F238E27FC236}">
                      <a16:creationId xmlns:a16="http://schemas.microsoft.com/office/drawing/2014/main" id="{A8E3FF6E-7453-6849-7069-B168963E7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4" name="Group 373">
                <a:extLst>
                  <a:ext uri="{FF2B5EF4-FFF2-40B4-BE49-F238E27FC236}">
                    <a16:creationId xmlns:a16="http://schemas.microsoft.com/office/drawing/2014/main" id="{4C909E24-431E-235E-66D8-D1C3D00736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0"/>
                <a:ext cx="802" cy="518"/>
                <a:chOff x="2932" y="0"/>
                <a:chExt cx="802" cy="518"/>
              </a:xfrm>
            </p:grpSpPr>
            <p:sp>
              <p:nvSpPr>
                <p:cNvPr id="120" name="Rectangle 328">
                  <a:extLst>
                    <a:ext uri="{FF2B5EF4-FFF2-40B4-BE49-F238E27FC236}">
                      <a16:creationId xmlns:a16="http://schemas.microsoft.com/office/drawing/2014/main" id="{0FD4ADD7-C660-5097-213E-AD50B07320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 algn="r"/>
                  <a:r>
                    <a:rPr kumimoji="1" lang="en-US" altLang="en-US" sz="2867" b="1" dirty="0">
                      <a:cs typeface="Times New Roman" panose="02020603050405020304" pitchFamily="18" charset="0"/>
                    </a:rPr>
                    <a:t>Product</a:t>
                  </a:r>
                </a:p>
                <a:p>
                  <a:pPr algn="r" eaLnBrk="0" hangingPunct="0"/>
                  <a:endParaRPr kumimoji="1" lang="en-US" altLang="en-US" sz="2316" dirty="0"/>
                </a:p>
              </p:txBody>
            </p:sp>
            <p:sp>
              <p:nvSpPr>
                <p:cNvPr id="121" name="Rectangle 372">
                  <a:extLst>
                    <a:ext uri="{FF2B5EF4-FFF2-40B4-BE49-F238E27FC236}">
                      <a16:creationId xmlns:a16="http://schemas.microsoft.com/office/drawing/2014/main" id="{62E2EAB4-F97B-253C-0596-5BF76DD26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5" name="Group 375">
                <a:extLst>
                  <a:ext uri="{FF2B5EF4-FFF2-40B4-BE49-F238E27FC236}">
                    <a16:creationId xmlns:a16="http://schemas.microsoft.com/office/drawing/2014/main" id="{81A00E1B-1472-7B21-07AF-64D09269DC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468" cy="518"/>
                <a:chOff x="0" y="518"/>
                <a:chExt cx="468" cy="518"/>
              </a:xfrm>
            </p:grpSpPr>
            <p:sp>
              <p:nvSpPr>
                <p:cNvPr id="118" name="Rectangle 329">
                  <a:extLst>
                    <a:ext uri="{FF2B5EF4-FFF2-40B4-BE49-F238E27FC236}">
                      <a16:creationId xmlns:a16="http://schemas.microsoft.com/office/drawing/2014/main" id="{64DC104C-6B4C-4E41-1209-9D7857C3AA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1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19" name="Rectangle 374">
                  <a:extLst>
                    <a:ext uri="{FF2B5EF4-FFF2-40B4-BE49-F238E27FC236}">
                      <a16:creationId xmlns:a16="http://schemas.microsoft.com/office/drawing/2014/main" id="{2F876C32-83EE-D5CF-DAD0-66475A85C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6" name="Group 377">
                <a:extLst>
                  <a:ext uri="{FF2B5EF4-FFF2-40B4-BE49-F238E27FC236}">
                    <a16:creationId xmlns:a16="http://schemas.microsoft.com/office/drawing/2014/main" id="{1A651412-B385-9FF6-488D-2A2A06726E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518"/>
                <a:ext cx="746" cy="518"/>
                <a:chOff x="468" y="518"/>
                <a:chExt cx="746" cy="518"/>
              </a:xfrm>
            </p:grpSpPr>
            <p:sp>
              <p:nvSpPr>
                <p:cNvPr id="116" name="Rectangle 330">
                  <a:extLst>
                    <a:ext uri="{FF2B5EF4-FFF2-40B4-BE49-F238E27FC236}">
                      <a16:creationId xmlns:a16="http://schemas.microsoft.com/office/drawing/2014/main" id="{C9F8FD9F-B1E1-1FC6-FD89-E199D85195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518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-2.5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17" name="Rectangle 376">
                  <a:extLst>
                    <a:ext uri="{FF2B5EF4-FFF2-40B4-BE49-F238E27FC236}">
                      <a16:creationId xmlns:a16="http://schemas.microsoft.com/office/drawing/2014/main" id="{0F28231E-3C14-E876-746D-02D91E7FAF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518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7" name="Group 379">
                <a:extLst>
                  <a:ext uri="{FF2B5EF4-FFF2-40B4-BE49-F238E27FC236}">
                    <a16:creationId xmlns:a16="http://schemas.microsoft.com/office/drawing/2014/main" id="{37EB3A7D-056B-10A5-9422-BBEE22BEC2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518"/>
                <a:ext cx="938" cy="518"/>
                <a:chOff x="1214" y="518"/>
                <a:chExt cx="938" cy="518"/>
              </a:xfrm>
            </p:grpSpPr>
            <p:sp>
              <p:nvSpPr>
                <p:cNvPr id="114" name="Rectangle 331">
                  <a:extLst>
                    <a:ext uri="{FF2B5EF4-FFF2-40B4-BE49-F238E27FC236}">
                      <a16:creationId xmlns:a16="http://schemas.microsoft.com/office/drawing/2014/main" id="{8E886E54-36BE-2F8D-7317-E1BCF04A3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518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6.25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15" name="Rectangle 378">
                  <a:extLst>
                    <a:ext uri="{FF2B5EF4-FFF2-40B4-BE49-F238E27FC236}">
                      <a16:creationId xmlns:a16="http://schemas.microsoft.com/office/drawing/2014/main" id="{C1C4A783-6485-3542-49C4-52231574E6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518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8" name="Group 381">
                <a:extLst>
                  <a:ext uri="{FF2B5EF4-FFF2-40B4-BE49-F238E27FC236}">
                    <a16:creationId xmlns:a16="http://schemas.microsoft.com/office/drawing/2014/main" id="{537C4B81-8BDC-CF66-9415-A823E7613B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518"/>
                <a:ext cx="780" cy="518"/>
                <a:chOff x="2152" y="518"/>
                <a:chExt cx="780" cy="518"/>
              </a:xfrm>
            </p:grpSpPr>
            <p:sp>
              <p:nvSpPr>
                <p:cNvPr id="112" name="Rectangle 332">
                  <a:extLst>
                    <a:ext uri="{FF2B5EF4-FFF2-40B4-BE49-F238E27FC236}">
                      <a16:creationId xmlns:a16="http://schemas.microsoft.com/office/drawing/2014/main" id="{1BA58897-1598-ECE8-8285-F98FCFCD22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51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113" name="Rectangle 380">
                  <a:extLst>
                    <a:ext uri="{FF2B5EF4-FFF2-40B4-BE49-F238E27FC236}">
                      <a16:creationId xmlns:a16="http://schemas.microsoft.com/office/drawing/2014/main" id="{41AC4497-B066-9319-41B7-87E6448299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51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9" name="Group 383">
                <a:extLst>
                  <a:ext uri="{FF2B5EF4-FFF2-40B4-BE49-F238E27FC236}">
                    <a16:creationId xmlns:a16="http://schemas.microsoft.com/office/drawing/2014/main" id="{6322F986-20D4-B079-E3DB-37C7F3689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518"/>
                <a:ext cx="802" cy="518"/>
                <a:chOff x="2932" y="518"/>
                <a:chExt cx="802" cy="518"/>
              </a:xfrm>
            </p:grpSpPr>
            <p:sp>
              <p:nvSpPr>
                <p:cNvPr id="110" name="Rectangle 333">
                  <a:extLst>
                    <a:ext uri="{FF2B5EF4-FFF2-40B4-BE49-F238E27FC236}">
                      <a16:creationId xmlns:a16="http://schemas.microsoft.com/office/drawing/2014/main" id="{8C8B3702-1A67-7A17-7FA9-763F033E5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51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11" name="Rectangle 382">
                  <a:extLst>
                    <a:ext uri="{FF2B5EF4-FFF2-40B4-BE49-F238E27FC236}">
                      <a16:creationId xmlns:a16="http://schemas.microsoft.com/office/drawing/2014/main" id="{C34B878F-5C45-EC76-B831-520D08C1F7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51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0" name="Group 385">
                <a:extLst>
                  <a:ext uri="{FF2B5EF4-FFF2-40B4-BE49-F238E27FC236}">
                    <a16:creationId xmlns:a16="http://schemas.microsoft.com/office/drawing/2014/main" id="{679063E6-A3E0-3C78-9A1E-650F4E3CD6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6"/>
                <a:ext cx="468" cy="518"/>
                <a:chOff x="0" y="1036"/>
                <a:chExt cx="468" cy="518"/>
              </a:xfrm>
            </p:grpSpPr>
            <p:sp>
              <p:nvSpPr>
                <p:cNvPr id="108" name="Rectangle 334">
                  <a:extLst>
                    <a:ext uri="{FF2B5EF4-FFF2-40B4-BE49-F238E27FC236}">
                      <a16:creationId xmlns:a16="http://schemas.microsoft.com/office/drawing/2014/main" id="{81694ED8-64DC-DEBA-63E8-9AB01793E5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03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9" name="Rectangle 384">
                  <a:extLst>
                    <a:ext uri="{FF2B5EF4-FFF2-40B4-BE49-F238E27FC236}">
                      <a16:creationId xmlns:a16="http://schemas.microsoft.com/office/drawing/2014/main" id="{78369235-7353-0648-76D9-E6023ECC3B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1" name="Group 387">
                <a:extLst>
                  <a:ext uri="{FF2B5EF4-FFF2-40B4-BE49-F238E27FC236}">
                    <a16:creationId xmlns:a16="http://schemas.microsoft.com/office/drawing/2014/main" id="{AC27C9AC-B706-9F59-E185-2BEB794F3E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036"/>
                <a:ext cx="746" cy="518"/>
                <a:chOff x="468" y="1036"/>
                <a:chExt cx="746" cy="518"/>
              </a:xfrm>
            </p:grpSpPr>
            <p:sp>
              <p:nvSpPr>
                <p:cNvPr id="106" name="Rectangle 335">
                  <a:extLst>
                    <a:ext uri="{FF2B5EF4-FFF2-40B4-BE49-F238E27FC236}">
                      <a16:creationId xmlns:a16="http://schemas.microsoft.com/office/drawing/2014/main" id="{9DB66F21-41E1-2149-8819-901A85BF8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036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-1.5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07" name="Rectangle 386">
                  <a:extLst>
                    <a:ext uri="{FF2B5EF4-FFF2-40B4-BE49-F238E27FC236}">
                      <a16:creationId xmlns:a16="http://schemas.microsoft.com/office/drawing/2014/main" id="{5A3A7EC9-6C9E-408D-E505-6F9A33BC97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036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2" name="Group 389">
                <a:extLst>
                  <a:ext uri="{FF2B5EF4-FFF2-40B4-BE49-F238E27FC236}">
                    <a16:creationId xmlns:a16="http://schemas.microsoft.com/office/drawing/2014/main" id="{3F6221CE-3B76-3E02-7C2B-E5D0E67BBD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1036"/>
                <a:ext cx="938" cy="518"/>
                <a:chOff x="1214" y="1036"/>
                <a:chExt cx="938" cy="518"/>
              </a:xfrm>
            </p:grpSpPr>
            <p:sp>
              <p:nvSpPr>
                <p:cNvPr id="104" name="Rectangle 336">
                  <a:extLst>
                    <a:ext uri="{FF2B5EF4-FFF2-40B4-BE49-F238E27FC236}">
                      <a16:creationId xmlns:a16="http://schemas.microsoft.com/office/drawing/2014/main" id="{08B9B9DC-992F-0865-0A32-272DE498C2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1036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05" name="Rectangle 388">
                  <a:extLst>
                    <a:ext uri="{FF2B5EF4-FFF2-40B4-BE49-F238E27FC236}">
                      <a16:creationId xmlns:a16="http://schemas.microsoft.com/office/drawing/2014/main" id="{762A412C-00B8-8356-6662-E446BF3D8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1036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3" name="Group 391">
                <a:extLst>
                  <a:ext uri="{FF2B5EF4-FFF2-40B4-BE49-F238E27FC236}">
                    <a16:creationId xmlns:a16="http://schemas.microsoft.com/office/drawing/2014/main" id="{7DC5BA01-9C8A-EF0E-1617-71AC2075A8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1036"/>
                <a:ext cx="780" cy="518"/>
                <a:chOff x="2152" y="1036"/>
                <a:chExt cx="780" cy="518"/>
              </a:xfrm>
            </p:grpSpPr>
            <p:sp>
              <p:nvSpPr>
                <p:cNvPr id="102" name="Rectangle 337">
                  <a:extLst>
                    <a:ext uri="{FF2B5EF4-FFF2-40B4-BE49-F238E27FC236}">
                      <a16:creationId xmlns:a16="http://schemas.microsoft.com/office/drawing/2014/main" id="{E5071A4E-75A3-1327-3E84-8D8EA87D8D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103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103" name="Rectangle 390">
                  <a:extLst>
                    <a:ext uri="{FF2B5EF4-FFF2-40B4-BE49-F238E27FC236}">
                      <a16:creationId xmlns:a16="http://schemas.microsoft.com/office/drawing/2014/main" id="{419DBAF8-E206-8DB9-1402-C8A40508C0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103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4" name="Group 393">
                <a:extLst>
                  <a:ext uri="{FF2B5EF4-FFF2-40B4-BE49-F238E27FC236}">
                    <a16:creationId xmlns:a16="http://schemas.microsoft.com/office/drawing/2014/main" id="{C575845C-2D02-168E-4E3A-DA6285E977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1036"/>
                <a:ext cx="802" cy="518"/>
                <a:chOff x="2932" y="1036"/>
                <a:chExt cx="802" cy="518"/>
              </a:xfrm>
            </p:grpSpPr>
            <p:sp>
              <p:nvSpPr>
                <p:cNvPr id="100" name="Rectangle 338">
                  <a:extLst>
                    <a:ext uri="{FF2B5EF4-FFF2-40B4-BE49-F238E27FC236}">
                      <a16:creationId xmlns:a16="http://schemas.microsoft.com/office/drawing/2014/main" id="{32A13511-4BF7-4B33-97AE-FBD45A686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103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0.375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101" name="Rectangle 392">
                  <a:extLst>
                    <a:ext uri="{FF2B5EF4-FFF2-40B4-BE49-F238E27FC236}">
                      <a16:creationId xmlns:a16="http://schemas.microsoft.com/office/drawing/2014/main" id="{F9C7AC77-3EE2-7156-B74B-DC6D76205A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103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5" name="Group 395">
                <a:extLst>
                  <a:ext uri="{FF2B5EF4-FFF2-40B4-BE49-F238E27FC236}">
                    <a16:creationId xmlns:a16="http://schemas.microsoft.com/office/drawing/2014/main" id="{9D366AC1-EB3D-55FA-94B3-36BFD54BEB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54"/>
                <a:ext cx="468" cy="518"/>
                <a:chOff x="0" y="1554"/>
                <a:chExt cx="468" cy="518"/>
              </a:xfrm>
            </p:grpSpPr>
            <p:sp>
              <p:nvSpPr>
                <p:cNvPr id="98" name="Rectangle 339">
                  <a:extLst>
                    <a:ext uri="{FF2B5EF4-FFF2-40B4-BE49-F238E27FC236}">
                      <a16:creationId xmlns:a16="http://schemas.microsoft.com/office/drawing/2014/main" id="{63FA4A42-3301-13AC-7204-26E2B68F4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54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99" name="Rectangle 394">
                  <a:extLst>
                    <a:ext uri="{FF2B5EF4-FFF2-40B4-BE49-F238E27FC236}">
                      <a16:creationId xmlns:a16="http://schemas.microsoft.com/office/drawing/2014/main" id="{825AD0EB-7F48-BD2D-4E13-8BF51573EF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54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6" name="Group 397">
                <a:extLst>
                  <a:ext uri="{FF2B5EF4-FFF2-40B4-BE49-F238E27FC236}">
                    <a16:creationId xmlns:a16="http://schemas.microsoft.com/office/drawing/2014/main" id="{60652078-C913-DF76-E0C9-DF0F65C71A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554"/>
                <a:ext cx="746" cy="518"/>
                <a:chOff x="468" y="1554"/>
                <a:chExt cx="746" cy="518"/>
              </a:xfrm>
            </p:grpSpPr>
            <p:sp>
              <p:nvSpPr>
                <p:cNvPr id="96" name="Rectangle 340">
                  <a:extLst>
                    <a:ext uri="{FF2B5EF4-FFF2-40B4-BE49-F238E27FC236}">
                      <a16:creationId xmlns:a16="http://schemas.microsoft.com/office/drawing/2014/main" id="{5B3BE401-713F-6467-1269-1916148343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554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-0.5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7" name="Rectangle 396">
                  <a:extLst>
                    <a:ext uri="{FF2B5EF4-FFF2-40B4-BE49-F238E27FC236}">
                      <a16:creationId xmlns:a16="http://schemas.microsoft.com/office/drawing/2014/main" id="{0089117E-7D3B-EFB0-E001-4C9FFE557D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554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7" name="Group 399">
                <a:extLst>
                  <a:ext uri="{FF2B5EF4-FFF2-40B4-BE49-F238E27FC236}">
                    <a16:creationId xmlns:a16="http://schemas.microsoft.com/office/drawing/2014/main" id="{A585A488-0126-919B-12A2-4638FBC914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1554"/>
                <a:ext cx="938" cy="518"/>
                <a:chOff x="1214" y="1554"/>
                <a:chExt cx="938" cy="518"/>
              </a:xfrm>
            </p:grpSpPr>
            <p:sp>
              <p:nvSpPr>
                <p:cNvPr id="94" name="Rectangle 341">
                  <a:extLst>
                    <a:ext uri="{FF2B5EF4-FFF2-40B4-BE49-F238E27FC236}">
                      <a16:creationId xmlns:a16="http://schemas.microsoft.com/office/drawing/2014/main" id="{6DCA4D36-0300-E3E1-A200-B79B0F08BE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1554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5" name="Rectangle 398">
                  <a:extLst>
                    <a:ext uri="{FF2B5EF4-FFF2-40B4-BE49-F238E27FC236}">
                      <a16:creationId xmlns:a16="http://schemas.microsoft.com/office/drawing/2014/main" id="{06629ACA-DC36-A47A-DF7A-F5FA0340D7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1554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8" name="Group 401">
                <a:extLst>
                  <a:ext uri="{FF2B5EF4-FFF2-40B4-BE49-F238E27FC236}">
                    <a16:creationId xmlns:a16="http://schemas.microsoft.com/office/drawing/2014/main" id="{24DA565E-99F1-71B6-E0D1-DEBB740A5D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1554"/>
                <a:ext cx="780" cy="518"/>
                <a:chOff x="2152" y="1554"/>
                <a:chExt cx="780" cy="518"/>
              </a:xfrm>
            </p:grpSpPr>
            <p:sp>
              <p:nvSpPr>
                <p:cNvPr id="92" name="Rectangle 342">
                  <a:extLst>
                    <a:ext uri="{FF2B5EF4-FFF2-40B4-BE49-F238E27FC236}">
                      <a16:creationId xmlns:a16="http://schemas.microsoft.com/office/drawing/2014/main" id="{69F6DF0C-4439-1537-2BAE-354459BF9C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1554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93" name="Rectangle 400">
                  <a:extLst>
                    <a:ext uri="{FF2B5EF4-FFF2-40B4-BE49-F238E27FC236}">
                      <a16:creationId xmlns:a16="http://schemas.microsoft.com/office/drawing/2014/main" id="{CC3AC89F-9B8F-0BFF-381C-EEDCC6B67B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1554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9" name="Group 403">
                <a:extLst>
                  <a:ext uri="{FF2B5EF4-FFF2-40B4-BE49-F238E27FC236}">
                    <a16:creationId xmlns:a16="http://schemas.microsoft.com/office/drawing/2014/main" id="{DFD26C5D-43B1-ADA6-40B5-C84ECD5D41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1554"/>
                <a:ext cx="802" cy="518"/>
                <a:chOff x="2932" y="1554"/>
                <a:chExt cx="802" cy="518"/>
              </a:xfrm>
            </p:grpSpPr>
            <p:sp>
              <p:nvSpPr>
                <p:cNvPr id="90" name="Rectangle 343">
                  <a:extLst>
                    <a:ext uri="{FF2B5EF4-FFF2-40B4-BE49-F238E27FC236}">
                      <a16:creationId xmlns:a16="http://schemas.microsoft.com/office/drawing/2014/main" id="{D668C9E8-6A47-3005-E9B5-F9C7D044C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1554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1" name="Rectangle 402">
                  <a:extLst>
                    <a:ext uri="{FF2B5EF4-FFF2-40B4-BE49-F238E27FC236}">
                      <a16:creationId xmlns:a16="http://schemas.microsoft.com/office/drawing/2014/main" id="{434129FB-0126-B037-30DC-6BE41662F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1554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0" name="Group 405">
                <a:extLst>
                  <a:ext uri="{FF2B5EF4-FFF2-40B4-BE49-F238E27FC236}">
                    <a16:creationId xmlns:a16="http://schemas.microsoft.com/office/drawing/2014/main" id="{013B9AA5-42F8-920B-A796-6AB435B66E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72"/>
                <a:ext cx="468" cy="518"/>
                <a:chOff x="0" y="2072"/>
                <a:chExt cx="468" cy="518"/>
              </a:xfrm>
            </p:grpSpPr>
            <p:sp>
              <p:nvSpPr>
                <p:cNvPr id="88" name="Rectangle 344">
                  <a:extLst>
                    <a:ext uri="{FF2B5EF4-FFF2-40B4-BE49-F238E27FC236}">
                      <a16:creationId xmlns:a16="http://schemas.microsoft.com/office/drawing/2014/main" id="{604D3E42-F707-E371-74B7-4E3E9D116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72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4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89" name="Rectangle 404">
                  <a:extLst>
                    <a:ext uri="{FF2B5EF4-FFF2-40B4-BE49-F238E27FC236}">
                      <a16:creationId xmlns:a16="http://schemas.microsoft.com/office/drawing/2014/main" id="{AF9E2F8B-35DB-73F0-F66E-A8B3B5F3B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72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1" name="Group 407">
                <a:extLst>
                  <a:ext uri="{FF2B5EF4-FFF2-40B4-BE49-F238E27FC236}">
                    <a16:creationId xmlns:a16="http://schemas.microsoft.com/office/drawing/2014/main" id="{00F985E5-D3B1-022B-C96E-A7C73D432F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072"/>
                <a:ext cx="746" cy="518"/>
                <a:chOff x="468" y="2072"/>
                <a:chExt cx="746" cy="518"/>
              </a:xfrm>
            </p:grpSpPr>
            <p:sp>
              <p:nvSpPr>
                <p:cNvPr id="86" name="Rectangle 345">
                  <a:extLst>
                    <a:ext uri="{FF2B5EF4-FFF2-40B4-BE49-F238E27FC236}">
                      <a16:creationId xmlns:a16="http://schemas.microsoft.com/office/drawing/2014/main" id="{707EF56A-83A2-91BE-4182-7FF2FD544B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072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7" name="Rectangle 406">
                  <a:extLst>
                    <a:ext uri="{FF2B5EF4-FFF2-40B4-BE49-F238E27FC236}">
                      <a16:creationId xmlns:a16="http://schemas.microsoft.com/office/drawing/2014/main" id="{59713265-C240-CE7E-8376-2D5A3A7A8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072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2" name="Group 409">
                <a:extLst>
                  <a:ext uri="{FF2B5EF4-FFF2-40B4-BE49-F238E27FC236}">
                    <a16:creationId xmlns:a16="http://schemas.microsoft.com/office/drawing/2014/main" id="{E011CCF2-5712-8F23-84FA-6467078C12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2072"/>
                <a:ext cx="938" cy="518"/>
                <a:chOff x="1214" y="2072"/>
                <a:chExt cx="938" cy="518"/>
              </a:xfrm>
            </p:grpSpPr>
            <p:sp>
              <p:nvSpPr>
                <p:cNvPr id="84" name="Rectangle 346">
                  <a:extLst>
                    <a:ext uri="{FF2B5EF4-FFF2-40B4-BE49-F238E27FC236}">
                      <a16:creationId xmlns:a16="http://schemas.microsoft.com/office/drawing/2014/main" id="{A93337A1-EABF-04C6-ECD5-E34FF22465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2072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5" name="Rectangle 408">
                  <a:extLst>
                    <a:ext uri="{FF2B5EF4-FFF2-40B4-BE49-F238E27FC236}">
                      <a16:creationId xmlns:a16="http://schemas.microsoft.com/office/drawing/2014/main" id="{6AE68F0C-C2C4-CEEF-8792-F3826DBDF2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2072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3" name="Group 411">
                <a:extLst>
                  <a:ext uri="{FF2B5EF4-FFF2-40B4-BE49-F238E27FC236}">
                    <a16:creationId xmlns:a16="http://schemas.microsoft.com/office/drawing/2014/main" id="{2460F247-3357-F642-951D-56BC3A071C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2072"/>
                <a:ext cx="780" cy="518"/>
                <a:chOff x="2152" y="2072"/>
                <a:chExt cx="780" cy="518"/>
              </a:xfrm>
            </p:grpSpPr>
            <p:sp>
              <p:nvSpPr>
                <p:cNvPr id="82" name="Rectangle 347">
                  <a:extLst>
                    <a:ext uri="{FF2B5EF4-FFF2-40B4-BE49-F238E27FC236}">
                      <a16:creationId xmlns:a16="http://schemas.microsoft.com/office/drawing/2014/main" id="{BD5F8D5E-B5D2-145A-9B35-264A0EC8E7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2072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83" name="Rectangle 410">
                  <a:extLst>
                    <a:ext uri="{FF2B5EF4-FFF2-40B4-BE49-F238E27FC236}">
                      <a16:creationId xmlns:a16="http://schemas.microsoft.com/office/drawing/2014/main" id="{FC9FC0D8-9400-8CDE-997C-53155000D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2072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4" name="Group 413">
                <a:extLst>
                  <a:ext uri="{FF2B5EF4-FFF2-40B4-BE49-F238E27FC236}">
                    <a16:creationId xmlns:a16="http://schemas.microsoft.com/office/drawing/2014/main" id="{06FD2D65-9E94-CF7F-ABEB-CF9CDD7891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2072"/>
                <a:ext cx="802" cy="518"/>
                <a:chOff x="2932" y="2072"/>
                <a:chExt cx="802" cy="518"/>
              </a:xfrm>
            </p:grpSpPr>
            <p:sp>
              <p:nvSpPr>
                <p:cNvPr id="80" name="Rectangle 348">
                  <a:extLst>
                    <a:ext uri="{FF2B5EF4-FFF2-40B4-BE49-F238E27FC236}">
                      <a16:creationId xmlns:a16="http://schemas.microsoft.com/office/drawing/2014/main" id="{B4F48805-ADA4-A6B7-74C2-B2FEACEEFD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2072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1" name="Rectangle 412">
                  <a:extLst>
                    <a:ext uri="{FF2B5EF4-FFF2-40B4-BE49-F238E27FC236}">
                      <a16:creationId xmlns:a16="http://schemas.microsoft.com/office/drawing/2014/main" id="{748B7A38-2A4B-273A-1896-28F524830C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2072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5" name="Group 415">
                <a:extLst>
                  <a:ext uri="{FF2B5EF4-FFF2-40B4-BE49-F238E27FC236}">
                    <a16:creationId xmlns:a16="http://schemas.microsoft.com/office/drawing/2014/main" id="{0B1ABB02-5345-48D1-D680-1BD67EDBB1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90"/>
                <a:ext cx="468" cy="518"/>
                <a:chOff x="0" y="2590"/>
                <a:chExt cx="468" cy="518"/>
              </a:xfrm>
            </p:grpSpPr>
            <p:sp>
              <p:nvSpPr>
                <p:cNvPr id="78" name="Rectangle 349">
                  <a:extLst>
                    <a:ext uri="{FF2B5EF4-FFF2-40B4-BE49-F238E27FC236}">
                      <a16:creationId xmlns:a16="http://schemas.microsoft.com/office/drawing/2014/main" id="{89311092-8DCE-4826-FCD8-382E32B698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9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79" name="Rectangle 414">
                  <a:extLst>
                    <a:ext uri="{FF2B5EF4-FFF2-40B4-BE49-F238E27FC236}">
                      <a16:creationId xmlns:a16="http://schemas.microsoft.com/office/drawing/2014/main" id="{872B05EA-2686-39C4-F8DC-2E5C610D3B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9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6" name="Group 417">
                <a:extLst>
                  <a:ext uri="{FF2B5EF4-FFF2-40B4-BE49-F238E27FC236}">
                    <a16:creationId xmlns:a16="http://schemas.microsoft.com/office/drawing/2014/main" id="{C440AFF5-C568-8468-7EDC-6CEB43D7F7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590"/>
                <a:ext cx="746" cy="518"/>
                <a:chOff x="468" y="2590"/>
                <a:chExt cx="746" cy="518"/>
              </a:xfrm>
            </p:grpSpPr>
            <p:sp>
              <p:nvSpPr>
                <p:cNvPr id="76" name="Rectangle 350">
                  <a:extLst>
                    <a:ext uri="{FF2B5EF4-FFF2-40B4-BE49-F238E27FC236}">
                      <a16:creationId xmlns:a16="http://schemas.microsoft.com/office/drawing/2014/main" id="{4982579B-651A-53CC-9396-0D2451837D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590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7" name="Rectangle 416">
                  <a:extLst>
                    <a:ext uri="{FF2B5EF4-FFF2-40B4-BE49-F238E27FC236}">
                      <a16:creationId xmlns:a16="http://schemas.microsoft.com/office/drawing/2014/main" id="{739ACF7A-33FB-3251-2991-5302839626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590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7" name="Group 419">
                <a:extLst>
                  <a:ext uri="{FF2B5EF4-FFF2-40B4-BE49-F238E27FC236}">
                    <a16:creationId xmlns:a16="http://schemas.microsoft.com/office/drawing/2014/main" id="{6C916A55-170E-25C2-436A-7E1988DB59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2590"/>
                <a:ext cx="938" cy="518"/>
                <a:chOff x="1214" y="2590"/>
                <a:chExt cx="938" cy="518"/>
              </a:xfrm>
            </p:grpSpPr>
            <p:sp>
              <p:nvSpPr>
                <p:cNvPr id="74" name="Rectangle 351">
                  <a:extLst>
                    <a:ext uri="{FF2B5EF4-FFF2-40B4-BE49-F238E27FC236}">
                      <a16:creationId xmlns:a16="http://schemas.microsoft.com/office/drawing/2014/main" id="{1B03C23B-D142-FC31-E424-09F68F054E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2590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5" name="Rectangle 418">
                  <a:extLst>
                    <a:ext uri="{FF2B5EF4-FFF2-40B4-BE49-F238E27FC236}">
                      <a16:creationId xmlns:a16="http://schemas.microsoft.com/office/drawing/2014/main" id="{D89936C5-F72E-FEA6-D380-ABE049E40B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2590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8" name="Group 421">
                <a:extLst>
                  <a:ext uri="{FF2B5EF4-FFF2-40B4-BE49-F238E27FC236}">
                    <a16:creationId xmlns:a16="http://schemas.microsoft.com/office/drawing/2014/main" id="{97A1A65B-70B8-9057-C00D-4D81784AA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2590"/>
                <a:ext cx="780" cy="518"/>
                <a:chOff x="2152" y="2590"/>
                <a:chExt cx="780" cy="518"/>
              </a:xfrm>
            </p:grpSpPr>
            <p:sp>
              <p:nvSpPr>
                <p:cNvPr id="72" name="Rectangle 352">
                  <a:extLst>
                    <a:ext uri="{FF2B5EF4-FFF2-40B4-BE49-F238E27FC236}">
                      <a16:creationId xmlns:a16="http://schemas.microsoft.com/office/drawing/2014/main" id="{E456D356-804E-12E7-E780-9D95389D4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259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73" name="Rectangle 420">
                  <a:extLst>
                    <a:ext uri="{FF2B5EF4-FFF2-40B4-BE49-F238E27FC236}">
                      <a16:creationId xmlns:a16="http://schemas.microsoft.com/office/drawing/2014/main" id="{02E2818D-588F-46C6-5DCA-F7CE3069F0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259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9" name="Group 423">
                <a:extLst>
                  <a:ext uri="{FF2B5EF4-FFF2-40B4-BE49-F238E27FC236}">
                    <a16:creationId xmlns:a16="http://schemas.microsoft.com/office/drawing/2014/main" id="{3B86124C-963F-7A44-9093-5B31E1FFDE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2590"/>
                <a:ext cx="802" cy="518"/>
                <a:chOff x="2932" y="2590"/>
                <a:chExt cx="802" cy="518"/>
              </a:xfrm>
            </p:grpSpPr>
            <p:sp>
              <p:nvSpPr>
                <p:cNvPr id="70" name="Rectangle 353">
                  <a:extLst>
                    <a:ext uri="{FF2B5EF4-FFF2-40B4-BE49-F238E27FC236}">
                      <a16:creationId xmlns:a16="http://schemas.microsoft.com/office/drawing/2014/main" id="{5ACF0739-E970-6137-FD74-0E3FEFD58B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259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0.375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1" name="Rectangle 422">
                  <a:extLst>
                    <a:ext uri="{FF2B5EF4-FFF2-40B4-BE49-F238E27FC236}">
                      <a16:creationId xmlns:a16="http://schemas.microsoft.com/office/drawing/2014/main" id="{607AB7B6-78D9-C32E-0310-8F34209FE3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259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0" name="Group 425">
                <a:extLst>
                  <a:ext uri="{FF2B5EF4-FFF2-40B4-BE49-F238E27FC236}">
                    <a16:creationId xmlns:a16="http://schemas.microsoft.com/office/drawing/2014/main" id="{63B24AA7-D153-1F52-96A2-3A0900BE8B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108"/>
                <a:ext cx="468" cy="518"/>
                <a:chOff x="0" y="3108"/>
                <a:chExt cx="468" cy="518"/>
              </a:xfrm>
            </p:grpSpPr>
            <p:sp>
              <p:nvSpPr>
                <p:cNvPr id="68" name="Rectangle 354">
                  <a:extLst>
                    <a:ext uri="{FF2B5EF4-FFF2-40B4-BE49-F238E27FC236}">
                      <a16:creationId xmlns:a16="http://schemas.microsoft.com/office/drawing/2014/main" id="{BBBA87A7-A3A0-DF8F-76F8-2AEF188D48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0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69" name="Rectangle 424">
                  <a:extLst>
                    <a:ext uri="{FF2B5EF4-FFF2-40B4-BE49-F238E27FC236}">
                      <a16:creationId xmlns:a16="http://schemas.microsoft.com/office/drawing/2014/main" id="{F9115DD6-4F8C-AACA-0B88-E9608E0424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0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1" name="Group 427">
                <a:extLst>
                  <a:ext uri="{FF2B5EF4-FFF2-40B4-BE49-F238E27FC236}">
                    <a16:creationId xmlns:a16="http://schemas.microsoft.com/office/drawing/2014/main" id="{65211369-609D-8623-A571-E30E8EE3F5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108"/>
                <a:ext cx="746" cy="518"/>
                <a:chOff x="468" y="3108"/>
                <a:chExt cx="746" cy="518"/>
              </a:xfrm>
            </p:grpSpPr>
            <p:sp>
              <p:nvSpPr>
                <p:cNvPr id="66" name="Rectangle 355">
                  <a:extLst>
                    <a:ext uri="{FF2B5EF4-FFF2-40B4-BE49-F238E27FC236}">
                      <a16:creationId xmlns:a16="http://schemas.microsoft.com/office/drawing/2014/main" id="{DF82643D-E99F-1E91-A7C2-6D4078C48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108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7" name="Rectangle 426">
                  <a:extLst>
                    <a:ext uri="{FF2B5EF4-FFF2-40B4-BE49-F238E27FC236}">
                      <a16:creationId xmlns:a16="http://schemas.microsoft.com/office/drawing/2014/main" id="{AA09AA45-F8FC-B661-15DB-8985F3112C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108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2" name="Group 429">
                <a:extLst>
                  <a:ext uri="{FF2B5EF4-FFF2-40B4-BE49-F238E27FC236}">
                    <a16:creationId xmlns:a16="http://schemas.microsoft.com/office/drawing/2014/main" id="{3C17EDD4-C623-0BD7-7EA5-B4FD509B67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3108"/>
                <a:ext cx="938" cy="518"/>
                <a:chOff x="1214" y="3108"/>
                <a:chExt cx="938" cy="518"/>
              </a:xfrm>
            </p:grpSpPr>
            <p:sp>
              <p:nvSpPr>
                <p:cNvPr id="64" name="Rectangle 356">
                  <a:extLst>
                    <a:ext uri="{FF2B5EF4-FFF2-40B4-BE49-F238E27FC236}">
                      <a16:creationId xmlns:a16="http://schemas.microsoft.com/office/drawing/2014/main" id="{27924841-1D81-23B1-F830-D3980187B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3108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6.25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5" name="Rectangle 428">
                  <a:extLst>
                    <a:ext uri="{FF2B5EF4-FFF2-40B4-BE49-F238E27FC236}">
                      <a16:creationId xmlns:a16="http://schemas.microsoft.com/office/drawing/2014/main" id="{206466F9-9D19-C2DD-F3A2-417A9E9F8C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3108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3" name="Group 431">
                <a:extLst>
                  <a:ext uri="{FF2B5EF4-FFF2-40B4-BE49-F238E27FC236}">
                    <a16:creationId xmlns:a16="http://schemas.microsoft.com/office/drawing/2014/main" id="{34D2F16C-B6C7-3226-06EC-83133B19DB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3108"/>
                <a:ext cx="780" cy="518"/>
                <a:chOff x="2152" y="3108"/>
                <a:chExt cx="780" cy="518"/>
              </a:xfrm>
            </p:grpSpPr>
            <p:sp>
              <p:nvSpPr>
                <p:cNvPr id="62" name="Rectangle 357">
                  <a:extLst>
                    <a:ext uri="{FF2B5EF4-FFF2-40B4-BE49-F238E27FC236}">
                      <a16:creationId xmlns:a16="http://schemas.microsoft.com/office/drawing/2014/main" id="{0CEDCF60-7104-1171-2D75-58574E00F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310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63" name="Rectangle 430">
                  <a:extLst>
                    <a:ext uri="{FF2B5EF4-FFF2-40B4-BE49-F238E27FC236}">
                      <a16:creationId xmlns:a16="http://schemas.microsoft.com/office/drawing/2014/main" id="{9A348C88-95B3-863B-13D9-87D8AAD169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310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4" name="Group 433">
                <a:extLst>
                  <a:ext uri="{FF2B5EF4-FFF2-40B4-BE49-F238E27FC236}">
                    <a16:creationId xmlns:a16="http://schemas.microsoft.com/office/drawing/2014/main" id="{30CDB981-106C-4F63-5641-92EB9800EC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3108"/>
                <a:ext cx="802" cy="518"/>
                <a:chOff x="2932" y="3108"/>
                <a:chExt cx="802" cy="518"/>
              </a:xfrm>
            </p:grpSpPr>
            <p:sp>
              <p:nvSpPr>
                <p:cNvPr id="60" name="Rectangle 358">
                  <a:extLst>
                    <a:ext uri="{FF2B5EF4-FFF2-40B4-BE49-F238E27FC236}">
                      <a16:creationId xmlns:a16="http://schemas.microsoft.com/office/drawing/2014/main" id="{7D5FA3F6-BBF1-532C-E867-AA46018C7E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310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1.042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1" name="Rectangle 432">
                  <a:extLst>
                    <a:ext uri="{FF2B5EF4-FFF2-40B4-BE49-F238E27FC236}">
                      <a16:creationId xmlns:a16="http://schemas.microsoft.com/office/drawing/2014/main" id="{09F3C0F8-240F-A9D2-79FA-4A38476E75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310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5" name="Group 435">
                <a:extLst>
                  <a:ext uri="{FF2B5EF4-FFF2-40B4-BE49-F238E27FC236}">
                    <a16:creationId xmlns:a16="http://schemas.microsoft.com/office/drawing/2014/main" id="{2966E1DA-42AC-1033-0CF3-E13D92E6CB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26"/>
                <a:ext cx="468" cy="518"/>
                <a:chOff x="0" y="3626"/>
                <a:chExt cx="468" cy="518"/>
              </a:xfrm>
            </p:grpSpPr>
            <p:sp>
              <p:nvSpPr>
                <p:cNvPr id="58" name="Rectangle 359">
                  <a:extLst>
                    <a:ext uri="{FF2B5EF4-FFF2-40B4-BE49-F238E27FC236}">
                      <a16:creationId xmlns:a16="http://schemas.microsoft.com/office/drawing/2014/main" id="{2BC11BCA-3FD6-A294-986F-B00FE6B1F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62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Tot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59" name="Rectangle 434">
                  <a:extLst>
                    <a:ext uri="{FF2B5EF4-FFF2-40B4-BE49-F238E27FC236}">
                      <a16:creationId xmlns:a16="http://schemas.microsoft.com/office/drawing/2014/main" id="{8C02470A-DEDB-B229-0E15-1E1B894676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2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6" name="Group 437">
                <a:extLst>
                  <a:ext uri="{FF2B5EF4-FFF2-40B4-BE49-F238E27FC236}">
                    <a16:creationId xmlns:a16="http://schemas.microsoft.com/office/drawing/2014/main" id="{12D50508-28E4-DA3D-D203-E017B05CB8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626"/>
                <a:ext cx="746" cy="518"/>
                <a:chOff x="468" y="3626"/>
                <a:chExt cx="746" cy="518"/>
              </a:xfrm>
            </p:grpSpPr>
            <p:sp>
              <p:nvSpPr>
                <p:cNvPr id="56" name="Rectangle 360">
                  <a:extLst>
                    <a:ext uri="{FF2B5EF4-FFF2-40B4-BE49-F238E27FC236}">
                      <a16:creationId xmlns:a16="http://schemas.microsoft.com/office/drawing/2014/main" id="{C5EBAA68-04E3-3D35-5B85-CBF2F079E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626"/>
                  <a:ext cx="660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7" name="Rectangle 436">
                  <a:extLst>
                    <a:ext uri="{FF2B5EF4-FFF2-40B4-BE49-F238E27FC236}">
                      <a16:creationId xmlns:a16="http://schemas.microsoft.com/office/drawing/2014/main" id="{CE6BE4BE-582C-6F06-099A-79A4C4753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626"/>
                  <a:ext cx="746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7" name="Group 439">
                <a:extLst>
                  <a:ext uri="{FF2B5EF4-FFF2-40B4-BE49-F238E27FC236}">
                    <a16:creationId xmlns:a16="http://schemas.microsoft.com/office/drawing/2014/main" id="{7DD7438C-6F2E-6B7A-B5B4-77CBDEDEB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14" y="3626"/>
                <a:ext cx="938" cy="518"/>
                <a:chOff x="1214" y="3626"/>
                <a:chExt cx="938" cy="518"/>
              </a:xfrm>
            </p:grpSpPr>
            <p:sp>
              <p:nvSpPr>
                <p:cNvPr id="54" name="Rectangle 361">
                  <a:extLst>
                    <a:ext uri="{FF2B5EF4-FFF2-40B4-BE49-F238E27FC236}">
                      <a16:creationId xmlns:a16="http://schemas.microsoft.com/office/drawing/2014/main" id="{B2024616-BA84-FA66-CD50-C43895A0D4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57" y="3626"/>
                  <a:ext cx="85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5" name="Rectangle 438">
                  <a:extLst>
                    <a:ext uri="{FF2B5EF4-FFF2-40B4-BE49-F238E27FC236}">
                      <a16:creationId xmlns:a16="http://schemas.microsoft.com/office/drawing/2014/main" id="{163328E5-F562-4FBA-4942-3753C601A7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14" y="3626"/>
                  <a:ext cx="93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8" name="Group 441">
                <a:extLst>
                  <a:ext uri="{FF2B5EF4-FFF2-40B4-BE49-F238E27FC236}">
                    <a16:creationId xmlns:a16="http://schemas.microsoft.com/office/drawing/2014/main" id="{9D77AD2E-40C3-0378-F6C4-2DC53FA71D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2" y="3626"/>
                <a:ext cx="780" cy="518"/>
                <a:chOff x="2152" y="3626"/>
                <a:chExt cx="780" cy="518"/>
              </a:xfrm>
            </p:grpSpPr>
            <p:sp>
              <p:nvSpPr>
                <p:cNvPr id="52" name="Rectangle 362">
                  <a:extLst>
                    <a:ext uri="{FF2B5EF4-FFF2-40B4-BE49-F238E27FC236}">
                      <a16:creationId xmlns:a16="http://schemas.microsoft.com/office/drawing/2014/main" id="{FFA94401-79F2-B2FF-6590-27F4E41AF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5" y="362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53" name="Rectangle 440">
                  <a:extLst>
                    <a:ext uri="{FF2B5EF4-FFF2-40B4-BE49-F238E27FC236}">
                      <a16:creationId xmlns:a16="http://schemas.microsoft.com/office/drawing/2014/main" id="{15CA40C2-E0C8-73E0-DE25-999945F11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52" y="362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9" name="Group 443">
                <a:extLst>
                  <a:ext uri="{FF2B5EF4-FFF2-40B4-BE49-F238E27FC236}">
                    <a16:creationId xmlns:a16="http://schemas.microsoft.com/office/drawing/2014/main" id="{77082AE7-9680-252F-7B30-A226C2E848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32" y="3626"/>
                <a:ext cx="802" cy="518"/>
                <a:chOff x="2932" y="3626"/>
                <a:chExt cx="802" cy="518"/>
              </a:xfrm>
            </p:grpSpPr>
            <p:sp>
              <p:nvSpPr>
                <p:cNvPr id="50" name="Rectangle 363">
                  <a:extLst>
                    <a:ext uri="{FF2B5EF4-FFF2-40B4-BE49-F238E27FC236}">
                      <a16:creationId xmlns:a16="http://schemas.microsoft.com/office/drawing/2014/main" id="{A755D0E2-024F-ED57-3716-5078CDE4F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362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2.918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1" name="Rectangle 442">
                  <a:extLst>
                    <a:ext uri="{FF2B5EF4-FFF2-40B4-BE49-F238E27FC236}">
                      <a16:creationId xmlns:a16="http://schemas.microsoft.com/office/drawing/2014/main" id="{FD6D255A-1596-4ECA-5518-89EDBFABD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32" y="362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</p:grpSp>
        <p:sp>
          <p:nvSpPr>
            <p:cNvPr id="9" name="Rectangle 445">
              <a:extLst>
                <a:ext uri="{FF2B5EF4-FFF2-40B4-BE49-F238E27FC236}">
                  <a16:creationId xmlns:a16="http://schemas.microsoft.com/office/drawing/2014/main" id="{5963DFD5-A6DD-CAF1-9053-2756D70C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2"/>
              <a:ext cx="3738" cy="4148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Rectangle 3">
                <a:extLst>
                  <a:ext uri="{FF2B5EF4-FFF2-40B4-BE49-F238E27FC236}">
                    <a16:creationId xmlns:a16="http://schemas.microsoft.com/office/drawing/2014/main" id="{79AB0032-6FC7-AD6B-8B87-D101CED6BD7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202782" y="2422163"/>
                <a:ext cx="9630908" cy="78339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267218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1pPr>
                <a:lvl2pPr marL="534436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2pPr>
                <a:lvl3pPr marL="801654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3pPr>
                <a:lvl4pPr marL="106887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4pPr>
                <a:lvl5pPr marL="1336091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Open Sans"/>
                    <a:ea typeface="Open Sans Light" panose="020B0606030504020204" pitchFamily="34" charset="0"/>
                    <a:cs typeface="Open Sans Light" panose="020B0606030504020204" pitchFamily="34" charset="0"/>
                    <a:sym typeface="Helvetica Neue"/>
                  </a:defRPr>
                </a:lvl5pPr>
                <a:lvl6pPr marL="1603309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1870527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2137745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2404963" marR="0" indent="-267218" algn="l" defTabSz="1068845" rtl="0" eaLnBrk="1" latinLnBrk="0" hangingPunct="1">
                  <a:lnSpc>
                    <a:spcPct val="90000"/>
                  </a:lnSpc>
                  <a:spcBef>
                    <a:spcPts val="1973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2104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267218" lvl="1" indent="0" fontAlgn="auto">
                  <a:buNone/>
                </a:pPr>
                <a:r>
                  <a:rPr lang="en-US" altLang="en-US" sz="2800" kern="0" dirty="0">
                    <a:latin typeface="Open Sans Semibold" panose="020B0706030804020204" pitchFamily="34" charset="0"/>
                    <a:ea typeface="Open Sans Semibold" panose="020B0706030804020204" pitchFamily="34" charset="0"/>
                    <a:cs typeface="Open Sans Semibold" panose="020B0706030804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𝐸</m:t>
                    </m:r>
                    <m:d>
                      <m:dPr>
                        <m:ctrlP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dPr>
                      <m:e>
                        <m:r>
                          <a:rPr lang="en-US" altLang="en-US" sz="280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𝑋</m:t>
                        </m:r>
                      </m:e>
                    </m:d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=</m:t>
                    </m:r>
                    <m:r>
                      <a:rPr lang="en-US" altLang="en-US" sz="2800" b="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3</m:t>
                    </m:r>
                    <m:f>
                      <m:fPr>
                        <m:ctrlP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</m:ctrlPr>
                      </m:fPr>
                      <m:num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en-US" sz="2800" b="0" i="1" kern="0" dirty="0" smtClean="0">
                            <a:latin typeface="Cambria Math" panose="02040503050406030204" pitchFamily="18" charset="0"/>
                            <a:ea typeface="Open Sans Semibold" panose="020B0706030804020204" pitchFamily="34" charset="0"/>
                            <a:cs typeface="Open Sans Semibold" panose="020B0706030804020204" pitchFamily="34" charset="0"/>
                          </a:rPr>
                          <m:t>2</m:t>
                        </m:r>
                      </m:den>
                    </m:f>
                    <m:r>
                      <a:rPr lang="en-US" altLang="en-US" sz="2800" i="1" kern="0" dirty="0" smtClean="0">
                        <a:latin typeface="Cambria Math" panose="02040503050406030204" pitchFamily="18" charset="0"/>
                        <a:ea typeface="Open Sans Semibold" panose="020B0706030804020204" pitchFamily="34" charset="0"/>
                        <a:cs typeface="Open Sans Semibold" panose="020B0706030804020204" pitchFamily="34" charset="0"/>
                      </a:rPr>
                      <m:t> </m:t>
                    </m:r>
                  </m:oMath>
                </a14:m>
                <a:endParaRPr lang="en-US" altLang="en-US" sz="2800" kern="0" dirty="0">
                  <a:latin typeface="Open Sans Semibold" panose="020B0706030804020204" pitchFamily="34" charset="0"/>
                  <a:ea typeface="Open Sans Semibold" panose="020B0706030804020204" pitchFamily="34" charset="0"/>
                  <a:cs typeface="Open Sans Semibold" panose="020B0706030804020204" pitchFamily="34" charset="0"/>
                </a:endParaRPr>
              </a:p>
            </p:txBody>
          </p:sp>
        </mc:Choice>
        <mc:Fallback xmlns="">
          <p:sp>
            <p:nvSpPr>
              <p:cNvPr id="130" name="Rectangle 3">
                <a:extLst>
                  <a:ext uri="{FF2B5EF4-FFF2-40B4-BE49-F238E27FC236}">
                    <a16:creationId xmlns:a16="http://schemas.microsoft.com/office/drawing/2014/main" id="{79AB0032-6FC7-AD6B-8B87-D101CED6B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782" y="2422163"/>
                <a:ext cx="9630908" cy="7833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1569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Alternative Formula</a:t>
            </a:r>
          </a:p>
        </p:txBody>
      </p:sp>
      <p:graphicFrame>
        <p:nvGraphicFramePr>
          <p:cNvPr id="2" name="Object 128">
            <a:extLst>
              <a:ext uri="{FF2B5EF4-FFF2-40B4-BE49-F238E27FC236}">
                <a16:creationId xmlns:a16="http://schemas.microsoft.com/office/drawing/2014/main" id="{56D4C058-EF3B-A41A-BE58-146F20E9B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5025922"/>
              </p:ext>
            </p:extLst>
          </p:nvPr>
        </p:nvGraphicFramePr>
        <p:xfrm>
          <a:off x="1643424" y="3231619"/>
          <a:ext cx="7739667" cy="1305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355320" progId="Equation.3">
                  <p:embed/>
                </p:oleObj>
              </mc:Choice>
              <mc:Fallback>
                <p:oleObj name="Equation" r:id="rId2" imgW="2108160" imgH="355320" progId="Equation.3">
                  <p:embed/>
                  <p:pic>
                    <p:nvPicPr>
                      <p:cNvPr id="2" name="Object 128">
                        <a:extLst>
                          <a:ext uri="{FF2B5EF4-FFF2-40B4-BE49-F238E27FC236}">
                            <a16:creationId xmlns:a16="http://schemas.microsoft.com/office/drawing/2014/main" id="{56D4C058-EF3B-A41A-BE58-146F20E9BE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424" y="3231619"/>
                        <a:ext cx="7739667" cy="1305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6574C-A501-0A74-374E-DD9330D729AD}"/>
                  </a:ext>
                </a:extLst>
              </p:cNvPr>
              <p:cNvSpPr txBox="1"/>
              <p:nvPr/>
            </p:nvSpPr>
            <p:spPr>
              <a:xfrm>
                <a:off x="1772589" y="4659609"/>
                <a:ext cx="5298061" cy="55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3600" b="0" i="0" u="none" strike="noStrike" cap="none" spc="0" normalizeH="0" baseline="0" dirty="0">
                    <a:ln>
                      <a:noFill/>
                    </a:ln>
                    <a:solidFill>
                      <a:srgbClr val="5E5E5E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rPr>
                  <a:t>V(x) = E(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sSup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𝑋</m:t>
                        </m:r>
                      </m:e>
                      <m:sup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2</m:t>
                        </m:r>
                      </m:sup>
                    </m:sSup>
                    <m:r>
                      <a:rPr kumimoji="0" lang="en-US" sz="3600" b="0" i="1" u="none" strike="noStrike" cap="none" spc="0" normalizeH="0" baseline="0" smtClean="0">
                        <a:ln>
                          <a:noFill/>
                        </a:ln>
                        <a:solidFill>
                          <a:srgbClr val="5E5E5E"/>
                        </a:solidFill>
                        <a:effectLst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) −</m:t>
                    </m:r>
                    <m:sSup>
                      <m:sSupPr>
                        <m:ctrlP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sSupPr>
                      <m:e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(</m:t>
                        </m:r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𝐸</m:t>
                        </m:r>
                        <m:d>
                          <m:dPr>
                            <m:ctrlP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</m:ctrlPr>
                          </m:dPr>
                          <m:e>
                            <m:r>
                              <a:rPr kumimoji="0" lang="en-US" sz="36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5E5E5E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  <a:sym typeface="Helvetica Neue"/>
                              </a:rPr>
                              <m:t>𝑋</m:t>
                            </m:r>
                          </m:e>
                        </m:d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)</m:t>
                        </m:r>
                      </m:e>
                      <m:sup>
                        <m:r>
                          <a:rPr kumimoji="0" lang="en-US" sz="36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5E5E5E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2</m:t>
                        </m:r>
                      </m:sup>
                    </m:sSup>
                  </m:oMath>
                </a14:m>
                <a:endParaRPr kumimoji="0" lang="en-ID" sz="3600" b="0" i="0" u="none" strike="noStrike" cap="none" spc="0" normalizeH="0" baseline="0" dirty="0">
                  <a:ln>
                    <a:noFill/>
                  </a:ln>
                  <a:solidFill>
                    <a:srgbClr val="5E5E5E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6574C-A501-0A74-374E-DD9330D72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589" y="4659609"/>
                <a:ext cx="5298061" cy="553998"/>
              </a:xfrm>
              <a:prstGeom prst="rect">
                <a:avLst/>
              </a:prstGeom>
              <a:blipFill>
                <a:blip r:embed="rId4"/>
                <a:stretch>
                  <a:fillRect l="-345" t="-24176" b="-4945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2281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pSp>
        <p:nvGrpSpPr>
          <p:cNvPr id="4" name="Group 226">
            <a:extLst>
              <a:ext uri="{FF2B5EF4-FFF2-40B4-BE49-F238E27FC236}">
                <a16:creationId xmlns:a16="http://schemas.microsoft.com/office/drawing/2014/main" id="{0465DE3B-5236-C062-6A5D-99CA057B56FD}"/>
              </a:ext>
            </a:extLst>
          </p:cNvPr>
          <p:cNvGrpSpPr>
            <a:grpSpLocks/>
          </p:cNvGrpSpPr>
          <p:nvPr/>
        </p:nvGrpSpPr>
        <p:grpSpPr bwMode="auto">
          <a:xfrm>
            <a:off x="3324057" y="2738061"/>
            <a:ext cx="4285615" cy="4033520"/>
            <a:chOff x="-2" y="-2"/>
            <a:chExt cx="2448" cy="4148"/>
          </a:xfrm>
        </p:grpSpPr>
        <p:grpSp>
          <p:nvGrpSpPr>
            <p:cNvPr id="6" name="Group 224">
              <a:extLst>
                <a:ext uri="{FF2B5EF4-FFF2-40B4-BE49-F238E27FC236}">
                  <a16:creationId xmlns:a16="http://schemas.microsoft.com/office/drawing/2014/main" id="{943947F7-3A62-E076-DD54-9F521BC67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444" cy="4144"/>
              <a:chOff x="0" y="0"/>
              <a:chExt cx="2444" cy="4144"/>
            </a:xfrm>
          </p:grpSpPr>
          <p:grpSp>
            <p:nvGrpSpPr>
              <p:cNvPr id="9" name="Group 161">
                <a:extLst>
                  <a:ext uri="{FF2B5EF4-FFF2-40B4-BE49-F238E27FC236}">
                    <a16:creationId xmlns:a16="http://schemas.microsoft.com/office/drawing/2014/main" id="{BBF97EAB-D577-1FC8-B901-1BCE78959E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468" cy="518"/>
                <a:chOff x="0" y="0"/>
                <a:chExt cx="468" cy="518"/>
              </a:xfrm>
            </p:grpSpPr>
            <p:sp>
              <p:nvSpPr>
                <p:cNvPr id="103" name="Rectangle 128">
                  <a:extLst>
                    <a:ext uri="{FF2B5EF4-FFF2-40B4-BE49-F238E27FC236}">
                      <a16:creationId xmlns:a16="http://schemas.microsoft.com/office/drawing/2014/main" id="{2C6F3657-365D-1525-C109-FA99F31BA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4" name="Rectangle 160">
                  <a:extLst>
                    <a:ext uri="{FF2B5EF4-FFF2-40B4-BE49-F238E27FC236}">
                      <a16:creationId xmlns:a16="http://schemas.microsoft.com/office/drawing/2014/main" id="{6845449C-F368-B560-7E8F-F1B6ABBEC5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0" name="Group 163">
                <a:extLst>
                  <a:ext uri="{FF2B5EF4-FFF2-40B4-BE49-F238E27FC236}">
                    <a16:creationId xmlns:a16="http://schemas.microsoft.com/office/drawing/2014/main" id="{BEA70564-175A-7C3F-B89F-44DD0D2063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0"/>
                <a:ext cx="394" cy="518"/>
                <a:chOff x="468" y="0"/>
                <a:chExt cx="394" cy="518"/>
              </a:xfrm>
            </p:grpSpPr>
            <p:sp>
              <p:nvSpPr>
                <p:cNvPr id="101" name="Rectangle 129">
                  <a:extLst>
                    <a:ext uri="{FF2B5EF4-FFF2-40B4-BE49-F238E27FC236}">
                      <a16:creationId xmlns:a16="http://schemas.microsoft.com/office/drawing/2014/main" id="{A6315F62-3EE2-3BAF-CB11-B014F8FF06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0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x</a:t>
                  </a:r>
                  <a:r>
                    <a:rPr kumimoji="1" lang="en-US" altLang="en-US" sz="2316" baseline="30000">
                      <a:latin typeface="Times New (W1)" pitchFamily="18" charset="0"/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2" name="Rectangle 162">
                  <a:extLst>
                    <a:ext uri="{FF2B5EF4-FFF2-40B4-BE49-F238E27FC236}">
                      <a16:creationId xmlns:a16="http://schemas.microsoft.com/office/drawing/2014/main" id="{7D94D866-E830-A500-F219-89329224DB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0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1" name="Group 165">
                <a:extLst>
                  <a:ext uri="{FF2B5EF4-FFF2-40B4-BE49-F238E27FC236}">
                    <a16:creationId xmlns:a16="http://schemas.microsoft.com/office/drawing/2014/main" id="{EDBB6CD8-27C0-F9E8-0125-56A08F7884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0"/>
                <a:ext cx="780" cy="518"/>
                <a:chOff x="862" y="0"/>
                <a:chExt cx="780" cy="518"/>
              </a:xfrm>
            </p:grpSpPr>
            <p:sp>
              <p:nvSpPr>
                <p:cNvPr id="99" name="Rectangle 130">
                  <a:extLst>
                    <a:ext uri="{FF2B5EF4-FFF2-40B4-BE49-F238E27FC236}">
                      <a16:creationId xmlns:a16="http://schemas.microsoft.com/office/drawing/2014/main" id="{DC9AC0B6-A192-5BEB-3175-77C8D55257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P(X=x)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100" name="Rectangle 164">
                  <a:extLst>
                    <a:ext uri="{FF2B5EF4-FFF2-40B4-BE49-F238E27FC236}">
                      <a16:creationId xmlns:a16="http://schemas.microsoft.com/office/drawing/2014/main" id="{C1FF7079-97CE-B15D-3620-0C845FAD15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2" name="Group 167">
                <a:extLst>
                  <a:ext uri="{FF2B5EF4-FFF2-40B4-BE49-F238E27FC236}">
                    <a16:creationId xmlns:a16="http://schemas.microsoft.com/office/drawing/2014/main" id="{40164527-4D4B-3A3D-7CF1-5FAC1EACC8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0"/>
                <a:ext cx="802" cy="518"/>
                <a:chOff x="1642" y="0"/>
                <a:chExt cx="802" cy="518"/>
              </a:xfrm>
            </p:grpSpPr>
            <p:sp>
              <p:nvSpPr>
                <p:cNvPr id="97" name="Rectangle 131">
                  <a:extLst>
                    <a:ext uri="{FF2B5EF4-FFF2-40B4-BE49-F238E27FC236}">
                      <a16:creationId xmlns:a16="http://schemas.microsoft.com/office/drawing/2014/main" id="{1098B74D-959A-8B6A-9C36-34119C0AA5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/>
                <a:p>
                  <a:pPr algn="r"/>
                  <a:r>
                    <a:rPr kumimoji="1" lang="en-US" altLang="en-US" sz="2867" b="1">
                      <a:cs typeface="Times New Roman" panose="02020603050405020304" pitchFamily="18" charset="0"/>
                    </a:rPr>
                    <a:t>Product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8" name="Rectangle 166">
                  <a:extLst>
                    <a:ext uri="{FF2B5EF4-FFF2-40B4-BE49-F238E27FC236}">
                      <a16:creationId xmlns:a16="http://schemas.microsoft.com/office/drawing/2014/main" id="{9FD0C802-5A8D-8863-93B7-2D4381DB24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3" name="Group 169">
                <a:extLst>
                  <a:ext uri="{FF2B5EF4-FFF2-40B4-BE49-F238E27FC236}">
                    <a16:creationId xmlns:a16="http://schemas.microsoft.com/office/drawing/2014/main" id="{9575A4AA-C1E5-2B62-9BA6-9610FE4630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18"/>
                <a:ext cx="468" cy="518"/>
                <a:chOff x="0" y="518"/>
                <a:chExt cx="468" cy="518"/>
              </a:xfrm>
            </p:grpSpPr>
            <p:sp>
              <p:nvSpPr>
                <p:cNvPr id="95" name="Rectangle 132">
                  <a:extLst>
                    <a:ext uri="{FF2B5EF4-FFF2-40B4-BE49-F238E27FC236}">
                      <a16:creationId xmlns:a16="http://schemas.microsoft.com/office/drawing/2014/main" id="{815F3D2F-3CA0-11B5-1306-8E4F0BBF3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1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1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96" name="Rectangle 168">
                  <a:extLst>
                    <a:ext uri="{FF2B5EF4-FFF2-40B4-BE49-F238E27FC236}">
                      <a16:creationId xmlns:a16="http://schemas.microsoft.com/office/drawing/2014/main" id="{5BAEF20E-8672-F7AD-C78F-076F13201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1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4" name="Group 171">
                <a:extLst>
                  <a:ext uri="{FF2B5EF4-FFF2-40B4-BE49-F238E27FC236}">
                    <a16:creationId xmlns:a16="http://schemas.microsoft.com/office/drawing/2014/main" id="{7D3AE85A-A20F-DA9E-49BA-034EA6C0C7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518"/>
                <a:ext cx="394" cy="518"/>
                <a:chOff x="468" y="518"/>
                <a:chExt cx="394" cy="518"/>
              </a:xfrm>
            </p:grpSpPr>
            <p:sp>
              <p:nvSpPr>
                <p:cNvPr id="93" name="Rectangle 133">
                  <a:extLst>
                    <a:ext uri="{FF2B5EF4-FFF2-40B4-BE49-F238E27FC236}">
                      <a16:creationId xmlns:a16="http://schemas.microsoft.com/office/drawing/2014/main" id="{8E79A4A7-13FB-78B7-BD6E-D9B8D6CDE5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518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4" name="Rectangle 170">
                  <a:extLst>
                    <a:ext uri="{FF2B5EF4-FFF2-40B4-BE49-F238E27FC236}">
                      <a16:creationId xmlns:a16="http://schemas.microsoft.com/office/drawing/2014/main" id="{20CBB150-373C-40A5-E306-133F654DFF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518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5" name="Group 173">
                <a:extLst>
                  <a:ext uri="{FF2B5EF4-FFF2-40B4-BE49-F238E27FC236}">
                    <a16:creationId xmlns:a16="http://schemas.microsoft.com/office/drawing/2014/main" id="{A8531BFD-42AA-75A2-B447-BBDFB6D4D6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518"/>
                <a:ext cx="780" cy="518"/>
                <a:chOff x="862" y="518"/>
                <a:chExt cx="780" cy="518"/>
              </a:xfrm>
            </p:grpSpPr>
            <p:sp>
              <p:nvSpPr>
                <p:cNvPr id="91" name="Rectangle 134">
                  <a:extLst>
                    <a:ext uri="{FF2B5EF4-FFF2-40B4-BE49-F238E27FC236}">
                      <a16:creationId xmlns:a16="http://schemas.microsoft.com/office/drawing/2014/main" id="{0398375F-4FCB-BD80-1EFA-4D09999CF1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51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92" name="Rectangle 172">
                  <a:extLst>
                    <a:ext uri="{FF2B5EF4-FFF2-40B4-BE49-F238E27FC236}">
                      <a16:creationId xmlns:a16="http://schemas.microsoft.com/office/drawing/2014/main" id="{506459A2-0697-FB74-8A8B-972C49EB29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51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6" name="Group 175">
                <a:extLst>
                  <a:ext uri="{FF2B5EF4-FFF2-40B4-BE49-F238E27FC236}">
                    <a16:creationId xmlns:a16="http://schemas.microsoft.com/office/drawing/2014/main" id="{963E8B14-3ED6-0AD5-3C92-68E426AD53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518"/>
                <a:ext cx="802" cy="518"/>
                <a:chOff x="1642" y="518"/>
                <a:chExt cx="802" cy="518"/>
              </a:xfrm>
            </p:grpSpPr>
            <p:sp>
              <p:nvSpPr>
                <p:cNvPr id="89" name="Rectangle 135">
                  <a:extLst>
                    <a:ext uri="{FF2B5EF4-FFF2-40B4-BE49-F238E27FC236}">
                      <a16:creationId xmlns:a16="http://schemas.microsoft.com/office/drawing/2014/main" id="{9C501525-FF73-8BCA-1A5E-AFE34A724F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51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90" name="Rectangle 174">
                  <a:extLst>
                    <a:ext uri="{FF2B5EF4-FFF2-40B4-BE49-F238E27FC236}">
                      <a16:creationId xmlns:a16="http://schemas.microsoft.com/office/drawing/2014/main" id="{CF8C2D6E-FF40-81BB-2B5B-B33B443C0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51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7" name="Group 177">
                <a:extLst>
                  <a:ext uri="{FF2B5EF4-FFF2-40B4-BE49-F238E27FC236}">
                    <a16:creationId xmlns:a16="http://schemas.microsoft.com/office/drawing/2014/main" id="{08AA547B-21BA-D749-14AF-BE45A4A66A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036"/>
                <a:ext cx="468" cy="518"/>
                <a:chOff x="0" y="1036"/>
                <a:chExt cx="468" cy="518"/>
              </a:xfrm>
            </p:grpSpPr>
            <p:sp>
              <p:nvSpPr>
                <p:cNvPr id="87" name="Rectangle 136">
                  <a:extLst>
                    <a:ext uri="{FF2B5EF4-FFF2-40B4-BE49-F238E27FC236}">
                      <a16:creationId xmlns:a16="http://schemas.microsoft.com/office/drawing/2014/main" id="{893A05D2-99A8-B8A5-E519-2E521D4CB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03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2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88" name="Rectangle 176">
                  <a:extLst>
                    <a:ext uri="{FF2B5EF4-FFF2-40B4-BE49-F238E27FC236}">
                      <a16:creationId xmlns:a16="http://schemas.microsoft.com/office/drawing/2014/main" id="{83887C5C-B5A4-EBC3-25E9-1CAD29A12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03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8" name="Group 179">
                <a:extLst>
                  <a:ext uri="{FF2B5EF4-FFF2-40B4-BE49-F238E27FC236}">
                    <a16:creationId xmlns:a16="http://schemas.microsoft.com/office/drawing/2014/main" id="{01677934-F230-0E79-9023-38B82959A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036"/>
                <a:ext cx="394" cy="518"/>
                <a:chOff x="468" y="1036"/>
                <a:chExt cx="394" cy="518"/>
              </a:xfrm>
            </p:grpSpPr>
            <p:sp>
              <p:nvSpPr>
                <p:cNvPr id="85" name="Rectangle 137">
                  <a:extLst>
                    <a:ext uri="{FF2B5EF4-FFF2-40B4-BE49-F238E27FC236}">
                      <a16:creationId xmlns:a16="http://schemas.microsoft.com/office/drawing/2014/main" id="{B36015E7-DAA3-A90D-D26C-26A176C38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036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4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6" name="Rectangle 178">
                  <a:extLst>
                    <a:ext uri="{FF2B5EF4-FFF2-40B4-BE49-F238E27FC236}">
                      <a16:creationId xmlns:a16="http://schemas.microsoft.com/office/drawing/2014/main" id="{9AECCB05-2AFF-6C44-896A-43BABD458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036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19" name="Group 181">
                <a:extLst>
                  <a:ext uri="{FF2B5EF4-FFF2-40B4-BE49-F238E27FC236}">
                    <a16:creationId xmlns:a16="http://schemas.microsoft.com/office/drawing/2014/main" id="{ACF3D7AA-16A0-7233-ACD2-A30B09A258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1036"/>
                <a:ext cx="780" cy="518"/>
                <a:chOff x="862" y="1036"/>
                <a:chExt cx="780" cy="518"/>
              </a:xfrm>
            </p:grpSpPr>
            <p:sp>
              <p:nvSpPr>
                <p:cNvPr id="83" name="Rectangle 138">
                  <a:extLst>
                    <a:ext uri="{FF2B5EF4-FFF2-40B4-BE49-F238E27FC236}">
                      <a16:creationId xmlns:a16="http://schemas.microsoft.com/office/drawing/2014/main" id="{48756B8A-C7B9-A0F9-E17B-2137E54D32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103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84" name="Rectangle 180">
                  <a:extLst>
                    <a:ext uri="{FF2B5EF4-FFF2-40B4-BE49-F238E27FC236}">
                      <a16:creationId xmlns:a16="http://schemas.microsoft.com/office/drawing/2014/main" id="{ADC70318-56DD-E58E-613F-09B33856C2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03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0" name="Group 183">
                <a:extLst>
                  <a:ext uri="{FF2B5EF4-FFF2-40B4-BE49-F238E27FC236}">
                    <a16:creationId xmlns:a16="http://schemas.microsoft.com/office/drawing/2014/main" id="{2C863EB0-F1F8-99D8-8B6E-5ACD9A74B4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1036"/>
                <a:ext cx="802" cy="518"/>
                <a:chOff x="1642" y="1036"/>
                <a:chExt cx="802" cy="518"/>
              </a:xfrm>
            </p:grpSpPr>
            <p:sp>
              <p:nvSpPr>
                <p:cNvPr id="81" name="Rectangle 139">
                  <a:extLst>
                    <a:ext uri="{FF2B5EF4-FFF2-40B4-BE49-F238E27FC236}">
                      <a16:creationId xmlns:a16="http://schemas.microsoft.com/office/drawing/2014/main" id="{EFDAA150-DEBB-BF69-38C2-A869561047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103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2/3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82" name="Rectangle 182">
                  <a:extLst>
                    <a:ext uri="{FF2B5EF4-FFF2-40B4-BE49-F238E27FC236}">
                      <a16:creationId xmlns:a16="http://schemas.microsoft.com/office/drawing/2014/main" id="{54C64348-AE87-E75F-9584-939411688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103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1" name="Group 185">
                <a:extLst>
                  <a:ext uri="{FF2B5EF4-FFF2-40B4-BE49-F238E27FC236}">
                    <a16:creationId xmlns:a16="http://schemas.microsoft.com/office/drawing/2014/main" id="{1EFD913F-DDE0-78AE-1EC0-0AA6C55ED8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554"/>
                <a:ext cx="468" cy="518"/>
                <a:chOff x="0" y="1554"/>
                <a:chExt cx="468" cy="518"/>
              </a:xfrm>
            </p:grpSpPr>
            <p:sp>
              <p:nvSpPr>
                <p:cNvPr id="79" name="Rectangle 140">
                  <a:extLst>
                    <a:ext uri="{FF2B5EF4-FFF2-40B4-BE49-F238E27FC236}">
                      <a16:creationId xmlns:a16="http://schemas.microsoft.com/office/drawing/2014/main" id="{99FF4A4D-F3A5-0315-7A18-CD7B0F188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554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80" name="Rectangle 184">
                  <a:extLst>
                    <a:ext uri="{FF2B5EF4-FFF2-40B4-BE49-F238E27FC236}">
                      <a16:creationId xmlns:a16="http://schemas.microsoft.com/office/drawing/2014/main" id="{0146A9F9-2410-3582-1E2C-405339324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554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2" name="Group 187">
                <a:extLst>
                  <a:ext uri="{FF2B5EF4-FFF2-40B4-BE49-F238E27FC236}">
                    <a16:creationId xmlns:a16="http://schemas.microsoft.com/office/drawing/2014/main" id="{A6FA6D83-25DE-F120-7989-ACD6E1D46F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1554"/>
                <a:ext cx="394" cy="518"/>
                <a:chOff x="468" y="1554"/>
                <a:chExt cx="394" cy="518"/>
              </a:xfrm>
            </p:grpSpPr>
            <p:sp>
              <p:nvSpPr>
                <p:cNvPr id="77" name="Rectangle 141">
                  <a:extLst>
                    <a:ext uri="{FF2B5EF4-FFF2-40B4-BE49-F238E27FC236}">
                      <a16:creationId xmlns:a16="http://schemas.microsoft.com/office/drawing/2014/main" id="{F9DFBF15-49AD-79C2-A358-A10F9E57F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1554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9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8" name="Rectangle 186">
                  <a:extLst>
                    <a:ext uri="{FF2B5EF4-FFF2-40B4-BE49-F238E27FC236}">
                      <a16:creationId xmlns:a16="http://schemas.microsoft.com/office/drawing/2014/main" id="{9CBF47D2-0A43-5409-EBFA-0F20CF81A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1554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3" name="Group 189">
                <a:extLst>
                  <a:ext uri="{FF2B5EF4-FFF2-40B4-BE49-F238E27FC236}">
                    <a16:creationId xmlns:a16="http://schemas.microsoft.com/office/drawing/2014/main" id="{A4B7C640-1A45-C1C3-CC2B-8FA00D8A5A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1554"/>
                <a:ext cx="780" cy="518"/>
                <a:chOff x="862" y="1554"/>
                <a:chExt cx="780" cy="518"/>
              </a:xfrm>
            </p:grpSpPr>
            <p:sp>
              <p:nvSpPr>
                <p:cNvPr id="75" name="Rectangle 142">
                  <a:extLst>
                    <a:ext uri="{FF2B5EF4-FFF2-40B4-BE49-F238E27FC236}">
                      <a16:creationId xmlns:a16="http://schemas.microsoft.com/office/drawing/2014/main" id="{6AF574C9-0BA3-27F6-1189-FEA418420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1554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76" name="Rectangle 188">
                  <a:extLst>
                    <a:ext uri="{FF2B5EF4-FFF2-40B4-BE49-F238E27FC236}">
                      <a16:creationId xmlns:a16="http://schemas.microsoft.com/office/drawing/2014/main" id="{738F3D35-B75E-1F3A-A741-0AD19FB0E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1554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4" name="Group 191">
                <a:extLst>
                  <a:ext uri="{FF2B5EF4-FFF2-40B4-BE49-F238E27FC236}">
                    <a16:creationId xmlns:a16="http://schemas.microsoft.com/office/drawing/2014/main" id="{47F74B6B-3A88-27F3-CCB5-FC9ED4B4C2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1554"/>
                <a:ext cx="802" cy="518"/>
                <a:chOff x="1642" y="1554"/>
                <a:chExt cx="802" cy="518"/>
              </a:xfrm>
            </p:grpSpPr>
            <p:sp>
              <p:nvSpPr>
                <p:cNvPr id="73" name="Rectangle 143">
                  <a:extLst>
                    <a:ext uri="{FF2B5EF4-FFF2-40B4-BE49-F238E27FC236}">
                      <a16:creationId xmlns:a16="http://schemas.microsoft.com/office/drawing/2014/main" id="{D9BBDA3E-D360-FA7C-3DF4-21689477D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1554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 ½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4" name="Rectangle 190">
                  <a:extLst>
                    <a:ext uri="{FF2B5EF4-FFF2-40B4-BE49-F238E27FC236}">
                      <a16:creationId xmlns:a16="http://schemas.microsoft.com/office/drawing/2014/main" id="{7AB2E6DC-FBAC-71BE-8C2D-F2B785BCEE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1554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5" name="Group 193">
                <a:extLst>
                  <a:ext uri="{FF2B5EF4-FFF2-40B4-BE49-F238E27FC236}">
                    <a16:creationId xmlns:a16="http://schemas.microsoft.com/office/drawing/2014/main" id="{77510B36-151C-6027-5607-4FB2269261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072"/>
                <a:ext cx="468" cy="518"/>
                <a:chOff x="0" y="2072"/>
                <a:chExt cx="468" cy="518"/>
              </a:xfrm>
            </p:grpSpPr>
            <p:sp>
              <p:nvSpPr>
                <p:cNvPr id="71" name="Rectangle 144">
                  <a:extLst>
                    <a:ext uri="{FF2B5EF4-FFF2-40B4-BE49-F238E27FC236}">
                      <a16:creationId xmlns:a16="http://schemas.microsoft.com/office/drawing/2014/main" id="{E19BDBE1-0E29-E44A-27B8-E57240E3F6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072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4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72" name="Rectangle 192">
                  <a:extLst>
                    <a:ext uri="{FF2B5EF4-FFF2-40B4-BE49-F238E27FC236}">
                      <a16:creationId xmlns:a16="http://schemas.microsoft.com/office/drawing/2014/main" id="{D785E0AC-9FCB-E6EA-189D-3E83E33DAF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072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6" name="Group 195">
                <a:extLst>
                  <a:ext uri="{FF2B5EF4-FFF2-40B4-BE49-F238E27FC236}">
                    <a16:creationId xmlns:a16="http://schemas.microsoft.com/office/drawing/2014/main" id="{7EBEC9CD-DFA7-F5B6-0B41-E5A376AC24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072"/>
                <a:ext cx="394" cy="518"/>
                <a:chOff x="468" y="2072"/>
                <a:chExt cx="394" cy="518"/>
              </a:xfrm>
            </p:grpSpPr>
            <p:sp>
              <p:nvSpPr>
                <p:cNvPr id="69" name="Rectangle 145">
                  <a:extLst>
                    <a:ext uri="{FF2B5EF4-FFF2-40B4-BE49-F238E27FC236}">
                      <a16:creationId xmlns:a16="http://schemas.microsoft.com/office/drawing/2014/main" id="{6EFDF1BD-4D3F-CF03-401A-59CCDCF19E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072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70" name="Rectangle 194">
                  <a:extLst>
                    <a:ext uri="{FF2B5EF4-FFF2-40B4-BE49-F238E27FC236}">
                      <a16:creationId xmlns:a16="http://schemas.microsoft.com/office/drawing/2014/main" id="{EEC405F7-936C-3AE6-20ED-AEEFAE1D5B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072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7" name="Group 197">
                <a:extLst>
                  <a:ext uri="{FF2B5EF4-FFF2-40B4-BE49-F238E27FC236}">
                    <a16:creationId xmlns:a16="http://schemas.microsoft.com/office/drawing/2014/main" id="{74F2AF47-54D8-82D0-C489-5C745D879F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2072"/>
                <a:ext cx="780" cy="518"/>
                <a:chOff x="862" y="2072"/>
                <a:chExt cx="780" cy="518"/>
              </a:xfrm>
            </p:grpSpPr>
            <p:sp>
              <p:nvSpPr>
                <p:cNvPr id="67" name="Rectangle 146">
                  <a:extLst>
                    <a:ext uri="{FF2B5EF4-FFF2-40B4-BE49-F238E27FC236}">
                      <a16:creationId xmlns:a16="http://schemas.microsoft.com/office/drawing/2014/main" id="{3C5FD084-E9C9-61F8-8A2F-07B51DCAA6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2072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68" name="Rectangle 196">
                  <a:extLst>
                    <a:ext uri="{FF2B5EF4-FFF2-40B4-BE49-F238E27FC236}">
                      <a16:creationId xmlns:a16="http://schemas.microsoft.com/office/drawing/2014/main" id="{D5402C2A-F0DD-E3FB-0D25-2853632EDD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072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8" name="Group 199">
                <a:extLst>
                  <a:ext uri="{FF2B5EF4-FFF2-40B4-BE49-F238E27FC236}">
                    <a16:creationId xmlns:a16="http://schemas.microsoft.com/office/drawing/2014/main" id="{34F0CB72-7E0C-DA2E-4A39-C50499AF2E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2072"/>
                <a:ext cx="802" cy="518"/>
                <a:chOff x="1642" y="2072"/>
                <a:chExt cx="802" cy="518"/>
              </a:xfrm>
            </p:grpSpPr>
            <p:sp>
              <p:nvSpPr>
                <p:cNvPr id="65" name="Rectangle 147">
                  <a:extLst>
                    <a:ext uri="{FF2B5EF4-FFF2-40B4-BE49-F238E27FC236}">
                      <a16:creationId xmlns:a16="http://schemas.microsoft.com/office/drawing/2014/main" id="{515EFD37-CA37-DED3-D91E-540248988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2072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 2/3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6" name="Rectangle 198">
                  <a:extLst>
                    <a:ext uri="{FF2B5EF4-FFF2-40B4-BE49-F238E27FC236}">
                      <a16:creationId xmlns:a16="http://schemas.microsoft.com/office/drawing/2014/main" id="{E65B113F-6AF2-02DE-93BC-50C4784DDF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2072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29" name="Group 201">
                <a:extLst>
                  <a:ext uri="{FF2B5EF4-FFF2-40B4-BE49-F238E27FC236}">
                    <a16:creationId xmlns:a16="http://schemas.microsoft.com/office/drawing/2014/main" id="{22F395C4-F251-5A94-CFEF-E51EDD72AA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90"/>
                <a:ext cx="468" cy="518"/>
                <a:chOff x="0" y="2590"/>
                <a:chExt cx="468" cy="518"/>
              </a:xfrm>
            </p:grpSpPr>
            <p:sp>
              <p:nvSpPr>
                <p:cNvPr id="63" name="Rectangle 148">
                  <a:extLst>
                    <a:ext uri="{FF2B5EF4-FFF2-40B4-BE49-F238E27FC236}">
                      <a16:creationId xmlns:a16="http://schemas.microsoft.com/office/drawing/2014/main" id="{AF4F7479-DCAD-0F13-502C-E57745DDAD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90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64" name="Rectangle 200">
                  <a:extLst>
                    <a:ext uri="{FF2B5EF4-FFF2-40B4-BE49-F238E27FC236}">
                      <a16:creationId xmlns:a16="http://schemas.microsoft.com/office/drawing/2014/main" id="{8F09B6FC-8E7E-498C-56F9-7ABFCE982D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90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0" name="Group 203">
                <a:extLst>
                  <a:ext uri="{FF2B5EF4-FFF2-40B4-BE49-F238E27FC236}">
                    <a16:creationId xmlns:a16="http://schemas.microsoft.com/office/drawing/2014/main" id="{D40E8104-EBD8-7D9C-A4C1-7329E09985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2590"/>
                <a:ext cx="394" cy="518"/>
                <a:chOff x="468" y="2590"/>
                <a:chExt cx="394" cy="518"/>
              </a:xfrm>
            </p:grpSpPr>
            <p:sp>
              <p:nvSpPr>
                <p:cNvPr id="61" name="Rectangle 149">
                  <a:extLst>
                    <a:ext uri="{FF2B5EF4-FFF2-40B4-BE49-F238E27FC236}">
                      <a16:creationId xmlns:a16="http://schemas.microsoft.com/office/drawing/2014/main" id="{5309115E-0D9A-A30D-2139-E263D3167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2590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25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62" name="Rectangle 202">
                  <a:extLst>
                    <a:ext uri="{FF2B5EF4-FFF2-40B4-BE49-F238E27FC236}">
                      <a16:creationId xmlns:a16="http://schemas.microsoft.com/office/drawing/2014/main" id="{5CB66FAC-47CE-DE23-8E8B-BA2DA8B43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2590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1" name="Group 205">
                <a:extLst>
                  <a:ext uri="{FF2B5EF4-FFF2-40B4-BE49-F238E27FC236}">
                    <a16:creationId xmlns:a16="http://schemas.microsoft.com/office/drawing/2014/main" id="{132F8BBD-9858-2601-34C0-C8301CB97A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2590"/>
                <a:ext cx="780" cy="518"/>
                <a:chOff x="862" y="2590"/>
                <a:chExt cx="780" cy="518"/>
              </a:xfrm>
            </p:grpSpPr>
            <p:sp>
              <p:nvSpPr>
                <p:cNvPr id="59" name="Rectangle 150">
                  <a:extLst>
                    <a:ext uri="{FF2B5EF4-FFF2-40B4-BE49-F238E27FC236}">
                      <a16:creationId xmlns:a16="http://schemas.microsoft.com/office/drawing/2014/main" id="{8F5C80A6-BF68-8A3F-5022-3E9D397032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2590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60" name="Rectangle 204">
                  <a:extLst>
                    <a:ext uri="{FF2B5EF4-FFF2-40B4-BE49-F238E27FC236}">
                      <a16:creationId xmlns:a16="http://schemas.microsoft.com/office/drawing/2014/main" id="{B4717D03-014C-2F95-58CE-F5AD18B4E7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2590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2" name="Group 207">
                <a:extLst>
                  <a:ext uri="{FF2B5EF4-FFF2-40B4-BE49-F238E27FC236}">
                    <a16:creationId xmlns:a16="http://schemas.microsoft.com/office/drawing/2014/main" id="{0C3DD689-EE2D-3F3E-06A8-20A4C3979A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2590"/>
                <a:ext cx="802" cy="518"/>
                <a:chOff x="1642" y="2590"/>
                <a:chExt cx="802" cy="518"/>
              </a:xfrm>
            </p:grpSpPr>
            <p:sp>
              <p:nvSpPr>
                <p:cNvPr id="57" name="Rectangle 151">
                  <a:extLst>
                    <a:ext uri="{FF2B5EF4-FFF2-40B4-BE49-F238E27FC236}">
                      <a16:creationId xmlns:a16="http://schemas.microsoft.com/office/drawing/2014/main" id="{96010D83-985E-B6BC-DBD2-AD3ADA3CA1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2590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4 1/3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8" name="Rectangle 206">
                  <a:extLst>
                    <a:ext uri="{FF2B5EF4-FFF2-40B4-BE49-F238E27FC236}">
                      <a16:creationId xmlns:a16="http://schemas.microsoft.com/office/drawing/2014/main" id="{4C5542B4-E3A0-DA13-FFD1-DA7E376263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2590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3" name="Group 209">
                <a:extLst>
                  <a:ext uri="{FF2B5EF4-FFF2-40B4-BE49-F238E27FC236}">
                    <a16:creationId xmlns:a16="http://schemas.microsoft.com/office/drawing/2014/main" id="{C5DA05CC-B8FD-321C-E397-471DABEB7D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108"/>
                <a:ext cx="468" cy="518"/>
                <a:chOff x="0" y="3108"/>
                <a:chExt cx="468" cy="518"/>
              </a:xfrm>
            </p:grpSpPr>
            <p:sp>
              <p:nvSpPr>
                <p:cNvPr id="55" name="Rectangle 152">
                  <a:extLst>
                    <a:ext uri="{FF2B5EF4-FFF2-40B4-BE49-F238E27FC236}">
                      <a16:creationId xmlns:a16="http://schemas.microsoft.com/office/drawing/2014/main" id="{2F8DF45C-7D42-F5C2-383B-AE83536DD0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108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56" name="Rectangle 208">
                  <a:extLst>
                    <a:ext uri="{FF2B5EF4-FFF2-40B4-BE49-F238E27FC236}">
                      <a16:creationId xmlns:a16="http://schemas.microsoft.com/office/drawing/2014/main" id="{44ED6333-BD75-B41B-C5EA-8313508C7D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108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4" name="Group 211">
                <a:extLst>
                  <a:ext uri="{FF2B5EF4-FFF2-40B4-BE49-F238E27FC236}">
                    <a16:creationId xmlns:a16="http://schemas.microsoft.com/office/drawing/2014/main" id="{225A841E-8134-FEB5-D2E9-E50BD2B508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108"/>
                <a:ext cx="394" cy="518"/>
                <a:chOff x="468" y="3108"/>
                <a:chExt cx="394" cy="518"/>
              </a:xfrm>
            </p:grpSpPr>
            <p:sp>
              <p:nvSpPr>
                <p:cNvPr id="53" name="Rectangle 153">
                  <a:extLst>
                    <a:ext uri="{FF2B5EF4-FFF2-40B4-BE49-F238E27FC236}">
                      <a16:creationId xmlns:a16="http://schemas.microsoft.com/office/drawing/2014/main" id="{75B5D91A-486A-B6EE-6C92-AF064EF46D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108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36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4" name="Rectangle 210">
                  <a:extLst>
                    <a:ext uri="{FF2B5EF4-FFF2-40B4-BE49-F238E27FC236}">
                      <a16:creationId xmlns:a16="http://schemas.microsoft.com/office/drawing/2014/main" id="{EC2BFB46-AC52-A5DE-5D9D-C5270AAE9A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108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5" name="Group 213">
                <a:extLst>
                  <a:ext uri="{FF2B5EF4-FFF2-40B4-BE49-F238E27FC236}">
                    <a16:creationId xmlns:a16="http://schemas.microsoft.com/office/drawing/2014/main" id="{26DA5C3C-9771-378D-1D32-8A03C5B889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3108"/>
                <a:ext cx="780" cy="518"/>
                <a:chOff x="862" y="3108"/>
                <a:chExt cx="780" cy="518"/>
              </a:xfrm>
            </p:grpSpPr>
            <p:sp>
              <p:nvSpPr>
                <p:cNvPr id="51" name="Rectangle 154">
                  <a:extLst>
                    <a:ext uri="{FF2B5EF4-FFF2-40B4-BE49-F238E27FC236}">
                      <a16:creationId xmlns:a16="http://schemas.microsoft.com/office/drawing/2014/main" id="{B1000190-3580-F7BA-67C5-D987671D73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3108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52" name="Rectangle 212">
                  <a:extLst>
                    <a:ext uri="{FF2B5EF4-FFF2-40B4-BE49-F238E27FC236}">
                      <a16:creationId xmlns:a16="http://schemas.microsoft.com/office/drawing/2014/main" id="{F2957446-2C5A-D84E-3DB5-EE88B730A3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108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6" name="Group 215">
                <a:extLst>
                  <a:ext uri="{FF2B5EF4-FFF2-40B4-BE49-F238E27FC236}">
                    <a16:creationId xmlns:a16="http://schemas.microsoft.com/office/drawing/2014/main" id="{791C33C5-0CBE-0A5A-78B0-FBD1B9BBF8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3108"/>
                <a:ext cx="802" cy="518"/>
                <a:chOff x="1642" y="3108"/>
                <a:chExt cx="802" cy="518"/>
              </a:xfrm>
            </p:grpSpPr>
            <p:sp>
              <p:nvSpPr>
                <p:cNvPr id="49" name="Rectangle 155">
                  <a:extLst>
                    <a:ext uri="{FF2B5EF4-FFF2-40B4-BE49-F238E27FC236}">
                      <a16:creationId xmlns:a16="http://schemas.microsoft.com/office/drawing/2014/main" id="{807C0E7A-C6E9-4AD8-C893-E3138D24D1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108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50" name="Rectangle 214">
                  <a:extLst>
                    <a:ext uri="{FF2B5EF4-FFF2-40B4-BE49-F238E27FC236}">
                      <a16:creationId xmlns:a16="http://schemas.microsoft.com/office/drawing/2014/main" id="{7ED2571D-7AF4-42EE-025D-18D30C134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3108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7" name="Group 217">
                <a:extLst>
                  <a:ext uri="{FF2B5EF4-FFF2-40B4-BE49-F238E27FC236}">
                    <a16:creationId xmlns:a16="http://schemas.microsoft.com/office/drawing/2014/main" id="{31EA1E0A-CD1D-AFC5-82E7-2F1D3DA83F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26"/>
                <a:ext cx="468" cy="518"/>
                <a:chOff x="0" y="3626"/>
                <a:chExt cx="468" cy="518"/>
              </a:xfrm>
            </p:grpSpPr>
            <p:sp>
              <p:nvSpPr>
                <p:cNvPr id="47" name="Rectangle 156">
                  <a:extLst>
                    <a:ext uri="{FF2B5EF4-FFF2-40B4-BE49-F238E27FC236}">
                      <a16:creationId xmlns:a16="http://schemas.microsoft.com/office/drawing/2014/main" id="{A7F1479A-65E7-7832-7A38-D8843B3C50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626"/>
                  <a:ext cx="382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kumimoji="1" lang="en-US" altLang="en-US" sz="2316">
                      <a:cs typeface="Times New Roman" panose="02020603050405020304" pitchFamily="18" charset="0"/>
                    </a:rPr>
                    <a:t>Tot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kumimoji="1" lang="en-US" altLang="en-US" sz="2316"/>
                </a:p>
              </p:txBody>
            </p:sp>
            <p:sp>
              <p:nvSpPr>
                <p:cNvPr id="48" name="Rectangle 216">
                  <a:extLst>
                    <a:ext uri="{FF2B5EF4-FFF2-40B4-BE49-F238E27FC236}">
                      <a16:creationId xmlns:a16="http://schemas.microsoft.com/office/drawing/2014/main" id="{97F00EAC-9AB4-BDD2-945E-FD09DCC77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26"/>
                  <a:ext cx="468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8" name="Group 219">
                <a:extLst>
                  <a:ext uri="{FF2B5EF4-FFF2-40B4-BE49-F238E27FC236}">
                    <a16:creationId xmlns:a16="http://schemas.microsoft.com/office/drawing/2014/main" id="{8B029BAE-8D3F-6E8B-9A0C-083EF95A7A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626"/>
                <a:ext cx="394" cy="518"/>
                <a:chOff x="468" y="3626"/>
                <a:chExt cx="394" cy="518"/>
              </a:xfrm>
            </p:grpSpPr>
            <p:sp>
              <p:nvSpPr>
                <p:cNvPr id="45" name="Rectangle 157">
                  <a:extLst>
                    <a:ext uri="{FF2B5EF4-FFF2-40B4-BE49-F238E27FC236}">
                      <a16:creationId xmlns:a16="http://schemas.microsoft.com/office/drawing/2014/main" id="{4C8697D5-9082-6A0B-8616-DD66E65530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1" y="3626"/>
                  <a:ext cx="30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46" name="Rectangle 218">
                  <a:extLst>
                    <a:ext uri="{FF2B5EF4-FFF2-40B4-BE49-F238E27FC236}">
                      <a16:creationId xmlns:a16="http://schemas.microsoft.com/office/drawing/2014/main" id="{1EFE3B7B-9BBC-BC9C-FFB7-EB61651519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" y="3626"/>
                  <a:ext cx="394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39" name="Group 221">
                <a:extLst>
                  <a:ext uri="{FF2B5EF4-FFF2-40B4-BE49-F238E27FC236}">
                    <a16:creationId xmlns:a16="http://schemas.microsoft.com/office/drawing/2014/main" id="{34C6F00E-0382-A0CA-0C2D-D9DE40D9C4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2" y="3626"/>
                <a:ext cx="780" cy="518"/>
                <a:chOff x="862" y="3626"/>
                <a:chExt cx="780" cy="518"/>
              </a:xfrm>
            </p:grpSpPr>
            <p:sp>
              <p:nvSpPr>
                <p:cNvPr id="43" name="Rectangle 158">
                  <a:extLst>
                    <a:ext uri="{FF2B5EF4-FFF2-40B4-BE49-F238E27FC236}">
                      <a16:creationId xmlns:a16="http://schemas.microsoft.com/office/drawing/2014/main" id="{5BD1187F-133C-B28D-12CB-DD6CCD9000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05" y="3626"/>
                  <a:ext cx="69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kumimoji="1" lang="en-US" altLang="en-US" sz="1323">
                      <a:cs typeface="Times New Roman" panose="02020603050405020304" pitchFamily="18" charset="0"/>
                    </a:rPr>
                    <a:t> </a:t>
                  </a:r>
                </a:p>
                <a:p>
                  <a:pPr algn="ctr" eaLnBrk="0" hangingPunct="0"/>
                  <a:endParaRPr kumimoji="1" lang="en-US" altLang="en-US" sz="2316"/>
                </a:p>
              </p:txBody>
            </p:sp>
            <p:sp>
              <p:nvSpPr>
                <p:cNvPr id="44" name="Rectangle 220">
                  <a:extLst>
                    <a:ext uri="{FF2B5EF4-FFF2-40B4-BE49-F238E27FC236}">
                      <a16:creationId xmlns:a16="http://schemas.microsoft.com/office/drawing/2014/main" id="{2BD10317-160C-FEA6-DC63-0C8C97014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2" y="3626"/>
                  <a:ext cx="78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  <p:grpSp>
            <p:nvGrpSpPr>
              <p:cNvPr id="40" name="Group 223">
                <a:extLst>
                  <a:ext uri="{FF2B5EF4-FFF2-40B4-BE49-F238E27FC236}">
                    <a16:creationId xmlns:a16="http://schemas.microsoft.com/office/drawing/2014/main" id="{2C43F44D-3A0A-381F-53FA-47530E719E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42" y="3626"/>
                <a:ext cx="802" cy="518"/>
                <a:chOff x="1642" y="3626"/>
                <a:chExt cx="802" cy="518"/>
              </a:xfrm>
            </p:grpSpPr>
            <p:sp>
              <p:nvSpPr>
                <p:cNvPr id="41" name="Rectangle 159">
                  <a:extLst>
                    <a:ext uri="{FF2B5EF4-FFF2-40B4-BE49-F238E27FC236}">
                      <a16:creationId xmlns:a16="http://schemas.microsoft.com/office/drawing/2014/main" id="{7CFFF77A-EBCC-7AE7-089E-9EB9F0DA2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5" y="3626"/>
                  <a:ext cx="71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r"/>
                  <a:r>
                    <a:rPr kumimoji="1" lang="en-US" altLang="en-US" sz="2316">
                      <a:cs typeface="Times New Roman" panose="02020603050405020304" pitchFamily="18" charset="0"/>
                    </a:rPr>
                    <a:t>15 1/6</a:t>
                  </a:r>
                  <a:endParaRPr kumimoji="1" lang="en-US" altLang="en-US" sz="1323">
                    <a:cs typeface="Times New Roman" panose="02020603050405020304" pitchFamily="18" charset="0"/>
                  </a:endParaRPr>
                </a:p>
                <a:p>
                  <a:pPr algn="r" eaLnBrk="0" hangingPunct="0"/>
                  <a:endParaRPr kumimoji="1" lang="en-US" altLang="en-US" sz="2316"/>
                </a:p>
              </p:txBody>
            </p:sp>
            <p:sp>
              <p:nvSpPr>
                <p:cNvPr id="42" name="Rectangle 222">
                  <a:extLst>
                    <a:ext uri="{FF2B5EF4-FFF2-40B4-BE49-F238E27FC236}">
                      <a16:creationId xmlns:a16="http://schemas.microsoft.com/office/drawing/2014/main" id="{2F9D35C2-2971-7D51-875C-DFB9463FC6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2" y="3626"/>
                  <a:ext cx="80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alpha val="50000"/>
                        </a:schemeClr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D" sz="2316"/>
                </a:p>
              </p:txBody>
            </p:sp>
          </p:grpSp>
        </p:grpSp>
        <p:sp>
          <p:nvSpPr>
            <p:cNvPr id="8" name="Rectangle 225">
              <a:extLst>
                <a:ext uri="{FF2B5EF4-FFF2-40B4-BE49-F238E27FC236}">
                  <a16:creationId xmlns:a16="http://schemas.microsoft.com/office/drawing/2014/main" id="{FA5C3E10-A1CB-798B-1868-0E0937F8D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2"/>
              <a:ext cx="2448" cy="4148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D" sz="2316"/>
            </a:p>
          </p:txBody>
        </p:sp>
      </p:grpSp>
    </p:spTree>
    <p:extLst>
      <p:ext uri="{BB962C8B-B14F-4D97-AF65-F5344CB8AC3E}">
        <p14:creationId xmlns:p14="http://schemas.microsoft.com/office/powerpoint/2010/main" val="6484072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Variance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Example, die throw</a:t>
            </a:r>
          </a:p>
        </p:txBody>
      </p:sp>
      <p:graphicFrame>
        <p:nvGraphicFramePr>
          <p:cNvPr id="2" name="Object 104">
            <a:extLst>
              <a:ext uri="{FF2B5EF4-FFF2-40B4-BE49-F238E27FC236}">
                <a16:creationId xmlns:a16="http://schemas.microsoft.com/office/drawing/2014/main" id="{82EE46A1-EA1A-8DBB-BE1E-2313818FC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9021" y="3445298"/>
          <a:ext cx="6974628" cy="235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08160" imgH="711000" progId="Equation.3">
                  <p:embed/>
                </p:oleObj>
              </mc:Choice>
              <mc:Fallback>
                <p:oleObj name="Equation" r:id="rId2" imgW="2108160" imgH="711000" progId="Equation.3">
                  <p:embed/>
                  <p:pic>
                    <p:nvPicPr>
                      <p:cNvPr id="2" name="Object 104">
                        <a:extLst>
                          <a:ext uri="{FF2B5EF4-FFF2-40B4-BE49-F238E27FC236}">
                            <a16:creationId xmlns:a16="http://schemas.microsoft.com/office/drawing/2014/main" id="{82EE46A1-EA1A-8DBB-BE1E-2313818FC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021" y="3445298"/>
                        <a:ext cx="6974628" cy="235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764326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Standard deviation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466608-58A4-9A2A-96CD-64183F630053}"/>
              </a:ext>
            </a:extLst>
          </p:cNvPr>
          <p:cNvSpPr txBox="1">
            <a:spLocks noChangeArrowheads="1"/>
          </p:cNvSpPr>
          <p:nvPr/>
        </p:nvSpPr>
        <p:spPr>
          <a:xfrm>
            <a:off x="1057730" y="1842849"/>
            <a:ext cx="9630908" cy="78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2500" lnSpcReduction="10000"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lvl="1" fontAlgn="auto"/>
            <a:r>
              <a:rPr lang="en-US" altLang="en-US" sz="2800" kern="0" dirty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Standard deviation</a:t>
            </a:r>
            <a:r>
              <a:rPr lang="en-US" altLang="en-US" sz="2800" kern="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:  as in the case of describing data, it is easier to work in standard deviations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0E9275C9-6CD5-4D84-86BC-6C26704AE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470493"/>
              </p:ext>
            </p:extLst>
          </p:nvPr>
        </p:nvGraphicFramePr>
        <p:xfrm>
          <a:off x="2998979" y="3492565"/>
          <a:ext cx="4453678" cy="96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79360" progId="Equation.3">
                  <p:embed/>
                </p:oleObj>
              </mc:Choice>
              <mc:Fallback>
                <p:oleObj name="Equation" r:id="rId2" imgW="1295280" imgH="279360" progId="Equation.3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0E9275C9-6CD5-4D84-86BC-6C26704AED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979" y="3492565"/>
                        <a:ext cx="4453678" cy="96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02998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92F0D7-57FE-6E36-B6A9-29D4042C43B0}"/>
              </a:ext>
            </a:extLst>
          </p:cNvPr>
          <p:cNvSpPr txBox="1"/>
          <p:nvPr/>
        </p:nvSpPr>
        <p:spPr>
          <a:xfrm>
            <a:off x="1648048" y="3119705"/>
            <a:ext cx="7208874" cy="13234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defTabSz="400827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en-US" sz="4000" b="1" i="0" u="none" strike="noStrike" kern="0" cap="none" spc="-75" normalizeH="0" baseline="0" noProof="0" dirty="0">
                <a:ln>
                  <a:noFill/>
                </a:ln>
                <a:solidFill>
                  <a:srgbClr val="0079B8"/>
                </a:solidFill>
                <a:effectLst/>
                <a:uLnTx/>
                <a:uFillTx/>
                <a:latin typeface="Open Sans"/>
                <a:ea typeface="Open Sans ExtraBold" panose="020B0606030504020204" pitchFamily="34" charset="0"/>
                <a:cs typeface="Open Sans ExtraBold" panose="020B0606030504020204" pitchFamily="34" charset="0"/>
                <a:sym typeface="Helvetica Neue"/>
              </a:rPr>
              <a:t>The Binomial Probability Distributions</a:t>
            </a:r>
            <a:endParaRPr lang="en-ID" sz="4400" b="1" dirty="0">
              <a:solidFill>
                <a:srgbClr val="00B0F0"/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41241063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7423" y="968653"/>
            <a:ext cx="8328057" cy="5818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/>
              <a:t>Introduction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A916C47-9E86-4A1C-744A-AEA2C9763538}"/>
              </a:ext>
            </a:extLst>
          </p:cNvPr>
          <p:cNvSpPr txBox="1">
            <a:spLocks noChangeArrowheads="1"/>
          </p:cNvSpPr>
          <p:nvPr/>
        </p:nvSpPr>
        <p:spPr>
          <a:xfrm>
            <a:off x="1259694" y="1749572"/>
            <a:ext cx="8823325" cy="2520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Discrete random variables take on only a finite or countably number of values.</a:t>
            </a:r>
            <a:endParaRPr lang="en-US" altLang="ko-KR" sz="2800" b="1" kern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Open Sans Semibold" panose="020B0706030804020204" pitchFamily="34" charset="0"/>
              <a:ea typeface="Open Sans Semibold" panose="020B0706030804020204" pitchFamily="34" charset="0"/>
              <a:cs typeface="Open Sans Semibold" panose="020B0706030804020204" pitchFamily="34" charset="0"/>
            </a:endParaRPr>
          </a:p>
          <a:p>
            <a:pPr fontAlgn="auto"/>
            <a:r>
              <a:rPr lang="en-US" altLang="ko-KR" sz="2800" kern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Three discrete probability distributions serve as models for a large number of practical applications: </a:t>
            </a:r>
          </a:p>
          <a:p>
            <a:pPr fontAlgn="auto"/>
            <a:endParaRPr lang="ko-KR" altLang="en-US" sz="2800" kern="0" dirty="0">
              <a:latin typeface="Open Sans Semibold" panose="020B0706030804020204" pitchFamily="34" charset="0"/>
              <a:ea typeface="굴림" panose="020B0600000101010101" pitchFamily="34" charset="-127"/>
              <a:cs typeface="Open Sans Semibold" panose="020B07060308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549099-F663-2C8D-7E1A-DA52A801A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89" y="4366751"/>
            <a:ext cx="7200000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12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581817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600" dirty="0"/>
              <a:t>The Binomial Random Variable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B7C2295-767A-E627-3580-ED5E0F9BD763}"/>
              </a:ext>
            </a:extLst>
          </p:cNvPr>
          <p:cNvSpPr txBox="1">
            <a:spLocks noChangeArrowheads="1"/>
          </p:cNvSpPr>
          <p:nvPr/>
        </p:nvSpPr>
        <p:spPr>
          <a:xfrm>
            <a:off x="1145822" y="1835663"/>
            <a:ext cx="9327248" cy="1492328"/>
          </a:xfrm>
          <a:prstGeom prst="rect">
            <a:avLst/>
          </a:prstGeom>
          <a:ln w="12700">
            <a:miter lim="4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9788" tIns="49018" rIns="99788" bIns="49018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 dirty="0">
                <a:ea typeface="굴림" panose="020B0600000101010101" pitchFamily="34" charset="-127"/>
              </a:rPr>
              <a:t>The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coin-tossing experiment</a:t>
            </a:r>
            <a:r>
              <a:rPr lang="en-US" altLang="ko-KR" sz="2800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sz="2800" kern="0" dirty="0">
                <a:ea typeface="굴림" panose="020B0600000101010101" pitchFamily="34" charset="-127"/>
              </a:rPr>
              <a:t>is a simple example of a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binomial random variable. </a:t>
            </a:r>
            <a:r>
              <a:rPr lang="en-US" altLang="ko-KR" sz="2800" kern="0" dirty="0">
                <a:ea typeface="굴림" panose="020B0600000101010101" pitchFamily="34" charset="-127"/>
              </a:rPr>
              <a:t>Toss a fair coin </a:t>
            </a:r>
            <a:r>
              <a:rPr lang="en-US" altLang="ko-KR" sz="2800" i="1" kern="0" dirty="0">
                <a:ea typeface="굴림" panose="020B0600000101010101" pitchFamily="34" charset="-127"/>
              </a:rPr>
              <a:t>n</a:t>
            </a:r>
            <a:r>
              <a:rPr lang="en-US" altLang="ko-KR" sz="2800" kern="0" dirty="0">
                <a:ea typeface="굴림" panose="020B0600000101010101" pitchFamily="34" charset="-127"/>
              </a:rPr>
              <a:t> = 3 times and record </a:t>
            </a:r>
            <a:r>
              <a:rPr lang="en-US" altLang="ko-KR" sz="2800" i="1" kern="0" dirty="0">
                <a:ea typeface="굴림" panose="020B0600000101010101" pitchFamily="34" charset="-127"/>
              </a:rPr>
              <a:t>x</a:t>
            </a:r>
            <a:r>
              <a:rPr lang="en-US" altLang="ko-KR" sz="2800" kern="0" dirty="0">
                <a:ea typeface="굴림" panose="020B0600000101010101" pitchFamily="34" charset="-127"/>
              </a:rPr>
              <a:t> = number of heads.</a:t>
            </a:r>
            <a:endParaRPr lang="en-US" altLang="ko-KR" sz="2800" b="1" kern="0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9A2E3-DE7E-2252-D891-71DF3756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93" y="3405032"/>
            <a:ext cx="7523116" cy="33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220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The Binomial Random Variable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F4BD832-07F8-6847-4C34-50D0AEF44D66}"/>
              </a:ext>
            </a:extLst>
          </p:cNvPr>
          <p:cNvSpPr txBox="1">
            <a:spLocks noChangeArrowheads="1"/>
          </p:cNvSpPr>
          <p:nvPr/>
        </p:nvSpPr>
        <p:spPr>
          <a:xfrm>
            <a:off x="1058704" y="1806681"/>
            <a:ext cx="9075420" cy="159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2800" kern="0" dirty="0">
                <a:ea typeface="굴림" panose="020B0600000101010101" pitchFamily="34" charset="-127"/>
              </a:rPr>
              <a:t>Many situations in real life resemble the coin toss, but the coin is not necessarily fair, so that P(H) </a:t>
            </a:r>
            <a:r>
              <a:rPr lang="en-US" altLang="ko-KR" sz="2800" kern="0" dirty="0">
                <a:ea typeface="굴림" panose="020B0600000101010101" pitchFamily="34" charset="-127"/>
                <a:sym typeface="Symbol" panose="05050102010706020507" pitchFamily="18" charset="2"/>
              </a:rPr>
              <a:t> 1/2.</a:t>
            </a:r>
            <a:endParaRPr lang="en-US" altLang="ko-KR" sz="2800" kern="0" dirty="0">
              <a:ea typeface="굴림" panose="020B0600000101010101" pitchFamily="34" charset="-127"/>
            </a:endParaRPr>
          </a:p>
        </p:txBody>
      </p:sp>
      <p:sp>
        <p:nvSpPr>
          <p:cNvPr id="4" name="Text Box 71">
            <a:extLst>
              <a:ext uri="{FF2B5EF4-FFF2-40B4-BE49-F238E27FC236}">
                <a16:creationId xmlns:a16="http://schemas.microsoft.com/office/drawing/2014/main" id="{F94615DA-AA1C-187B-355D-589816B41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9337" y="5614001"/>
            <a:ext cx="2100792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Person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D49F36C8-6F71-03EA-E614-D2AA147C5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8833" y="6286254"/>
            <a:ext cx="2100792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Has gene</a:t>
            </a:r>
          </a:p>
        </p:txBody>
      </p:sp>
      <p:sp>
        <p:nvSpPr>
          <p:cNvPr id="8" name="Text Box 74">
            <a:extLst>
              <a:ext uri="{FF2B5EF4-FFF2-40B4-BE49-F238E27FC236}">
                <a16:creationId xmlns:a16="http://schemas.microsoft.com/office/drawing/2014/main" id="{5F9543B5-2066-CF0E-1CBB-9FD2D24BC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242" y="6958508"/>
            <a:ext cx="2520950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Doesn’t have gene</a:t>
            </a:r>
          </a:p>
        </p:txBody>
      </p:sp>
      <p:sp>
        <p:nvSpPr>
          <p:cNvPr id="9" name="Text Box 75">
            <a:extLst>
              <a:ext uri="{FF2B5EF4-FFF2-40B4-BE49-F238E27FC236}">
                <a16:creationId xmlns:a16="http://schemas.microsoft.com/office/drawing/2014/main" id="{3950CC0E-923F-8819-8E9F-B1F91963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9301" y="5698033"/>
            <a:ext cx="2100792" cy="431785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 i="1">
                <a:solidFill>
                  <a:srgbClr val="F4ECC6"/>
                </a:solidFill>
                <a:ea typeface="굴림" panose="020B0600000101010101" pitchFamily="34" charset="-127"/>
              </a:rPr>
              <a:t>n</a:t>
            </a: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 = 10</a:t>
            </a:r>
          </a:p>
        </p:txBody>
      </p:sp>
      <p:sp>
        <p:nvSpPr>
          <p:cNvPr id="10" name="Rectangle 69">
            <a:extLst>
              <a:ext uri="{FF2B5EF4-FFF2-40B4-BE49-F238E27FC236}">
                <a16:creationId xmlns:a16="http://schemas.microsoft.com/office/drawing/2014/main" id="{860948C7-9958-9535-E158-045FC1D07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42" y="3177082"/>
            <a:ext cx="7394787" cy="2016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 sz="3529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Example: </a:t>
            </a:r>
            <a:r>
              <a:rPr lang="en-US" altLang="ko-KR" sz="3529" dirty="0">
                <a:solidFill>
                  <a:srgbClr val="339933"/>
                </a:solidFill>
                <a:ea typeface="굴림" panose="020B0600000101010101" pitchFamily="34" charset="-127"/>
              </a:rPr>
              <a:t>A geneticist samples 10 people and counts the number who have a gene linked to Alzheimer’s disease.</a:t>
            </a:r>
            <a:endParaRPr lang="en-US" altLang="ko-KR" sz="3529" dirty="0"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굴림" panose="020B0600000101010101" pitchFamily="34" charset="-127"/>
            </a:endParaRPr>
          </a:p>
        </p:txBody>
      </p:sp>
      <p:grpSp>
        <p:nvGrpSpPr>
          <p:cNvPr id="11" name="Group 82">
            <a:extLst>
              <a:ext uri="{FF2B5EF4-FFF2-40B4-BE49-F238E27FC236}">
                <a16:creationId xmlns:a16="http://schemas.microsoft.com/office/drawing/2014/main" id="{7970CD6B-B973-8EFF-0FBF-BDE1786DAD90}"/>
              </a:ext>
            </a:extLst>
          </p:cNvPr>
          <p:cNvGrpSpPr>
            <a:grpSpLocks/>
          </p:cNvGrpSpPr>
          <p:nvPr/>
        </p:nvGrpSpPr>
        <p:grpSpPr bwMode="auto">
          <a:xfrm>
            <a:off x="1058705" y="5529969"/>
            <a:ext cx="8067040" cy="1680633"/>
            <a:chOff x="432" y="2928"/>
            <a:chExt cx="4608" cy="960"/>
          </a:xfrm>
        </p:grpSpPr>
        <p:sp>
          <p:nvSpPr>
            <p:cNvPr id="12" name="Rectangle 70">
              <a:extLst>
                <a:ext uri="{FF2B5EF4-FFF2-40B4-BE49-F238E27FC236}">
                  <a16:creationId xmlns:a16="http://schemas.microsoft.com/office/drawing/2014/main" id="{9BE79BFA-088A-A80F-B1BA-7F1588C66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928"/>
              <a:ext cx="1265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Coin: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Head: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Tail:</a:t>
              </a:r>
            </a:p>
          </p:txBody>
        </p:sp>
        <p:sp>
          <p:nvSpPr>
            <p:cNvPr id="13" name="Rectangle 72">
              <a:extLst>
                <a:ext uri="{FF2B5EF4-FFF2-40B4-BE49-F238E27FC236}">
                  <a16:creationId xmlns:a16="http://schemas.microsoft.com/office/drawing/2014/main" id="{668A0C37-0DA9-B7BA-013F-FF59B8AF3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928"/>
              <a:ext cx="2304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Number of</a:t>
              </a:r>
            </a:p>
            <a:p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 tosses:</a:t>
              </a:r>
            </a:p>
            <a:p>
              <a:pPr>
                <a:buFontTx/>
                <a:buChar char="•"/>
              </a:pPr>
              <a:r>
                <a:rPr lang="en-US" altLang="ko-KR" sz="3529">
                  <a:solidFill>
                    <a:srgbClr val="3333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굴림" panose="020B0600000101010101" pitchFamily="34" charset="-127"/>
                </a:rPr>
                <a:t>P(H):</a:t>
              </a:r>
            </a:p>
          </p:txBody>
        </p:sp>
      </p:grpSp>
      <p:sp>
        <p:nvSpPr>
          <p:cNvPr id="14" name="Text Box 76">
            <a:extLst>
              <a:ext uri="{FF2B5EF4-FFF2-40B4-BE49-F238E27FC236}">
                <a16:creationId xmlns:a16="http://schemas.microsoft.com/office/drawing/2014/main" id="{101074E8-3811-4A14-EA8D-331994857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953" y="6370286"/>
            <a:ext cx="3025140" cy="1110689"/>
          </a:xfrm>
          <a:prstGeom prst="rect">
            <a:avLst/>
          </a:prstGeom>
          <a:solidFill>
            <a:srgbClr val="CC0066"/>
          </a:solidFill>
          <a:ln w="28575">
            <a:solidFill>
              <a:srgbClr val="F4ECC6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2206">
                <a:solidFill>
                  <a:srgbClr val="F4ECC6"/>
                </a:solidFill>
                <a:ea typeface="굴림" panose="020B0600000101010101" pitchFamily="34" charset="-127"/>
              </a:rPr>
              <a:t>P(has gene) = proportion in the population who have the gene.</a:t>
            </a:r>
          </a:p>
        </p:txBody>
      </p:sp>
      <p:sp>
        <p:nvSpPr>
          <p:cNvPr id="15" name="Line 77">
            <a:extLst>
              <a:ext uri="{FF2B5EF4-FFF2-40B4-BE49-F238E27FC236}">
                <a16:creationId xmlns:a16="http://schemas.microsoft.com/office/drawing/2014/main" id="{35F54E81-92E3-E9E6-E8C5-6DD1809CB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8705" y="2945224"/>
            <a:ext cx="8403167" cy="0"/>
          </a:xfrm>
          <a:prstGeom prst="line">
            <a:avLst/>
          </a:prstGeom>
          <a:noFill/>
          <a:ln w="57150" cmpd="thinThick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  <p:grpSp>
        <p:nvGrpSpPr>
          <p:cNvPr id="16" name="Group 81">
            <a:extLst>
              <a:ext uri="{FF2B5EF4-FFF2-40B4-BE49-F238E27FC236}">
                <a16:creationId xmlns:a16="http://schemas.microsoft.com/office/drawing/2014/main" id="{4E9F115E-9D68-3F14-A0B6-EF8CD7565A25}"/>
              </a:ext>
            </a:extLst>
          </p:cNvPr>
          <p:cNvGrpSpPr>
            <a:grpSpLocks/>
          </p:cNvGrpSpPr>
          <p:nvPr/>
        </p:nvGrpSpPr>
        <p:grpSpPr bwMode="auto">
          <a:xfrm>
            <a:off x="8369460" y="2768589"/>
            <a:ext cx="1764665" cy="2436918"/>
            <a:chOff x="4608" y="1152"/>
            <a:chExt cx="1008" cy="1392"/>
          </a:xfrm>
        </p:grpSpPr>
        <p:sp>
          <p:nvSpPr>
            <p:cNvPr id="17" name="Rectangle 80">
              <a:extLst>
                <a:ext uri="{FF2B5EF4-FFF2-40B4-BE49-F238E27FC236}">
                  <a16:creationId xmlns:a16="http://schemas.microsoft.com/office/drawing/2014/main" id="{9D083FEB-8BEF-E6AD-76E1-28C734D4E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152"/>
              <a:ext cx="1008" cy="139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18" name="Picture 79">
              <a:extLst>
                <a:ext uri="{FF2B5EF4-FFF2-40B4-BE49-F238E27FC236}">
                  <a16:creationId xmlns:a16="http://schemas.microsoft.com/office/drawing/2014/main" id="{2C491EC2-E8BB-77D7-04AC-6D5FF0C67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1" y="1248"/>
              <a:ext cx="867" cy="1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7875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6" grpId="0" animBg="1" autoUpdateAnimBg="0"/>
      <p:bldP spid="8" grpId="0" animBg="1" autoUpdateAnimBg="0"/>
      <p:bldP spid="9" grpId="0" animBg="1" autoUpdateAnimBg="0"/>
      <p:bldP spid="10" grpId="0" autoUpdateAnimBg="0"/>
      <p:bldP spid="14" grpId="0" animBg="1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The Binomial Experiment</a:t>
            </a:r>
          </a:p>
        </p:txBody>
      </p:sp>
      <p:sp>
        <p:nvSpPr>
          <p:cNvPr id="3" name="Rectangle 21">
            <a:extLst>
              <a:ext uri="{FF2B5EF4-FFF2-40B4-BE49-F238E27FC236}">
                <a16:creationId xmlns:a16="http://schemas.microsoft.com/office/drawing/2014/main" id="{54A8FAC5-CF68-F5C6-139D-D797A20B9FC7}"/>
              </a:ext>
            </a:extLst>
          </p:cNvPr>
          <p:cNvSpPr txBox="1">
            <a:spLocks noChangeArrowheads="1"/>
          </p:cNvSpPr>
          <p:nvPr/>
        </p:nvSpPr>
        <p:spPr>
          <a:xfrm>
            <a:off x="1166059" y="2001667"/>
            <a:ext cx="8991388" cy="4866966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The experiment consists of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</a:t>
            </a:r>
            <a:r>
              <a:rPr lang="en-US" altLang="ko-KR" sz="2800" b="1" i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n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 identical trials.</a:t>
            </a: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Each trial results in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one of two outcomes</a:t>
            </a:r>
            <a:r>
              <a:rPr lang="en-US" altLang="ko-KR" sz="2800" kern="0" dirty="0">
                <a:ea typeface="굴림" panose="020B0600000101010101" pitchFamily="34" charset="-127"/>
              </a:rPr>
              <a:t>, success (S) or failure (F).</a:t>
            </a: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The probability of success  on a single trial is </a:t>
            </a:r>
            <a:r>
              <a:rPr lang="en-US" altLang="ko-KR" sz="2800" i="1" kern="0" dirty="0">
                <a:ea typeface="굴림" panose="020B0600000101010101" pitchFamily="34" charset="-127"/>
              </a:rPr>
              <a:t>p</a:t>
            </a:r>
            <a:r>
              <a:rPr lang="en-US" altLang="ko-KR" sz="2800" kern="0" dirty="0">
                <a:ea typeface="굴림" panose="020B0600000101010101" pitchFamily="34" charset="-127"/>
              </a:rPr>
              <a:t> and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remains constant</a:t>
            </a:r>
            <a:r>
              <a:rPr lang="en-US" altLang="ko-KR" sz="2800" kern="0" dirty="0">
                <a:ea typeface="굴림" panose="020B0600000101010101" pitchFamily="34" charset="-127"/>
              </a:rPr>
              <a:t> from trial to trial. The probability of failure is </a:t>
            </a:r>
            <a:r>
              <a:rPr lang="en-US" altLang="ko-KR" sz="2800" i="1" kern="0" dirty="0">
                <a:ea typeface="굴림" panose="020B0600000101010101" pitchFamily="34" charset="-127"/>
              </a:rPr>
              <a:t>q = 1 – p. </a:t>
            </a:r>
            <a:endParaRPr lang="en-US" altLang="ko-KR" sz="2800" kern="0" dirty="0">
              <a:ea typeface="굴림" panose="020B0600000101010101" pitchFamily="34" charset="-127"/>
            </a:endParaRP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The trials are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independent</a:t>
            </a:r>
            <a:r>
              <a:rPr lang="en-US" altLang="ko-KR" sz="2800" kern="0" dirty="0">
                <a:ea typeface="굴림" panose="020B0600000101010101" pitchFamily="34" charset="-127"/>
              </a:rPr>
              <a:t>.</a:t>
            </a:r>
          </a:p>
          <a:p>
            <a:pPr marL="756300" indent="-756300" fontAlgn="auto">
              <a:buFontTx/>
              <a:buAutoNum type="arabicPeriod"/>
            </a:pPr>
            <a:r>
              <a:rPr lang="en-US" altLang="ko-KR" sz="2800" kern="0" dirty="0">
                <a:ea typeface="굴림" panose="020B0600000101010101" pitchFamily="34" charset="-127"/>
              </a:rPr>
              <a:t>We are interested in </a:t>
            </a:r>
            <a:r>
              <a:rPr lang="en-US" altLang="ko-KR" sz="2800" b="1" i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x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, the number of successes in </a:t>
            </a:r>
            <a:r>
              <a:rPr lang="en-US" altLang="ko-KR" sz="2800" b="1" i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n </a:t>
            </a:r>
            <a:r>
              <a:rPr lang="en-US" altLang="ko-KR" sz="2800" b="1" kern="0" dirty="0"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굴림" panose="020B0600000101010101" pitchFamily="34" charset="-127"/>
              </a:rPr>
              <a:t>trials.</a:t>
            </a:r>
          </a:p>
        </p:txBody>
      </p:sp>
    </p:spTree>
    <p:extLst>
      <p:ext uri="{BB962C8B-B14F-4D97-AF65-F5344CB8AC3E}">
        <p14:creationId xmlns:p14="http://schemas.microsoft.com/office/powerpoint/2010/main" val="279324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529C2CA-AE84-99B4-F76B-CA930C615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6371" y="805335"/>
            <a:ext cx="6818233" cy="789549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/>
              <a:t>Binomial or Not?</a:t>
            </a:r>
          </a:p>
        </p:txBody>
      </p:sp>
      <p:sp>
        <p:nvSpPr>
          <p:cNvPr id="2" name="Rectangle 48">
            <a:extLst>
              <a:ext uri="{FF2B5EF4-FFF2-40B4-BE49-F238E27FC236}">
                <a16:creationId xmlns:a16="http://schemas.microsoft.com/office/drawing/2014/main" id="{87DF6E14-6746-477E-FC32-0EB839358867}"/>
              </a:ext>
            </a:extLst>
          </p:cNvPr>
          <p:cNvSpPr txBox="1">
            <a:spLocks noChangeArrowheads="1"/>
          </p:cNvSpPr>
          <p:nvPr/>
        </p:nvSpPr>
        <p:spPr>
          <a:xfrm>
            <a:off x="1198988" y="1642225"/>
            <a:ext cx="7142692" cy="126047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2500"/>
          </a:bodyPr>
          <a:lstStyle>
            <a:lvl1pPr marL="267218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534436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801654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106887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1336091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Open Sans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1603309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1870527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2137745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2404963" marR="0" indent="-267218" algn="l" defTabSz="1068845" rtl="0" eaLnBrk="1" latinLnBrk="0" hangingPunct="1">
              <a:lnSpc>
                <a:spcPct val="90000"/>
              </a:lnSpc>
              <a:spcBef>
                <a:spcPts val="1973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2104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fontAlgn="auto"/>
            <a:r>
              <a:rPr lang="en-US" altLang="ko-KR" sz="3529" kern="0">
                <a:ea typeface="굴림" panose="020B0600000101010101" pitchFamily="34" charset="-127"/>
              </a:rPr>
              <a:t>Very few real life applications satisfy these requirements exactly.</a:t>
            </a:r>
            <a:endParaRPr lang="en-US" altLang="ko-KR" sz="3529" kern="0" dirty="0">
              <a:ea typeface="굴림" panose="020B0600000101010101" pitchFamily="34" charset="-127"/>
            </a:endParaRPr>
          </a:p>
        </p:txBody>
      </p:sp>
      <p:grpSp>
        <p:nvGrpSpPr>
          <p:cNvPr id="4" name="Group 61">
            <a:extLst>
              <a:ext uri="{FF2B5EF4-FFF2-40B4-BE49-F238E27FC236}">
                <a16:creationId xmlns:a16="http://schemas.microsoft.com/office/drawing/2014/main" id="{1D5C6D40-B720-53E6-BA25-94B43A6586AE}"/>
              </a:ext>
            </a:extLst>
          </p:cNvPr>
          <p:cNvGrpSpPr>
            <a:grpSpLocks/>
          </p:cNvGrpSpPr>
          <p:nvPr/>
        </p:nvGrpSpPr>
        <p:grpSpPr bwMode="auto">
          <a:xfrm>
            <a:off x="8796828" y="93633"/>
            <a:ext cx="1764665" cy="2436918"/>
            <a:chOff x="4608" y="1152"/>
            <a:chExt cx="1008" cy="1392"/>
          </a:xfrm>
        </p:grpSpPr>
        <p:sp>
          <p:nvSpPr>
            <p:cNvPr id="5" name="Rectangle 62">
              <a:extLst>
                <a:ext uri="{FF2B5EF4-FFF2-40B4-BE49-F238E27FC236}">
                  <a16:creationId xmlns:a16="http://schemas.microsoft.com/office/drawing/2014/main" id="{373A4778-268A-8895-D3DF-874AA24C9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152"/>
              <a:ext cx="1008" cy="1392"/>
            </a:xfrm>
            <a:prstGeom prst="rect">
              <a:avLst/>
            </a:prstGeom>
            <a:solidFill>
              <a:srgbClr val="F4ECC6"/>
            </a:solidFill>
            <a:ln w="28575">
              <a:solidFill>
                <a:srgbClr val="CC0066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ID" sz="2316"/>
            </a:p>
          </p:txBody>
        </p:sp>
        <p:pic>
          <p:nvPicPr>
            <p:cNvPr id="6" name="Picture 63">
              <a:extLst>
                <a:ext uri="{FF2B5EF4-FFF2-40B4-BE49-F238E27FC236}">
                  <a16:creationId xmlns:a16="http://schemas.microsoft.com/office/drawing/2014/main" id="{D47ADA00-F77B-3E64-7F74-D6B2057059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1" y="1248"/>
              <a:ext cx="867" cy="12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64">
            <a:extLst>
              <a:ext uri="{FF2B5EF4-FFF2-40B4-BE49-F238E27FC236}">
                <a16:creationId xmlns:a16="http://schemas.microsoft.com/office/drawing/2014/main" id="{1B4DFF44-443D-3E39-50AF-8A9B6AF58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051" y="3154795"/>
            <a:ext cx="8823325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970">
                <a:solidFill>
                  <a:srgbClr val="339933"/>
                </a:solidFill>
                <a:ea typeface="굴림" panose="020B0600000101010101" pitchFamily="34" charset="-127"/>
              </a:rPr>
              <a:t>Select two people from the U.S. population, and suppose that 15% of the population has the Alzheimer’s gene.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For the first person, </a:t>
            </a:r>
            <a:r>
              <a:rPr lang="en-US" altLang="ko-KR" sz="3529" i="1">
                <a:solidFill>
                  <a:srgbClr val="CC0066"/>
                </a:solidFill>
                <a:ea typeface="굴림" panose="020B0600000101010101" pitchFamily="34" charset="-127"/>
              </a:rPr>
              <a:t>p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 = P(gene) = .15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For the second person, </a:t>
            </a:r>
            <a:r>
              <a:rPr lang="en-US" altLang="ko-KR" sz="3529" i="1">
                <a:solidFill>
                  <a:srgbClr val="CC0066"/>
                </a:solidFill>
                <a:ea typeface="굴림" panose="020B0600000101010101" pitchFamily="34" charset="-127"/>
              </a:rPr>
              <a:t>p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  <a:sym typeface="Symbol" panose="05050102010706020507" pitchFamily="18" charset="2"/>
              </a:rPr>
              <a:t></a:t>
            </a:r>
            <a:r>
              <a:rPr lang="en-US" altLang="ko-KR" sz="3529">
                <a:solidFill>
                  <a:srgbClr val="CC0066"/>
                </a:solidFill>
                <a:ea typeface="굴림" panose="020B0600000101010101" pitchFamily="34" charset="-127"/>
              </a:rPr>
              <a:t> P(gene) = .15, even though one person has been removed from the population.</a:t>
            </a:r>
          </a:p>
        </p:txBody>
      </p:sp>
      <p:sp>
        <p:nvSpPr>
          <p:cNvPr id="9" name="Line 65">
            <a:extLst>
              <a:ext uri="{FF2B5EF4-FFF2-40B4-BE49-F238E27FC236}">
                <a16:creationId xmlns:a16="http://schemas.microsoft.com/office/drawing/2014/main" id="{D2E3F36D-FD45-B8E4-1670-30FA6F799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7051" y="3070763"/>
            <a:ext cx="8403167" cy="0"/>
          </a:xfrm>
          <a:prstGeom prst="line">
            <a:avLst/>
          </a:prstGeom>
          <a:noFill/>
          <a:ln w="57150" cmpd="thinThick">
            <a:solidFill>
              <a:srgbClr val="CC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D" sz="2316"/>
          </a:p>
        </p:txBody>
      </p:sp>
    </p:spTree>
    <p:extLst>
      <p:ext uri="{BB962C8B-B14F-4D97-AF65-F5344CB8AC3E}">
        <p14:creationId xmlns:p14="http://schemas.microsoft.com/office/powerpoint/2010/main" val="377550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A666-5D64-25FA-199F-C09C11F5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82C89-6D93-179A-DC33-5D60E1BD6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Februay</a:t>
            </a:r>
            <a:r>
              <a:rPr lang="en-US" dirty="0"/>
              <a:t> 2023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5C80C1-2603-41F9-A499-72DAF7ABF91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>
            <a:normAutofit/>
          </a:bodyPr>
          <a:lstStyle/>
          <a:p>
            <a:r>
              <a:rPr lang="en-ID" dirty="0"/>
              <a:t>R Programming</a:t>
            </a:r>
          </a:p>
        </p:txBody>
      </p:sp>
    </p:spTree>
    <p:extLst>
      <p:ext uri="{BB962C8B-B14F-4D97-AF65-F5344CB8AC3E}">
        <p14:creationId xmlns:p14="http://schemas.microsoft.com/office/powerpoint/2010/main" val="1003962426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References</a:t>
            </a:r>
            <a:endParaRPr lang="id-ID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331" y="1857376"/>
            <a:ext cx="9618662" cy="4991100"/>
          </a:xfrm>
        </p:spPr>
        <p:txBody>
          <a:bodyPr/>
          <a:lstStyle/>
          <a:p>
            <a:r>
              <a:rPr lang="en-US" sz="3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Jay L. Devore. (2020).  Probability and Statistics for Engineering and the Sciences, 9E.  </a:t>
            </a:r>
            <a:r>
              <a:rPr lang="en-US" sz="3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Cancage</a:t>
            </a:r>
            <a:r>
              <a:rPr lang="en-US" sz="3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Learning, Boston USA.  ISBN-13: 978-0-538-73352-6</a:t>
            </a:r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FB4D3-2CC6-422C-AB6C-48DBF9748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520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7FA9F5-F61B-45A1-B5E1-F65A5889B2EE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itchFamily="34" charset="0"/>
                <a:ea typeface="MS PGothic" pitchFamily="34" charset="-128"/>
                <a:cs typeface="+mn-cs"/>
              </a:rPr>
              <a:pPr marL="0" marR="0" lvl="0" indent="0" algn="r" defTabSz="5207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244317"/>
      </p:ext>
    </p:extLst>
  </p:cSld>
  <p:clrMapOvr>
    <a:masterClrMapping/>
  </p:clrMapOvr>
</p:sld>
</file>

<file path=ppt/theme/theme1.xml><?xml version="1.0" encoding="utf-8"?>
<a:theme xmlns:a="http://schemas.openxmlformats.org/drawingml/2006/main" name="PPT Binus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01 02 Introduction to Probability" id="{AF1F3BAD-8B99-4C27-98FE-D8F949401A54}" vid="{1377BE40-1F7A-40D2-8DE3-6F9C8F5420D3}"/>
    </a:ext>
  </a:extLst>
</a:theme>
</file>

<file path=ppt/theme/theme2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5" ma:contentTypeDescription="Create a new document." ma:contentTypeScope="" ma:versionID="939164fb4ce9d77da8b44cb5205bf59b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63b003db5a72b2282a54ad3b1f995462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F313E50-9F1C-4EB2-8248-D1942A92381A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47793baa-3cbb-486e-a055-4d42ce3882d7"/>
    <ds:schemaRef ds:uri="9fdf624c-fedc-4f6c-b928-0c7bf4c9e100"/>
  </ds:schemaRefs>
</ds:datastoreItem>
</file>

<file path=customXml/itemProps4.xml><?xml version="1.0" encoding="utf-8"?>
<ds:datastoreItem xmlns:ds="http://schemas.openxmlformats.org/officeDocument/2006/customXml" ds:itemID="{61361C9D-5A18-4E58-8BA9-7D22F5AD4A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2065</TotalTime>
  <Words>3635</Words>
  <Application>Microsoft Office PowerPoint</Application>
  <PresentationFormat>Custom</PresentationFormat>
  <Paragraphs>392</Paragraphs>
  <Slides>86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86</vt:i4>
      </vt:variant>
    </vt:vector>
  </HeadingPairs>
  <TitlesOfParts>
    <vt:vector size="90" baseType="lpstr">
      <vt:lpstr>PPT Binus Template</vt:lpstr>
      <vt:lpstr>Template PPT 2015</vt:lpstr>
      <vt:lpstr>Office Theme</vt:lpstr>
      <vt:lpstr>21_BasicWhite</vt:lpstr>
      <vt:lpstr>Continuous Random Variables and Probability Distributions </vt:lpstr>
      <vt:lpstr>Jay L. Devore. (2020).  Probability and Statistics for Engineering and the Sciences, 9E.  Cancage Learning, Boston USA.  ISBN-13: 978-0-538-73352-6 </vt:lpstr>
      <vt:lpstr>Learning Outcomes</vt:lpstr>
      <vt:lpstr>Sub Topics</vt:lpstr>
      <vt:lpstr>Learning Objectives</vt:lpstr>
      <vt:lpstr>PowerPoint Presentation</vt:lpstr>
      <vt:lpstr>Continuous Random Variables</vt:lpstr>
      <vt:lpstr>Relative Frequency Histogram</vt:lpstr>
      <vt:lpstr>Continuous Random Variables</vt:lpstr>
      <vt:lpstr>Properties of Continuous Probability Distributions</vt:lpstr>
      <vt:lpstr>Continuous Random Variables</vt:lpstr>
      <vt:lpstr>PowerPoint Presentation</vt:lpstr>
      <vt:lpstr>Probability Distributions for Continuous Random Variables</vt:lpstr>
      <vt:lpstr>Probability Distributions for Continuous Random Variables</vt:lpstr>
      <vt:lpstr>Probability Distributions for Continuous Random Variables</vt:lpstr>
      <vt:lpstr>Probability Distributions for Continuous Random Variables</vt:lpstr>
      <vt:lpstr>Probability Density Functions </vt:lpstr>
      <vt:lpstr>Probability Density Functions </vt:lpstr>
      <vt:lpstr>Probability Density Functions </vt:lpstr>
      <vt:lpstr>Example</vt:lpstr>
      <vt:lpstr>Example</vt:lpstr>
      <vt:lpstr>Example</vt:lpstr>
      <vt:lpstr>Probability Distributions for Continuous Variables</vt:lpstr>
      <vt:lpstr>PowerPoint Presentation</vt:lpstr>
      <vt:lpstr>The Cumulative Distribution Function</vt:lpstr>
      <vt:lpstr>Example</vt:lpstr>
      <vt:lpstr>Example</vt:lpstr>
      <vt:lpstr>Example</vt:lpstr>
      <vt:lpstr>Using F(x) to Compute Probabilities </vt:lpstr>
      <vt:lpstr>Probability Calculation Example </vt:lpstr>
      <vt:lpstr>Example </vt:lpstr>
      <vt:lpstr>Example </vt:lpstr>
      <vt:lpstr>Example </vt:lpstr>
      <vt:lpstr>Percentiles of a Continuous Distribution </vt:lpstr>
      <vt:lpstr>Percentiles of a Continuous Distribution </vt:lpstr>
      <vt:lpstr>Percentiles of a Continuous Distribution </vt:lpstr>
      <vt:lpstr>Example </vt:lpstr>
      <vt:lpstr>PowerPoint Presentation</vt:lpstr>
      <vt:lpstr>Expected Values </vt:lpstr>
      <vt:lpstr>Example … </vt:lpstr>
      <vt:lpstr>Expected Values of functions of r.v. </vt:lpstr>
      <vt:lpstr>Variance </vt:lpstr>
      <vt:lpstr>Example </vt:lpstr>
      <vt:lpstr>PowerPoint Presentation</vt:lpstr>
      <vt:lpstr>The Normal Distribution</vt:lpstr>
      <vt:lpstr>The Standard Normal Distribution </vt:lpstr>
      <vt:lpstr>PowerPoint Presentation</vt:lpstr>
      <vt:lpstr>PowerPoint Presentation</vt:lpstr>
      <vt:lpstr>Example</vt:lpstr>
      <vt:lpstr>Using Table</vt:lpstr>
      <vt:lpstr>Working Backwards (Percentile)</vt:lpstr>
      <vt:lpstr>Working Backwards</vt:lpstr>
      <vt:lpstr>Finding Probabilities for the General Normal Random Variable</vt:lpstr>
      <vt:lpstr>Example</vt:lpstr>
      <vt:lpstr>Example</vt:lpstr>
      <vt:lpstr>The Normal Approximation to the Binomial</vt:lpstr>
      <vt:lpstr>Approximating the Binomial</vt:lpstr>
      <vt:lpstr>Example</vt:lpstr>
      <vt:lpstr>Example</vt:lpstr>
      <vt:lpstr>Example</vt:lpstr>
      <vt:lpstr>PowerPoint Presentation</vt:lpstr>
      <vt:lpstr>The Exponential Distributions</vt:lpstr>
      <vt:lpstr>The Exponential Distributions</vt:lpstr>
      <vt:lpstr>The Exponential Distributions</vt:lpstr>
      <vt:lpstr>The Exponential Distributions</vt:lpstr>
      <vt:lpstr>PowerPoint Presentation</vt:lpstr>
      <vt:lpstr>Sample Percentiles</vt:lpstr>
      <vt:lpstr>A Probability Plot</vt:lpstr>
      <vt:lpstr>A Probability Plot</vt:lpstr>
      <vt:lpstr>A Probability Plot</vt:lpstr>
      <vt:lpstr>PowerPoint Presentation</vt:lpstr>
      <vt:lpstr>PowerPoint Presentation</vt:lpstr>
      <vt:lpstr>Variance</vt:lpstr>
      <vt:lpstr>Variance</vt:lpstr>
      <vt:lpstr>Variance</vt:lpstr>
      <vt:lpstr>Variance</vt:lpstr>
      <vt:lpstr>Variance</vt:lpstr>
      <vt:lpstr>Standard deviation</vt:lpstr>
      <vt:lpstr>PowerPoint Presentation</vt:lpstr>
      <vt:lpstr>Introduction</vt:lpstr>
      <vt:lpstr>The Binomial Random Variable</vt:lpstr>
      <vt:lpstr>The Binomial Random Variable</vt:lpstr>
      <vt:lpstr>The Binomial Experiment</vt:lpstr>
      <vt:lpstr>Binomial or Not?</vt:lpstr>
      <vt:lpstr>Thank you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Devi</dc:creator>
  <cp:lastModifiedBy>I G.A. ANOM YUDISTIRA</cp:lastModifiedBy>
  <cp:revision>112</cp:revision>
  <dcterms:created xsi:type="dcterms:W3CDTF">2022-06-03T13:49:29Z</dcterms:created>
  <dcterms:modified xsi:type="dcterms:W3CDTF">2023-12-20T09:11:45Z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