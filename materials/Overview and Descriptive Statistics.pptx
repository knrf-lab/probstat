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86" r:id="rId6"/>
    <p:sldMasterId id="2147483694" r:id="rId7"/>
  </p:sldMasterIdLst>
  <p:notesMasterIdLst>
    <p:notesMasterId r:id="rId89"/>
  </p:notesMasterIdLst>
  <p:sldIdLst>
    <p:sldId id="463" r:id="rId8"/>
    <p:sldId id="473" r:id="rId9"/>
    <p:sldId id="267" r:id="rId10"/>
    <p:sldId id="257" r:id="rId11"/>
    <p:sldId id="296" r:id="rId12"/>
    <p:sldId id="265" r:id="rId13"/>
    <p:sldId id="268" r:id="rId14"/>
    <p:sldId id="263" r:id="rId15"/>
    <p:sldId id="297" r:id="rId16"/>
    <p:sldId id="299" r:id="rId17"/>
    <p:sldId id="300" r:id="rId18"/>
    <p:sldId id="301" r:id="rId19"/>
    <p:sldId id="302" r:id="rId20"/>
    <p:sldId id="303" r:id="rId21"/>
    <p:sldId id="304" r:id="rId22"/>
    <p:sldId id="269" r:id="rId23"/>
    <p:sldId id="270" r:id="rId24"/>
    <p:sldId id="271" r:id="rId25"/>
    <p:sldId id="264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306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292" r:id="rId53"/>
    <p:sldId id="293" r:id="rId54"/>
    <p:sldId id="294" r:id="rId55"/>
    <p:sldId id="314" r:id="rId56"/>
    <p:sldId id="315" r:id="rId57"/>
    <p:sldId id="316" r:id="rId58"/>
    <p:sldId id="295" r:id="rId59"/>
    <p:sldId id="317" r:id="rId60"/>
    <p:sldId id="318" r:id="rId61"/>
    <p:sldId id="29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464" r:id="rId87"/>
    <p:sldId id="472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33"/>
    <p:restoredTop sz="96327"/>
  </p:normalViewPr>
  <p:slideViewPr>
    <p:cSldViewPr snapToGrid="0" snapToObjects="1">
      <p:cViewPr varScale="1">
        <p:scale>
          <a:sx n="71" d="100"/>
          <a:sy n="71" d="100"/>
        </p:scale>
        <p:origin x="3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2.xml"/><Relationship Id="rId90" Type="http://schemas.openxmlformats.org/officeDocument/2006/relationships/presProps" Target="presProps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36A25-89F4-4E2D-8D17-0A9EF927B107}" type="datetimeFigureOut">
              <a:rPr lang="en-ID" smtClean="0"/>
              <a:t>20/12/2023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2E9AD-08BB-4150-A087-642B8EDADF4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816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AB6CD-F51E-49DE-B329-03213B1F85C4}" type="slidenum">
              <a:rPr lang="en-ID" smtClean="0"/>
              <a:t>47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9552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6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6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2637-8648-AF49-A532-95E8F83F8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930399"/>
            <a:ext cx="9144000" cy="78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NAMA MATA KULIAH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0F29F-14E9-8045-958D-7B9C96AAE4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773074"/>
            <a:ext cx="9144000" cy="46196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KODE MATA KULIAH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F2286C-2C6B-7A46-B205-0BB38DF6B179}"/>
              </a:ext>
            </a:extLst>
          </p:cNvPr>
          <p:cNvSpPr txBox="1">
            <a:spLocks/>
          </p:cNvSpPr>
          <p:nvPr userDrawn="1"/>
        </p:nvSpPr>
        <p:spPr>
          <a:xfrm>
            <a:off x="1524000" y="3528146"/>
            <a:ext cx="9144000" cy="551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2800" dirty="0"/>
              <a:t>NAMA PERTEMUAN / SUBJUDUL MATAKULIAH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0E5DE40-7032-E849-BEDA-016DBAA06593}"/>
              </a:ext>
            </a:extLst>
          </p:cNvPr>
          <p:cNvSpPr txBox="1">
            <a:spLocks/>
          </p:cNvSpPr>
          <p:nvPr userDrawn="1"/>
        </p:nvSpPr>
        <p:spPr>
          <a:xfrm>
            <a:off x="1524000" y="4080019"/>
            <a:ext cx="91440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7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NOMOR SESI/PERTEMUAN/MODUL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4DC31E5-7896-CD4C-91F8-1E1F2B251C11}"/>
              </a:ext>
            </a:extLst>
          </p:cNvPr>
          <p:cNvSpPr txBox="1">
            <a:spLocks/>
          </p:cNvSpPr>
          <p:nvPr userDrawn="1"/>
        </p:nvSpPr>
        <p:spPr>
          <a:xfrm>
            <a:off x="1524000" y="4730894"/>
            <a:ext cx="9144000" cy="551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2000" dirty="0"/>
              <a:t>NAMA SME / NARASUMBER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18F7360-E5CF-7E4D-8A71-F79011F9E1AB}"/>
              </a:ext>
            </a:extLst>
          </p:cNvPr>
          <p:cNvSpPr txBox="1">
            <a:spLocks/>
          </p:cNvSpPr>
          <p:nvPr userDrawn="1"/>
        </p:nvSpPr>
        <p:spPr>
          <a:xfrm>
            <a:off x="1524000" y="5282767"/>
            <a:ext cx="91440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7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KODE DOSEN / JABATAN</a:t>
            </a:r>
          </a:p>
        </p:txBody>
      </p:sp>
    </p:spTree>
    <p:extLst>
      <p:ext uri="{BB962C8B-B14F-4D97-AF65-F5344CB8AC3E}">
        <p14:creationId xmlns:p14="http://schemas.microsoft.com/office/powerpoint/2010/main" val="13144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CE2E-7266-F84B-BEFD-06BFE842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0A4D0-BC95-2341-919A-07F39E41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1825625"/>
            <a:ext cx="10753435" cy="440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7205F-7181-0A4B-8B94-4F272C7A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5E8B2-123E-6A47-A1EB-5965D8E1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B4B9-FE13-004F-B983-B0CEC26F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0F53-5AB4-964B-9E29-767BDCAC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98619"/>
            <a:ext cx="10515600" cy="87745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80F4-AC72-544F-84EA-858401862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12009"/>
            <a:ext cx="10515600" cy="4997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021D-776E-F540-881F-506506A6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9BA2-6E02-FE45-9378-51228F4B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C050-9EC0-8848-8B41-384789A9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4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C3CA-2E99-DB48-A0FC-CE6EBC50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6FEA-C949-E04F-B799-ABA400FD6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7AEB6-3582-2146-9592-E7654D39A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9DD0B-C101-0A41-9ADD-7ABF81AA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6865F-3405-1645-AC1E-2487504B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06A12-68E8-3543-9FB9-03E9BE60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C35E-6C5E-0341-A89C-55B74ABE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6EF0-5DBC-2547-BD07-3D6792C8B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3E1B0-0DEE-0243-8DD5-845193E2B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E5B99-9DF0-0E4A-8E42-226752943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E1378-6463-A741-A6FC-09199D849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EDF72-728D-F544-9AA9-6C3350DF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ABC5A-715C-C046-A8D0-CA76B26D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B1DA6-D7C7-CA44-B1B0-B491F24C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5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C4B8-E6A2-E949-B141-622F68A9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E9838-6081-D449-B314-1AE494F2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CFB88-4741-EC49-AF14-85DF7F0E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8621E-0E35-D443-BE8F-7FFAFF66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5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A321A-7A0E-AC40-B613-3B26F13C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B5CB8-9C5B-D643-A8C4-8A861F7C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1FF3D-2E71-884F-AC33-2E0490F2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43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DAC1-BC7A-AA46-98A5-77B6CA39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365" y="1897785"/>
            <a:ext cx="4399394" cy="106838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F21D-808C-B542-8B64-9DE6C8100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31E1F-393F-DA46-8C6A-8171B323D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3541" y="2966172"/>
            <a:ext cx="4399394" cy="289487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22EB5-FB60-8B4D-8DEB-257AEBA2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A9FFD-CDE4-7A42-8D5D-D0EFED53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D5188-783E-B54F-B415-F147DD57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3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270A-1840-B24C-8EFA-337C6D4F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34391"/>
            <a:ext cx="3932237" cy="106838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B019C-335F-D842-A4EF-104B2FF8A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D077E-B69A-AB45-862B-C17AC2107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33964"/>
            <a:ext cx="3932237" cy="3135023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DC79F-8AF6-D947-98C3-9BD9DB4C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A69DE-4962-F54E-9CB1-DFD1AD74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F83F-580A-EE4E-9DA2-3D5D5B77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1E76-B2BA-69FA-93B6-AD8358C1C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CFBA-1BD8-F5EF-6DD9-403A40CD427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93673-2D99-7A56-305E-7EEC60626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1336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37742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5029096" y="5550413"/>
            <a:ext cx="1622239" cy="13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113"/>
              <a:t>SUBJECT MATTER EXPERT</a:t>
            </a:r>
            <a:endParaRPr sz="1113" b="1"/>
          </a:p>
        </p:txBody>
      </p:sp>
    </p:spTree>
    <p:extLst>
      <p:ext uri="{BB962C8B-B14F-4D97-AF65-F5344CB8AC3E}">
        <p14:creationId xmlns:p14="http://schemas.microsoft.com/office/powerpoint/2010/main" val="31213943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5" y="4840195"/>
            <a:ext cx="2614498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37742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5029096" y="5550413"/>
            <a:ext cx="1622239" cy="13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113"/>
              <a:t>SUBJECT MATTER EXPERT</a:t>
            </a:r>
            <a:endParaRPr sz="1113" b="1"/>
          </a:p>
        </p:txBody>
      </p:sp>
    </p:spTree>
    <p:extLst>
      <p:ext uri="{BB962C8B-B14F-4D97-AF65-F5344CB8AC3E}">
        <p14:creationId xmlns:p14="http://schemas.microsoft.com/office/powerpoint/2010/main" val="104256582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181505"/>
            <a:ext cx="12192000" cy="571808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6029"/>
            <a:ext cx="7357785" cy="255141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3465" y="2667216"/>
            <a:ext cx="6857470" cy="2261132"/>
          </a:xfrm>
        </p:spPr>
        <p:txBody>
          <a:bodyPr>
            <a:normAutofit/>
          </a:bodyPr>
          <a:lstStyle>
            <a:lvl1pPr marL="106012" indent="-106012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54005" indent="-111691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84329" indent="-99703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49991" indent="-12305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80314" indent="-11106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31260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37742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5029096" y="5550413"/>
            <a:ext cx="1622239" cy="13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113"/>
              <a:t>SUBJECT MATTER EXPERT</a:t>
            </a:r>
            <a:endParaRPr sz="1113" b="1"/>
          </a:p>
        </p:txBody>
      </p:sp>
    </p:spTree>
    <p:extLst>
      <p:ext uri="{BB962C8B-B14F-4D97-AF65-F5344CB8AC3E}">
        <p14:creationId xmlns:p14="http://schemas.microsoft.com/office/powerpoint/2010/main" val="174180366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8" y="379105"/>
            <a:ext cx="957475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4038693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8960380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9067902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6129699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3143649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28422" y="-12700"/>
            <a:ext cx="12248844" cy="68834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5764361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28422" y="-12700"/>
            <a:ext cx="12248844" cy="68834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7709952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181505"/>
            <a:ext cx="12192000" cy="571808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3090908" y="2662576"/>
            <a:ext cx="7681170" cy="261703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1083691" y="2662576"/>
            <a:ext cx="2272829" cy="2617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5908" y="2497901"/>
            <a:ext cx="6898089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5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7032" y="2497901"/>
            <a:ext cx="1686141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3090908" y="4039481"/>
            <a:ext cx="7681170" cy="261703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1083691" y="4039481"/>
            <a:ext cx="2272829" cy="2617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25908" y="3874806"/>
            <a:ext cx="6898089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5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7032" y="3874806"/>
            <a:ext cx="1686141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3090908" y="5416385"/>
            <a:ext cx="7681170" cy="261703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1083691" y="5416385"/>
            <a:ext cx="2272829" cy="2617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25908" y="5251710"/>
            <a:ext cx="6898089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5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7032" y="5251710"/>
            <a:ext cx="1686141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6029"/>
            <a:ext cx="7357785" cy="255141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620167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3465" y="2667216"/>
            <a:ext cx="6857470" cy="2261132"/>
          </a:xfrm>
        </p:spPr>
        <p:txBody>
          <a:bodyPr>
            <a:normAutofit/>
          </a:bodyPr>
          <a:lstStyle>
            <a:lvl1pPr marL="106012" indent="-106012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54005" indent="-111691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84329" indent="-99703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49991" indent="-12305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80314" indent="-11106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04333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690" y="4668676"/>
            <a:ext cx="2379633" cy="1157753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2672" y="4668676"/>
            <a:ext cx="2379633" cy="1157753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1655" y="4668676"/>
            <a:ext cx="2379633" cy="1157753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3690" y="2148648"/>
            <a:ext cx="2379633" cy="20861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02672" y="2148648"/>
            <a:ext cx="2379633" cy="20861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21655" y="2148648"/>
            <a:ext cx="2379633" cy="20861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8805575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3699170" y="3405870"/>
            <a:ext cx="786820" cy="46987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1083689" y="3534709"/>
            <a:ext cx="2462400" cy="24569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97124" y="2850923"/>
            <a:ext cx="1947882" cy="165038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72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4639069" y="3534709"/>
            <a:ext cx="2462400" cy="24569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8194450" y="3534709"/>
            <a:ext cx="2462400" cy="24569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854" y="2850923"/>
            <a:ext cx="1947882" cy="165038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72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41473" y="2850923"/>
            <a:ext cx="1947882" cy="165038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72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74947" y="5222649"/>
            <a:ext cx="9519074" cy="85097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7254550" y="3405870"/>
            <a:ext cx="786820" cy="46987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2120925" y="2050418"/>
            <a:ext cx="387928" cy="33262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72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5639831" y="2050418"/>
            <a:ext cx="387928" cy="33262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72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9231685" y="2050418"/>
            <a:ext cx="387928" cy="33262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72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3711347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3689" y="3278460"/>
            <a:ext cx="4884454" cy="2787805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9966" y="2105316"/>
            <a:ext cx="4549529" cy="3960949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3470" y="2105025"/>
            <a:ext cx="4884438" cy="1019556"/>
          </a:xfrm>
        </p:spPr>
        <p:txBody>
          <a:bodyPr>
            <a:normAutofit/>
          </a:bodyPr>
          <a:lstStyle>
            <a:lvl1pPr marL="0" indent="0">
              <a:buNone/>
              <a:defRPr sz="1749">
                <a:solidFill>
                  <a:schemeClr val="bg1"/>
                </a:solidFill>
              </a:defRPr>
            </a:lvl1pPr>
            <a:lvl5pPr marL="969254" indent="0" algn="l">
              <a:buFont typeface="Arial" panose="020B0604020202020204" pitchFamily="34" charset="0"/>
              <a:buNone/>
              <a:defRPr sz="174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4499777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3740653" y="3975920"/>
            <a:ext cx="4572000" cy="33262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6026653" y="3975920"/>
            <a:ext cx="11048" cy="2452311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3740653" y="4142230"/>
            <a:ext cx="4572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3470" y="2009364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8476" y="3647408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8476" y="4308658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2872" y="3649151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4000" y="4297947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3470" y="4469342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7873" y="2009364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7873" y="4469342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4083" y="2499962"/>
            <a:ext cx="968473" cy="968473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8519" y="2484350"/>
            <a:ext cx="979366" cy="979366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2069" y="4857758"/>
            <a:ext cx="848205" cy="848205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8520" y="4855911"/>
            <a:ext cx="850053" cy="85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7162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 b="0" i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3470" y="2174876"/>
            <a:ext cx="6048851" cy="1731229"/>
          </a:xfrm>
        </p:spPr>
        <p:txBody>
          <a:bodyPr>
            <a:normAutofit/>
          </a:bodyPr>
          <a:lstStyle>
            <a:lvl1pPr marL="0" indent="0">
              <a:buNone/>
              <a:defRPr sz="1590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3469" y="4469343"/>
            <a:ext cx="9919811" cy="1838121"/>
          </a:xfrm>
        </p:spPr>
        <p:txBody>
          <a:bodyPr>
            <a:normAutofit/>
          </a:bodyPr>
          <a:lstStyle>
            <a:lvl1pPr marL="0" indent="0">
              <a:buNone/>
              <a:defRPr sz="1431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1" y="2160059"/>
            <a:ext cx="1767841" cy="176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2551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88376" y="5471412"/>
            <a:ext cx="4261609" cy="722424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2016" y="5486222"/>
            <a:ext cx="4261609" cy="722424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88376" y="2291006"/>
            <a:ext cx="4261609" cy="277798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2016" y="2291006"/>
            <a:ext cx="4261609" cy="278873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53192896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730082" y="1981200"/>
            <a:ext cx="6059488" cy="4541838"/>
          </a:xfrm>
        </p:spPr>
        <p:txBody>
          <a:bodyPr>
            <a:normAutofit/>
          </a:bodyPr>
          <a:lstStyle>
            <a:lvl1pPr marL="0" indent="0">
              <a:buNone/>
              <a:defRPr sz="159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1038" y="1981201"/>
            <a:ext cx="3505200" cy="2029025"/>
          </a:xfrm>
        </p:spPr>
        <p:txBody>
          <a:bodyPr>
            <a:normAutofit/>
          </a:bodyPr>
          <a:lstStyle>
            <a:lvl1pPr marL="0" indent="0">
              <a:buNone/>
              <a:defRPr sz="143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26" y="1981200"/>
            <a:ext cx="701761" cy="70176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1038" y="4430692"/>
            <a:ext cx="3505200" cy="2029025"/>
          </a:xfrm>
        </p:spPr>
        <p:txBody>
          <a:bodyPr>
            <a:normAutofit/>
          </a:bodyPr>
          <a:lstStyle>
            <a:lvl1pPr marL="0" indent="0">
              <a:buNone/>
              <a:defRPr sz="143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556" y="4324372"/>
            <a:ext cx="701761" cy="7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63500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08180" y="177064"/>
            <a:ext cx="1281775" cy="54193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3691" y="2060259"/>
            <a:ext cx="4734599" cy="428429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3934" y="3231255"/>
            <a:ext cx="4012419" cy="311330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3715" y="2057821"/>
            <a:ext cx="4012406" cy="984213"/>
          </a:xfrm>
        </p:spPr>
        <p:txBody>
          <a:bodyPr>
            <a:normAutofit/>
          </a:bodyPr>
          <a:lstStyle>
            <a:lvl1pPr marL="0" indent="0">
              <a:buNone/>
              <a:defRPr sz="1749">
                <a:solidFill>
                  <a:schemeClr val="bg1"/>
                </a:solidFill>
              </a:defRPr>
            </a:lvl1pPr>
            <a:lvl5pPr marL="969254" indent="0" algn="l">
              <a:buFont typeface="Arial" panose="020B0604020202020204" pitchFamily="34" charset="0"/>
              <a:buNone/>
              <a:defRPr sz="174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58413379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1062168" y="4644925"/>
            <a:ext cx="3856197" cy="241115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7125" y="3624011"/>
            <a:ext cx="3408691" cy="311330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7124" y="2734405"/>
            <a:ext cx="713836" cy="713836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5742878" y="2757935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5742878" y="3607725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5742878" y="4447118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5742878" y="5286511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5742878" y="6125904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68126" y="2718544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68126" y="3568332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68126" y="4407725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68126" y="5247118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68126" y="6086511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157486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911607" y="4183049"/>
            <a:ext cx="1742465" cy="119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954"/>
              <a:t>UNIVERSITAS</a:t>
            </a:r>
            <a:r>
              <a:rPr sz="954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4512545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8" y="379105"/>
            <a:ext cx="957475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719169"/>
            <a:ext cx="10985501" cy="432336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529380"/>
            <a:ext cx="10985502" cy="18731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7787" y="4743382"/>
            <a:ext cx="3111268" cy="179139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8081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911607" y="4183049"/>
            <a:ext cx="1742465" cy="119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954"/>
              <a:t>UNIVERSITAS</a:t>
            </a:r>
            <a:r>
              <a:rPr sz="954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4512545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719169"/>
            <a:ext cx="10985501" cy="432336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529380"/>
            <a:ext cx="10985502" cy="18731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7787" y="4743382"/>
            <a:ext cx="3111268" cy="179139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10786379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412411" y="679467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412411" y="1822467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869643" y="6178641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978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3936"/>
            <a:ext cx="12191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466" y="2060848"/>
            <a:ext cx="9116152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3337"/>
            <a:ext cx="2844801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453337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605840"/>
            <a:ext cx="209994" cy="21262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548466" y="3429001"/>
            <a:ext cx="9116152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543605" y="2852936"/>
            <a:ext cx="9121013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86947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2879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795078" y="585989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00FE9A-5B56-CC4A-AE9A-C22895A4A6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439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412411" y="679467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412411" y="1822467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869643" y="6178641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14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17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86">
                <a:solidFill>
                  <a:schemeClr val="tx1">
                    <a:tint val="75000"/>
                  </a:schemeClr>
                </a:solidFill>
              </a:defRPr>
            </a:lvl1pPr>
            <a:lvl2pPr marL="472839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2pPr>
            <a:lvl3pPr marL="945677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3pPr>
            <a:lvl4pPr marL="141851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891354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364194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83703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3309871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78271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EFF39-44C6-4BDD-92E5-47B8BAF3FA7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3BA03-3A39-B849-9650-5243CD565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885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600201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448"/>
            </a:lvl2pPr>
            <a:lvl3pPr>
              <a:defRPr sz="2086"/>
            </a:lvl3pPr>
            <a:lvl4pPr>
              <a:defRPr sz="1904"/>
            </a:lvl4pPr>
            <a:lvl5pPr>
              <a:defRPr sz="1904"/>
            </a:lvl5pPr>
            <a:lvl6pPr>
              <a:defRPr sz="1904"/>
            </a:lvl6pPr>
            <a:lvl7pPr>
              <a:defRPr sz="1904"/>
            </a:lvl7pPr>
            <a:lvl8pPr>
              <a:defRPr sz="1904"/>
            </a:lvl8pPr>
            <a:lvl9pPr>
              <a:defRPr sz="19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448"/>
            </a:lvl2pPr>
            <a:lvl3pPr>
              <a:defRPr sz="2086"/>
            </a:lvl3pPr>
            <a:lvl4pPr>
              <a:defRPr sz="1904"/>
            </a:lvl4pPr>
            <a:lvl5pPr>
              <a:defRPr sz="1904"/>
            </a:lvl5pPr>
            <a:lvl6pPr>
              <a:defRPr sz="1904"/>
            </a:lvl6pPr>
            <a:lvl7pPr>
              <a:defRPr sz="1904"/>
            </a:lvl7pPr>
            <a:lvl8pPr>
              <a:defRPr sz="1904"/>
            </a:lvl8pPr>
            <a:lvl9pPr>
              <a:defRPr sz="19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F9992-720A-45E0-AB8C-5B62103ED936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821520" y="6116453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C9F73C-0878-E542-8513-4097881905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702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18182-9607-4469-B7B5-8A382FDCE8F7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4754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D22DC1-2584-BA45-ADB4-CB64B76C9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441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5445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38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64CD7-6888-478A-8C0F-B06BE0AE70F9}" type="datetime1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24964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4763"/>
            <a:ext cx="12185649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8" name="Rectangle 7"/>
          <p:cNvSpPr/>
          <p:nvPr userDrawn="1"/>
        </p:nvSpPr>
        <p:spPr>
          <a:xfrm>
            <a:off x="2255573" y="1628800"/>
            <a:ext cx="9936425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47594" y="2708921"/>
            <a:ext cx="9505056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3659" y="4295528"/>
            <a:ext cx="85344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3337"/>
            <a:ext cx="2844801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453337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453337"/>
            <a:ext cx="2844801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68609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3936"/>
            <a:ext cx="12191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466" y="2060848"/>
            <a:ext cx="9116152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3337"/>
            <a:ext cx="2844801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453337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453337"/>
            <a:ext cx="2844801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548466" y="3429001"/>
            <a:ext cx="9116152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543605" y="2852936"/>
            <a:ext cx="9121013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329099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1" y="4406901"/>
            <a:ext cx="9793088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5521" y="2906714"/>
            <a:ext cx="979308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580817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59563" y="2636913"/>
            <a:ext cx="4608512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4086" y="2636913"/>
            <a:ext cx="471831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932844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563" y="1484784"/>
            <a:ext cx="9422837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563" y="2132856"/>
            <a:ext cx="4608512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7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5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2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9563" y="2708920"/>
            <a:ext cx="4608512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0096" y="2708920"/>
            <a:ext cx="4622304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6960097" y="2132856"/>
            <a:ext cx="4608512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7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5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2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49965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19644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64"/>
            <a:ext cx="12924838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51001" y="2859881"/>
            <a:ext cx="9422837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06139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06" y="1628800"/>
            <a:ext cx="902500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3606" y="2564904"/>
            <a:ext cx="4224470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0096" y="2564904"/>
            <a:ext cx="4573356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9" indent="0">
              <a:buNone/>
              <a:defRPr sz="1200"/>
            </a:lvl2pPr>
            <a:lvl3pPr marL="914417" indent="0">
              <a:buNone/>
              <a:defRPr sz="1000"/>
            </a:lvl3pPr>
            <a:lvl4pPr marL="1371626" indent="0">
              <a:buNone/>
              <a:defRPr sz="900"/>
            </a:lvl4pPr>
            <a:lvl5pPr marL="1828835" indent="0">
              <a:buNone/>
              <a:defRPr sz="900"/>
            </a:lvl5pPr>
            <a:lvl6pPr marL="2286044" indent="0">
              <a:buNone/>
              <a:defRPr sz="900"/>
            </a:lvl6pPr>
            <a:lvl7pPr marL="2743252" indent="0">
              <a:buNone/>
              <a:defRPr sz="900"/>
            </a:lvl7pPr>
            <a:lvl8pPr marL="3200461" indent="0">
              <a:buNone/>
              <a:defRPr sz="900"/>
            </a:lvl8pPr>
            <a:lvl9pPr marL="36576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958834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9178891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1916832"/>
            <a:ext cx="9178891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7" indent="0">
              <a:buNone/>
              <a:defRPr sz="2400"/>
            </a:lvl3pPr>
            <a:lvl4pPr marL="1371626" indent="0">
              <a:buNone/>
              <a:defRPr sz="2000"/>
            </a:lvl4pPr>
            <a:lvl5pPr marL="1828835" indent="0">
              <a:buNone/>
              <a:defRPr sz="2000"/>
            </a:lvl5pPr>
            <a:lvl6pPr marL="2286044" indent="0">
              <a:buNone/>
              <a:defRPr sz="2000"/>
            </a:lvl6pPr>
            <a:lvl7pPr marL="2743252" indent="0">
              <a:buNone/>
              <a:defRPr sz="2000"/>
            </a:lvl7pPr>
            <a:lvl8pPr marL="3200461" indent="0">
              <a:buNone/>
              <a:defRPr sz="2000"/>
            </a:lvl8pPr>
            <a:lvl9pPr marL="365766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917889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9" indent="0">
              <a:buNone/>
              <a:defRPr sz="1200"/>
            </a:lvl2pPr>
            <a:lvl3pPr marL="914417" indent="0">
              <a:buNone/>
              <a:defRPr sz="1000"/>
            </a:lvl3pPr>
            <a:lvl4pPr marL="1371626" indent="0">
              <a:buNone/>
              <a:defRPr sz="900"/>
            </a:lvl4pPr>
            <a:lvl5pPr marL="1828835" indent="0">
              <a:buNone/>
              <a:defRPr sz="900"/>
            </a:lvl5pPr>
            <a:lvl6pPr marL="2286044" indent="0">
              <a:buNone/>
              <a:defRPr sz="900"/>
            </a:lvl6pPr>
            <a:lvl7pPr marL="2743252" indent="0">
              <a:buNone/>
              <a:defRPr sz="900"/>
            </a:lvl7pPr>
            <a:lvl8pPr marL="3200461" indent="0">
              <a:buNone/>
              <a:defRPr sz="900"/>
            </a:lvl8pPr>
            <a:lvl9pPr marL="36576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938904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907896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199" y="1484784"/>
            <a:ext cx="2743201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91477" y="1484784"/>
            <a:ext cx="724452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0166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407900" y="226836"/>
            <a:ext cx="109728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Font typeface="Calibri"/>
              <a:buNone/>
              <a:defRPr sz="3000" b="1">
                <a:solidFill>
                  <a:srgbClr val="E670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9" lvl="0" indent="-342906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marL="914417" lvl="1" indent="-342906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2pPr>
            <a:lvl3pPr marL="1371626" lvl="2" indent="-342906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3pPr>
            <a:lvl4pPr marL="1828835" lvl="3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4pPr>
            <a:lvl5pPr marL="2286044" lvl="4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/>
            </a:lvl5pPr>
            <a:lvl6pPr marL="2743252" lvl="5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6pPr>
            <a:lvl7pPr marL="3200461" lvl="6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7pPr>
            <a:lvl8pPr marL="3657669" lvl="7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8pPr>
            <a:lvl9pPr marL="4114878" lvl="8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1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9" marR="0" lvl="1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17" marR="0" lvl="2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26" marR="0" lvl="3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35" marR="0" lvl="4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44" marR="0" lvl="5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52" marR="0" lvl="6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61" marR="0" lvl="7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69" marR="0" lvl="8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ftr" idx="11"/>
          </p:nvPr>
        </p:nvSpPr>
        <p:spPr>
          <a:xfrm>
            <a:off x="4165601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2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9" marR="0" lvl="1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17" marR="0" lvl="2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26" marR="0" lvl="3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35" marR="0" lvl="4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44" marR="0" lvl="5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52" marR="0" lvl="6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61" marR="0" lvl="7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69" marR="0" lvl="8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8737599" y="6356351"/>
            <a:ext cx="2844801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indent="-88902">
              <a:buSzPts val="1400"/>
              <a:buFontTx/>
              <a:buChar char="●"/>
            </a:pPr>
            <a:endParaRPr lang="en-ID"/>
          </a:p>
          <a:p>
            <a:pPr marL="457209" lvl="1" indent="-88902" algn="l">
              <a:buSzPts val="1400"/>
              <a:buFontTx/>
              <a:buChar char="○"/>
            </a:pPr>
            <a:endParaRPr lang="en-ID"/>
          </a:p>
          <a:p>
            <a:pPr marL="914417" lvl="2" indent="-88902" algn="l">
              <a:buSzPts val="1400"/>
              <a:buFontTx/>
              <a:buChar char="■"/>
            </a:pPr>
            <a:endParaRPr lang="en-ID"/>
          </a:p>
          <a:p>
            <a:pPr marL="1371626" lvl="3" indent="-88902" algn="l">
              <a:buSzPts val="1400"/>
              <a:buFontTx/>
              <a:buChar char="●"/>
            </a:pPr>
            <a:endParaRPr lang="en-ID"/>
          </a:p>
          <a:p>
            <a:pPr marL="1828835" lvl="4" indent="-88902" algn="l">
              <a:buSzPts val="1400"/>
              <a:buFontTx/>
              <a:buChar char="○"/>
            </a:pPr>
            <a:endParaRPr lang="en-ID"/>
          </a:p>
          <a:p>
            <a:pPr marL="2286044" lvl="5" indent="-88902" algn="l">
              <a:buSzPts val="1400"/>
              <a:buFontTx/>
              <a:buChar char="■"/>
            </a:pPr>
            <a:endParaRPr lang="en-ID"/>
          </a:p>
          <a:p>
            <a:pPr marL="2743252" lvl="6" indent="-88902" algn="l">
              <a:buSzPts val="1400"/>
              <a:buFontTx/>
              <a:buChar char="●"/>
            </a:pPr>
            <a:endParaRPr lang="en-ID"/>
          </a:p>
          <a:p>
            <a:pPr marL="3200461" lvl="7" indent="-88902" algn="l">
              <a:buSzPts val="1400"/>
              <a:buFontTx/>
              <a:buChar char="○"/>
            </a:pPr>
            <a:endParaRPr lang="en-ID"/>
          </a:p>
          <a:p>
            <a:pPr marL="3657669" lvl="8" indent="-88902" algn="l">
              <a:buSzPts val="1400"/>
              <a:buFontTx/>
              <a:buChar char="■"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0719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9" Type="http://schemas.openxmlformats.org/officeDocument/2006/relationships/image" Target="../media/image24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image" Target="../media/image2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2AF79-146D-3147-9120-FFF00E41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26" y="365125"/>
            <a:ext cx="85274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8CB3F-639F-F741-8D50-7FFF5C28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4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42A78-B844-8741-9929-8DA7911EE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158DF9-0BD0-A14A-B253-89C572C3D3A1}" type="datetimeFigureOut">
              <a:rPr lang="en-US" smtClean="0"/>
              <a:pPr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B844-5CAB-8B40-A387-ED7BB6524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Mata Kuliah – Sub Judul Mata Kuliah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8FAD-B412-5048-8832-E4BBBD80B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BB0CD4A4-80CA-A04E-BD63-9CECCE3695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2">
              <a:lumMod val="25000"/>
            </a:schemeClr>
          </a:solidFill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94692" y="6515178"/>
            <a:ext cx="209994" cy="2126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32217">
              <a:defRPr sz="715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604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transition spd="med"/>
  <p:hf hdr="0" ftr="0" dt="0"/>
  <p:txStyles>
    <p:titleStyle>
      <a:lvl1pPr marL="0" marR="0" indent="0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18173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63470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4520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726940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90867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90411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7214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453881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42313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484627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726940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969254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1211567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1453881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696194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1938507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180820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8173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63470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4520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726940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90867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90411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7214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453881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368952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68952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0234" y="6357038"/>
            <a:ext cx="2844739" cy="364206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27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4E8849-CB45-4FAD-B44C-942F8AD376A7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800" y="6357038"/>
            <a:ext cx="3862400" cy="364206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472839" fontAlgn="auto">
              <a:spcBef>
                <a:spcPts val="0"/>
              </a:spcBef>
              <a:spcAft>
                <a:spcPts val="0"/>
              </a:spcAft>
              <a:defRPr sz="127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027" y="6357038"/>
            <a:ext cx="2844739" cy="364206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27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2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</p:sldLayoutIdLst>
  <p:hf hdr="0" ftr="0" dt="0"/>
  <p:txStyles>
    <p:titleStyle>
      <a:lvl1pPr algn="l" defTabSz="472171" rtl="0" eaLnBrk="1" fontAlgn="base" hangingPunct="1">
        <a:spcBef>
          <a:spcPct val="0"/>
        </a:spcBef>
        <a:spcAft>
          <a:spcPct val="0"/>
        </a:spcAft>
        <a:defRPr sz="2902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14589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829178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243767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658356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54128" indent="-354128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64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767278" indent="-295107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902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181867" indent="-236085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48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654038" indent="-236085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86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127648" indent="-236085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86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600613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73452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46291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19129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72839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45677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18516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891354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364194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837033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09871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782710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4765"/>
            <a:ext cx="12191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563" y="1484785"/>
            <a:ext cx="942283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563" y="2636913"/>
            <a:ext cx="9422837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5333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45333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599" y="645333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9272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xStyles>
    <p:titleStyle>
      <a:lvl1pPr algn="ctr" defTabSz="914417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6" indent="-342906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64" indent="-285755" algn="l" defTabSz="91441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21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31" indent="-228604" algn="l" defTabSz="91441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39" indent="-228604" algn="l" defTabSz="91441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48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7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5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4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7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6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5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4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2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1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9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emf"/><Relationship Id="rId4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2.jpeg"/><Relationship Id="rId7" Type="http://schemas.openxmlformats.org/officeDocument/2006/relationships/image" Target="../media/image54.wmf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5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60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67.emf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66.emf"/><Relationship Id="rId4" Type="http://schemas.openxmlformats.org/officeDocument/2006/relationships/image" Target="../media/image63.e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68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73.emf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72.e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21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24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29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693015" y="3240339"/>
            <a:ext cx="8733318" cy="757225"/>
          </a:xfrm>
        </p:spPr>
        <p:txBody>
          <a:bodyPr/>
          <a:lstStyle/>
          <a:p>
            <a:pPr algn="ctr"/>
            <a:r>
              <a:rPr lang="en-US" sz="2226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01 - 02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762" y="1966888"/>
            <a:ext cx="8733319" cy="1071382"/>
          </a:xfrm>
        </p:spPr>
        <p:txBody>
          <a:bodyPr>
            <a:noAutofit/>
          </a:bodyPr>
          <a:lstStyle/>
          <a:p>
            <a:r>
              <a:rPr lang="en-US" sz="3180" b="1" dirty="0">
                <a:solidFill>
                  <a:schemeClr val="bg1"/>
                </a:solidFill>
                <a:latin typeface="Cambria"/>
                <a:ea typeface="Cambria"/>
                <a:cs typeface="ＭＳ Ｐゴシック" charset="0"/>
              </a:rPr>
              <a:t>Overview and Descriptive Statistics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Anom Yudistira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887" y="1941173"/>
            <a:ext cx="4076796" cy="4492352"/>
          </a:xfrm>
        </p:spPr>
        <p:txBody>
          <a:bodyPr>
            <a:normAutofit/>
          </a:bodyPr>
          <a:lstStyle/>
          <a:p>
            <a:r>
              <a:rPr lang="en-US" sz="2902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Jay L. Devore. (2020).  Probability and Statistics for Engineering and the Sciences, 9E.  </a:t>
            </a:r>
            <a:r>
              <a:rPr lang="en-US" sz="2902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Cancage</a:t>
            </a:r>
            <a:r>
              <a:rPr lang="en-US" sz="2902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Learning, Boston USA.  ISBN-13: 978-0-538-73352-6</a:t>
            </a:r>
            <a:br>
              <a:rPr lang="en-ID" sz="2539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</a:br>
            <a:endParaRPr lang="id-ID" sz="2539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683482" y="1268760"/>
            <a:ext cx="4565709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ctr" defTabSz="914417"/>
            <a:r>
              <a:rPr lang="en-US" dirty="0"/>
              <a:t>References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82773-2F70-CD24-17F1-7A8B5F45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272" y="1018246"/>
            <a:ext cx="3859277" cy="482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EAED56-4FCA-494C-B6A4-17D2F36F72C9}"/>
              </a:ext>
            </a:extLst>
          </p:cNvPr>
          <p:cNvSpPr txBox="1">
            <a:spLocks/>
          </p:cNvSpPr>
          <p:nvPr/>
        </p:nvSpPr>
        <p:spPr>
          <a:xfrm>
            <a:off x="1787237" y="1850572"/>
            <a:ext cx="6971281" cy="383305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l">
              <a:lnSpc>
                <a:spcPct val="250000"/>
              </a:lnSpc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 Topics: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Population and Sample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Variables and Data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Descriptive Statistics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Measures of Location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Measures of Variability</a:t>
            </a:r>
          </a:p>
          <a:p>
            <a:pPr algn="l"/>
            <a:endParaRPr lang="en-US" sz="2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6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20A11EF2-31AD-994B-83FD-F239A63A0121}"/>
              </a:ext>
            </a:extLst>
          </p:cNvPr>
          <p:cNvSpPr txBox="1">
            <a:spLocks/>
          </p:cNvSpPr>
          <p:nvPr/>
        </p:nvSpPr>
        <p:spPr>
          <a:xfrm>
            <a:off x="1241146" y="1470212"/>
            <a:ext cx="9422837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Learning Object</a:t>
            </a:r>
            <a:endParaRPr lang="id-ID" sz="4400" b="1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92B78-548C-B7A5-CA5D-47B766E1D952}"/>
              </a:ext>
            </a:extLst>
          </p:cNvPr>
          <p:cNvSpPr txBox="1"/>
          <p:nvPr/>
        </p:nvSpPr>
        <p:spPr>
          <a:xfrm>
            <a:off x="1416424" y="3067667"/>
            <a:ext cx="1008529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 1: Explain the Statistical data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 2: Calculate Descriptive Measures, Probability, Discrete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and Continuous Distribution</a:t>
            </a:r>
            <a:endParaRPr lang="en-ID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99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FD6B872-9102-4686-B91F-C4771AC56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304800"/>
            <a:ext cx="7239000" cy="11430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969696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ko-KR" dirty="0">
                <a:ea typeface="굴림" panose="020B0600000101010101" pitchFamily="34" charset="-127"/>
              </a:rPr>
              <a:t>What is Statistics?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F178BB3-999C-265D-390E-7634A7664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958788"/>
            <a:ext cx="7772400" cy="2747682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Analysis of data (in short)</a:t>
            </a:r>
          </a:p>
          <a:p>
            <a:r>
              <a:rPr lang="en-US" altLang="ko-KR" dirty="0">
                <a:ea typeface="굴림" panose="020B0600000101010101" pitchFamily="34" charset="-127"/>
              </a:rPr>
              <a:t>Design experiments and data collection</a:t>
            </a:r>
          </a:p>
          <a:p>
            <a:r>
              <a:rPr lang="en-US" altLang="ko-KR" dirty="0">
                <a:ea typeface="굴림" panose="020B0600000101010101" pitchFamily="34" charset="-127"/>
              </a:rPr>
              <a:t>Summary information from collected data</a:t>
            </a:r>
          </a:p>
          <a:p>
            <a:r>
              <a:rPr lang="en-US" altLang="ko-KR" dirty="0">
                <a:ea typeface="굴림" panose="020B0600000101010101" pitchFamily="34" charset="-127"/>
              </a:rPr>
              <a:t>Draw conclusions from data and make decision based on finding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39F4EF-3723-6D9A-0C9F-B6093A9CF23A}"/>
              </a:ext>
            </a:extLst>
          </p:cNvPr>
          <p:cNvSpPr txBox="1">
            <a:spLocks/>
          </p:cNvSpPr>
          <p:nvPr/>
        </p:nvSpPr>
        <p:spPr>
          <a:xfrm>
            <a:off x="2742124" y="541725"/>
            <a:ext cx="9324110" cy="57976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Populations, Samples, Variables and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A2489-E4A6-37D0-1009-F3D21784B607}"/>
              </a:ext>
            </a:extLst>
          </p:cNvPr>
          <p:cNvSpPr txBox="1"/>
          <p:nvPr/>
        </p:nvSpPr>
        <p:spPr>
          <a:xfrm>
            <a:off x="1621536" y="1324578"/>
            <a:ext cx="932411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An investigation of some characteristic of a </a:t>
            </a:r>
            <a:r>
              <a:rPr lang="en-US" sz="2800" b="1" dirty="0"/>
              <a:t>population</a:t>
            </a:r>
            <a:r>
              <a:rPr lang="en-US" sz="2800" dirty="0"/>
              <a:t> of </a:t>
            </a:r>
          </a:p>
          <a:p>
            <a:r>
              <a:rPr lang="en-US" sz="2800" dirty="0"/>
              <a:t>interest. </a:t>
            </a:r>
          </a:p>
          <a:p>
            <a:endParaRPr lang="en-US" sz="1400" dirty="0"/>
          </a:p>
          <a:p>
            <a:r>
              <a:rPr lang="en-US" sz="2800" b="1" dirty="0"/>
              <a:t>Example</a:t>
            </a:r>
            <a:r>
              <a:rPr lang="en-US" sz="2800" dirty="0"/>
              <a:t>: Say you want to study if a specific generic drug </a:t>
            </a:r>
          </a:p>
          <a:p>
            <a:r>
              <a:rPr lang="en-US" sz="2800" dirty="0"/>
              <a:t>has the same amount of active ingredient as the brand </a:t>
            </a:r>
          </a:p>
          <a:p>
            <a:r>
              <a:rPr lang="en-US" sz="2800" dirty="0"/>
              <a:t>(</a:t>
            </a:r>
            <a:r>
              <a:rPr lang="en-US" sz="2800" dirty="0" err="1"/>
              <a:t>eg</a:t>
            </a:r>
            <a:r>
              <a:rPr lang="en-US" sz="2800" dirty="0"/>
              <a:t>: Aleve vs generic </a:t>
            </a:r>
            <a:r>
              <a:rPr lang="en-US" sz="2800" dirty="0" err="1"/>
              <a:t>ibuprophen</a:t>
            </a:r>
            <a:r>
              <a:rPr lang="en-US" sz="2800" dirty="0"/>
              <a:t>) </a:t>
            </a:r>
          </a:p>
          <a:p>
            <a:endParaRPr lang="en-US" sz="1400" dirty="0"/>
          </a:p>
          <a:p>
            <a:r>
              <a:rPr lang="en-US" sz="2800" b="1" dirty="0"/>
              <a:t>Population</a:t>
            </a:r>
            <a:r>
              <a:rPr lang="en-US" sz="2800" dirty="0"/>
              <a:t>: </a:t>
            </a:r>
          </a:p>
          <a:p>
            <a:r>
              <a:rPr lang="en-US" sz="2800" dirty="0"/>
              <a:t>1) All generic </a:t>
            </a:r>
            <a:r>
              <a:rPr lang="en-US" sz="2800" dirty="0" err="1"/>
              <a:t>ibuprophen</a:t>
            </a:r>
            <a:r>
              <a:rPr lang="en-US" sz="2800" dirty="0"/>
              <a:t> pills </a:t>
            </a:r>
          </a:p>
          <a:p>
            <a:r>
              <a:rPr lang="en-US" sz="2800" dirty="0"/>
              <a:t>2) All Aleve pills</a:t>
            </a:r>
          </a:p>
          <a:p>
            <a:endParaRPr lang="en-US" sz="1600" dirty="0"/>
          </a:p>
          <a:p>
            <a:r>
              <a:rPr lang="en-US" sz="2800" b="1" dirty="0"/>
              <a:t>Characteristic of interest</a:t>
            </a:r>
            <a:r>
              <a:rPr lang="en-US" sz="2800" dirty="0"/>
              <a:t>: </a:t>
            </a:r>
          </a:p>
          <a:p>
            <a:r>
              <a:rPr lang="en-US" sz="2800" dirty="0"/>
              <a:t>amount of active ingredient (</a:t>
            </a:r>
            <a:r>
              <a:rPr lang="en-US" sz="2800" dirty="0" err="1"/>
              <a:t>ibuprophen</a:t>
            </a:r>
            <a:r>
              <a:rPr lang="en-US" sz="28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83043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39F4EF-3723-6D9A-0C9F-B6093A9CF23A}"/>
              </a:ext>
            </a:extLst>
          </p:cNvPr>
          <p:cNvSpPr txBox="1">
            <a:spLocks/>
          </p:cNvSpPr>
          <p:nvPr/>
        </p:nvSpPr>
        <p:spPr>
          <a:xfrm>
            <a:off x="2742124" y="541725"/>
            <a:ext cx="9324110" cy="579768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Populations, Samples, Variables and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260E0-E816-2656-539C-FA0460800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7" y="1324408"/>
            <a:ext cx="8096666" cy="51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7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59E8584-22F0-5532-9524-321D89428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304800"/>
            <a:ext cx="7239000" cy="11430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969696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en-US" altLang="ko-KR" dirty="0">
                <a:ea typeface="굴림" panose="020B0600000101010101" pitchFamily="34" charset="-127"/>
              </a:rPr>
              <a:t>Variables and Data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E27A49B4-B4B4-2A52-B8E2-B5DA4BE57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447800"/>
            <a:ext cx="7772400" cy="4724400"/>
          </a:xfrm>
        </p:spPr>
        <p:txBody>
          <a:bodyPr>
            <a:normAutofit lnSpcReduction="10000"/>
          </a:bodyPr>
          <a:lstStyle/>
          <a:p>
            <a:r>
              <a:rPr lang="en-US" altLang="ko-KR" sz="3200" dirty="0">
                <a:ea typeface="굴림" panose="020B0600000101010101" pitchFamily="34" charset="-127"/>
              </a:rPr>
              <a:t>A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variable</a:t>
            </a:r>
            <a:r>
              <a:rPr lang="en-US" altLang="ko-KR" sz="3200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b="0" dirty="0">
                <a:ea typeface="굴림" panose="020B0600000101010101" pitchFamily="34" charset="-127"/>
              </a:rPr>
              <a:t>is a characteristic that changes or varies over time and/or for different individuals or objects under consideration.</a:t>
            </a:r>
          </a:p>
          <a:p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Examples:</a:t>
            </a: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 </a:t>
            </a:r>
          </a:p>
          <a:p>
            <a:pPr lvl="1"/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Body temperature is variable over time or (and) from person to person.</a:t>
            </a:r>
          </a:p>
          <a:p>
            <a:pPr lvl="1"/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Hair color, white blood cell count, time to failure of a computer component.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1604DC2-F628-BCAF-C748-F9C11FC56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16306" y="304800"/>
            <a:ext cx="7772400" cy="1143000"/>
          </a:xfrm>
        </p:spPr>
        <p:txBody>
          <a:bodyPr/>
          <a:lstStyle/>
          <a:p>
            <a:pPr algn="l"/>
            <a:r>
              <a:rPr lang="en-US" altLang="ko-KR" b="1" dirty="0">
                <a:ea typeface="굴림" panose="020B0600000101010101" pitchFamily="34" charset="-127"/>
              </a:rPr>
              <a:t>Definitions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6FF57CA-3730-E7D0-7700-CB63BBAAA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4600" y="1931894"/>
            <a:ext cx="7696200" cy="37786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An </a:t>
            </a:r>
            <a:r>
              <a:rPr lang="en-US" altLang="ko-KR" b="1" u="sng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experimental unit</a:t>
            </a:r>
            <a:r>
              <a:rPr lang="en-US" altLang="ko-KR" b="1" u="sng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is the individual or object on which a variable is measured. 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A </a:t>
            </a:r>
            <a:r>
              <a:rPr lang="en-US" altLang="ko-KR" b="1" u="sng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measurement</a:t>
            </a:r>
            <a:r>
              <a:rPr lang="en-US" altLang="ko-KR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results when a variable is actually measured on an experimental unit.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A set of measurements, called </a:t>
            </a:r>
            <a:r>
              <a:rPr lang="en-US" altLang="ko-KR" u="sng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data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,</a:t>
            </a:r>
            <a:r>
              <a:rPr lang="en-US" altLang="ko-KR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can be either a </a:t>
            </a:r>
            <a:r>
              <a:rPr lang="en-US" altLang="ko-KR" b="1" u="sng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sample</a:t>
            </a:r>
            <a:r>
              <a:rPr lang="en-US" altLang="ko-KR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or a </a:t>
            </a:r>
            <a:r>
              <a:rPr lang="en-US" altLang="ko-KR" b="1" u="sng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population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7A1B08E-F1CB-FDA4-14D4-2F94D204C8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ko-KR" dirty="0">
                <a:ea typeface="굴림" panose="020B0600000101010101" pitchFamily="34" charset="-127"/>
              </a:rPr>
              <a:t>Basic Concept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4321266C-C788-A89A-367B-2FBA2253D4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447800"/>
            <a:ext cx="8229600" cy="4768850"/>
          </a:xfrm>
        </p:spPr>
        <p:txBody>
          <a:bodyPr/>
          <a:lstStyle/>
          <a:p>
            <a:pPr marL="1682750" lvl="4" indent="0">
              <a:buNone/>
            </a:pP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5E2A5C80-0FFF-9D56-4847-3AD728F8D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2438401"/>
            <a:ext cx="4098925" cy="2854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57" name="Oval 5">
            <a:extLst>
              <a:ext uri="{FF2B5EF4-FFF2-40B4-BE49-F238E27FC236}">
                <a16:creationId xmlns:a16="http://schemas.microsoft.com/office/drawing/2014/main" id="{BEF74E77-2C0F-9529-0F8E-8F4FA815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1" y="2819400"/>
            <a:ext cx="1736725" cy="1651000"/>
          </a:xfrm>
          <a:prstGeom prst="ellipse">
            <a:avLst/>
          </a:pr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58" name="AutoShape 6">
            <a:extLst>
              <a:ext uri="{FF2B5EF4-FFF2-40B4-BE49-F238E27FC236}">
                <a16:creationId xmlns:a16="http://schemas.microsoft.com/office/drawing/2014/main" id="{614B1AF2-BDE4-5828-C195-E7CB25626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47244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59" name="AutoShape 7">
            <a:extLst>
              <a:ext uri="{FF2B5EF4-FFF2-40B4-BE49-F238E27FC236}">
                <a16:creationId xmlns:a16="http://schemas.microsoft.com/office/drawing/2014/main" id="{80DC7898-9014-08AB-6BFD-B3EA02A24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1" y="4876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0" name="AutoShape 8">
            <a:extLst>
              <a:ext uri="{FF2B5EF4-FFF2-40B4-BE49-F238E27FC236}">
                <a16:creationId xmlns:a16="http://schemas.microsoft.com/office/drawing/2014/main" id="{E66B126F-480D-D2B9-6E98-4FC63FB55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1" y="3886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1" name="AutoShape 9">
            <a:extLst>
              <a:ext uri="{FF2B5EF4-FFF2-40B4-BE49-F238E27FC236}">
                <a16:creationId xmlns:a16="http://schemas.microsoft.com/office/drawing/2014/main" id="{11BB5840-8C4D-BBD5-4844-BDE3EC0EA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2743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2" name="AutoShape 10">
            <a:extLst>
              <a:ext uri="{FF2B5EF4-FFF2-40B4-BE49-F238E27FC236}">
                <a16:creationId xmlns:a16="http://schemas.microsoft.com/office/drawing/2014/main" id="{736FC5D2-A7CB-58B3-7145-B61DDC15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3276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3" name="AutoShape 11">
            <a:extLst>
              <a:ext uri="{FF2B5EF4-FFF2-40B4-BE49-F238E27FC236}">
                <a16:creationId xmlns:a16="http://schemas.microsoft.com/office/drawing/2014/main" id="{345F41FE-6D5B-D58A-1C1B-BEF1DCE1A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1" y="3276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4" name="AutoShape 12">
            <a:extLst>
              <a:ext uri="{FF2B5EF4-FFF2-40B4-BE49-F238E27FC236}">
                <a16:creationId xmlns:a16="http://schemas.microsoft.com/office/drawing/2014/main" id="{5D1A3F40-8884-A70D-2452-B04474E92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1" y="2971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5" name="AutoShape 13">
            <a:extLst>
              <a:ext uri="{FF2B5EF4-FFF2-40B4-BE49-F238E27FC236}">
                <a16:creationId xmlns:a16="http://schemas.microsoft.com/office/drawing/2014/main" id="{8CECCB7D-DACA-10FC-1C93-96F1A5A9A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1" y="45720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6" name="AutoShape 14">
            <a:extLst>
              <a:ext uri="{FF2B5EF4-FFF2-40B4-BE49-F238E27FC236}">
                <a16:creationId xmlns:a16="http://schemas.microsoft.com/office/drawing/2014/main" id="{45C5600C-4745-362E-3F97-0486EBFA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1" y="4648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7" name="AutoShape 15">
            <a:extLst>
              <a:ext uri="{FF2B5EF4-FFF2-40B4-BE49-F238E27FC236}">
                <a16:creationId xmlns:a16="http://schemas.microsoft.com/office/drawing/2014/main" id="{C096AD52-6ED9-8504-1775-7C078F66B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4419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8" name="AutoShape 16">
            <a:extLst>
              <a:ext uri="{FF2B5EF4-FFF2-40B4-BE49-F238E27FC236}">
                <a16:creationId xmlns:a16="http://schemas.microsoft.com/office/drawing/2014/main" id="{565C409F-AC1F-C9C8-C7AE-B68F6D75D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1" y="3657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69" name="AutoShape 17">
            <a:extLst>
              <a:ext uri="{FF2B5EF4-FFF2-40B4-BE49-F238E27FC236}">
                <a16:creationId xmlns:a16="http://schemas.microsoft.com/office/drawing/2014/main" id="{D9CD0955-4CB9-D998-E613-BE305D6BF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1" y="3276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0" name="AutoShape 18">
            <a:extLst>
              <a:ext uri="{FF2B5EF4-FFF2-40B4-BE49-F238E27FC236}">
                <a16:creationId xmlns:a16="http://schemas.microsoft.com/office/drawing/2014/main" id="{CD3A60C3-E047-E9D0-CF0C-C20A8F57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1" y="2590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1" name="AutoShape 19">
            <a:extLst>
              <a:ext uri="{FF2B5EF4-FFF2-40B4-BE49-F238E27FC236}">
                <a16:creationId xmlns:a16="http://schemas.microsoft.com/office/drawing/2014/main" id="{DA79CA21-3D11-9A78-07CC-77C02A14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1" y="2743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2" name="AutoShape 20">
            <a:extLst>
              <a:ext uri="{FF2B5EF4-FFF2-40B4-BE49-F238E27FC236}">
                <a16:creationId xmlns:a16="http://schemas.microsoft.com/office/drawing/2014/main" id="{267A1C14-7515-A0C2-5A3B-BFD032755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1" y="3733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3" name="AutoShape 21">
            <a:extLst>
              <a:ext uri="{FF2B5EF4-FFF2-40B4-BE49-F238E27FC236}">
                <a16:creationId xmlns:a16="http://schemas.microsoft.com/office/drawing/2014/main" id="{6D1D2E64-551E-C10C-BB49-C7A271ED7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1" y="3124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4" name="AutoShape 22">
            <a:extLst>
              <a:ext uri="{FF2B5EF4-FFF2-40B4-BE49-F238E27FC236}">
                <a16:creationId xmlns:a16="http://schemas.microsoft.com/office/drawing/2014/main" id="{17908C89-DFEC-3D9F-5830-1DF4434D6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1" y="3733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5" name="AutoShape 23">
            <a:extLst>
              <a:ext uri="{FF2B5EF4-FFF2-40B4-BE49-F238E27FC236}">
                <a16:creationId xmlns:a16="http://schemas.microsoft.com/office/drawing/2014/main" id="{71A944D6-42C3-EA6B-820A-6C85B77BB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1" y="4876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6" name="AutoShape 24">
            <a:extLst>
              <a:ext uri="{FF2B5EF4-FFF2-40B4-BE49-F238E27FC236}">
                <a16:creationId xmlns:a16="http://schemas.microsoft.com/office/drawing/2014/main" id="{52B46B74-AFE5-36B2-568D-731F539C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1" y="3886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7" name="AutoShape 25">
            <a:extLst>
              <a:ext uri="{FF2B5EF4-FFF2-40B4-BE49-F238E27FC236}">
                <a16:creationId xmlns:a16="http://schemas.microsoft.com/office/drawing/2014/main" id="{45FC5994-7AA0-6EEF-93AC-44861FCD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1" y="35814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8" name="AutoShape 26">
            <a:extLst>
              <a:ext uri="{FF2B5EF4-FFF2-40B4-BE49-F238E27FC236}">
                <a16:creationId xmlns:a16="http://schemas.microsoft.com/office/drawing/2014/main" id="{DB818D9F-E60B-F010-FAD1-28F98CA0A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2743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79" name="AutoShape 27">
            <a:extLst>
              <a:ext uri="{FF2B5EF4-FFF2-40B4-BE49-F238E27FC236}">
                <a16:creationId xmlns:a16="http://schemas.microsoft.com/office/drawing/2014/main" id="{CEA30E05-E29B-486C-F551-C4FCE8B82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1" y="26670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0" name="AutoShape 28">
            <a:extLst>
              <a:ext uri="{FF2B5EF4-FFF2-40B4-BE49-F238E27FC236}">
                <a16:creationId xmlns:a16="http://schemas.microsoft.com/office/drawing/2014/main" id="{2E9C9E8B-8690-FD74-D9ED-1A345CBEA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1" y="32004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1" name="AutoShape 29">
            <a:extLst>
              <a:ext uri="{FF2B5EF4-FFF2-40B4-BE49-F238E27FC236}">
                <a16:creationId xmlns:a16="http://schemas.microsoft.com/office/drawing/2014/main" id="{A629A5B4-AFC1-046A-FC09-CBAF3728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1" y="4800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2" name="AutoShape 30">
            <a:extLst>
              <a:ext uri="{FF2B5EF4-FFF2-40B4-BE49-F238E27FC236}">
                <a16:creationId xmlns:a16="http://schemas.microsoft.com/office/drawing/2014/main" id="{51FE15E8-ADBE-F094-377B-6B70C1509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1" y="41910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3" name="AutoShape 31">
            <a:extLst>
              <a:ext uri="{FF2B5EF4-FFF2-40B4-BE49-F238E27FC236}">
                <a16:creationId xmlns:a16="http://schemas.microsoft.com/office/drawing/2014/main" id="{491B9BB9-77CE-778C-D9EC-74CA42CF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1" y="39624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4" name="AutoShape 32">
            <a:extLst>
              <a:ext uri="{FF2B5EF4-FFF2-40B4-BE49-F238E27FC236}">
                <a16:creationId xmlns:a16="http://schemas.microsoft.com/office/drawing/2014/main" id="{09A5F51B-4797-0947-853A-BF1DC76D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3733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5" name="Oval 33">
            <a:extLst>
              <a:ext uri="{FF2B5EF4-FFF2-40B4-BE49-F238E27FC236}">
                <a16:creationId xmlns:a16="http://schemas.microsoft.com/office/drawing/2014/main" id="{7BAA5A7C-ABE5-8A2D-CD17-AA8474CE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1" y="2895600"/>
            <a:ext cx="1736725" cy="1651000"/>
          </a:xfrm>
          <a:prstGeom prst="ellipse">
            <a:avLst/>
          </a:pr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6" name="AutoShape 34">
            <a:extLst>
              <a:ext uri="{FF2B5EF4-FFF2-40B4-BE49-F238E27FC236}">
                <a16:creationId xmlns:a16="http://schemas.microsoft.com/office/drawing/2014/main" id="{7559B378-E1DD-F990-23ED-128AF1819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1" y="3352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7" name="AutoShape 35">
            <a:extLst>
              <a:ext uri="{FF2B5EF4-FFF2-40B4-BE49-F238E27FC236}">
                <a16:creationId xmlns:a16="http://schemas.microsoft.com/office/drawing/2014/main" id="{74232D78-C12A-525A-0FF8-C984BB021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1" y="3886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8" name="AutoShape 36">
            <a:extLst>
              <a:ext uri="{FF2B5EF4-FFF2-40B4-BE49-F238E27FC236}">
                <a16:creationId xmlns:a16="http://schemas.microsoft.com/office/drawing/2014/main" id="{46116C40-8BCB-C593-83DF-22D02F6D9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1" y="3352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89" name="AutoShape 37">
            <a:extLst>
              <a:ext uri="{FF2B5EF4-FFF2-40B4-BE49-F238E27FC236}">
                <a16:creationId xmlns:a16="http://schemas.microsoft.com/office/drawing/2014/main" id="{B9C3F55C-1156-E8B6-C53C-D9F5287E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34290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0" name="AutoShape 38">
            <a:extLst>
              <a:ext uri="{FF2B5EF4-FFF2-40B4-BE49-F238E27FC236}">
                <a16:creationId xmlns:a16="http://schemas.microsoft.com/office/drawing/2014/main" id="{384300F9-DF40-D360-59D1-11F05830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1" y="39624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1" name="AutoShape 39">
            <a:extLst>
              <a:ext uri="{FF2B5EF4-FFF2-40B4-BE49-F238E27FC236}">
                <a16:creationId xmlns:a16="http://schemas.microsoft.com/office/drawing/2014/main" id="{2B77BF21-98CE-06E4-88B3-F13235787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1" y="38862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2" name="AutoShape 40">
            <a:extLst>
              <a:ext uri="{FF2B5EF4-FFF2-40B4-BE49-F238E27FC236}">
                <a16:creationId xmlns:a16="http://schemas.microsoft.com/office/drawing/2014/main" id="{9A7F9B28-DDC3-4252-EE79-F521616EB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1" y="3581401"/>
            <a:ext cx="1203325" cy="288925"/>
          </a:xfrm>
          <a:prstGeom prst="rightArrow">
            <a:avLst>
              <a:gd name="adj1" fmla="val 50000"/>
              <a:gd name="adj2" fmla="val 104121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3" name="AutoShape 41">
            <a:extLst>
              <a:ext uri="{FF2B5EF4-FFF2-40B4-BE49-F238E27FC236}">
                <a16:creationId xmlns:a16="http://schemas.microsoft.com/office/drawing/2014/main" id="{B2B876D4-31C0-A47D-ACED-2EAB64D30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1" y="41148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4" name="AutoShape 42">
            <a:extLst>
              <a:ext uri="{FF2B5EF4-FFF2-40B4-BE49-F238E27FC236}">
                <a16:creationId xmlns:a16="http://schemas.microsoft.com/office/drawing/2014/main" id="{544F3FDF-4586-9A23-59E7-83E24252B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1" y="3276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5" name="AutoShape 43">
            <a:extLst>
              <a:ext uri="{FF2B5EF4-FFF2-40B4-BE49-F238E27FC236}">
                <a16:creationId xmlns:a16="http://schemas.microsoft.com/office/drawing/2014/main" id="{B5F0E187-D039-2F39-3327-6E3C6F490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1" y="26670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6" name="AutoShape 44">
            <a:extLst>
              <a:ext uri="{FF2B5EF4-FFF2-40B4-BE49-F238E27FC236}">
                <a16:creationId xmlns:a16="http://schemas.microsoft.com/office/drawing/2014/main" id="{D5D84223-3111-288C-3594-99B6C25A1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1" y="3276600"/>
            <a:ext cx="258763" cy="247650"/>
          </a:xfrm>
          <a:prstGeom prst="smileyFace">
            <a:avLst>
              <a:gd name="adj" fmla="val 4653"/>
            </a:avLst>
          </a:prstGeom>
          <a:solidFill>
            <a:srgbClr val="FFFF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sp>
        <p:nvSpPr>
          <p:cNvPr id="49197" name="Rectangle 45">
            <a:extLst>
              <a:ext uri="{FF2B5EF4-FFF2-40B4-BE49-F238E27FC236}">
                <a16:creationId xmlns:a16="http://schemas.microsoft.com/office/drawing/2014/main" id="{8B9B6DF8-38F4-A232-B3BD-333B96B4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D"/>
          </a:p>
        </p:txBody>
      </p:sp>
      <p:sp>
        <p:nvSpPr>
          <p:cNvPr id="49198" name="Rectangle 46">
            <a:extLst>
              <a:ext uri="{FF2B5EF4-FFF2-40B4-BE49-F238E27FC236}">
                <a16:creationId xmlns:a16="http://schemas.microsoft.com/office/drawing/2014/main" id="{0B3C6D17-960C-B50A-F744-E4A885D49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230832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85750" algn="l"/>
                <a:tab pos="457200" algn="l"/>
                <a:tab pos="685800" algn="l"/>
                <a:tab pos="857250" algn="l"/>
                <a:tab pos="11430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49199" name="Text Box 47">
            <a:extLst>
              <a:ext uri="{FF2B5EF4-FFF2-40B4-BE49-F238E27FC236}">
                <a16:creationId xmlns:a16="http://schemas.microsoft.com/office/drawing/2014/main" id="{5A0000F9-EFB7-F727-C424-B8024D0AF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600200"/>
            <a:ext cx="5181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1">
              <a:spcBef>
                <a:spcPct val="50000"/>
              </a:spcBef>
            </a:pPr>
            <a:r>
              <a:rPr kumimoji="1" lang="en-US" altLang="ko-KR" b="1" dirty="0">
                <a:solidFill>
                  <a:schemeClr val="tx2">
                    <a:lumMod val="50000"/>
                  </a:schemeClr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Population: the set of all measurements of interest to the investigator </a:t>
            </a:r>
          </a:p>
        </p:txBody>
      </p:sp>
      <p:sp>
        <p:nvSpPr>
          <p:cNvPr id="49200" name="Text Box 48">
            <a:extLst>
              <a:ext uri="{FF2B5EF4-FFF2-40B4-BE49-F238E27FC236}">
                <a16:creationId xmlns:a16="http://schemas.microsoft.com/office/drawing/2014/main" id="{C9F2AC17-9DD2-F045-5D9C-985E97AA9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5373688"/>
            <a:ext cx="43926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atinLnBrk="1"/>
            <a:r>
              <a:rPr kumimoji="1" lang="en-US" altLang="ko-KR" b="1" dirty="0">
                <a:solidFill>
                  <a:schemeClr val="tx2">
                    <a:lumMod val="50000"/>
                  </a:schemeClr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Sample: a subset of measurements selected from the population of interest</a:t>
            </a:r>
            <a:endParaRPr kumimoji="1" lang="ko-KR" altLang="en-US" b="1" dirty="0">
              <a:solidFill>
                <a:schemeClr val="tx2">
                  <a:lumMod val="50000"/>
                </a:schemeClr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9F56176-7D30-5629-41DC-0F0C05C49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5105400" cy="1143000"/>
          </a:xfrm>
        </p:spPr>
        <p:txBody>
          <a:bodyPr/>
          <a:lstStyle/>
          <a:p>
            <a:pPr algn="l"/>
            <a:r>
              <a:rPr lang="en-US" altLang="ko-KR" b="1" dirty="0"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443749C-0666-745C-7687-D8143D0B4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371600"/>
            <a:ext cx="7086600" cy="5029200"/>
          </a:xfrm>
        </p:spPr>
        <p:txBody>
          <a:bodyPr/>
          <a:lstStyle/>
          <a:p>
            <a:r>
              <a:rPr lang="en-US" altLang="ko-KR" sz="4400" dirty="0">
                <a:ea typeface="굴림" panose="020B0600000101010101" pitchFamily="34" charset="-127"/>
              </a:rPr>
              <a:t>Variable </a:t>
            </a:r>
          </a:p>
          <a:p>
            <a:pPr lvl="1"/>
            <a:r>
              <a:rPr lang="en-US" altLang="ko-KR" sz="4400" dirty="0">
                <a:solidFill>
                  <a:srgbClr val="CC0066"/>
                </a:solidFill>
                <a:ea typeface="굴림" panose="020B0600000101010101" pitchFamily="34" charset="-127"/>
              </a:rPr>
              <a:t> Ethnic group</a:t>
            </a:r>
          </a:p>
          <a:p>
            <a:r>
              <a:rPr lang="en-US" altLang="ko-KR" sz="4400" dirty="0">
                <a:ea typeface="굴림" panose="020B0600000101010101" pitchFamily="34" charset="-127"/>
              </a:rPr>
              <a:t>Experimental unit </a:t>
            </a:r>
          </a:p>
          <a:p>
            <a:pPr lvl="1"/>
            <a:r>
              <a:rPr lang="en-US" altLang="ko-KR" sz="4400" dirty="0">
                <a:solidFill>
                  <a:srgbClr val="CC0066"/>
                </a:solidFill>
                <a:ea typeface="굴림" panose="020B0600000101010101" pitchFamily="34" charset="-127"/>
              </a:rPr>
              <a:t>Person</a:t>
            </a:r>
          </a:p>
          <a:p>
            <a:r>
              <a:rPr lang="en-US" altLang="ko-KR" sz="4400" dirty="0">
                <a:ea typeface="굴림" panose="020B0600000101010101" pitchFamily="34" charset="-127"/>
              </a:rPr>
              <a:t>Typical Measurements </a:t>
            </a:r>
          </a:p>
          <a:p>
            <a:pPr lvl="1"/>
            <a:r>
              <a:rPr lang="en-US" altLang="ko-KR" sz="4400" dirty="0">
                <a:solidFill>
                  <a:srgbClr val="CC0066"/>
                </a:solidFill>
                <a:ea typeface="굴림" panose="020B0600000101010101" pitchFamily="34" charset="-127"/>
              </a:rPr>
              <a:t>Dayak, </a:t>
            </a:r>
            <a:r>
              <a:rPr lang="en-US" altLang="ko-KR" sz="4400" dirty="0" err="1">
                <a:solidFill>
                  <a:srgbClr val="CC0066"/>
                </a:solidFill>
                <a:ea typeface="굴림" panose="020B0600000101010101" pitchFamily="34" charset="-127"/>
              </a:rPr>
              <a:t>Jawa</a:t>
            </a:r>
            <a:r>
              <a:rPr lang="en-US" altLang="ko-KR" sz="4400" dirty="0">
                <a:solidFill>
                  <a:srgbClr val="CC0066"/>
                </a:solidFill>
                <a:ea typeface="굴림" panose="020B0600000101010101" pitchFamily="34" charset="-127"/>
              </a:rPr>
              <a:t>, </a:t>
            </a:r>
            <a:r>
              <a:rPr lang="en-US" altLang="ko-KR" sz="4400" dirty="0" err="1">
                <a:solidFill>
                  <a:srgbClr val="CC0066"/>
                </a:solidFill>
                <a:ea typeface="굴림" panose="020B0600000101010101" pitchFamily="34" charset="-127"/>
              </a:rPr>
              <a:t>Melayu</a:t>
            </a:r>
            <a:r>
              <a:rPr lang="en-US" altLang="ko-KR" sz="4400" dirty="0">
                <a:solidFill>
                  <a:srgbClr val="CC0066"/>
                </a:solidFill>
                <a:ea typeface="굴림" panose="020B0600000101010101" pitchFamily="34" charset="-127"/>
              </a:rPr>
              <a:t>, Bali,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B6A3D9-3E5C-53D9-CA62-7E412C340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083" y="167639"/>
            <a:ext cx="3550024" cy="23532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bldLvl="2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B702699-F052-ED3E-2C6D-2FD262D26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4929" y="152400"/>
            <a:ext cx="6100482" cy="1143000"/>
          </a:xfrm>
        </p:spPr>
        <p:txBody>
          <a:bodyPr/>
          <a:lstStyle/>
          <a:p>
            <a:pPr algn="l"/>
            <a:r>
              <a:rPr lang="en-US" altLang="ko-KR" b="1" dirty="0"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1E1B620-3C51-47A9-12F5-41DB208A7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447800"/>
            <a:ext cx="70866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4000">
                <a:ea typeface="굴림" panose="020B0600000101010101" pitchFamily="34" charset="-127"/>
              </a:rPr>
              <a:t>Variable </a:t>
            </a:r>
          </a:p>
          <a:p>
            <a:pPr lvl="1">
              <a:lnSpc>
                <a:spcPct val="90000"/>
              </a:lnSpc>
              <a:buClr>
                <a:srgbClr val="CC0066"/>
              </a:buClr>
            </a:pPr>
            <a:r>
              <a:rPr lang="en-US" altLang="ko-KR" sz="4000">
                <a:solidFill>
                  <a:srgbClr val="FFFF99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4000">
                <a:solidFill>
                  <a:srgbClr val="CC0066"/>
                </a:solidFill>
                <a:ea typeface="굴림" panose="020B0600000101010101" pitchFamily="34" charset="-127"/>
              </a:rPr>
              <a:t>Time until a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ko-KR" sz="4000">
                <a:solidFill>
                  <a:srgbClr val="CC0066"/>
                </a:solidFill>
                <a:ea typeface="굴림" panose="020B0600000101010101" pitchFamily="34" charset="-127"/>
              </a:rPr>
              <a:t>light bulb burns out</a:t>
            </a:r>
          </a:p>
          <a:p>
            <a:pPr>
              <a:lnSpc>
                <a:spcPct val="90000"/>
              </a:lnSpc>
            </a:pPr>
            <a:r>
              <a:rPr lang="en-US" altLang="ko-KR" sz="4000">
                <a:ea typeface="굴림" panose="020B0600000101010101" pitchFamily="34" charset="-127"/>
              </a:rPr>
              <a:t>Experimental unit </a:t>
            </a:r>
          </a:p>
          <a:p>
            <a:pPr lvl="1">
              <a:lnSpc>
                <a:spcPct val="90000"/>
              </a:lnSpc>
            </a:pPr>
            <a:r>
              <a:rPr lang="en-US" altLang="ko-KR" sz="4000">
                <a:solidFill>
                  <a:srgbClr val="CC0066"/>
                </a:solidFill>
                <a:ea typeface="굴림" panose="020B0600000101010101" pitchFamily="34" charset="-127"/>
              </a:rPr>
              <a:t>Light bulb</a:t>
            </a:r>
          </a:p>
          <a:p>
            <a:pPr>
              <a:lnSpc>
                <a:spcPct val="90000"/>
              </a:lnSpc>
            </a:pPr>
            <a:r>
              <a:rPr lang="en-US" altLang="ko-KR" sz="4000">
                <a:ea typeface="굴림" panose="020B0600000101010101" pitchFamily="34" charset="-127"/>
              </a:rPr>
              <a:t>Typical Measurements </a:t>
            </a:r>
          </a:p>
          <a:p>
            <a:pPr lvl="1">
              <a:lnSpc>
                <a:spcPct val="90000"/>
              </a:lnSpc>
            </a:pPr>
            <a:r>
              <a:rPr lang="en-US" altLang="ko-KR" sz="4000">
                <a:solidFill>
                  <a:srgbClr val="CC0066"/>
                </a:solidFill>
                <a:ea typeface="굴림" panose="020B0600000101010101" pitchFamily="34" charset="-127"/>
              </a:rPr>
              <a:t>1500 hours, 1535.5 hours, etc.</a:t>
            </a:r>
          </a:p>
        </p:txBody>
      </p:sp>
      <p:grpSp>
        <p:nvGrpSpPr>
          <p:cNvPr id="12301" name="Group 13">
            <a:extLst>
              <a:ext uri="{FF2B5EF4-FFF2-40B4-BE49-F238E27FC236}">
                <a16:creationId xmlns:a16="http://schemas.microsoft.com/office/drawing/2014/main" id="{1F51DCED-DBB8-943E-6D6C-F7E320BDA601}"/>
              </a:ext>
            </a:extLst>
          </p:cNvPr>
          <p:cNvGrpSpPr>
            <a:grpSpLocks/>
          </p:cNvGrpSpPr>
          <p:nvPr/>
        </p:nvGrpSpPr>
        <p:grpSpPr bwMode="auto">
          <a:xfrm>
            <a:off x="7987555" y="152400"/>
            <a:ext cx="4114800" cy="2590800"/>
            <a:chOff x="2922" y="192"/>
            <a:chExt cx="2592" cy="1632"/>
          </a:xfrm>
        </p:grpSpPr>
        <p:sp>
          <p:nvSpPr>
            <p:cNvPr id="12297" name="Rectangle 9">
              <a:extLst>
                <a:ext uri="{FF2B5EF4-FFF2-40B4-BE49-F238E27FC236}">
                  <a16:creationId xmlns:a16="http://schemas.microsoft.com/office/drawing/2014/main" id="{E6469540-BB0F-5A4F-1900-98BB74241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" y="192"/>
              <a:ext cx="2592" cy="1632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12298" name="Picture 10">
              <a:extLst>
                <a:ext uri="{FF2B5EF4-FFF2-40B4-BE49-F238E27FC236}">
                  <a16:creationId xmlns:a16="http://schemas.microsoft.com/office/drawing/2014/main" id="{6CE3EDF9-86EA-346E-5034-9BEC9D73B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2" y="288"/>
              <a:ext cx="2442" cy="1425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9D9EA34-ED5B-1DC3-4F64-3093AB0697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2517" y="277906"/>
            <a:ext cx="7772400" cy="1143000"/>
          </a:xfrm>
        </p:spPr>
        <p:txBody>
          <a:bodyPr/>
          <a:lstStyle/>
          <a:p>
            <a:pPr algn="l"/>
            <a:r>
              <a:rPr lang="en-US" altLang="ko-KR" b="1" dirty="0">
                <a:ea typeface="굴림" panose="020B0600000101010101" pitchFamily="34" charset="-127"/>
              </a:rPr>
              <a:t>How many variables have you measured?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55187FBF-1E04-7A15-B963-7DAFFCE41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2021541"/>
            <a:ext cx="8077200" cy="2814918"/>
          </a:xfrm>
        </p:spPr>
        <p:txBody>
          <a:bodyPr/>
          <a:lstStyle/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Univariate data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:</a:t>
            </a:r>
            <a:r>
              <a:rPr lang="en-US" altLang="ko-KR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One variable is measured on a single experimental unit.</a:t>
            </a:r>
          </a:p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Bivariate data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:</a:t>
            </a:r>
            <a:r>
              <a:rPr lang="en-US" altLang="ko-KR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Two variables are measured on a single experimental unit.</a:t>
            </a:r>
          </a:p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Multivariate data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:</a:t>
            </a:r>
            <a:r>
              <a:rPr lang="en-US" altLang="ko-KR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More than two variables are measured on a single experimental unit.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4329670-B3B6-7779-4F17-A3C290B1B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8024" y="676648"/>
            <a:ext cx="9403976" cy="1143000"/>
          </a:xfrm>
        </p:spPr>
        <p:txBody>
          <a:bodyPr/>
          <a:lstStyle/>
          <a:p>
            <a:pPr algn="l"/>
            <a:r>
              <a:rPr lang="en-US" altLang="ko-KR" b="1" dirty="0">
                <a:ea typeface="굴림" panose="020B0600000101010101" pitchFamily="34" charset="-127"/>
              </a:rPr>
              <a:t>How many variables have you measured?</a:t>
            </a:r>
          </a:p>
        </p:txBody>
      </p:sp>
      <p:graphicFrame>
        <p:nvGraphicFramePr>
          <p:cNvPr id="50253" name="Group 77">
            <a:extLst>
              <a:ext uri="{FF2B5EF4-FFF2-40B4-BE49-F238E27FC236}">
                <a16:creationId xmlns:a16="http://schemas.microsoft.com/office/drawing/2014/main" id="{AA7334CD-6B53-B520-B902-D53E296171C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64968487"/>
              </p:ext>
            </p:extLst>
          </p:nvPr>
        </p:nvGraphicFramePr>
        <p:xfrm>
          <a:off x="2279651" y="2420938"/>
          <a:ext cx="8904606" cy="3904298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172343001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3523772786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3374738224"/>
                    </a:ext>
                  </a:extLst>
                </a:gridCol>
                <a:gridCol w="1775143">
                  <a:extLst>
                    <a:ext uri="{9D8B030D-6E8A-4147-A177-3AD203B41FA5}">
                      <a16:colId xmlns:a16="http://schemas.microsoft.com/office/drawing/2014/main" val="3862416577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43561045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625112220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Student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# of units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852073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Psy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691518"/>
                  </a:ext>
                </a:extLst>
              </a:tr>
              <a:tr h="577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760813"/>
                  </a:ext>
                </a:extLst>
              </a:tr>
              <a:tr h="642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Eng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212843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Eng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48954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Bus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1519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B3DD6B7-6E0A-05AE-CE68-F378971CF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algn="ctr"/>
            <a:r>
              <a:rPr lang="en-US" altLang="ko-KR" b="1" dirty="0">
                <a:ea typeface="굴림" panose="020B0600000101010101" pitchFamily="34" charset="-127"/>
              </a:rPr>
              <a:t>Types of Variables</a:t>
            </a:r>
          </a:p>
        </p:txBody>
      </p:sp>
      <p:grpSp>
        <p:nvGrpSpPr>
          <p:cNvPr id="14361" name="Group 25">
            <a:extLst>
              <a:ext uri="{FF2B5EF4-FFF2-40B4-BE49-F238E27FC236}">
                <a16:creationId xmlns:a16="http://schemas.microsoft.com/office/drawing/2014/main" id="{A2A49452-1C6B-E96E-9389-BE4EA1B8324C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447800"/>
            <a:ext cx="2743200" cy="1752600"/>
            <a:chOff x="864" y="912"/>
            <a:chExt cx="1728" cy="1104"/>
          </a:xfrm>
        </p:grpSpPr>
        <p:sp>
          <p:nvSpPr>
            <p:cNvPr id="14340" name="Oval 4">
              <a:extLst>
                <a:ext uri="{FF2B5EF4-FFF2-40B4-BE49-F238E27FC236}">
                  <a16:creationId xmlns:a16="http://schemas.microsoft.com/office/drawing/2014/main" id="{59A7BCE5-9587-6407-86F1-E253D60E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912"/>
              <a:ext cx="1728" cy="1104"/>
            </a:xfrm>
            <a:prstGeom prst="ellipse">
              <a:avLst/>
            </a:prstGeom>
            <a:solidFill>
              <a:srgbClr val="F4ECC6"/>
            </a:solidFill>
            <a:ln w="9525">
              <a:solidFill>
                <a:srgbClr val="CC0066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14341" name="Text Box 5">
              <a:extLst>
                <a:ext uri="{FF2B5EF4-FFF2-40B4-BE49-F238E27FC236}">
                  <a16:creationId xmlns:a16="http://schemas.microsoft.com/office/drawing/2014/main" id="{4BD7EFDB-9997-00F3-6237-F959D8555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296"/>
              <a:ext cx="153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3200" b="1">
                  <a:solidFill>
                    <a:srgbClr val="CC0066"/>
                  </a:solidFill>
                  <a:ea typeface="굴림" panose="020B0600000101010101" pitchFamily="34" charset="-127"/>
                </a:rPr>
                <a:t>Qualitative</a:t>
              </a:r>
            </a:p>
          </p:txBody>
        </p:sp>
      </p:grpSp>
      <p:grpSp>
        <p:nvGrpSpPr>
          <p:cNvPr id="14358" name="Group 22">
            <a:extLst>
              <a:ext uri="{FF2B5EF4-FFF2-40B4-BE49-F238E27FC236}">
                <a16:creationId xmlns:a16="http://schemas.microsoft.com/office/drawing/2014/main" id="{F1337E40-D0A3-8C47-ADCF-F5732E2236C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524000"/>
            <a:ext cx="2743200" cy="1752600"/>
            <a:chOff x="3168" y="960"/>
            <a:chExt cx="1728" cy="1104"/>
          </a:xfrm>
        </p:grpSpPr>
        <p:sp>
          <p:nvSpPr>
            <p:cNvPr id="14343" name="Oval 7">
              <a:extLst>
                <a:ext uri="{FF2B5EF4-FFF2-40B4-BE49-F238E27FC236}">
                  <a16:creationId xmlns:a16="http://schemas.microsoft.com/office/drawing/2014/main" id="{4418D818-3173-0879-11B0-C78EBD002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960"/>
              <a:ext cx="1728" cy="1104"/>
            </a:xfrm>
            <a:prstGeom prst="ellipse">
              <a:avLst/>
            </a:prstGeom>
            <a:solidFill>
              <a:srgbClr val="F4ECC6"/>
            </a:solidFill>
            <a:ln w="9525">
              <a:solidFill>
                <a:srgbClr val="CC0066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14346" name="Text Box 10">
              <a:extLst>
                <a:ext uri="{FF2B5EF4-FFF2-40B4-BE49-F238E27FC236}">
                  <a16:creationId xmlns:a16="http://schemas.microsoft.com/office/drawing/2014/main" id="{2597620D-02FE-D20A-4C43-C89DB53B1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296"/>
              <a:ext cx="16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3200" b="1">
                  <a:solidFill>
                    <a:srgbClr val="CC0066"/>
                  </a:solidFill>
                  <a:ea typeface="굴림" panose="020B0600000101010101" pitchFamily="34" charset="-127"/>
                </a:rPr>
                <a:t>Quantitative</a:t>
              </a:r>
            </a:p>
          </p:txBody>
        </p:sp>
      </p:grpSp>
      <p:grpSp>
        <p:nvGrpSpPr>
          <p:cNvPr id="14359" name="Group 23">
            <a:extLst>
              <a:ext uri="{FF2B5EF4-FFF2-40B4-BE49-F238E27FC236}">
                <a16:creationId xmlns:a16="http://schemas.microsoft.com/office/drawing/2014/main" id="{4AE381F3-680B-3AF7-5EA4-3C91684CDC4D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200400"/>
            <a:ext cx="2590800" cy="2133600"/>
            <a:chOff x="2448" y="2016"/>
            <a:chExt cx="1632" cy="1344"/>
          </a:xfrm>
        </p:grpSpPr>
        <p:sp>
          <p:nvSpPr>
            <p:cNvPr id="14344" name="Oval 8">
              <a:extLst>
                <a:ext uri="{FF2B5EF4-FFF2-40B4-BE49-F238E27FC236}">
                  <a16:creationId xmlns:a16="http://schemas.microsoft.com/office/drawing/2014/main" id="{E08DC6E0-A173-4AB9-CB9F-98DDCA00E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544"/>
              <a:ext cx="1392" cy="816"/>
            </a:xfrm>
            <a:prstGeom prst="ellipse">
              <a:avLst/>
            </a:prstGeom>
            <a:solidFill>
              <a:srgbClr val="F4ECC6"/>
            </a:solidFill>
            <a:ln w="9525">
              <a:solidFill>
                <a:srgbClr val="CC0066"/>
              </a:solidFill>
              <a:round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14347" name="Text Box 11">
              <a:extLst>
                <a:ext uri="{FF2B5EF4-FFF2-40B4-BE49-F238E27FC236}">
                  <a16:creationId xmlns:a16="http://schemas.microsoft.com/office/drawing/2014/main" id="{00C4E616-DC28-13ED-FEC9-1A482A412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736"/>
              <a:ext cx="13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3200" b="1">
                  <a:solidFill>
                    <a:srgbClr val="CC0066"/>
                  </a:solidFill>
                  <a:ea typeface="굴림" panose="020B0600000101010101" pitchFamily="34" charset="-127"/>
                </a:rPr>
                <a:t>Discrete</a:t>
              </a:r>
            </a:p>
          </p:txBody>
        </p:sp>
        <p:sp>
          <p:nvSpPr>
            <p:cNvPr id="14349" name="Line 13">
              <a:extLst>
                <a:ext uri="{FF2B5EF4-FFF2-40B4-BE49-F238E27FC236}">
                  <a16:creationId xmlns:a16="http://schemas.microsoft.com/office/drawing/2014/main" id="{6E5B87FC-C688-1276-B9AD-E9CF670FD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016"/>
              <a:ext cx="624" cy="528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4360" name="Group 24">
            <a:extLst>
              <a:ext uri="{FF2B5EF4-FFF2-40B4-BE49-F238E27FC236}">
                <a16:creationId xmlns:a16="http://schemas.microsoft.com/office/drawing/2014/main" id="{4DF26566-22D9-238E-A46C-BD5604771DFF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3200400"/>
            <a:ext cx="2286000" cy="2057400"/>
            <a:chOff x="4176" y="2016"/>
            <a:chExt cx="1440" cy="1296"/>
          </a:xfrm>
        </p:grpSpPr>
        <p:sp>
          <p:nvSpPr>
            <p:cNvPr id="14345" name="Oval 9">
              <a:extLst>
                <a:ext uri="{FF2B5EF4-FFF2-40B4-BE49-F238E27FC236}">
                  <a16:creationId xmlns:a16="http://schemas.microsoft.com/office/drawing/2014/main" id="{60A8F907-4A15-7A36-C9C4-56BAB3A3D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448"/>
              <a:ext cx="1392" cy="864"/>
            </a:xfrm>
            <a:prstGeom prst="ellipse">
              <a:avLst/>
            </a:prstGeom>
            <a:solidFill>
              <a:srgbClr val="F4ECC6"/>
            </a:solidFill>
            <a:ln w="9525">
              <a:solidFill>
                <a:srgbClr val="CC0066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14348" name="Text Box 12">
              <a:extLst>
                <a:ext uri="{FF2B5EF4-FFF2-40B4-BE49-F238E27FC236}">
                  <a16:creationId xmlns:a16="http://schemas.microsoft.com/office/drawing/2014/main" id="{E7BEC7E8-8B1E-82B3-FDF5-E3CE23F13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688"/>
              <a:ext cx="139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3200" b="1">
                  <a:solidFill>
                    <a:srgbClr val="CC0066"/>
                  </a:solidFill>
                  <a:ea typeface="굴림" panose="020B0600000101010101" pitchFamily="34" charset="-127"/>
                </a:rPr>
                <a:t>Continuous</a:t>
              </a:r>
            </a:p>
          </p:txBody>
        </p:sp>
        <p:sp>
          <p:nvSpPr>
            <p:cNvPr id="14350" name="Line 14">
              <a:extLst>
                <a:ext uri="{FF2B5EF4-FFF2-40B4-BE49-F238E27FC236}">
                  <a16:creationId xmlns:a16="http://schemas.microsoft.com/office/drawing/2014/main" id="{B0748746-8DB3-4871-CEE2-303FB3312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68" y="2016"/>
              <a:ext cx="672" cy="432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B7BB59-1647-EBB5-4B41-97290BBFC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r>
              <a:rPr lang="en-US" altLang="ko-KR" b="1">
                <a:ea typeface="굴림" panose="020B0600000101010101" pitchFamily="34" charset="-127"/>
              </a:rPr>
              <a:t>Types of Variables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0B0FA7C-AD8F-DE73-D8E7-BA1E9C728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974726"/>
            <a:ext cx="861060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40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Qualitative variables</a:t>
            </a:r>
            <a:r>
              <a:rPr lang="en-US" altLang="ko-KR" sz="4000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4000" dirty="0">
                <a:solidFill>
                  <a:srgbClr val="339933"/>
                </a:solidFill>
                <a:ea typeface="굴림" panose="020B0600000101010101" pitchFamily="34" charset="-127"/>
              </a:rPr>
              <a:t>measure a quality or characteristic on each experimental unit.</a:t>
            </a:r>
            <a:r>
              <a:rPr lang="en-US" altLang="ko-KR" sz="4000" b="1" dirty="0">
                <a:solidFill>
                  <a:srgbClr val="339933"/>
                </a:solidFill>
                <a:ea typeface="굴림" panose="020B0600000101010101" pitchFamily="34" charset="-127"/>
              </a:rPr>
              <a:t> (Categorical Data)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40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Examples:</a:t>
            </a:r>
          </a:p>
          <a:p>
            <a:pPr lvl="1">
              <a:buFontTx/>
              <a:buChar char="•"/>
            </a:pP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Ethnic group (</a:t>
            </a:r>
            <a:r>
              <a:rPr lang="en-US" altLang="ko-KR" sz="3600" dirty="0" err="1">
                <a:solidFill>
                  <a:srgbClr val="CC0066"/>
                </a:solidFill>
                <a:ea typeface="굴림" panose="020B0600000101010101" pitchFamily="34" charset="-127"/>
              </a:rPr>
              <a:t>dayak</a:t>
            </a: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, </a:t>
            </a:r>
            <a:r>
              <a:rPr lang="en-US" altLang="ko-KR" sz="3600" dirty="0" err="1">
                <a:solidFill>
                  <a:srgbClr val="CC0066"/>
                </a:solidFill>
                <a:ea typeface="굴림" panose="020B0600000101010101" pitchFamily="34" charset="-127"/>
              </a:rPr>
              <a:t>jawa</a:t>
            </a: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, </a:t>
            </a:r>
            <a:r>
              <a:rPr lang="en-US" altLang="ko-KR" sz="3600" dirty="0" err="1">
                <a:solidFill>
                  <a:srgbClr val="CC0066"/>
                </a:solidFill>
                <a:ea typeface="굴림" panose="020B0600000101010101" pitchFamily="34" charset="-127"/>
              </a:rPr>
              <a:t>melayu</a:t>
            </a: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 …)</a:t>
            </a:r>
          </a:p>
          <a:p>
            <a:pPr lvl="1">
              <a:buFontTx/>
              <a:buChar char="•"/>
            </a:pP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Make of car (Toyota, Honda, Ford…)</a:t>
            </a:r>
          </a:p>
          <a:p>
            <a:pPr lvl="1">
              <a:buFontTx/>
              <a:buChar char="•"/>
            </a:pP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Gender (male, female)</a:t>
            </a:r>
          </a:p>
          <a:p>
            <a:pPr lvl="1">
              <a:buFontTx/>
              <a:buChar char="•"/>
            </a:pPr>
            <a:r>
              <a:rPr lang="en-US" altLang="ko-KR" sz="3600" dirty="0">
                <a:solidFill>
                  <a:srgbClr val="CC0066"/>
                </a:solidFill>
                <a:ea typeface="굴림" panose="020B0600000101010101" pitchFamily="34" charset="-127"/>
              </a:rPr>
              <a:t>Birthplace (Surabaya, Denpasar,….)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0482609-CFFF-DAB2-CC28-DBD98EF2D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r>
              <a:rPr lang="en-US" altLang="ko-KR" b="1">
                <a:ea typeface="굴림" panose="020B0600000101010101" pitchFamily="34" charset="-127"/>
              </a:rPr>
              <a:t>Types of Variables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54D1779-E72B-C944-CD00-82D79E1D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482" y="1053357"/>
            <a:ext cx="9744636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ko-KR" sz="40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Quantitative variables</a:t>
            </a:r>
            <a:r>
              <a:rPr lang="en-US" altLang="ko-KR" sz="4000" b="1" dirty="0">
                <a:solidFill>
                  <a:schemeClr val="bg1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4000" dirty="0">
                <a:solidFill>
                  <a:srgbClr val="339933"/>
                </a:solidFill>
                <a:ea typeface="굴림" panose="020B0600000101010101" pitchFamily="34" charset="-127"/>
              </a:rPr>
              <a:t>measure a numerical quantity on each experimental unit. </a:t>
            </a: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40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Discrete </a:t>
            </a:r>
            <a:r>
              <a:rPr lang="en-US" altLang="ko-KR" sz="4000" dirty="0">
                <a:solidFill>
                  <a:srgbClr val="339933"/>
                </a:solidFill>
                <a:ea typeface="굴림" panose="020B0600000101010101" pitchFamily="34" charset="-127"/>
              </a:rPr>
              <a:t>if it can assume only a finite or countable number of values.</a:t>
            </a:r>
          </a:p>
          <a:p>
            <a:pPr lvl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40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Continuous </a:t>
            </a:r>
            <a:r>
              <a:rPr lang="en-US" altLang="ko-KR" sz="4000" dirty="0">
                <a:solidFill>
                  <a:srgbClr val="339933"/>
                </a:solidFill>
                <a:ea typeface="굴림" panose="020B0600000101010101" pitchFamily="34" charset="-127"/>
              </a:rPr>
              <a:t>if it can assume the infinitely many values corresponding to the points on a line interval.</a:t>
            </a:r>
            <a:endParaRPr lang="en-US" altLang="ko-KR" sz="4000" b="1" dirty="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FC3BE08-758A-FC81-C1F2-9BDCACCEA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8717" y="318247"/>
            <a:ext cx="7772400" cy="1143000"/>
          </a:xfrm>
        </p:spPr>
        <p:txBody>
          <a:bodyPr/>
          <a:lstStyle/>
          <a:p>
            <a:pPr algn="l"/>
            <a:r>
              <a:rPr lang="en-US" altLang="ko-KR" b="1" dirty="0">
                <a:ea typeface="굴림" panose="020B0600000101010101" pitchFamily="34" charset="-127"/>
              </a:rPr>
              <a:t>Examples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5511CA4-AC60-22DE-DEBF-51DF055D7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4646" y="2084295"/>
            <a:ext cx="7772400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For each orange tree in a grove, the number of oranges is measured. 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Quantitative discrete</a:t>
            </a:r>
          </a:p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For a particular day, the number of cars entering a college campus is measured.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Quantitative discrete</a:t>
            </a:r>
          </a:p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Time until a light bulb burns out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Quantitative continuous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424BD-0018-531E-3CE6-9B3B7F18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630" y="0"/>
            <a:ext cx="2988441" cy="2003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2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Descriptive Statistics</a:t>
            </a:r>
          </a:p>
        </p:txBody>
      </p:sp>
    </p:spTree>
    <p:extLst>
      <p:ext uri="{BB962C8B-B14F-4D97-AF65-F5344CB8AC3E}">
        <p14:creationId xmlns:p14="http://schemas.microsoft.com/office/powerpoint/2010/main" val="3142660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B4ACA9C-BBF5-76DF-A190-A1EFFD5CB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0130" y="179294"/>
            <a:ext cx="8610600" cy="1143000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a typeface="굴림" panose="020B0600000101010101" pitchFamily="34" charset="-127"/>
              </a:rPr>
              <a:t>Graphing Qualitative Variables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305D0938-C820-83EF-A211-527CDBB0A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2635" y="1541929"/>
            <a:ext cx="10461812" cy="44554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Use a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data distribution</a:t>
            </a:r>
            <a:r>
              <a:rPr lang="en-US" altLang="ko-KR" sz="3200" dirty="0">
                <a:ea typeface="굴림" panose="020B0600000101010101" pitchFamily="34" charset="-127"/>
              </a:rPr>
              <a:t> to describe: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What values</a:t>
            </a:r>
            <a:r>
              <a:rPr lang="en-US" altLang="ko-KR" sz="3200" dirty="0">
                <a:ea typeface="굴림" panose="020B0600000101010101" pitchFamily="34" charset="-127"/>
              </a:rPr>
              <a:t> of the variable have been measured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How often</a:t>
            </a:r>
            <a:r>
              <a:rPr lang="en-US" altLang="ko-KR" sz="3200" dirty="0">
                <a:ea typeface="굴림" panose="020B0600000101010101" pitchFamily="34" charset="-127"/>
              </a:rPr>
              <a:t> each value has occurred</a:t>
            </a:r>
          </a:p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“How often” can be measured 3 ways: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Frequency in each category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Relative frequency = Frequency/</a:t>
            </a:r>
            <a:r>
              <a:rPr lang="en-US" altLang="ko-KR" sz="3200" i="1" dirty="0">
                <a:solidFill>
                  <a:srgbClr val="CC0066"/>
                </a:solidFill>
                <a:ea typeface="굴림" panose="020B0600000101010101" pitchFamily="34" charset="-127"/>
              </a:rPr>
              <a:t>n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   (proportion in each category)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Percent = 100 x Relative frequency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952E789-EF8F-A090-51EB-88D69D133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152400"/>
            <a:ext cx="7772400" cy="609600"/>
          </a:xfrm>
        </p:spPr>
        <p:txBody>
          <a:bodyPr/>
          <a:lstStyle/>
          <a:p>
            <a:r>
              <a:rPr lang="en-US" altLang="ko-KR" b="1"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99345FB-16A0-1694-CEFD-43DB3F7712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306" y="762000"/>
            <a:ext cx="9170894" cy="5181600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34" charset="-127"/>
              </a:rPr>
              <a:t>A bag of M&amp;M</a:t>
            </a:r>
            <a:r>
              <a:rPr lang="en-US" altLang="ko-KR" baseline="30000" dirty="0">
                <a:ea typeface="굴림" panose="020B0600000101010101" pitchFamily="34" charset="-127"/>
              </a:rPr>
              <a:t>®</a:t>
            </a:r>
            <a:r>
              <a:rPr lang="en-US" altLang="ko-KR" dirty="0">
                <a:ea typeface="굴림" panose="020B0600000101010101" pitchFamily="34" charset="-127"/>
              </a:rPr>
              <a:t>s contains 25 candies:</a:t>
            </a:r>
            <a:endParaRPr lang="en-US" altLang="ko-KR" sz="4000" dirty="0">
              <a:ea typeface="굴림" panose="020B0600000101010101" pitchFamily="34" charset="-127"/>
            </a:endParaRPr>
          </a:p>
          <a:p>
            <a:r>
              <a:rPr lang="en-US" altLang="ko-KR" sz="320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Raw Data:</a:t>
            </a:r>
            <a:r>
              <a:rPr lang="en-US" altLang="ko-KR" dirty="0">
                <a:ea typeface="굴림" panose="020B0600000101010101" pitchFamily="34" charset="-127"/>
              </a:rPr>
              <a:t> </a:t>
            </a:r>
          </a:p>
          <a:p>
            <a:endParaRPr lang="en-US" altLang="ko-KR" sz="3200" dirty="0">
              <a:solidFill>
                <a:srgbClr val="FFFF99"/>
              </a:solidFill>
              <a:ea typeface="굴림" panose="020B0600000101010101" pitchFamily="34" charset="-127"/>
            </a:endParaRPr>
          </a:p>
          <a:p>
            <a:r>
              <a:rPr lang="en-US" altLang="ko-KR" sz="3200" dirty="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Statistical Table:</a:t>
            </a:r>
          </a:p>
        </p:txBody>
      </p:sp>
      <p:graphicFrame>
        <p:nvGraphicFramePr>
          <p:cNvPr id="20118" name="Group 662">
            <a:extLst>
              <a:ext uri="{FF2B5EF4-FFF2-40B4-BE49-F238E27FC236}">
                <a16:creationId xmlns:a16="http://schemas.microsoft.com/office/drawing/2014/main" id="{471C03AF-C42E-096B-831F-34C8BEEA7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291390"/>
              </p:ext>
            </p:extLst>
          </p:nvPr>
        </p:nvGraphicFramePr>
        <p:xfrm>
          <a:off x="2196353" y="3185161"/>
          <a:ext cx="7315200" cy="3078480"/>
        </p:xfrm>
        <a:graphic>
          <a:graphicData uri="http://schemas.openxmlformats.org/drawingml/2006/table">
            <a:tbl>
              <a:tblPr/>
              <a:tblGrid>
                <a:gridCol w="1462088">
                  <a:extLst>
                    <a:ext uri="{9D8B030D-6E8A-4147-A177-3AD203B41FA5}">
                      <a16:colId xmlns:a16="http://schemas.microsoft.com/office/drawing/2014/main" val="1431959326"/>
                    </a:ext>
                  </a:extLst>
                </a:gridCol>
                <a:gridCol w="1814512">
                  <a:extLst>
                    <a:ext uri="{9D8B030D-6E8A-4147-A177-3AD203B41FA5}">
                      <a16:colId xmlns:a16="http://schemas.microsoft.com/office/drawing/2014/main" val="27440946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20370073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94263649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28208680"/>
                    </a:ext>
                  </a:extLst>
                </a:gridCol>
              </a:tblGrid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Color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Tally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Frequency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Relative Frequency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Percent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216759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Red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5/25 = .20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20%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324048"/>
                  </a:ext>
                </a:extLst>
              </a:tr>
              <a:tr h="265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Blue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3/25 = .12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12%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853174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Green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2/25 = .08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8%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105390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Orange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3/25 = .12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12%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186997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Brown 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8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8/25 = .32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32%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89805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Yellow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4/25 = .16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16%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825634"/>
                  </a:ext>
                </a:extLst>
              </a:tr>
            </a:tbl>
          </a:graphicData>
        </a:graphic>
      </p:graphicFrame>
      <p:grpSp>
        <p:nvGrpSpPr>
          <p:cNvPr id="20283" name="Group 827">
            <a:extLst>
              <a:ext uri="{FF2B5EF4-FFF2-40B4-BE49-F238E27FC236}">
                <a16:creationId xmlns:a16="http://schemas.microsoft.com/office/drawing/2014/main" id="{C8A71958-77FC-FCFE-A933-C375498EF1BC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1355725"/>
            <a:ext cx="4953000" cy="1327150"/>
            <a:chOff x="2112" y="854"/>
            <a:chExt cx="3120" cy="836"/>
          </a:xfrm>
        </p:grpSpPr>
        <p:grpSp>
          <p:nvGrpSpPr>
            <p:cNvPr id="20127" name="Group 671">
              <a:extLst>
                <a:ext uri="{FF2B5EF4-FFF2-40B4-BE49-F238E27FC236}">
                  <a16:creationId xmlns:a16="http://schemas.microsoft.com/office/drawing/2014/main" id="{1BFEF6B4-82A6-BEA5-0C8D-DBD06C2FF2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1200"/>
              <a:ext cx="240" cy="250"/>
              <a:chOff x="1344" y="288"/>
              <a:chExt cx="240" cy="250"/>
            </a:xfrm>
          </p:grpSpPr>
          <p:sp>
            <p:nvSpPr>
              <p:cNvPr id="20119" name="Oval 663">
                <a:extLst>
                  <a:ext uri="{FF2B5EF4-FFF2-40B4-BE49-F238E27FC236}">
                    <a16:creationId xmlns:a16="http://schemas.microsoft.com/office/drawing/2014/main" id="{F69E3328-F421-505D-58CD-41048B7F57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88"/>
                <a:ext cx="230" cy="23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26" name="Text Box 670">
                <a:extLst>
                  <a:ext uri="{FF2B5EF4-FFF2-40B4-BE49-F238E27FC236}">
                    <a16:creationId xmlns:a16="http://schemas.microsoft.com/office/drawing/2014/main" id="{67E63D6E-800C-2C07-0F4C-D1B0B0762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8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33" name="Group 677">
              <a:extLst>
                <a:ext uri="{FF2B5EF4-FFF2-40B4-BE49-F238E27FC236}">
                  <a16:creationId xmlns:a16="http://schemas.microsoft.com/office/drawing/2014/main" id="{CD18B80B-AFDA-85E5-4449-50235DA69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864"/>
              <a:ext cx="240" cy="250"/>
              <a:chOff x="4320" y="240"/>
              <a:chExt cx="240" cy="250"/>
            </a:xfrm>
          </p:grpSpPr>
          <p:sp>
            <p:nvSpPr>
              <p:cNvPr id="20125" name="Oval 669">
                <a:extLst>
                  <a:ext uri="{FF2B5EF4-FFF2-40B4-BE49-F238E27FC236}">
                    <a16:creationId xmlns:a16="http://schemas.microsoft.com/office/drawing/2014/main" id="{A54AE2B4-B944-52A6-9105-154642639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240"/>
                <a:ext cx="230" cy="23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32" name="Text Box 676">
                <a:extLst>
                  <a:ext uri="{FF2B5EF4-FFF2-40B4-BE49-F238E27FC236}">
                    <a16:creationId xmlns:a16="http://schemas.microsoft.com/office/drawing/2014/main" id="{72D2D1C7-7689-8AB1-0A38-C94EE293FE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37" name="Group 681">
              <a:extLst>
                <a:ext uri="{FF2B5EF4-FFF2-40B4-BE49-F238E27FC236}">
                  <a16:creationId xmlns:a16="http://schemas.microsoft.com/office/drawing/2014/main" id="{FFB98FC8-700D-0C2F-7EB0-D58D16923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152"/>
              <a:ext cx="240" cy="250"/>
              <a:chOff x="4656" y="240"/>
              <a:chExt cx="240" cy="250"/>
            </a:xfrm>
          </p:grpSpPr>
          <p:sp>
            <p:nvSpPr>
              <p:cNvPr id="20124" name="Oval 668">
                <a:extLst>
                  <a:ext uri="{FF2B5EF4-FFF2-40B4-BE49-F238E27FC236}">
                    <a16:creationId xmlns:a16="http://schemas.microsoft.com/office/drawing/2014/main" id="{3F417067-A9CC-D154-5749-90982B7A5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56" y="240"/>
                <a:ext cx="230" cy="230"/>
              </a:xfrm>
              <a:prstGeom prst="ellipse">
                <a:avLst/>
              </a:prstGeom>
              <a:solidFill>
                <a:srgbClr val="008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34" name="Text Box 678">
                <a:extLst>
                  <a:ext uri="{FF2B5EF4-FFF2-40B4-BE49-F238E27FC236}">
                    <a16:creationId xmlns:a16="http://schemas.microsoft.com/office/drawing/2014/main" id="{40D40D1A-B5BE-BEA4-CA4F-BE3C824140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40" name="Group 684">
              <a:extLst>
                <a:ext uri="{FF2B5EF4-FFF2-40B4-BE49-F238E27FC236}">
                  <a16:creationId xmlns:a16="http://schemas.microsoft.com/office/drawing/2014/main" id="{CD2243E9-B2AE-C818-C840-BEC147357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864"/>
              <a:ext cx="240" cy="250"/>
              <a:chOff x="4320" y="240"/>
              <a:chExt cx="240" cy="250"/>
            </a:xfrm>
          </p:grpSpPr>
          <p:sp>
            <p:nvSpPr>
              <p:cNvPr id="20141" name="Oval 685">
                <a:extLst>
                  <a:ext uri="{FF2B5EF4-FFF2-40B4-BE49-F238E27FC236}">
                    <a16:creationId xmlns:a16="http://schemas.microsoft.com/office/drawing/2014/main" id="{C8B41D44-D640-9477-FC25-C2D982FA16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240"/>
                <a:ext cx="230" cy="23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42" name="Text Box 686">
                <a:extLst>
                  <a:ext uri="{FF2B5EF4-FFF2-40B4-BE49-F238E27FC236}">
                    <a16:creationId xmlns:a16="http://schemas.microsoft.com/office/drawing/2014/main" id="{1EE27BA4-E967-93A2-00F3-42789C7821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43" name="Group 687">
              <a:extLst>
                <a:ext uri="{FF2B5EF4-FFF2-40B4-BE49-F238E27FC236}">
                  <a16:creationId xmlns:a16="http://schemas.microsoft.com/office/drawing/2014/main" id="{F4585D50-9686-0433-9D0B-7E36C6410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864"/>
              <a:ext cx="240" cy="250"/>
              <a:chOff x="4320" y="240"/>
              <a:chExt cx="240" cy="250"/>
            </a:xfrm>
          </p:grpSpPr>
          <p:sp>
            <p:nvSpPr>
              <p:cNvPr id="20144" name="Oval 688">
                <a:extLst>
                  <a:ext uri="{FF2B5EF4-FFF2-40B4-BE49-F238E27FC236}">
                    <a16:creationId xmlns:a16="http://schemas.microsoft.com/office/drawing/2014/main" id="{7F4E164E-EC91-434A-7A88-9267EB8E6C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20" y="240"/>
                <a:ext cx="230" cy="23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45" name="Text Box 689">
                <a:extLst>
                  <a:ext uri="{FF2B5EF4-FFF2-40B4-BE49-F238E27FC236}">
                    <a16:creationId xmlns:a16="http://schemas.microsoft.com/office/drawing/2014/main" id="{617642FE-5579-4299-1E2F-94EF08E8CC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46" name="Group 690">
              <a:extLst>
                <a:ext uri="{FF2B5EF4-FFF2-40B4-BE49-F238E27FC236}">
                  <a16:creationId xmlns:a16="http://schemas.microsoft.com/office/drawing/2014/main" id="{2304D27E-AEBE-D7C2-4480-E4F153F30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1200"/>
              <a:ext cx="240" cy="250"/>
              <a:chOff x="1344" y="288"/>
              <a:chExt cx="240" cy="250"/>
            </a:xfrm>
          </p:grpSpPr>
          <p:sp>
            <p:nvSpPr>
              <p:cNvPr id="20147" name="Oval 691">
                <a:extLst>
                  <a:ext uri="{FF2B5EF4-FFF2-40B4-BE49-F238E27FC236}">
                    <a16:creationId xmlns:a16="http://schemas.microsoft.com/office/drawing/2014/main" id="{126E57BF-3965-F6E7-F337-3FBE2D468A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88"/>
                <a:ext cx="230" cy="23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48" name="Text Box 692">
                <a:extLst>
                  <a:ext uri="{FF2B5EF4-FFF2-40B4-BE49-F238E27FC236}">
                    <a16:creationId xmlns:a16="http://schemas.microsoft.com/office/drawing/2014/main" id="{D9A08515-5F5B-03C0-4637-5EB5F77A06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8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49" name="Group 693">
              <a:extLst>
                <a:ext uri="{FF2B5EF4-FFF2-40B4-BE49-F238E27FC236}">
                  <a16:creationId xmlns:a16="http://schemas.microsoft.com/office/drawing/2014/main" id="{1567613A-36D0-173B-22E0-C6E19AA68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152"/>
              <a:ext cx="240" cy="250"/>
              <a:chOff x="1344" y="288"/>
              <a:chExt cx="240" cy="250"/>
            </a:xfrm>
          </p:grpSpPr>
          <p:sp>
            <p:nvSpPr>
              <p:cNvPr id="20150" name="Oval 694">
                <a:extLst>
                  <a:ext uri="{FF2B5EF4-FFF2-40B4-BE49-F238E27FC236}">
                    <a16:creationId xmlns:a16="http://schemas.microsoft.com/office/drawing/2014/main" id="{50A18EB3-D59B-C11A-B04A-C3336D6E0D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88"/>
                <a:ext cx="230" cy="23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51" name="Text Box 695">
                <a:extLst>
                  <a:ext uri="{FF2B5EF4-FFF2-40B4-BE49-F238E27FC236}">
                    <a16:creationId xmlns:a16="http://schemas.microsoft.com/office/drawing/2014/main" id="{8568CF73-7A83-D20A-DAA1-CE4B5EB02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8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52" name="Group 696">
              <a:extLst>
                <a:ext uri="{FF2B5EF4-FFF2-40B4-BE49-F238E27FC236}">
                  <a16:creationId xmlns:a16="http://schemas.microsoft.com/office/drawing/2014/main" id="{36E9277D-DE2E-7A87-7829-A00C8035F8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1440"/>
              <a:ext cx="240" cy="250"/>
              <a:chOff x="1344" y="288"/>
              <a:chExt cx="240" cy="250"/>
            </a:xfrm>
          </p:grpSpPr>
          <p:sp>
            <p:nvSpPr>
              <p:cNvPr id="20153" name="Oval 697">
                <a:extLst>
                  <a:ext uri="{FF2B5EF4-FFF2-40B4-BE49-F238E27FC236}">
                    <a16:creationId xmlns:a16="http://schemas.microsoft.com/office/drawing/2014/main" id="{5A8D97BF-D069-CA52-637B-FB4776ACF0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88"/>
                <a:ext cx="230" cy="23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54" name="Text Box 698">
                <a:extLst>
                  <a:ext uri="{FF2B5EF4-FFF2-40B4-BE49-F238E27FC236}">
                    <a16:creationId xmlns:a16="http://schemas.microsoft.com/office/drawing/2014/main" id="{FACC06F5-C769-9F7D-E59A-DDB2D3AB05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8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55" name="Group 699">
              <a:extLst>
                <a:ext uri="{FF2B5EF4-FFF2-40B4-BE49-F238E27FC236}">
                  <a16:creationId xmlns:a16="http://schemas.microsoft.com/office/drawing/2014/main" id="{675B9B44-CED9-0FFD-98A7-176C30FC4A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864"/>
              <a:ext cx="240" cy="250"/>
              <a:chOff x="1344" y="288"/>
              <a:chExt cx="240" cy="250"/>
            </a:xfrm>
          </p:grpSpPr>
          <p:sp>
            <p:nvSpPr>
              <p:cNvPr id="20156" name="Oval 700">
                <a:extLst>
                  <a:ext uri="{FF2B5EF4-FFF2-40B4-BE49-F238E27FC236}">
                    <a16:creationId xmlns:a16="http://schemas.microsoft.com/office/drawing/2014/main" id="{91259ECF-2AC5-7F73-AACE-04FCF3D357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44" y="288"/>
                <a:ext cx="230" cy="23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57" name="Text Box 701">
                <a:extLst>
                  <a:ext uri="{FF2B5EF4-FFF2-40B4-BE49-F238E27FC236}">
                    <a16:creationId xmlns:a16="http://schemas.microsoft.com/office/drawing/2014/main" id="{7DAA66AA-E1F9-B9CF-A7A5-7B26AD4FB1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288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58" name="Group 702">
              <a:extLst>
                <a:ext uri="{FF2B5EF4-FFF2-40B4-BE49-F238E27FC236}">
                  <a16:creationId xmlns:a16="http://schemas.microsoft.com/office/drawing/2014/main" id="{3F86CECE-357A-AD14-6D63-71E5477412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912"/>
              <a:ext cx="240" cy="250"/>
              <a:chOff x="4656" y="240"/>
              <a:chExt cx="240" cy="250"/>
            </a:xfrm>
          </p:grpSpPr>
          <p:sp>
            <p:nvSpPr>
              <p:cNvPr id="20159" name="Oval 703">
                <a:extLst>
                  <a:ext uri="{FF2B5EF4-FFF2-40B4-BE49-F238E27FC236}">
                    <a16:creationId xmlns:a16="http://schemas.microsoft.com/office/drawing/2014/main" id="{DFD87C6F-A34A-31BC-494B-0117D646E3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56" y="240"/>
                <a:ext cx="230" cy="230"/>
              </a:xfrm>
              <a:prstGeom prst="ellipse">
                <a:avLst/>
              </a:prstGeom>
              <a:solidFill>
                <a:srgbClr val="008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60" name="Text Box 704">
                <a:extLst>
                  <a:ext uri="{FF2B5EF4-FFF2-40B4-BE49-F238E27FC236}">
                    <a16:creationId xmlns:a16="http://schemas.microsoft.com/office/drawing/2014/main" id="{9A9088EF-DDC4-7F2D-A67D-BD0EB4ADA4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73" name="Group 717">
              <a:extLst>
                <a:ext uri="{FF2B5EF4-FFF2-40B4-BE49-F238E27FC236}">
                  <a16:creationId xmlns:a16="http://schemas.microsoft.com/office/drawing/2014/main" id="{8C8BCDF3-0E12-2281-5BF3-A2EA95501E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152"/>
              <a:ext cx="240" cy="250"/>
              <a:chOff x="5280" y="240"/>
              <a:chExt cx="240" cy="250"/>
            </a:xfrm>
          </p:grpSpPr>
          <p:sp>
            <p:nvSpPr>
              <p:cNvPr id="20174" name="Oval 718">
                <a:extLst>
                  <a:ext uri="{FF2B5EF4-FFF2-40B4-BE49-F238E27FC236}">
                    <a16:creationId xmlns:a16="http://schemas.microsoft.com/office/drawing/2014/main" id="{3AB6EB11-7821-6C87-4B07-F47D5B67C6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80" y="240"/>
                <a:ext cx="230" cy="23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75" name="Text Box 719">
                <a:extLst>
                  <a:ext uri="{FF2B5EF4-FFF2-40B4-BE49-F238E27FC236}">
                    <a16:creationId xmlns:a16="http://schemas.microsoft.com/office/drawing/2014/main" id="{E34CAFEC-2C5F-F963-5265-D55FF6C1C3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76" name="Group 720">
              <a:extLst>
                <a:ext uri="{FF2B5EF4-FFF2-40B4-BE49-F238E27FC236}">
                  <a16:creationId xmlns:a16="http://schemas.microsoft.com/office/drawing/2014/main" id="{3E081DD6-2807-0EBB-D200-A6661C783F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440"/>
              <a:ext cx="240" cy="250"/>
              <a:chOff x="5280" y="240"/>
              <a:chExt cx="240" cy="250"/>
            </a:xfrm>
          </p:grpSpPr>
          <p:sp>
            <p:nvSpPr>
              <p:cNvPr id="20177" name="Oval 721">
                <a:extLst>
                  <a:ext uri="{FF2B5EF4-FFF2-40B4-BE49-F238E27FC236}">
                    <a16:creationId xmlns:a16="http://schemas.microsoft.com/office/drawing/2014/main" id="{2E2D316F-8D84-AB58-A37F-959FACCE62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80" y="240"/>
                <a:ext cx="230" cy="23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78" name="Text Box 722">
                <a:extLst>
                  <a:ext uri="{FF2B5EF4-FFF2-40B4-BE49-F238E27FC236}">
                    <a16:creationId xmlns:a16="http://schemas.microsoft.com/office/drawing/2014/main" id="{EAA31526-0C1D-4229-7918-BD0EABB24A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79" name="Group 723">
              <a:extLst>
                <a:ext uri="{FF2B5EF4-FFF2-40B4-BE49-F238E27FC236}">
                  <a16:creationId xmlns:a16="http://schemas.microsoft.com/office/drawing/2014/main" id="{78E16747-153A-9330-B0BD-51257B5EFB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912"/>
              <a:ext cx="240" cy="250"/>
              <a:chOff x="5280" y="240"/>
              <a:chExt cx="240" cy="250"/>
            </a:xfrm>
          </p:grpSpPr>
          <p:sp>
            <p:nvSpPr>
              <p:cNvPr id="20180" name="Oval 724">
                <a:extLst>
                  <a:ext uri="{FF2B5EF4-FFF2-40B4-BE49-F238E27FC236}">
                    <a16:creationId xmlns:a16="http://schemas.microsoft.com/office/drawing/2014/main" id="{DCE3D3E0-42AA-D2E7-7733-934EEC2203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80" y="240"/>
                <a:ext cx="230" cy="23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81" name="Text Box 725">
                <a:extLst>
                  <a:ext uri="{FF2B5EF4-FFF2-40B4-BE49-F238E27FC236}">
                    <a16:creationId xmlns:a16="http://schemas.microsoft.com/office/drawing/2014/main" id="{26D35A30-2D92-876F-EB42-098B0B66C3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82" name="Group 726">
              <a:extLst>
                <a:ext uri="{FF2B5EF4-FFF2-40B4-BE49-F238E27FC236}">
                  <a16:creationId xmlns:a16="http://schemas.microsoft.com/office/drawing/2014/main" id="{F0A48076-0328-96F2-37C6-EB37518C1F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854"/>
              <a:ext cx="240" cy="250"/>
              <a:chOff x="5280" y="240"/>
              <a:chExt cx="240" cy="250"/>
            </a:xfrm>
          </p:grpSpPr>
          <p:sp>
            <p:nvSpPr>
              <p:cNvPr id="20183" name="Oval 727">
                <a:extLst>
                  <a:ext uri="{FF2B5EF4-FFF2-40B4-BE49-F238E27FC236}">
                    <a16:creationId xmlns:a16="http://schemas.microsoft.com/office/drawing/2014/main" id="{BB3263B5-1627-CEEB-24E3-E73881E144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280" y="240"/>
                <a:ext cx="230" cy="23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84" name="Text Box 728">
                <a:extLst>
                  <a:ext uri="{FF2B5EF4-FFF2-40B4-BE49-F238E27FC236}">
                    <a16:creationId xmlns:a16="http://schemas.microsoft.com/office/drawing/2014/main" id="{200F40E7-EE92-4687-B830-891FF74B8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0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85" name="Group 729">
              <a:extLst>
                <a:ext uri="{FF2B5EF4-FFF2-40B4-BE49-F238E27FC236}">
                  <a16:creationId xmlns:a16="http://schemas.microsoft.com/office/drawing/2014/main" id="{8DE647FC-B8D4-7CF4-EEF5-DC39241659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912"/>
              <a:ext cx="240" cy="250"/>
              <a:chOff x="4992" y="240"/>
              <a:chExt cx="240" cy="250"/>
            </a:xfrm>
          </p:grpSpPr>
          <p:sp>
            <p:nvSpPr>
              <p:cNvPr id="20186" name="Oval 730">
                <a:extLst>
                  <a:ext uri="{FF2B5EF4-FFF2-40B4-BE49-F238E27FC236}">
                    <a16:creationId xmlns:a16="http://schemas.microsoft.com/office/drawing/2014/main" id="{66A44A43-35D1-8240-EB1A-1327027BA4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92" y="240"/>
                <a:ext cx="230" cy="230"/>
              </a:xfrm>
              <a:prstGeom prst="ellipse">
                <a:avLst/>
              </a:prstGeom>
              <a:solidFill>
                <a:srgbClr val="FF66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87" name="Text Box 731">
                <a:extLst>
                  <a:ext uri="{FF2B5EF4-FFF2-40B4-BE49-F238E27FC236}">
                    <a16:creationId xmlns:a16="http://schemas.microsoft.com/office/drawing/2014/main" id="{5E43CA52-53A6-8D81-D8AA-AAF316E34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88" name="Group 732">
              <a:extLst>
                <a:ext uri="{FF2B5EF4-FFF2-40B4-BE49-F238E27FC236}">
                  <a16:creationId xmlns:a16="http://schemas.microsoft.com/office/drawing/2014/main" id="{7A185012-2D18-E21B-5A15-E20D1922EF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1200"/>
              <a:ext cx="240" cy="250"/>
              <a:chOff x="4992" y="240"/>
              <a:chExt cx="240" cy="250"/>
            </a:xfrm>
          </p:grpSpPr>
          <p:sp>
            <p:nvSpPr>
              <p:cNvPr id="20189" name="Oval 733">
                <a:extLst>
                  <a:ext uri="{FF2B5EF4-FFF2-40B4-BE49-F238E27FC236}">
                    <a16:creationId xmlns:a16="http://schemas.microsoft.com/office/drawing/2014/main" id="{E6B15777-E7B8-8961-D5D1-138DBC3EDD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92" y="240"/>
                <a:ext cx="230" cy="230"/>
              </a:xfrm>
              <a:prstGeom prst="ellipse">
                <a:avLst/>
              </a:prstGeom>
              <a:solidFill>
                <a:srgbClr val="FF66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90" name="Text Box 734">
                <a:extLst>
                  <a:ext uri="{FF2B5EF4-FFF2-40B4-BE49-F238E27FC236}">
                    <a16:creationId xmlns:a16="http://schemas.microsoft.com/office/drawing/2014/main" id="{A4B538E8-6D00-4217-6B7C-DFDED0861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91" name="Group 735">
              <a:extLst>
                <a:ext uri="{FF2B5EF4-FFF2-40B4-BE49-F238E27FC236}">
                  <a16:creationId xmlns:a16="http://schemas.microsoft.com/office/drawing/2014/main" id="{B0AB6EBE-5BD2-2FE9-3EE5-2900B23608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864"/>
              <a:ext cx="240" cy="250"/>
              <a:chOff x="4992" y="240"/>
              <a:chExt cx="240" cy="250"/>
            </a:xfrm>
          </p:grpSpPr>
          <p:sp>
            <p:nvSpPr>
              <p:cNvPr id="20192" name="Oval 736">
                <a:extLst>
                  <a:ext uri="{FF2B5EF4-FFF2-40B4-BE49-F238E27FC236}">
                    <a16:creationId xmlns:a16="http://schemas.microsoft.com/office/drawing/2014/main" id="{B58C237F-FAA0-6A9B-C718-68DB8C3DD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92" y="240"/>
                <a:ext cx="230" cy="230"/>
              </a:xfrm>
              <a:prstGeom prst="ellipse">
                <a:avLst/>
              </a:prstGeom>
              <a:solidFill>
                <a:srgbClr val="FF66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93" name="Text Box 737">
                <a:extLst>
                  <a:ext uri="{FF2B5EF4-FFF2-40B4-BE49-F238E27FC236}">
                    <a16:creationId xmlns:a16="http://schemas.microsoft.com/office/drawing/2014/main" id="{4B3C6568-38B7-92AB-58D2-6D3917C0CC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94" name="Group 738">
              <a:extLst>
                <a:ext uri="{FF2B5EF4-FFF2-40B4-BE49-F238E27FC236}">
                  <a16:creationId xmlns:a16="http://schemas.microsoft.com/office/drawing/2014/main" id="{D59505F1-399C-2DBC-B8DA-4F8FBFC21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912"/>
              <a:ext cx="240" cy="250"/>
              <a:chOff x="3984" y="230"/>
              <a:chExt cx="240" cy="250"/>
            </a:xfrm>
          </p:grpSpPr>
          <p:sp>
            <p:nvSpPr>
              <p:cNvPr id="20195" name="Oval 739">
                <a:extLst>
                  <a:ext uri="{FF2B5EF4-FFF2-40B4-BE49-F238E27FC236}">
                    <a16:creationId xmlns:a16="http://schemas.microsoft.com/office/drawing/2014/main" id="{0A8D8EEE-ACAC-D07A-85E0-247FE2F551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96" name="Text Box 740">
                <a:extLst>
                  <a:ext uri="{FF2B5EF4-FFF2-40B4-BE49-F238E27FC236}">
                    <a16:creationId xmlns:a16="http://schemas.microsoft.com/office/drawing/2014/main" id="{1DEF2D83-8AEA-DB66-20A1-44AA76B0E1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197" name="Group 741">
              <a:extLst>
                <a:ext uri="{FF2B5EF4-FFF2-40B4-BE49-F238E27FC236}">
                  <a16:creationId xmlns:a16="http://schemas.microsoft.com/office/drawing/2014/main" id="{355E747C-AE10-4A21-9754-D2A6FF395C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200"/>
              <a:ext cx="240" cy="250"/>
              <a:chOff x="3984" y="230"/>
              <a:chExt cx="240" cy="250"/>
            </a:xfrm>
          </p:grpSpPr>
          <p:sp>
            <p:nvSpPr>
              <p:cNvPr id="20198" name="Oval 742">
                <a:extLst>
                  <a:ext uri="{FF2B5EF4-FFF2-40B4-BE49-F238E27FC236}">
                    <a16:creationId xmlns:a16="http://schemas.microsoft.com/office/drawing/2014/main" id="{B7C7F884-EFD6-B968-DF53-A9C79F1544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199" name="Text Box 743">
                <a:extLst>
                  <a:ext uri="{FF2B5EF4-FFF2-40B4-BE49-F238E27FC236}">
                    <a16:creationId xmlns:a16="http://schemas.microsoft.com/office/drawing/2014/main" id="{0F91F6A0-45E1-829F-ABC8-41AE5F1ADD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200" name="Group 744">
              <a:extLst>
                <a:ext uri="{FF2B5EF4-FFF2-40B4-BE49-F238E27FC236}">
                  <a16:creationId xmlns:a16="http://schemas.microsoft.com/office/drawing/2014/main" id="{A0BD6872-EDF9-BBD0-1DBC-C789A2A884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190"/>
              <a:ext cx="240" cy="250"/>
              <a:chOff x="3984" y="230"/>
              <a:chExt cx="240" cy="250"/>
            </a:xfrm>
          </p:grpSpPr>
          <p:sp>
            <p:nvSpPr>
              <p:cNvPr id="20201" name="Oval 745">
                <a:extLst>
                  <a:ext uri="{FF2B5EF4-FFF2-40B4-BE49-F238E27FC236}">
                    <a16:creationId xmlns:a16="http://schemas.microsoft.com/office/drawing/2014/main" id="{E780B2C7-C69C-C375-0DF2-680DB66AAE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202" name="Text Box 746">
                <a:extLst>
                  <a:ext uri="{FF2B5EF4-FFF2-40B4-BE49-F238E27FC236}">
                    <a16:creationId xmlns:a16="http://schemas.microsoft.com/office/drawing/2014/main" id="{D19C0A13-ED88-1A2F-5073-649F6C2F44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203" name="Group 747">
              <a:extLst>
                <a:ext uri="{FF2B5EF4-FFF2-40B4-BE49-F238E27FC236}">
                  <a16:creationId xmlns:a16="http://schemas.microsoft.com/office/drawing/2014/main" id="{19A8F648-ACC7-323F-4316-D40DF3F449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142"/>
              <a:ext cx="240" cy="250"/>
              <a:chOff x="3984" y="230"/>
              <a:chExt cx="240" cy="250"/>
            </a:xfrm>
          </p:grpSpPr>
          <p:sp>
            <p:nvSpPr>
              <p:cNvPr id="20204" name="Oval 748">
                <a:extLst>
                  <a:ext uri="{FF2B5EF4-FFF2-40B4-BE49-F238E27FC236}">
                    <a16:creationId xmlns:a16="http://schemas.microsoft.com/office/drawing/2014/main" id="{0B49DE37-6E4C-2D97-1B41-A9F510296F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205" name="Text Box 749">
                <a:extLst>
                  <a:ext uri="{FF2B5EF4-FFF2-40B4-BE49-F238E27FC236}">
                    <a16:creationId xmlns:a16="http://schemas.microsoft.com/office/drawing/2014/main" id="{0C11CF26-88B4-99A4-6745-A07ADF1D2B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206" name="Group 750">
              <a:extLst>
                <a:ext uri="{FF2B5EF4-FFF2-40B4-BE49-F238E27FC236}">
                  <a16:creationId xmlns:a16="http://schemas.microsoft.com/office/drawing/2014/main" id="{2D5DAA02-B08F-41BD-5865-53A6A00087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152"/>
              <a:ext cx="240" cy="250"/>
              <a:chOff x="3984" y="230"/>
              <a:chExt cx="240" cy="250"/>
            </a:xfrm>
          </p:grpSpPr>
          <p:sp>
            <p:nvSpPr>
              <p:cNvPr id="20207" name="Oval 751">
                <a:extLst>
                  <a:ext uri="{FF2B5EF4-FFF2-40B4-BE49-F238E27FC236}">
                    <a16:creationId xmlns:a16="http://schemas.microsoft.com/office/drawing/2014/main" id="{AEC8B513-A090-5612-DB6D-33494A7B5E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208" name="Text Box 752">
                <a:extLst>
                  <a:ext uri="{FF2B5EF4-FFF2-40B4-BE49-F238E27FC236}">
                    <a16:creationId xmlns:a16="http://schemas.microsoft.com/office/drawing/2014/main" id="{B4F5824C-94DF-E70D-D645-4A9AB29E1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209" name="Group 753">
              <a:extLst>
                <a:ext uri="{FF2B5EF4-FFF2-40B4-BE49-F238E27FC236}">
                  <a16:creationId xmlns:a16="http://schemas.microsoft.com/office/drawing/2014/main" id="{3DDBFDA9-8ED4-A106-F5A1-6906AA7AB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1440"/>
              <a:ext cx="240" cy="250"/>
              <a:chOff x="3984" y="230"/>
              <a:chExt cx="240" cy="250"/>
            </a:xfrm>
          </p:grpSpPr>
          <p:sp>
            <p:nvSpPr>
              <p:cNvPr id="20210" name="Oval 754">
                <a:extLst>
                  <a:ext uri="{FF2B5EF4-FFF2-40B4-BE49-F238E27FC236}">
                    <a16:creationId xmlns:a16="http://schemas.microsoft.com/office/drawing/2014/main" id="{35435458-9137-E08F-470A-980990C19D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211" name="Text Box 755">
                <a:extLst>
                  <a:ext uri="{FF2B5EF4-FFF2-40B4-BE49-F238E27FC236}">
                    <a16:creationId xmlns:a16="http://schemas.microsoft.com/office/drawing/2014/main" id="{032B2977-6557-F68E-E2F4-5377451BC9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212" name="Group 756">
              <a:extLst>
                <a:ext uri="{FF2B5EF4-FFF2-40B4-BE49-F238E27FC236}">
                  <a16:creationId xmlns:a16="http://schemas.microsoft.com/office/drawing/2014/main" id="{933CBA5E-83E3-ED2E-7F29-0E042FD6CE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430"/>
              <a:ext cx="240" cy="250"/>
              <a:chOff x="3984" y="230"/>
              <a:chExt cx="240" cy="250"/>
            </a:xfrm>
          </p:grpSpPr>
          <p:sp>
            <p:nvSpPr>
              <p:cNvPr id="20213" name="Oval 757">
                <a:extLst>
                  <a:ext uri="{FF2B5EF4-FFF2-40B4-BE49-F238E27FC236}">
                    <a16:creationId xmlns:a16="http://schemas.microsoft.com/office/drawing/2014/main" id="{EE2BCC52-E141-4ED1-FA64-B3C97AB7C1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214" name="Text Box 758">
                <a:extLst>
                  <a:ext uri="{FF2B5EF4-FFF2-40B4-BE49-F238E27FC236}">
                    <a16:creationId xmlns:a16="http://schemas.microsoft.com/office/drawing/2014/main" id="{183FC3B6-2843-55F6-E26B-1D59E3A879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215" name="Group 759">
              <a:extLst>
                <a:ext uri="{FF2B5EF4-FFF2-40B4-BE49-F238E27FC236}">
                  <a16:creationId xmlns:a16="http://schemas.microsoft.com/office/drawing/2014/main" id="{056525DC-40AD-D876-B545-E13729B1A8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440"/>
              <a:ext cx="240" cy="250"/>
              <a:chOff x="3984" y="230"/>
              <a:chExt cx="240" cy="250"/>
            </a:xfrm>
          </p:grpSpPr>
          <p:sp>
            <p:nvSpPr>
              <p:cNvPr id="20216" name="Oval 760">
                <a:extLst>
                  <a:ext uri="{FF2B5EF4-FFF2-40B4-BE49-F238E27FC236}">
                    <a16:creationId xmlns:a16="http://schemas.microsoft.com/office/drawing/2014/main" id="{56595E78-0628-3BD3-0441-BF6CF48467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4" y="240"/>
                <a:ext cx="230" cy="230"/>
              </a:xfrm>
              <a:prstGeom prst="ellipse">
                <a:avLst/>
              </a:prstGeom>
              <a:solidFill>
                <a:srgbClr val="80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0217" name="Text Box 761">
                <a:extLst>
                  <a:ext uri="{FF2B5EF4-FFF2-40B4-BE49-F238E27FC236}">
                    <a16:creationId xmlns:a16="http://schemas.microsoft.com/office/drawing/2014/main" id="{ECBD50DA-1CDC-BBCE-8678-9FAEB879AE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3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20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</p:grpSp>
      <p:grpSp>
        <p:nvGrpSpPr>
          <p:cNvPr id="20221" name="Group 765">
            <a:extLst>
              <a:ext uri="{FF2B5EF4-FFF2-40B4-BE49-F238E27FC236}">
                <a16:creationId xmlns:a16="http://schemas.microsoft.com/office/drawing/2014/main" id="{EA858034-3B20-33AE-590F-52FFEBDC218C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5562601"/>
            <a:ext cx="292100" cy="366713"/>
            <a:chOff x="1248" y="192"/>
            <a:chExt cx="184" cy="231"/>
          </a:xfrm>
        </p:grpSpPr>
        <p:sp>
          <p:nvSpPr>
            <p:cNvPr id="20121" name="Oval 665">
              <a:extLst>
                <a:ext uri="{FF2B5EF4-FFF2-40B4-BE49-F238E27FC236}">
                  <a16:creationId xmlns:a16="http://schemas.microsoft.com/office/drawing/2014/main" id="{9858A82D-34C6-0CA6-CCEE-BE062A283B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129" name="Text Box 673">
              <a:extLst>
                <a:ext uri="{FF2B5EF4-FFF2-40B4-BE49-F238E27FC236}">
                  <a16:creationId xmlns:a16="http://schemas.microsoft.com/office/drawing/2014/main" id="{C86EC69F-BE28-2ED3-1D0A-05A629537A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23" name="Group 767">
            <a:extLst>
              <a:ext uri="{FF2B5EF4-FFF2-40B4-BE49-F238E27FC236}">
                <a16:creationId xmlns:a16="http://schemas.microsoft.com/office/drawing/2014/main" id="{935EE386-7E6B-868B-DF5E-4DE10A91D2ED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6019801"/>
            <a:ext cx="292100" cy="366713"/>
            <a:chOff x="5280" y="249"/>
            <a:chExt cx="184" cy="231"/>
          </a:xfrm>
        </p:grpSpPr>
        <p:sp>
          <p:nvSpPr>
            <p:cNvPr id="20122" name="Oval 666">
              <a:extLst>
                <a:ext uri="{FF2B5EF4-FFF2-40B4-BE49-F238E27FC236}">
                  <a16:creationId xmlns:a16="http://schemas.microsoft.com/office/drawing/2014/main" id="{B5908827-98D1-3BA2-BCB7-01CFFC0EF9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0" y="249"/>
              <a:ext cx="176" cy="17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135" name="Text Box 679">
              <a:extLst>
                <a:ext uri="{FF2B5EF4-FFF2-40B4-BE49-F238E27FC236}">
                  <a16:creationId xmlns:a16="http://schemas.microsoft.com/office/drawing/2014/main" id="{A244F873-0335-8E83-AE2E-748C381B816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80" y="249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19" name="Group 763">
            <a:extLst>
              <a:ext uri="{FF2B5EF4-FFF2-40B4-BE49-F238E27FC236}">
                <a16:creationId xmlns:a16="http://schemas.microsoft.com/office/drawing/2014/main" id="{CC01FE83-B405-806D-046B-56915D82B21A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5105401"/>
            <a:ext cx="355600" cy="366713"/>
            <a:chOff x="576" y="192"/>
            <a:chExt cx="224" cy="231"/>
          </a:xfrm>
        </p:grpSpPr>
        <p:sp>
          <p:nvSpPr>
            <p:cNvPr id="20123" name="Oval 667">
              <a:extLst>
                <a:ext uri="{FF2B5EF4-FFF2-40B4-BE49-F238E27FC236}">
                  <a16:creationId xmlns:a16="http://schemas.microsoft.com/office/drawing/2014/main" id="{60A8C68F-9785-935B-463D-FFDA2AD5C7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240"/>
              <a:ext cx="176" cy="176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136" name="Text Box 680">
              <a:extLst>
                <a:ext uri="{FF2B5EF4-FFF2-40B4-BE49-F238E27FC236}">
                  <a16:creationId xmlns:a16="http://schemas.microsoft.com/office/drawing/2014/main" id="{808AE7FE-8E7A-A675-FBAF-D6F00DDFBDD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6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22" name="Group 766">
            <a:extLst>
              <a:ext uri="{FF2B5EF4-FFF2-40B4-BE49-F238E27FC236}">
                <a16:creationId xmlns:a16="http://schemas.microsoft.com/office/drawing/2014/main" id="{4F1BCEF2-4165-C0B0-4D2C-54D2F677C26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724401"/>
            <a:ext cx="292100" cy="366713"/>
            <a:chOff x="4944" y="192"/>
            <a:chExt cx="184" cy="231"/>
          </a:xfrm>
        </p:grpSpPr>
        <p:sp>
          <p:nvSpPr>
            <p:cNvPr id="20162" name="Oval 706">
              <a:extLst>
                <a:ext uri="{FF2B5EF4-FFF2-40B4-BE49-F238E27FC236}">
                  <a16:creationId xmlns:a16="http://schemas.microsoft.com/office/drawing/2014/main" id="{AC6A3083-3CE8-4384-7916-35596DC3BF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" y="240"/>
              <a:ext cx="176" cy="176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163" name="Text Box 707">
              <a:extLst>
                <a:ext uri="{FF2B5EF4-FFF2-40B4-BE49-F238E27FC236}">
                  <a16:creationId xmlns:a16="http://schemas.microsoft.com/office/drawing/2014/main" id="{0851E004-C9BC-7F54-0EAD-5B6E113B7AC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44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20" name="Group 764">
            <a:extLst>
              <a:ext uri="{FF2B5EF4-FFF2-40B4-BE49-F238E27FC236}">
                <a16:creationId xmlns:a16="http://schemas.microsoft.com/office/drawing/2014/main" id="{8B10BEDC-BD1B-0A30-ED52-7A9E89873C37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962401"/>
            <a:ext cx="304800" cy="366713"/>
            <a:chOff x="1776" y="144"/>
            <a:chExt cx="192" cy="231"/>
          </a:xfrm>
        </p:grpSpPr>
        <p:sp>
          <p:nvSpPr>
            <p:cNvPr id="20168" name="Oval 712">
              <a:extLst>
                <a:ext uri="{FF2B5EF4-FFF2-40B4-BE49-F238E27FC236}">
                  <a16:creationId xmlns:a16="http://schemas.microsoft.com/office/drawing/2014/main" id="{0B36042D-6129-B3AA-B36A-7616C93DE7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169" name="Text Box 713">
              <a:extLst>
                <a:ext uri="{FF2B5EF4-FFF2-40B4-BE49-F238E27FC236}">
                  <a16:creationId xmlns:a16="http://schemas.microsoft.com/office/drawing/2014/main" id="{AFA4EDD1-1554-C8C0-D76B-3CC842D030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dirty="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24" name="Group 768">
            <a:extLst>
              <a:ext uri="{FF2B5EF4-FFF2-40B4-BE49-F238E27FC236}">
                <a16:creationId xmlns:a16="http://schemas.microsoft.com/office/drawing/2014/main" id="{5E1C15FD-6D70-7C1D-D998-688EAD7DCF1E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4343401"/>
            <a:ext cx="292100" cy="366713"/>
            <a:chOff x="5328" y="576"/>
            <a:chExt cx="184" cy="231"/>
          </a:xfrm>
        </p:grpSpPr>
        <p:sp>
          <p:nvSpPr>
            <p:cNvPr id="20171" name="Oval 715">
              <a:extLst>
                <a:ext uri="{FF2B5EF4-FFF2-40B4-BE49-F238E27FC236}">
                  <a16:creationId xmlns:a16="http://schemas.microsoft.com/office/drawing/2014/main" id="{37ECE4DC-5BFB-DC67-7DEF-19EE5AC37C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172" name="Text Box 716">
              <a:extLst>
                <a:ext uri="{FF2B5EF4-FFF2-40B4-BE49-F238E27FC236}">
                  <a16:creationId xmlns:a16="http://schemas.microsoft.com/office/drawing/2014/main" id="{2C8B5D61-A958-7D65-C4CA-3DE5C74FAEA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25" name="Group 769">
            <a:extLst>
              <a:ext uri="{FF2B5EF4-FFF2-40B4-BE49-F238E27FC236}">
                <a16:creationId xmlns:a16="http://schemas.microsoft.com/office/drawing/2014/main" id="{3FBE1205-850A-2CE9-27AE-F516040A164E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962401"/>
            <a:ext cx="304800" cy="366713"/>
            <a:chOff x="1776" y="144"/>
            <a:chExt cx="192" cy="231"/>
          </a:xfrm>
        </p:grpSpPr>
        <p:sp>
          <p:nvSpPr>
            <p:cNvPr id="20226" name="Oval 770">
              <a:extLst>
                <a:ext uri="{FF2B5EF4-FFF2-40B4-BE49-F238E27FC236}">
                  <a16:creationId xmlns:a16="http://schemas.microsoft.com/office/drawing/2014/main" id="{37D932B4-49D3-0D30-86BD-93AC5AADAD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27" name="Text Box 771">
              <a:extLst>
                <a:ext uri="{FF2B5EF4-FFF2-40B4-BE49-F238E27FC236}">
                  <a16:creationId xmlns:a16="http://schemas.microsoft.com/office/drawing/2014/main" id="{79E6B01B-5292-6487-5A48-9677133D2C6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28" name="Group 772">
            <a:extLst>
              <a:ext uri="{FF2B5EF4-FFF2-40B4-BE49-F238E27FC236}">
                <a16:creationId xmlns:a16="http://schemas.microsoft.com/office/drawing/2014/main" id="{0B2EBC6C-854D-EAF6-8162-FE962AFCB818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962401"/>
            <a:ext cx="304800" cy="366713"/>
            <a:chOff x="1776" y="144"/>
            <a:chExt cx="192" cy="231"/>
          </a:xfrm>
        </p:grpSpPr>
        <p:sp>
          <p:nvSpPr>
            <p:cNvPr id="20229" name="Oval 773">
              <a:extLst>
                <a:ext uri="{FF2B5EF4-FFF2-40B4-BE49-F238E27FC236}">
                  <a16:creationId xmlns:a16="http://schemas.microsoft.com/office/drawing/2014/main" id="{F780C15E-2478-6EC8-7CB5-699660B44E5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30" name="Text Box 774">
              <a:extLst>
                <a:ext uri="{FF2B5EF4-FFF2-40B4-BE49-F238E27FC236}">
                  <a16:creationId xmlns:a16="http://schemas.microsoft.com/office/drawing/2014/main" id="{D4B09EAF-43D7-01D4-A1BF-394C87D462E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dirty="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31" name="Group 775">
            <a:extLst>
              <a:ext uri="{FF2B5EF4-FFF2-40B4-BE49-F238E27FC236}">
                <a16:creationId xmlns:a16="http://schemas.microsoft.com/office/drawing/2014/main" id="{6AE4B8A0-4FD4-C988-A8C7-7BEBC089FA3A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962401"/>
            <a:ext cx="304800" cy="366713"/>
            <a:chOff x="1776" y="144"/>
            <a:chExt cx="192" cy="231"/>
          </a:xfrm>
        </p:grpSpPr>
        <p:sp>
          <p:nvSpPr>
            <p:cNvPr id="20232" name="Oval 776">
              <a:extLst>
                <a:ext uri="{FF2B5EF4-FFF2-40B4-BE49-F238E27FC236}">
                  <a16:creationId xmlns:a16="http://schemas.microsoft.com/office/drawing/2014/main" id="{88850C3E-0964-418C-659D-0ACEF8093B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33" name="Text Box 777">
              <a:extLst>
                <a:ext uri="{FF2B5EF4-FFF2-40B4-BE49-F238E27FC236}">
                  <a16:creationId xmlns:a16="http://schemas.microsoft.com/office/drawing/2014/main" id="{1596616E-D439-E576-4E3C-2DE65CCB6B0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34" name="Group 778">
            <a:extLst>
              <a:ext uri="{FF2B5EF4-FFF2-40B4-BE49-F238E27FC236}">
                <a16:creationId xmlns:a16="http://schemas.microsoft.com/office/drawing/2014/main" id="{09FA1D40-2A42-592A-C185-46DC2284BB72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962401"/>
            <a:ext cx="304800" cy="366713"/>
            <a:chOff x="1776" y="144"/>
            <a:chExt cx="192" cy="231"/>
          </a:xfrm>
        </p:grpSpPr>
        <p:sp>
          <p:nvSpPr>
            <p:cNvPr id="20235" name="Oval 779">
              <a:extLst>
                <a:ext uri="{FF2B5EF4-FFF2-40B4-BE49-F238E27FC236}">
                  <a16:creationId xmlns:a16="http://schemas.microsoft.com/office/drawing/2014/main" id="{43424BFD-46A4-4E54-0566-72EDFAE4C6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36" name="Text Box 780">
              <a:extLst>
                <a:ext uri="{FF2B5EF4-FFF2-40B4-BE49-F238E27FC236}">
                  <a16:creationId xmlns:a16="http://schemas.microsoft.com/office/drawing/2014/main" id="{02081E87-526B-06E6-FC63-11BB0DB725B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37" name="Group 781">
            <a:extLst>
              <a:ext uri="{FF2B5EF4-FFF2-40B4-BE49-F238E27FC236}">
                <a16:creationId xmlns:a16="http://schemas.microsoft.com/office/drawing/2014/main" id="{54073051-721C-7A1C-3502-A974ACB46204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343401"/>
            <a:ext cx="292100" cy="366713"/>
            <a:chOff x="5328" y="576"/>
            <a:chExt cx="184" cy="231"/>
          </a:xfrm>
        </p:grpSpPr>
        <p:sp>
          <p:nvSpPr>
            <p:cNvPr id="20238" name="Oval 782">
              <a:extLst>
                <a:ext uri="{FF2B5EF4-FFF2-40B4-BE49-F238E27FC236}">
                  <a16:creationId xmlns:a16="http://schemas.microsoft.com/office/drawing/2014/main" id="{8DA95660-50B6-F759-FBE6-1D0419E7D6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39" name="Text Box 783">
              <a:extLst>
                <a:ext uri="{FF2B5EF4-FFF2-40B4-BE49-F238E27FC236}">
                  <a16:creationId xmlns:a16="http://schemas.microsoft.com/office/drawing/2014/main" id="{A0A61BDA-38FC-F0A3-BF31-D246379694E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40" name="Group 784">
            <a:extLst>
              <a:ext uri="{FF2B5EF4-FFF2-40B4-BE49-F238E27FC236}">
                <a16:creationId xmlns:a16="http://schemas.microsoft.com/office/drawing/2014/main" id="{F82B9823-7701-D5C6-2671-E34EB753A014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343401"/>
            <a:ext cx="292100" cy="366713"/>
            <a:chOff x="5328" y="576"/>
            <a:chExt cx="184" cy="231"/>
          </a:xfrm>
        </p:grpSpPr>
        <p:sp>
          <p:nvSpPr>
            <p:cNvPr id="20241" name="Oval 785">
              <a:extLst>
                <a:ext uri="{FF2B5EF4-FFF2-40B4-BE49-F238E27FC236}">
                  <a16:creationId xmlns:a16="http://schemas.microsoft.com/office/drawing/2014/main" id="{8D0CDB67-91C8-3EE5-0BC7-EB9C15BABD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42" name="Text Box 786">
              <a:extLst>
                <a:ext uri="{FF2B5EF4-FFF2-40B4-BE49-F238E27FC236}">
                  <a16:creationId xmlns:a16="http://schemas.microsoft.com/office/drawing/2014/main" id="{BEFD7964-0AC5-BA62-BC3D-4966BFA5CA0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43" name="Group 787">
            <a:extLst>
              <a:ext uri="{FF2B5EF4-FFF2-40B4-BE49-F238E27FC236}">
                <a16:creationId xmlns:a16="http://schemas.microsoft.com/office/drawing/2014/main" id="{55AFAD73-EC8D-C453-AC7D-6BB44DA37B92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724401"/>
            <a:ext cx="292100" cy="366713"/>
            <a:chOff x="4944" y="192"/>
            <a:chExt cx="184" cy="231"/>
          </a:xfrm>
        </p:grpSpPr>
        <p:sp>
          <p:nvSpPr>
            <p:cNvPr id="20244" name="Oval 788">
              <a:extLst>
                <a:ext uri="{FF2B5EF4-FFF2-40B4-BE49-F238E27FC236}">
                  <a16:creationId xmlns:a16="http://schemas.microsoft.com/office/drawing/2014/main" id="{4C65D192-D06C-6325-E9DD-E1E06962C0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" y="240"/>
              <a:ext cx="176" cy="176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45" name="Text Box 789">
              <a:extLst>
                <a:ext uri="{FF2B5EF4-FFF2-40B4-BE49-F238E27FC236}">
                  <a16:creationId xmlns:a16="http://schemas.microsoft.com/office/drawing/2014/main" id="{B4F06FDF-E89F-1F06-0D35-E1511AEC579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44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46" name="Group 790">
            <a:extLst>
              <a:ext uri="{FF2B5EF4-FFF2-40B4-BE49-F238E27FC236}">
                <a16:creationId xmlns:a16="http://schemas.microsoft.com/office/drawing/2014/main" id="{495FE446-B797-0A1E-EC0F-306CD5745698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5105401"/>
            <a:ext cx="355600" cy="366713"/>
            <a:chOff x="576" y="192"/>
            <a:chExt cx="224" cy="231"/>
          </a:xfrm>
        </p:grpSpPr>
        <p:sp>
          <p:nvSpPr>
            <p:cNvPr id="20247" name="Oval 791">
              <a:extLst>
                <a:ext uri="{FF2B5EF4-FFF2-40B4-BE49-F238E27FC236}">
                  <a16:creationId xmlns:a16="http://schemas.microsoft.com/office/drawing/2014/main" id="{D77D1157-F751-908F-4976-ED53552BC2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240"/>
              <a:ext cx="176" cy="176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48" name="Text Box 792">
              <a:extLst>
                <a:ext uri="{FF2B5EF4-FFF2-40B4-BE49-F238E27FC236}">
                  <a16:creationId xmlns:a16="http://schemas.microsoft.com/office/drawing/2014/main" id="{74546263-C9D9-CC75-D520-107B1BA8518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6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49" name="Group 793">
            <a:extLst>
              <a:ext uri="{FF2B5EF4-FFF2-40B4-BE49-F238E27FC236}">
                <a16:creationId xmlns:a16="http://schemas.microsoft.com/office/drawing/2014/main" id="{635E3B50-48DE-80DF-FBDD-53E5C86F56BD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5105401"/>
            <a:ext cx="355600" cy="366713"/>
            <a:chOff x="576" y="192"/>
            <a:chExt cx="224" cy="231"/>
          </a:xfrm>
        </p:grpSpPr>
        <p:sp>
          <p:nvSpPr>
            <p:cNvPr id="20250" name="Oval 794">
              <a:extLst>
                <a:ext uri="{FF2B5EF4-FFF2-40B4-BE49-F238E27FC236}">
                  <a16:creationId xmlns:a16="http://schemas.microsoft.com/office/drawing/2014/main" id="{65E48781-561C-B8B9-E175-F519E8143E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240"/>
              <a:ext cx="176" cy="176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51" name="Text Box 795">
              <a:extLst>
                <a:ext uri="{FF2B5EF4-FFF2-40B4-BE49-F238E27FC236}">
                  <a16:creationId xmlns:a16="http://schemas.microsoft.com/office/drawing/2014/main" id="{FD8EF97C-B7B9-E081-28B3-BC8BD2BEED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6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52" name="Group 796">
            <a:extLst>
              <a:ext uri="{FF2B5EF4-FFF2-40B4-BE49-F238E27FC236}">
                <a16:creationId xmlns:a16="http://schemas.microsoft.com/office/drawing/2014/main" id="{C174CF7C-0F07-742F-968A-FBC96FDC592A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5562601"/>
            <a:ext cx="292100" cy="366713"/>
            <a:chOff x="1248" y="192"/>
            <a:chExt cx="184" cy="231"/>
          </a:xfrm>
        </p:grpSpPr>
        <p:sp>
          <p:nvSpPr>
            <p:cNvPr id="20253" name="Oval 797">
              <a:extLst>
                <a:ext uri="{FF2B5EF4-FFF2-40B4-BE49-F238E27FC236}">
                  <a16:creationId xmlns:a16="http://schemas.microsoft.com/office/drawing/2014/main" id="{6CB694CC-F6C9-6F5F-C2EE-A35BCFD8A5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54" name="Text Box 798">
              <a:extLst>
                <a:ext uri="{FF2B5EF4-FFF2-40B4-BE49-F238E27FC236}">
                  <a16:creationId xmlns:a16="http://schemas.microsoft.com/office/drawing/2014/main" id="{958CDA70-E5D0-3416-A0F4-32A266EF0A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55" name="Group 799">
            <a:extLst>
              <a:ext uri="{FF2B5EF4-FFF2-40B4-BE49-F238E27FC236}">
                <a16:creationId xmlns:a16="http://schemas.microsoft.com/office/drawing/2014/main" id="{7DCF47AC-CFDA-E3E8-D619-8B0A5514D6A9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5562601"/>
            <a:ext cx="292100" cy="366713"/>
            <a:chOff x="1248" y="192"/>
            <a:chExt cx="184" cy="231"/>
          </a:xfrm>
        </p:grpSpPr>
        <p:sp>
          <p:nvSpPr>
            <p:cNvPr id="20256" name="Oval 800">
              <a:extLst>
                <a:ext uri="{FF2B5EF4-FFF2-40B4-BE49-F238E27FC236}">
                  <a16:creationId xmlns:a16="http://schemas.microsoft.com/office/drawing/2014/main" id="{2AB648E4-C865-9A6E-4281-DB8FB406D7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57" name="Text Box 801">
              <a:extLst>
                <a:ext uri="{FF2B5EF4-FFF2-40B4-BE49-F238E27FC236}">
                  <a16:creationId xmlns:a16="http://schemas.microsoft.com/office/drawing/2014/main" id="{275CD0E7-CD21-FEAC-C712-C5840ECBF28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58" name="Group 802">
            <a:extLst>
              <a:ext uri="{FF2B5EF4-FFF2-40B4-BE49-F238E27FC236}">
                <a16:creationId xmlns:a16="http://schemas.microsoft.com/office/drawing/2014/main" id="{193FD735-DAF0-F6F5-F4AF-1F53BEA4BEAA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5562601"/>
            <a:ext cx="292100" cy="366713"/>
            <a:chOff x="1248" y="192"/>
            <a:chExt cx="184" cy="231"/>
          </a:xfrm>
        </p:grpSpPr>
        <p:sp>
          <p:nvSpPr>
            <p:cNvPr id="20259" name="Oval 803">
              <a:extLst>
                <a:ext uri="{FF2B5EF4-FFF2-40B4-BE49-F238E27FC236}">
                  <a16:creationId xmlns:a16="http://schemas.microsoft.com/office/drawing/2014/main" id="{F8DDAE04-BC3F-37B4-A759-F4EF1EDB7D9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60" name="Text Box 804">
              <a:extLst>
                <a:ext uri="{FF2B5EF4-FFF2-40B4-BE49-F238E27FC236}">
                  <a16:creationId xmlns:a16="http://schemas.microsoft.com/office/drawing/2014/main" id="{9B94032F-9267-12A0-9606-93B6B813BC9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61" name="Group 805">
            <a:extLst>
              <a:ext uri="{FF2B5EF4-FFF2-40B4-BE49-F238E27FC236}">
                <a16:creationId xmlns:a16="http://schemas.microsoft.com/office/drawing/2014/main" id="{E320D654-0669-9734-CAE1-2EB7E530FB10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562601"/>
            <a:ext cx="292100" cy="366713"/>
            <a:chOff x="1248" y="192"/>
            <a:chExt cx="184" cy="231"/>
          </a:xfrm>
        </p:grpSpPr>
        <p:sp>
          <p:nvSpPr>
            <p:cNvPr id="20262" name="Oval 806">
              <a:extLst>
                <a:ext uri="{FF2B5EF4-FFF2-40B4-BE49-F238E27FC236}">
                  <a16:creationId xmlns:a16="http://schemas.microsoft.com/office/drawing/2014/main" id="{3799AF5F-D5D9-494E-6160-2392905673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63" name="Text Box 807">
              <a:extLst>
                <a:ext uri="{FF2B5EF4-FFF2-40B4-BE49-F238E27FC236}">
                  <a16:creationId xmlns:a16="http://schemas.microsoft.com/office/drawing/2014/main" id="{99453C63-7B15-6913-F86F-2BEC31F59AF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64" name="Group 808">
            <a:extLst>
              <a:ext uri="{FF2B5EF4-FFF2-40B4-BE49-F238E27FC236}">
                <a16:creationId xmlns:a16="http://schemas.microsoft.com/office/drawing/2014/main" id="{C1A94BCB-0B3A-40EB-0F8B-329D4E63C95C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5562601"/>
            <a:ext cx="292100" cy="366713"/>
            <a:chOff x="1248" y="192"/>
            <a:chExt cx="184" cy="231"/>
          </a:xfrm>
        </p:grpSpPr>
        <p:sp>
          <p:nvSpPr>
            <p:cNvPr id="20265" name="Oval 809">
              <a:extLst>
                <a:ext uri="{FF2B5EF4-FFF2-40B4-BE49-F238E27FC236}">
                  <a16:creationId xmlns:a16="http://schemas.microsoft.com/office/drawing/2014/main" id="{0D333746-F798-0CBE-AC9F-C8A0B4856A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66" name="Text Box 810">
              <a:extLst>
                <a:ext uri="{FF2B5EF4-FFF2-40B4-BE49-F238E27FC236}">
                  <a16:creationId xmlns:a16="http://schemas.microsoft.com/office/drawing/2014/main" id="{EDD7BC98-7A86-4D73-A538-29B522F397A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67" name="Group 811">
            <a:extLst>
              <a:ext uri="{FF2B5EF4-FFF2-40B4-BE49-F238E27FC236}">
                <a16:creationId xmlns:a16="http://schemas.microsoft.com/office/drawing/2014/main" id="{64A5B238-37E3-261D-1A10-C64D0F56DB7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5562601"/>
            <a:ext cx="292100" cy="366713"/>
            <a:chOff x="1248" y="192"/>
            <a:chExt cx="184" cy="231"/>
          </a:xfrm>
        </p:grpSpPr>
        <p:sp>
          <p:nvSpPr>
            <p:cNvPr id="20268" name="Oval 812">
              <a:extLst>
                <a:ext uri="{FF2B5EF4-FFF2-40B4-BE49-F238E27FC236}">
                  <a16:creationId xmlns:a16="http://schemas.microsoft.com/office/drawing/2014/main" id="{17965833-8126-6DBC-E5BD-8B8B3BF2AD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69" name="Text Box 813">
              <a:extLst>
                <a:ext uri="{FF2B5EF4-FFF2-40B4-BE49-F238E27FC236}">
                  <a16:creationId xmlns:a16="http://schemas.microsoft.com/office/drawing/2014/main" id="{3CE2C4E6-12F8-2870-B13F-E146010BF2F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70" name="Group 814">
            <a:extLst>
              <a:ext uri="{FF2B5EF4-FFF2-40B4-BE49-F238E27FC236}">
                <a16:creationId xmlns:a16="http://schemas.microsoft.com/office/drawing/2014/main" id="{0C1BACB8-AADC-AFDB-1D06-BC3D801581C0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5562601"/>
            <a:ext cx="292100" cy="366713"/>
            <a:chOff x="1248" y="192"/>
            <a:chExt cx="184" cy="231"/>
          </a:xfrm>
        </p:grpSpPr>
        <p:sp>
          <p:nvSpPr>
            <p:cNvPr id="20271" name="Oval 815">
              <a:extLst>
                <a:ext uri="{FF2B5EF4-FFF2-40B4-BE49-F238E27FC236}">
                  <a16:creationId xmlns:a16="http://schemas.microsoft.com/office/drawing/2014/main" id="{0E1FF5F3-9B11-D25F-51CA-D762DB6571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8" y="200"/>
              <a:ext cx="176" cy="176"/>
            </a:xfrm>
            <a:prstGeom prst="ellipse">
              <a:avLst/>
            </a:prstGeom>
            <a:solidFill>
              <a:srgbClr val="80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72" name="Text Box 816">
              <a:extLst>
                <a:ext uri="{FF2B5EF4-FFF2-40B4-BE49-F238E27FC236}">
                  <a16:creationId xmlns:a16="http://schemas.microsoft.com/office/drawing/2014/main" id="{1B9AC00F-6CD4-209D-35A5-6F837FD9996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48" y="192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73" name="Group 817">
            <a:extLst>
              <a:ext uri="{FF2B5EF4-FFF2-40B4-BE49-F238E27FC236}">
                <a16:creationId xmlns:a16="http://schemas.microsoft.com/office/drawing/2014/main" id="{0E9FF255-B656-95ED-7201-C4F3D2C6AA42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6019801"/>
            <a:ext cx="292100" cy="366713"/>
            <a:chOff x="5280" y="249"/>
            <a:chExt cx="184" cy="231"/>
          </a:xfrm>
        </p:grpSpPr>
        <p:sp>
          <p:nvSpPr>
            <p:cNvPr id="20274" name="Oval 818">
              <a:extLst>
                <a:ext uri="{FF2B5EF4-FFF2-40B4-BE49-F238E27FC236}">
                  <a16:creationId xmlns:a16="http://schemas.microsoft.com/office/drawing/2014/main" id="{6439D0F6-ABE8-78FD-E0FF-908D9375ED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0" y="249"/>
              <a:ext cx="176" cy="17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75" name="Text Box 819">
              <a:extLst>
                <a:ext uri="{FF2B5EF4-FFF2-40B4-BE49-F238E27FC236}">
                  <a16:creationId xmlns:a16="http://schemas.microsoft.com/office/drawing/2014/main" id="{9B60295E-5654-099C-6D0B-F24A54DA6CC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80" y="249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76" name="Group 820">
            <a:extLst>
              <a:ext uri="{FF2B5EF4-FFF2-40B4-BE49-F238E27FC236}">
                <a16:creationId xmlns:a16="http://schemas.microsoft.com/office/drawing/2014/main" id="{9E7F17F4-0E36-047A-4748-A670DC0E3D8C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6019801"/>
            <a:ext cx="292100" cy="366713"/>
            <a:chOff x="5280" y="249"/>
            <a:chExt cx="184" cy="231"/>
          </a:xfrm>
        </p:grpSpPr>
        <p:sp>
          <p:nvSpPr>
            <p:cNvPr id="20277" name="Oval 821">
              <a:extLst>
                <a:ext uri="{FF2B5EF4-FFF2-40B4-BE49-F238E27FC236}">
                  <a16:creationId xmlns:a16="http://schemas.microsoft.com/office/drawing/2014/main" id="{6F8233C1-B65B-3C62-6664-6253417276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0" y="249"/>
              <a:ext cx="176" cy="17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78" name="Text Box 822">
              <a:extLst>
                <a:ext uri="{FF2B5EF4-FFF2-40B4-BE49-F238E27FC236}">
                  <a16:creationId xmlns:a16="http://schemas.microsoft.com/office/drawing/2014/main" id="{AF437ECA-1478-8826-0577-DAAD91B5F88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80" y="249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20279" name="Group 823">
            <a:extLst>
              <a:ext uri="{FF2B5EF4-FFF2-40B4-BE49-F238E27FC236}">
                <a16:creationId xmlns:a16="http://schemas.microsoft.com/office/drawing/2014/main" id="{66BBC5E2-EED3-6FBC-BD14-657C9BF4D020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6019801"/>
            <a:ext cx="292100" cy="366713"/>
            <a:chOff x="5280" y="249"/>
            <a:chExt cx="184" cy="231"/>
          </a:xfrm>
        </p:grpSpPr>
        <p:sp>
          <p:nvSpPr>
            <p:cNvPr id="20280" name="Oval 824">
              <a:extLst>
                <a:ext uri="{FF2B5EF4-FFF2-40B4-BE49-F238E27FC236}">
                  <a16:creationId xmlns:a16="http://schemas.microsoft.com/office/drawing/2014/main" id="{0F46DDC2-5BEF-5BDB-227E-8E86CC63C50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0" y="249"/>
              <a:ext cx="176" cy="17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0281" name="Text Box 825">
              <a:extLst>
                <a:ext uri="{FF2B5EF4-FFF2-40B4-BE49-F238E27FC236}">
                  <a16:creationId xmlns:a16="http://schemas.microsoft.com/office/drawing/2014/main" id="{8596486C-758A-2E64-F65A-7F4D1FEE0CD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80" y="249"/>
              <a:ext cx="1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10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50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DDF8518-7E1D-772D-E4BD-68CDF7058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0" y="304800"/>
            <a:ext cx="5029200" cy="914400"/>
          </a:xfrm>
        </p:spPr>
        <p:txBody>
          <a:bodyPr/>
          <a:lstStyle/>
          <a:p>
            <a:r>
              <a:rPr lang="en-US" altLang="ko-KR" b="1">
                <a:ea typeface="굴림" panose="020B0600000101010101" pitchFamily="34" charset="-127"/>
              </a:rPr>
              <a:t>Graphs</a:t>
            </a:r>
          </a:p>
        </p:txBody>
      </p:sp>
      <p:grpSp>
        <p:nvGrpSpPr>
          <p:cNvPr id="20495" name="Group 15">
            <a:extLst>
              <a:ext uri="{FF2B5EF4-FFF2-40B4-BE49-F238E27FC236}">
                <a16:creationId xmlns:a16="http://schemas.microsoft.com/office/drawing/2014/main" id="{C3FB70F5-37EA-D000-344D-982787283A53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276600"/>
            <a:ext cx="4343400" cy="3276600"/>
            <a:chOff x="2880" y="2064"/>
            <a:chExt cx="2736" cy="2064"/>
          </a:xfrm>
        </p:grpSpPr>
        <p:sp>
          <p:nvSpPr>
            <p:cNvPr id="20485" name="Rectangle 5">
              <a:extLst>
                <a:ext uri="{FF2B5EF4-FFF2-40B4-BE49-F238E27FC236}">
                  <a16:creationId xmlns:a16="http://schemas.microsoft.com/office/drawing/2014/main" id="{9958D34E-1056-4523-9043-0ECD0593E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064"/>
              <a:ext cx="2736" cy="206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0486" name="Picture 6">
              <a:extLst>
                <a:ext uri="{FF2B5EF4-FFF2-40B4-BE49-F238E27FC236}">
                  <a16:creationId xmlns:a16="http://schemas.microsoft.com/office/drawing/2014/main" id="{AE48131F-DEDB-4945-D353-2677D79D4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112"/>
              <a:ext cx="2568" cy="1912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0496" name="Group 16">
            <a:extLst>
              <a:ext uri="{FF2B5EF4-FFF2-40B4-BE49-F238E27FC236}">
                <a16:creationId xmlns:a16="http://schemas.microsoft.com/office/drawing/2014/main" id="{93A8A727-0C12-259A-67D0-25678C1619C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76200"/>
            <a:ext cx="5105400" cy="3581400"/>
            <a:chOff x="480" y="0"/>
            <a:chExt cx="3216" cy="2256"/>
          </a:xfrm>
        </p:grpSpPr>
        <p:sp>
          <p:nvSpPr>
            <p:cNvPr id="20488" name="Rectangle 8">
              <a:extLst>
                <a:ext uri="{FF2B5EF4-FFF2-40B4-BE49-F238E27FC236}">
                  <a16:creationId xmlns:a16="http://schemas.microsoft.com/office/drawing/2014/main" id="{A20762B8-0C11-72D4-4D42-7CC8AAE90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0"/>
              <a:ext cx="3216" cy="2256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0489" name="Picture 9">
              <a:extLst>
                <a:ext uri="{FF2B5EF4-FFF2-40B4-BE49-F238E27FC236}">
                  <a16:creationId xmlns:a16="http://schemas.microsoft.com/office/drawing/2014/main" id="{20AD1C37-2762-03DA-0A1D-74F3C71B8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" y="88"/>
              <a:ext cx="3096" cy="2072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0490" name="Text Box 10">
            <a:extLst>
              <a:ext uri="{FF2B5EF4-FFF2-40B4-BE49-F238E27FC236}">
                <a16:creationId xmlns:a16="http://schemas.microsoft.com/office/drawing/2014/main" id="{86FCEE41-53A9-0FB2-1CE4-4033EAAC5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99" y="1676401"/>
            <a:ext cx="434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Bar Chart:</a:t>
            </a:r>
          </a:p>
          <a:p>
            <a:pPr>
              <a:spcBef>
                <a:spcPct val="50000"/>
              </a:spcBef>
            </a:pPr>
            <a:r>
              <a:rPr lang="en-US" altLang="ko-KR" sz="2400" dirty="0">
                <a:solidFill>
                  <a:srgbClr val="339933"/>
                </a:solidFill>
                <a:ea typeface="굴림" panose="020B0600000101010101" pitchFamily="34" charset="-127"/>
              </a:rPr>
              <a:t>How often a particular category was observed</a:t>
            </a:r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3E74FA46-8D2A-C1DD-D106-53F7F2565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5035" y="4508501"/>
            <a:ext cx="450952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Pie Chart:</a:t>
            </a:r>
          </a:p>
          <a:p>
            <a:pPr>
              <a:spcBef>
                <a:spcPct val="50000"/>
              </a:spcBef>
            </a:pPr>
            <a:r>
              <a:rPr lang="en-US" altLang="ko-KR" sz="2400" dirty="0">
                <a:solidFill>
                  <a:srgbClr val="339933"/>
                </a:solidFill>
                <a:ea typeface="굴림" panose="020B0600000101010101" pitchFamily="34" charset="-127"/>
              </a:rPr>
              <a:t>How the measurements are distributed among the categories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3FAE462-D13E-669A-F7EE-94B3ACC6F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altLang="ko-KR" sz="4400">
                <a:ea typeface="굴림" panose="020B0600000101010101" pitchFamily="34" charset="-127"/>
              </a:rPr>
              <a:t>Graphing Quantitative Variables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9FFA02C5-143B-9A51-B667-33E3D9370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219200"/>
            <a:ext cx="7772400" cy="18288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A single quantitative variable measured for different population segments or for different categories of classification can be graphed using a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pie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or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bar chart</a:t>
            </a:r>
            <a:r>
              <a:rPr lang="en-US" altLang="ko-KR" sz="3200" dirty="0">
                <a:ea typeface="굴림" panose="020B0600000101010101" pitchFamily="34" charset="-127"/>
              </a:rPr>
              <a:t>.</a:t>
            </a:r>
          </a:p>
        </p:txBody>
      </p:sp>
      <p:grpSp>
        <p:nvGrpSpPr>
          <p:cNvPr id="21520" name="Group 16">
            <a:extLst>
              <a:ext uri="{FF2B5EF4-FFF2-40B4-BE49-F238E27FC236}">
                <a16:creationId xmlns:a16="http://schemas.microsoft.com/office/drawing/2014/main" id="{E31389F8-8179-6DE6-0B37-752C0C3C89C2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3124200"/>
            <a:ext cx="5029200" cy="3429000"/>
            <a:chOff x="2448" y="1968"/>
            <a:chExt cx="3168" cy="2160"/>
          </a:xfrm>
        </p:grpSpPr>
        <p:sp>
          <p:nvSpPr>
            <p:cNvPr id="21513" name="Rectangle 9">
              <a:extLst>
                <a:ext uri="{FF2B5EF4-FFF2-40B4-BE49-F238E27FC236}">
                  <a16:creationId xmlns:a16="http://schemas.microsoft.com/office/drawing/2014/main" id="{8F8799C8-CE25-1DD2-1523-7F89CCF65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968"/>
              <a:ext cx="3168" cy="2160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1514" name="Picture 10">
              <a:extLst>
                <a:ext uri="{FF2B5EF4-FFF2-40B4-BE49-F238E27FC236}">
                  <a16:creationId xmlns:a16="http://schemas.microsoft.com/office/drawing/2014/main" id="{2F43AE94-98CE-1BB8-87C3-E51AA3B46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4" y="2064"/>
              <a:ext cx="2936" cy="190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1519" name="Text Box 15">
            <a:extLst>
              <a:ext uri="{FF2B5EF4-FFF2-40B4-BE49-F238E27FC236}">
                <a16:creationId xmlns:a16="http://schemas.microsoft.com/office/drawing/2014/main" id="{DCFFDDB8-670B-2656-22F2-1F5F621D2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657601"/>
            <a:ext cx="3048000" cy="1200329"/>
          </a:xfrm>
          <a:prstGeom prst="rect">
            <a:avLst/>
          </a:prstGeom>
          <a:solidFill>
            <a:srgbClr val="F4ECC6"/>
          </a:solidFill>
          <a:ln w="38100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600000101010101" pitchFamily="34" charset="-127"/>
              </a:rPr>
              <a:t>A Big Mac hamburger costs $3.64 in Switzerland, $2.44 in the U.S. and $1.10 in South Africa.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 autoUpdateAnimBg="0"/>
      <p:bldP spid="21519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>
            <a:extLst>
              <a:ext uri="{FF2B5EF4-FFF2-40B4-BE49-F238E27FC236}">
                <a16:creationId xmlns:a16="http://schemas.microsoft.com/office/drawing/2014/main" id="{7A224C94-2431-2FDD-F84E-337C3D842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9436" y="322730"/>
            <a:ext cx="8534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A single quantitative variable measured over time is called a</a:t>
            </a:r>
            <a:r>
              <a:rPr lang="en-US" altLang="ko-KR" sz="3600" b="1" dirty="0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time series</a:t>
            </a:r>
            <a:r>
              <a:rPr lang="en-US" altLang="ko-KR" sz="3600" b="1" dirty="0">
                <a:solidFill>
                  <a:srgbClr val="339933"/>
                </a:solidFill>
                <a:ea typeface="굴림" panose="020B0600000101010101" pitchFamily="34" charset="-127"/>
              </a:rPr>
              <a:t>. </a:t>
            </a: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It can be graphed using a</a:t>
            </a:r>
            <a:r>
              <a:rPr lang="en-US" altLang="ko-KR" sz="3600" b="1" dirty="0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line</a:t>
            </a:r>
            <a:r>
              <a:rPr lang="en-US" altLang="ko-KR" sz="3600" b="1" dirty="0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or</a:t>
            </a:r>
            <a:r>
              <a:rPr lang="en-US" altLang="ko-KR" sz="3600" b="1" dirty="0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bar chart</a:t>
            </a:r>
            <a:r>
              <a:rPr lang="en-US" altLang="ko-KR" sz="3600" b="1" dirty="0">
                <a:solidFill>
                  <a:srgbClr val="339933"/>
                </a:solidFill>
                <a:ea typeface="굴림" panose="020B0600000101010101" pitchFamily="34" charset="-127"/>
              </a:rPr>
              <a:t>.</a:t>
            </a:r>
          </a:p>
        </p:txBody>
      </p:sp>
      <p:graphicFrame>
        <p:nvGraphicFramePr>
          <p:cNvPr id="22596" name="Group 68">
            <a:extLst>
              <a:ext uri="{FF2B5EF4-FFF2-40B4-BE49-F238E27FC236}">
                <a16:creationId xmlns:a16="http://schemas.microsoft.com/office/drawing/2014/main" id="{A777E8A1-9C85-C811-C6A2-E84C57D3492D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590800"/>
          <a:ext cx="8382000" cy="115824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1250588489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1746028479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21836336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932862330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658963752"/>
                    </a:ext>
                  </a:extLst>
                </a:gridCol>
                <a:gridCol w="1195388">
                  <a:extLst>
                    <a:ext uri="{9D8B030D-6E8A-4147-A177-3AD203B41FA5}">
                      <a16:colId xmlns:a16="http://schemas.microsoft.com/office/drawing/2014/main" val="2495884585"/>
                    </a:ext>
                  </a:extLst>
                </a:gridCol>
                <a:gridCol w="1198562">
                  <a:extLst>
                    <a:ext uri="{9D8B030D-6E8A-4147-A177-3AD203B41FA5}">
                      <a16:colId xmlns:a16="http://schemas.microsoft.com/office/drawing/2014/main" val="3817878486"/>
                    </a:ext>
                  </a:extLst>
                </a:gridCol>
              </a:tblGrid>
              <a:tr h="234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September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October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November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December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January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February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March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113321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178.10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177.60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177.50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177.30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굴림" panose="020B0600000101010101" pitchFamily="34" charset="-127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177.60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178.00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178.60</a:t>
                      </a:r>
                    </a:p>
                  </a:txBody>
                  <a:tcPr horzOverflow="overflow">
                    <a:lnL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492735"/>
                  </a:ext>
                </a:extLst>
              </a:tr>
            </a:tbl>
          </a:graphicData>
        </a:graphic>
      </p:graphicFrame>
      <p:sp>
        <p:nvSpPr>
          <p:cNvPr id="22560" name="Text Box 32">
            <a:extLst>
              <a:ext uri="{FF2B5EF4-FFF2-40B4-BE49-F238E27FC236}">
                <a16:creationId xmlns:a16="http://schemas.microsoft.com/office/drawing/2014/main" id="{B88166BC-7696-9F01-A08B-69410C123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981200"/>
            <a:ext cx="510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22561" name="Text Box 33">
            <a:extLst>
              <a:ext uri="{FF2B5EF4-FFF2-40B4-BE49-F238E27FC236}">
                <a16:creationId xmlns:a16="http://schemas.microsoft.com/office/drawing/2014/main" id="{07B69630-9FBB-3026-874D-903E1080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133600"/>
            <a:ext cx="838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CPI: All Urban Consumers-Seasonally Adjusted</a:t>
            </a:r>
          </a:p>
        </p:txBody>
      </p:sp>
      <p:grpSp>
        <p:nvGrpSpPr>
          <p:cNvPr id="22593" name="Group 65">
            <a:extLst>
              <a:ext uri="{FF2B5EF4-FFF2-40B4-BE49-F238E27FC236}">
                <a16:creationId xmlns:a16="http://schemas.microsoft.com/office/drawing/2014/main" id="{53303E03-6243-9157-13CF-71F591AC2CDC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3429000"/>
            <a:ext cx="4800600" cy="3276600"/>
            <a:chOff x="1152" y="2160"/>
            <a:chExt cx="3024" cy="2064"/>
          </a:xfrm>
        </p:grpSpPr>
        <p:sp>
          <p:nvSpPr>
            <p:cNvPr id="22530" name="Rectangle 2">
              <a:extLst>
                <a:ext uri="{FF2B5EF4-FFF2-40B4-BE49-F238E27FC236}">
                  <a16:creationId xmlns:a16="http://schemas.microsoft.com/office/drawing/2014/main" id="{B2D292CF-37BE-E976-0B6F-B6F60D868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160"/>
              <a:ext cx="3024" cy="206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2562" name="Picture 34">
              <a:extLst>
                <a:ext uri="{FF2B5EF4-FFF2-40B4-BE49-F238E27FC236}">
                  <a16:creationId xmlns:a16="http://schemas.microsoft.com/office/drawing/2014/main" id="{0BB034B1-DAC7-62B3-008F-085EB691A3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287"/>
              <a:ext cx="2832" cy="179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2592" name="Text Box 64">
            <a:extLst>
              <a:ext uri="{FF2B5EF4-FFF2-40B4-BE49-F238E27FC236}">
                <a16:creationId xmlns:a16="http://schemas.microsoft.com/office/drawing/2014/main" id="{784F915B-1A73-23F5-D586-3CD7A854E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733800"/>
            <a:ext cx="25146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>
                <a:ea typeface="굴림" panose="020B0600000101010101" pitchFamily="34" charset="-127"/>
              </a:rPr>
              <a:t>BUREAU OF LABOR STATISTICS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1DAF4FE-CC73-52D6-3F32-A2962FD68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0"/>
            <a:ext cx="7772400" cy="1143000"/>
          </a:xfrm>
        </p:spPr>
        <p:txBody>
          <a:bodyPr/>
          <a:lstStyle/>
          <a:p>
            <a:r>
              <a:rPr lang="en-US" altLang="ko-KR" dirty="0" err="1">
                <a:ea typeface="굴림" panose="020B0600000101010101" pitchFamily="34" charset="-127"/>
              </a:rPr>
              <a:t>Dotplots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D91EA65-B95E-204F-5A29-96CBFE0F5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90800" y="1183345"/>
            <a:ext cx="8077200" cy="25908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altLang="ko-KR" sz="3200">
                <a:ea typeface="굴림" panose="020B0600000101010101" pitchFamily="34" charset="-127"/>
              </a:rPr>
              <a:t>The simplest graph for quantitative data</a:t>
            </a:r>
          </a:p>
          <a:p>
            <a:pPr>
              <a:lnSpc>
                <a:spcPct val="90000"/>
              </a:lnSpc>
            </a:pPr>
            <a:r>
              <a:rPr lang="en-US" altLang="ko-KR" sz="3200">
                <a:ea typeface="굴림" panose="020B0600000101010101" pitchFamily="34" charset="-127"/>
              </a:rPr>
              <a:t>Plots the measurements as points on a horizontal axis, stacking the points that duplicate existing points.</a:t>
            </a:r>
          </a:p>
          <a:p>
            <a:pPr>
              <a:lnSpc>
                <a:spcPct val="90000"/>
              </a:lnSpc>
            </a:pP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Example:</a:t>
            </a:r>
            <a:r>
              <a:rPr lang="en-US" altLang="ko-KR" sz="3200">
                <a:ea typeface="굴림" panose="020B0600000101010101" pitchFamily="34" charset="-127"/>
              </a:rPr>
              <a:t>  The set    4, 5, 5, 7, 6</a:t>
            </a:r>
          </a:p>
        </p:txBody>
      </p:sp>
      <p:grpSp>
        <p:nvGrpSpPr>
          <p:cNvPr id="23566" name="Group 14">
            <a:extLst>
              <a:ext uri="{FF2B5EF4-FFF2-40B4-BE49-F238E27FC236}">
                <a16:creationId xmlns:a16="http://schemas.microsoft.com/office/drawing/2014/main" id="{C28A93AF-175B-07D8-14D2-382A2382FD50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876805"/>
            <a:ext cx="5791200" cy="522288"/>
            <a:chOff x="960" y="3072"/>
            <a:chExt cx="3648" cy="329"/>
          </a:xfrm>
        </p:grpSpPr>
        <p:sp>
          <p:nvSpPr>
            <p:cNvPr id="23558" name="Line 6">
              <a:extLst>
                <a:ext uri="{FF2B5EF4-FFF2-40B4-BE49-F238E27FC236}">
                  <a16:creationId xmlns:a16="http://schemas.microsoft.com/office/drawing/2014/main" id="{512C6276-6D30-313A-9675-C789FAE86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3216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3559" name="Text Box 7">
              <a:extLst>
                <a:ext uri="{FF2B5EF4-FFF2-40B4-BE49-F238E27FC236}">
                  <a16:creationId xmlns:a16="http://schemas.microsoft.com/office/drawing/2014/main" id="{0791F6FB-89AD-373E-BAC7-FB336FB28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168"/>
              <a:ext cx="31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4	5	6	7</a:t>
              </a:r>
            </a:p>
          </p:txBody>
        </p:sp>
      </p:grpSp>
      <p:sp>
        <p:nvSpPr>
          <p:cNvPr id="23560" name="AutoShape 8">
            <a:extLst>
              <a:ext uri="{FF2B5EF4-FFF2-40B4-BE49-F238E27FC236}">
                <a16:creationId xmlns:a16="http://schemas.microsoft.com/office/drawing/2014/main" id="{C39F1B13-481F-FB30-66C6-4F22C5400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5720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23561" name="AutoShape 9">
            <a:extLst>
              <a:ext uri="{FF2B5EF4-FFF2-40B4-BE49-F238E27FC236}">
                <a16:creationId xmlns:a16="http://schemas.microsoft.com/office/drawing/2014/main" id="{6FFDC14F-CE3A-B5E2-BF52-539C5E580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5720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23562" name="AutoShape 10">
            <a:extLst>
              <a:ext uri="{FF2B5EF4-FFF2-40B4-BE49-F238E27FC236}">
                <a16:creationId xmlns:a16="http://schemas.microsoft.com/office/drawing/2014/main" id="{0221A9E3-1D81-9C62-8C3A-3D97E0BE4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4196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23563" name="AutoShape 11">
            <a:extLst>
              <a:ext uri="{FF2B5EF4-FFF2-40B4-BE49-F238E27FC236}">
                <a16:creationId xmlns:a16="http://schemas.microsoft.com/office/drawing/2014/main" id="{C4C8D6E6-2A39-6679-C331-E0E0C845F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5720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23564" name="AutoShape 12">
            <a:extLst>
              <a:ext uri="{FF2B5EF4-FFF2-40B4-BE49-F238E27FC236}">
                <a16:creationId xmlns:a16="http://schemas.microsoft.com/office/drawing/2014/main" id="{8A0A1870-5412-9AFB-550F-BB728BB5F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572000"/>
            <a:ext cx="152400" cy="152400"/>
          </a:xfrm>
          <a:prstGeom prst="diamond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BA21ABE-2EBC-A5BD-831A-ED3D99C38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0"/>
            <a:ext cx="7772400" cy="1143000"/>
          </a:xfrm>
        </p:spPr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Stem and Leaf Plots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E43F924-F9FC-14E5-AABE-9EE4E6A33E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1496" y="950260"/>
            <a:ext cx="8153400" cy="1752600"/>
          </a:xfrm>
        </p:spPr>
        <p:txBody>
          <a:bodyPr/>
          <a:lstStyle/>
          <a:p>
            <a:r>
              <a:rPr lang="en-US" altLang="ko-KR" sz="3200" dirty="0">
                <a:ea typeface="굴림" panose="020B0600000101010101" pitchFamily="34" charset="-127"/>
              </a:rPr>
              <a:t>A simple graph for quantitative data </a:t>
            </a:r>
          </a:p>
          <a:p>
            <a:r>
              <a:rPr lang="en-US" altLang="ko-KR" sz="3200" dirty="0">
                <a:ea typeface="굴림" panose="020B0600000101010101" pitchFamily="34" charset="-127"/>
              </a:rPr>
              <a:t>Uses the actual numerical values of each data point.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8523B4B9-1C93-FFFA-1779-613CEA5EA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5296" y="2702861"/>
            <a:ext cx="8153400" cy="39211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Divide each measurement into two parts: the </a:t>
            </a:r>
            <a:r>
              <a:rPr lang="en-US" altLang="ko-KR" sz="2800" b="1">
                <a:ea typeface="굴림" panose="020B0600000101010101" pitchFamily="34" charset="-127"/>
              </a:rPr>
              <a:t>stem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 and the </a:t>
            </a:r>
            <a:r>
              <a:rPr lang="en-US" altLang="ko-KR" sz="2800" b="1">
                <a:ea typeface="굴림" panose="020B0600000101010101" pitchFamily="34" charset="-127"/>
              </a:rPr>
              <a:t>leaf.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List the stems in a column, with a </a:t>
            </a:r>
            <a:r>
              <a:rPr lang="en-US" altLang="ko-KR" sz="2800" b="1">
                <a:ea typeface="굴림" panose="020B0600000101010101" pitchFamily="34" charset="-127"/>
              </a:rPr>
              <a:t>vertical line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 to their right.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For each measurement, record the leaf portion in the </a:t>
            </a:r>
            <a:r>
              <a:rPr lang="en-US" altLang="ko-KR" sz="2800" b="1">
                <a:ea typeface="굴림" panose="020B0600000101010101" pitchFamily="34" charset="-127"/>
              </a:rPr>
              <a:t>same row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 as its matching stem.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ko-KR" sz="2800" b="1">
                <a:ea typeface="굴림" panose="020B0600000101010101" pitchFamily="34" charset="-127"/>
              </a:rPr>
              <a:t>Order 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the leaves from lowest to highest in each stem.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Provide a </a:t>
            </a:r>
            <a:r>
              <a:rPr lang="en-US" altLang="ko-KR" sz="2800" b="1">
                <a:ea typeface="굴림" panose="020B0600000101010101" pitchFamily="34" charset="-127"/>
              </a:rPr>
              <a:t>key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 to your coding.</a:t>
            </a:r>
            <a:endParaRPr lang="en-US" altLang="ko-KR" sz="2800"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5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5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5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5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5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bldLvl="2" autoUpdateAnimBg="0"/>
      <p:bldP spid="24583" grpId="0" build="p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9" name="Rectangle 29">
            <a:extLst>
              <a:ext uri="{FF2B5EF4-FFF2-40B4-BE49-F238E27FC236}">
                <a16:creationId xmlns:a16="http://schemas.microsoft.com/office/drawing/2014/main" id="{A4AE904A-E5ED-EDF8-4A23-AFA2CEBB8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421372"/>
            <a:ext cx="8001000" cy="838203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ID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DA3A62C1-012E-9B98-629E-2C88D54A1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304800"/>
            <a:ext cx="4419600" cy="1143000"/>
          </a:xfrm>
        </p:spPr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05573647-10B3-96DA-544A-5C04B237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099002"/>
            <a:ext cx="7924800" cy="103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dirty="0">
                <a:solidFill>
                  <a:srgbClr val="339933"/>
                </a:solidFill>
                <a:ea typeface="굴림" panose="020B0600000101010101" pitchFamily="34" charset="-127"/>
              </a:rPr>
              <a:t>The prices ($) of 18 brands of walking shoes:</a:t>
            </a:r>
          </a:p>
          <a:p>
            <a:pPr>
              <a:spcBef>
                <a:spcPct val="20000"/>
              </a:spcBef>
            </a:pPr>
            <a:r>
              <a:rPr lang="en-US" altLang="ko-KR" dirty="0">
                <a:solidFill>
                  <a:srgbClr val="339933"/>
                </a:solidFill>
                <a:ea typeface="굴림" panose="020B0600000101010101" pitchFamily="34" charset="-127"/>
              </a:rPr>
              <a:t>90	70	70	70	75	70	65	68	60</a:t>
            </a:r>
          </a:p>
          <a:p>
            <a:pPr>
              <a:spcBef>
                <a:spcPct val="20000"/>
              </a:spcBef>
            </a:pPr>
            <a:r>
              <a:rPr lang="en-US" altLang="ko-KR" dirty="0">
                <a:solidFill>
                  <a:srgbClr val="339933"/>
                </a:solidFill>
                <a:ea typeface="굴림" panose="020B0600000101010101" pitchFamily="34" charset="-127"/>
              </a:rPr>
              <a:t>74	70	95	75	70	68	65	40	65</a:t>
            </a:r>
          </a:p>
        </p:txBody>
      </p:sp>
      <p:grpSp>
        <p:nvGrpSpPr>
          <p:cNvPr id="25622" name="Group 22">
            <a:extLst>
              <a:ext uri="{FF2B5EF4-FFF2-40B4-BE49-F238E27FC236}">
                <a16:creationId xmlns:a16="http://schemas.microsoft.com/office/drawing/2014/main" id="{F486FA5A-2635-C371-2E17-02839ACFD117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895600"/>
            <a:ext cx="3124200" cy="3124200"/>
            <a:chOff x="528" y="1824"/>
            <a:chExt cx="1968" cy="1968"/>
          </a:xfrm>
        </p:grpSpPr>
        <p:sp>
          <p:nvSpPr>
            <p:cNvPr id="25606" name="Text Box 6">
              <a:extLst>
                <a:ext uri="{FF2B5EF4-FFF2-40B4-BE49-F238E27FC236}">
                  <a16:creationId xmlns:a16="http://schemas.microsoft.com/office/drawing/2014/main" id="{A3AB6266-FFFC-14E0-FA97-6C229E640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824"/>
              <a:ext cx="1968" cy="1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4	0</a:t>
              </a:r>
            </a:p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5</a:t>
              </a:r>
            </a:p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6	5 8 0 8 5 5</a:t>
              </a:r>
            </a:p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7	0 0 0 5 0 4 0 5 0</a:t>
              </a:r>
            </a:p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8</a:t>
              </a:r>
            </a:p>
            <a:p>
              <a:pPr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9	0 5</a:t>
              </a:r>
            </a:p>
          </p:txBody>
        </p:sp>
        <p:sp>
          <p:nvSpPr>
            <p:cNvPr id="25607" name="Line 7">
              <a:extLst>
                <a:ext uri="{FF2B5EF4-FFF2-40B4-BE49-F238E27FC236}">
                  <a16:creationId xmlns:a16="http://schemas.microsoft.com/office/drawing/2014/main" id="{FACF28D3-BDB8-8143-600E-0990AF040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0" cy="192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5631" name="Group 31">
            <a:extLst>
              <a:ext uri="{FF2B5EF4-FFF2-40B4-BE49-F238E27FC236}">
                <a16:creationId xmlns:a16="http://schemas.microsoft.com/office/drawing/2014/main" id="{A045593C-3CE6-887E-314A-90C479BBF8AC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819400"/>
            <a:ext cx="5105400" cy="3352800"/>
            <a:chOff x="2544" y="1776"/>
            <a:chExt cx="3216" cy="2112"/>
          </a:xfrm>
        </p:grpSpPr>
        <p:grpSp>
          <p:nvGrpSpPr>
            <p:cNvPr id="25630" name="Group 30">
              <a:extLst>
                <a:ext uri="{FF2B5EF4-FFF2-40B4-BE49-F238E27FC236}">
                  <a16:creationId xmlns:a16="http://schemas.microsoft.com/office/drawing/2014/main" id="{9E372B95-534E-1976-BC95-4EDCCBA751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776"/>
              <a:ext cx="3216" cy="1541"/>
              <a:chOff x="2544" y="1776"/>
              <a:chExt cx="3216" cy="1541"/>
            </a:xfrm>
          </p:grpSpPr>
          <p:sp>
            <p:nvSpPr>
              <p:cNvPr id="25610" name="Text Box 10">
                <a:extLst>
                  <a:ext uri="{FF2B5EF4-FFF2-40B4-BE49-F238E27FC236}">
                    <a16:creationId xmlns:a16="http://schemas.microsoft.com/office/drawing/2014/main" id="{BD5C59F7-3142-71B2-4447-C26928A4EA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776"/>
                <a:ext cx="2016" cy="15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3333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333333"/>
                    </a:solidFill>
                    <a:ea typeface="굴림" panose="020B0600000101010101" pitchFamily="34" charset="-127"/>
                  </a:rPr>
                  <a:t>4	0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333333"/>
                    </a:solidFill>
                    <a:ea typeface="굴림" panose="020B0600000101010101" pitchFamily="34" charset="-127"/>
                  </a:rPr>
                  <a:t>5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333333"/>
                    </a:solidFill>
                    <a:ea typeface="굴림" panose="020B0600000101010101" pitchFamily="34" charset="-127"/>
                  </a:rPr>
                  <a:t>6	0 5 5 5 8 8 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333333"/>
                    </a:solidFill>
                    <a:ea typeface="굴림" panose="020B0600000101010101" pitchFamily="34" charset="-127"/>
                  </a:rPr>
                  <a:t>7	0 0 0 0 0 0 4 5 5 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333333"/>
                    </a:solidFill>
                    <a:ea typeface="굴림" panose="020B0600000101010101" pitchFamily="34" charset="-127"/>
                  </a:rPr>
                  <a:t>8</a:t>
                </a:r>
              </a:p>
              <a:p>
                <a:pPr>
                  <a:spcBef>
                    <a:spcPct val="50000"/>
                  </a:spcBef>
                </a:pPr>
                <a:r>
                  <a:rPr lang="en-US" altLang="ko-KR" b="1" dirty="0">
                    <a:solidFill>
                      <a:srgbClr val="333333"/>
                    </a:solidFill>
                    <a:ea typeface="굴림" panose="020B0600000101010101" pitchFamily="34" charset="-127"/>
                  </a:rPr>
                  <a:t>9	0 5 </a:t>
                </a:r>
              </a:p>
            </p:txBody>
          </p:sp>
          <p:grpSp>
            <p:nvGrpSpPr>
              <p:cNvPr id="25612" name="Group 12">
                <a:extLst>
                  <a:ext uri="{FF2B5EF4-FFF2-40B4-BE49-F238E27FC236}">
                    <a16:creationId xmlns:a16="http://schemas.microsoft.com/office/drawing/2014/main" id="{610B4EDF-F630-DF82-2F0C-6D93FAD6C4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44" y="1968"/>
                <a:ext cx="1008" cy="233"/>
                <a:chOff x="2112" y="2064"/>
                <a:chExt cx="1008" cy="233"/>
              </a:xfrm>
            </p:grpSpPr>
            <p:sp>
              <p:nvSpPr>
                <p:cNvPr id="25613" name="Text Box 13">
                  <a:extLst>
                    <a:ext uri="{FF2B5EF4-FFF2-40B4-BE49-F238E27FC236}">
                      <a16:creationId xmlns:a16="http://schemas.microsoft.com/office/drawing/2014/main" id="{47EDF6EB-A5F9-921E-0DC9-F612DFDF34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" y="2064"/>
                  <a:ext cx="816" cy="233"/>
                </a:xfrm>
                <a:prstGeom prst="rect">
                  <a:avLst/>
                </a:prstGeom>
                <a:noFill/>
                <a:ln w="9525">
                  <a:solidFill>
                    <a:srgbClr val="CC0066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ko-KR" b="1">
                      <a:solidFill>
                        <a:srgbClr val="CC0066"/>
                      </a:solidFill>
                      <a:ea typeface="굴림" panose="020B0600000101010101" pitchFamily="34" charset="-127"/>
                    </a:rPr>
                    <a:t>Reorder</a:t>
                  </a:r>
                </a:p>
              </p:txBody>
            </p:sp>
            <p:sp>
              <p:nvSpPr>
                <p:cNvPr id="25614" name="Line 14">
                  <a:extLst>
                    <a:ext uri="{FF2B5EF4-FFF2-40B4-BE49-F238E27FC236}">
                      <a16:creationId xmlns:a16="http://schemas.microsoft.com/office/drawing/2014/main" id="{A644F6D6-C38D-341B-975E-371CE7DD4B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2208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CC0066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</p:grpSp>
        </p:grpSp>
        <p:sp>
          <p:nvSpPr>
            <p:cNvPr id="25611" name="Line 11">
              <a:extLst>
                <a:ext uri="{FF2B5EF4-FFF2-40B4-BE49-F238E27FC236}">
                  <a16:creationId xmlns:a16="http://schemas.microsoft.com/office/drawing/2014/main" id="{84A67057-84BE-31FE-5CC5-C553F680F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968"/>
              <a:ext cx="0" cy="192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5624" name="Group 24">
            <a:extLst>
              <a:ext uri="{FF2B5EF4-FFF2-40B4-BE49-F238E27FC236}">
                <a16:creationId xmlns:a16="http://schemas.microsoft.com/office/drawing/2014/main" id="{39816F3B-09A7-610F-52B1-0D3A4E3A8DE3}"/>
              </a:ext>
            </a:extLst>
          </p:cNvPr>
          <p:cNvGrpSpPr>
            <a:grpSpLocks/>
          </p:cNvGrpSpPr>
          <p:nvPr/>
        </p:nvGrpSpPr>
        <p:grpSpPr bwMode="auto">
          <a:xfrm>
            <a:off x="9973236" y="-26894"/>
            <a:ext cx="2133600" cy="1524000"/>
            <a:chOff x="4128" y="48"/>
            <a:chExt cx="1440" cy="1104"/>
          </a:xfrm>
        </p:grpSpPr>
        <p:sp>
          <p:nvSpPr>
            <p:cNvPr id="25618" name="Rectangle 18">
              <a:extLst>
                <a:ext uri="{FF2B5EF4-FFF2-40B4-BE49-F238E27FC236}">
                  <a16:creationId xmlns:a16="http://schemas.microsoft.com/office/drawing/2014/main" id="{D5457720-9356-91EC-F23B-D36841E9C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48"/>
              <a:ext cx="1440" cy="110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5619" name="Picture 19">
              <a:extLst>
                <a:ext uri="{FF2B5EF4-FFF2-40B4-BE49-F238E27FC236}">
                  <a16:creationId xmlns:a16="http://schemas.microsoft.com/office/drawing/2014/main" id="{06E9E1DC-D780-9C68-CA23-46E02F7406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144"/>
              <a:ext cx="1248" cy="892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5627" name="Freeform 27">
            <a:extLst>
              <a:ext uri="{FF2B5EF4-FFF2-40B4-BE49-F238E27FC236}">
                <a16:creationId xmlns:a16="http://schemas.microsoft.com/office/drawing/2014/main" id="{EF4DFA4A-D1D4-8386-7AAF-FAD10F03DD0D}"/>
              </a:ext>
            </a:extLst>
          </p:cNvPr>
          <p:cNvSpPr>
            <a:spLocks/>
          </p:cNvSpPr>
          <p:nvPr/>
        </p:nvSpPr>
        <p:spPr bwMode="auto">
          <a:xfrm>
            <a:off x="2568389" y="1569289"/>
            <a:ext cx="856129" cy="3495770"/>
          </a:xfrm>
          <a:custGeom>
            <a:avLst/>
            <a:gdLst>
              <a:gd name="T0" fmla="*/ 0 w 560"/>
              <a:gd name="T1" fmla="*/ 0 h 2544"/>
              <a:gd name="T2" fmla="*/ 240 w 560"/>
              <a:gd name="T3" fmla="*/ 240 h 2544"/>
              <a:gd name="T4" fmla="*/ 336 w 560"/>
              <a:gd name="T5" fmla="*/ 1440 h 2544"/>
              <a:gd name="T6" fmla="*/ 528 w 560"/>
              <a:gd name="T7" fmla="*/ 2304 h 2544"/>
              <a:gd name="T8" fmla="*/ 528 w 560"/>
              <a:gd name="T9" fmla="*/ 2544 h 2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2544">
                <a:moveTo>
                  <a:pt x="0" y="0"/>
                </a:moveTo>
                <a:cubicBezTo>
                  <a:pt x="92" y="0"/>
                  <a:pt x="184" y="0"/>
                  <a:pt x="240" y="240"/>
                </a:cubicBezTo>
                <a:cubicBezTo>
                  <a:pt x="296" y="480"/>
                  <a:pt x="288" y="1096"/>
                  <a:pt x="336" y="1440"/>
                </a:cubicBezTo>
                <a:cubicBezTo>
                  <a:pt x="384" y="1784"/>
                  <a:pt x="496" y="2120"/>
                  <a:pt x="528" y="2304"/>
                </a:cubicBezTo>
                <a:cubicBezTo>
                  <a:pt x="560" y="2488"/>
                  <a:pt x="536" y="2504"/>
                  <a:pt x="528" y="2544"/>
                </a:cubicBezTo>
              </a:path>
            </a:pathLst>
          </a:custGeom>
          <a:noFill/>
          <a:ln w="19050" cmpd="sng">
            <a:solidFill>
              <a:srgbClr val="CC006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25628" name="Freeform 28">
            <a:extLst>
              <a:ext uri="{FF2B5EF4-FFF2-40B4-BE49-F238E27FC236}">
                <a16:creationId xmlns:a16="http://schemas.microsoft.com/office/drawing/2014/main" id="{60542FA4-A3AB-9462-7122-414C577B0BDE}"/>
              </a:ext>
            </a:extLst>
          </p:cNvPr>
          <p:cNvSpPr>
            <a:spLocks/>
          </p:cNvSpPr>
          <p:nvPr/>
        </p:nvSpPr>
        <p:spPr bwMode="auto">
          <a:xfrm>
            <a:off x="3962400" y="1694329"/>
            <a:ext cx="2450352" cy="2510118"/>
          </a:xfrm>
          <a:custGeom>
            <a:avLst/>
            <a:gdLst>
              <a:gd name="T0" fmla="*/ 720 w 784"/>
              <a:gd name="T1" fmla="*/ 0 h 1296"/>
              <a:gd name="T2" fmla="*/ 768 w 784"/>
              <a:gd name="T3" fmla="*/ 336 h 1296"/>
              <a:gd name="T4" fmla="*/ 624 w 784"/>
              <a:gd name="T5" fmla="*/ 768 h 1296"/>
              <a:gd name="T6" fmla="*/ 384 w 784"/>
              <a:gd name="T7" fmla="*/ 1104 h 1296"/>
              <a:gd name="T8" fmla="*/ 0 w 784"/>
              <a:gd name="T9" fmla="*/ 1296 h 1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84" h="1296">
                <a:moveTo>
                  <a:pt x="720" y="0"/>
                </a:moveTo>
                <a:cubicBezTo>
                  <a:pt x="752" y="104"/>
                  <a:pt x="784" y="208"/>
                  <a:pt x="768" y="336"/>
                </a:cubicBezTo>
                <a:cubicBezTo>
                  <a:pt x="752" y="464"/>
                  <a:pt x="688" y="640"/>
                  <a:pt x="624" y="768"/>
                </a:cubicBezTo>
                <a:cubicBezTo>
                  <a:pt x="560" y="896"/>
                  <a:pt x="488" y="1016"/>
                  <a:pt x="384" y="1104"/>
                </a:cubicBezTo>
                <a:cubicBezTo>
                  <a:pt x="280" y="1192"/>
                  <a:pt x="72" y="1264"/>
                  <a:pt x="0" y="1296"/>
                </a:cubicBezTo>
              </a:path>
            </a:pathLst>
          </a:custGeom>
          <a:noFill/>
          <a:ln w="19050" cmpd="sng">
            <a:solidFill>
              <a:srgbClr val="CC0066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82DCD0A-5499-379F-8520-B6266AFF1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1834" y="134471"/>
            <a:ext cx="8928847" cy="1524000"/>
          </a:xfrm>
        </p:spPr>
        <p:txBody>
          <a:bodyPr/>
          <a:lstStyle/>
          <a:p>
            <a:pPr algn="ctr"/>
            <a:r>
              <a:rPr lang="en-US" altLang="ko-KR" sz="4000" dirty="0">
                <a:ea typeface="굴림" panose="020B0600000101010101" pitchFamily="34" charset="-127"/>
              </a:rPr>
              <a:t>Interpreting Graphs:</a:t>
            </a:r>
            <a:br>
              <a:rPr lang="en-US" altLang="ko-KR" sz="4000" dirty="0">
                <a:ea typeface="굴림" panose="020B0600000101010101" pitchFamily="34" charset="-127"/>
              </a:rPr>
            </a:br>
            <a:r>
              <a:rPr lang="en-US" altLang="ko-KR" sz="4000" dirty="0">
                <a:ea typeface="굴림" panose="020B0600000101010101" pitchFamily="34" charset="-127"/>
              </a:rPr>
              <a:t>Location and Spread</a:t>
            </a:r>
          </a:p>
        </p:txBody>
      </p:sp>
      <p:sp>
        <p:nvSpPr>
          <p:cNvPr id="52336" name="Rectangle 112">
            <a:extLst>
              <a:ext uri="{FF2B5EF4-FFF2-40B4-BE49-F238E27FC236}">
                <a16:creationId xmlns:a16="http://schemas.microsoft.com/office/drawing/2014/main" id="{19DB0A70-3B14-495B-B8E5-F526BDA9A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3422" y="2220071"/>
            <a:ext cx="10753435" cy="311392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Check the horizontal and vertical scales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Examine the location of the data distribution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Examine the shape of the distribution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Look for any unusual measurements or outliers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CAABEA7-24BD-78C3-3A71-1CBEF2B81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265906"/>
            <a:ext cx="8229600" cy="1524000"/>
          </a:xfrm>
        </p:spPr>
        <p:txBody>
          <a:bodyPr>
            <a:normAutofit/>
          </a:bodyPr>
          <a:lstStyle/>
          <a:p>
            <a:pPr algn="ctr"/>
            <a:r>
              <a:rPr lang="en-US" altLang="ko-KR" sz="4000" dirty="0">
                <a:ea typeface="굴림" panose="020B0600000101010101" pitchFamily="34" charset="-127"/>
              </a:rPr>
              <a:t>Interpreting Graphs:</a:t>
            </a:r>
            <a:br>
              <a:rPr lang="en-US" altLang="ko-KR" sz="4000" dirty="0">
                <a:ea typeface="굴림" panose="020B0600000101010101" pitchFamily="34" charset="-127"/>
              </a:rPr>
            </a:br>
            <a:r>
              <a:rPr lang="en-US" altLang="ko-KR" sz="4000" dirty="0">
                <a:ea typeface="굴림" panose="020B0600000101010101" pitchFamily="34" charset="-127"/>
              </a:rPr>
              <a:t>Location and Spread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BD29C86-787F-A096-30E3-A6FABF636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90800" y="5181600"/>
            <a:ext cx="7315200" cy="1447800"/>
          </a:xfr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3200">
                <a:solidFill>
                  <a:srgbClr val="F4ECC6"/>
                </a:solidFill>
                <a:ea typeface="굴림" panose="020B0600000101010101" pitchFamily="34" charset="-127"/>
              </a:rPr>
              <a:t>Where is the data centered on the horizontal axis, and how does it spread out from the center?</a:t>
            </a:r>
          </a:p>
        </p:txBody>
      </p:sp>
      <p:grpSp>
        <p:nvGrpSpPr>
          <p:cNvPr id="26629" name="Group 5">
            <a:extLst>
              <a:ext uri="{FF2B5EF4-FFF2-40B4-BE49-F238E27FC236}">
                <a16:creationId xmlns:a16="http://schemas.microsoft.com/office/drawing/2014/main" id="{B378CE62-827D-4E7A-0D2D-656074C7974C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971800"/>
            <a:ext cx="5486400" cy="1905000"/>
            <a:chOff x="1296" y="1872"/>
            <a:chExt cx="3456" cy="1200"/>
          </a:xfrm>
        </p:grpSpPr>
        <p:grpSp>
          <p:nvGrpSpPr>
            <p:cNvPr id="26630" name="Group 6">
              <a:extLst>
                <a:ext uri="{FF2B5EF4-FFF2-40B4-BE49-F238E27FC236}">
                  <a16:creationId xmlns:a16="http://schemas.microsoft.com/office/drawing/2014/main" id="{6AAF43A2-C8FC-1EDB-FE40-B393ECDAC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2784"/>
              <a:ext cx="720" cy="288"/>
              <a:chOff x="1680" y="2784"/>
              <a:chExt cx="720" cy="288"/>
            </a:xfrm>
          </p:grpSpPr>
          <p:sp>
            <p:nvSpPr>
              <p:cNvPr id="26631" name="Line 7">
                <a:extLst>
                  <a:ext uri="{FF2B5EF4-FFF2-40B4-BE49-F238E27FC236}">
                    <a16:creationId xmlns:a16="http://schemas.microsoft.com/office/drawing/2014/main" id="{F6E26824-8EB6-69EF-8DC6-2992864CC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7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632" name="Line 8">
                <a:extLst>
                  <a:ext uri="{FF2B5EF4-FFF2-40B4-BE49-F238E27FC236}">
                    <a16:creationId xmlns:a16="http://schemas.microsoft.com/office/drawing/2014/main" id="{E1F58471-A955-F5AC-0D8B-E16446B370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3072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26633" name="Group 9">
              <a:extLst>
                <a:ext uri="{FF2B5EF4-FFF2-40B4-BE49-F238E27FC236}">
                  <a16:creationId xmlns:a16="http://schemas.microsoft.com/office/drawing/2014/main" id="{424DA4B0-A109-6761-C3D8-BC1523E8B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72"/>
              <a:ext cx="1536" cy="288"/>
              <a:chOff x="3168" y="1872"/>
              <a:chExt cx="1536" cy="288"/>
            </a:xfrm>
          </p:grpSpPr>
          <p:sp>
            <p:nvSpPr>
              <p:cNvPr id="26634" name="Line 10">
                <a:extLst>
                  <a:ext uri="{FF2B5EF4-FFF2-40B4-BE49-F238E27FC236}">
                    <a16:creationId xmlns:a16="http://schemas.microsoft.com/office/drawing/2014/main" id="{159879DE-D12D-B904-A79A-ACE8198DB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87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635" name="Line 11">
                <a:extLst>
                  <a:ext uri="{FF2B5EF4-FFF2-40B4-BE49-F238E27FC236}">
                    <a16:creationId xmlns:a16="http://schemas.microsoft.com/office/drawing/2014/main" id="{540E4A0A-C716-25CB-7103-5D9E771B5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160"/>
                <a:ext cx="1536" cy="0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26636" name="Group 12">
              <a:extLst>
                <a:ext uri="{FF2B5EF4-FFF2-40B4-BE49-F238E27FC236}">
                  <a16:creationId xmlns:a16="http://schemas.microsoft.com/office/drawing/2014/main" id="{700EB344-B13B-EA5C-AA17-B917DD138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784"/>
              <a:ext cx="1536" cy="288"/>
              <a:chOff x="3216" y="2784"/>
              <a:chExt cx="1536" cy="288"/>
            </a:xfrm>
          </p:grpSpPr>
          <p:sp>
            <p:nvSpPr>
              <p:cNvPr id="26637" name="Line 13">
                <a:extLst>
                  <a:ext uri="{FF2B5EF4-FFF2-40B4-BE49-F238E27FC236}">
                    <a16:creationId xmlns:a16="http://schemas.microsoft.com/office/drawing/2014/main" id="{54DBA74F-E928-60F6-1D1A-9BB5BC4240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784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638" name="Line 14">
                <a:extLst>
                  <a:ext uri="{FF2B5EF4-FFF2-40B4-BE49-F238E27FC236}">
                    <a16:creationId xmlns:a16="http://schemas.microsoft.com/office/drawing/2014/main" id="{89369E9C-163E-5068-D604-869578399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3072"/>
                <a:ext cx="1536" cy="0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26639" name="Group 15">
              <a:extLst>
                <a:ext uri="{FF2B5EF4-FFF2-40B4-BE49-F238E27FC236}">
                  <a16:creationId xmlns:a16="http://schemas.microsoft.com/office/drawing/2014/main" id="{B4F6ABD7-5D3E-7D16-4E84-010F6FC2FB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872"/>
              <a:ext cx="1536" cy="288"/>
              <a:chOff x="1296" y="1872"/>
              <a:chExt cx="1536" cy="288"/>
            </a:xfrm>
          </p:grpSpPr>
          <p:sp>
            <p:nvSpPr>
              <p:cNvPr id="26640" name="Line 16">
                <a:extLst>
                  <a:ext uri="{FF2B5EF4-FFF2-40B4-BE49-F238E27FC236}">
                    <a16:creationId xmlns:a16="http://schemas.microsoft.com/office/drawing/2014/main" id="{3904FD60-0E1C-4BFC-83FB-6ADE0C5C6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872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641" name="Line 17">
                <a:extLst>
                  <a:ext uri="{FF2B5EF4-FFF2-40B4-BE49-F238E27FC236}">
                    <a16:creationId xmlns:a16="http://schemas.microsoft.com/office/drawing/2014/main" id="{EA2FE5FA-B8C7-701E-6137-974FE2C868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160"/>
                <a:ext cx="1536" cy="0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</p:grpSp>
      <p:grpSp>
        <p:nvGrpSpPr>
          <p:cNvPr id="26642" name="Group 18">
            <a:extLst>
              <a:ext uri="{FF2B5EF4-FFF2-40B4-BE49-F238E27FC236}">
                <a16:creationId xmlns:a16="http://schemas.microsoft.com/office/drawing/2014/main" id="{BA5B6157-66B6-66C5-C29D-EED543B1B5BB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905000"/>
            <a:ext cx="6781800" cy="2438400"/>
            <a:chOff x="912" y="1200"/>
            <a:chExt cx="4272" cy="1536"/>
          </a:xfrm>
        </p:grpSpPr>
        <p:grpSp>
          <p:nvGrpSpPr>
            <p:cNvPr id="26643" name="Group 19">
              <a:extLst>
                <a:ext uri="{FF2B5EF4-FFF2-40B4-BE49-F238E27FC236}">
                  <a16:creationId xmlns:a16="http://schemas.microsoft.com/office/drawing/2014/main" id="{00161D2A-BE13-3D59-F39C-BB9C2AE53A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400"/>
              <a:ext cx="2016" cy="336"/>
              <a:chOff x="960" y="2400"/>
              <a:chExt cx="2016" cy="336"/>
            </a:xfrm>
          </p:grpSpPr>
          <p:sp>
            <p:nvSpPr>
              <p:cNvPr id="26644" name="AutoShape 20">
                <a:extLst>
                  <a:ext uri="{FF2B5EF4-FFF2-40B4-BE49-F238E27FC236}">
                    <a16:creationId xmlns:a16="http://schemas.microsoft.com/office/drawing/2014/main" id="{C22C63C0-B34B-B387-96AF-C324DBBC1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45" name="AutoShape 21">
                <a:extLst>
                  <a:ext uri="{FF2B5EF4-FFF2-40B4-BE49-F238E27FC236}">
                    <a16:creationId xmlns:a16="http://schemas.microsoft.com/office/drawing/2014/main" id="{0A7D7FAB-5EFF-A406-AC34-A21687156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4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46" name="AutoShape 22">
                <a:extLst>
                  <a:ext uri="{FF2B5EF4-FFF2-40B4-BE49-F238E27FC236}">
                    <a16:creationId xmlns:a16="http://schemas.microsoft.com/office/drawing/2014/main" id="{2BF1E6FF-809F-7A50-9A99-217D535B8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47" name="AutoShape 23">
                <a:extLst>
                  <a:ext uri="{FF2B5EF4-FFF2-40B4-BE49-F238E27FC236}">
                    <a16:creationId xmlns:a16="http://schemas.microsoft.com/office/drawing/2014/main" id="{AAA01AC9-EFD8-9FAB-C86A-36E885D2B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48" name="AutoShape 24">
                <a:extLst>
                  <a:ext uri="{FF2B5EF4-FFF2-40B4-BE49-F238E27FC236}">
                    <a16:creationId xmlns:a16="http://schemas.microsoft.com/office/drawing/2014/main" id="{6988385A-CE92-8E37-C566-7C9391376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40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49" name="AutoShape 25">
                <a:extLst>
                  <a:ext uri="{FF2B5EF4-FFF2-40B4-BE49-F238E27FC236}">
                    <a16:creationId xmlns:a16="http://schemas.microsoft.com/office/drawing/2014/main" id="{DBB4AE77-951C-EA7D-0CC5-4A3C40F04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4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50" name="AutoShape 26">
                <a:extLst>
                  <a:ext uri="{FF2B5EF4-FFF2-40B4-BE49-F238E27FC236}">
                    <a16:creationId xmlns:a16="http://schemas.microsoft.com/office/drawing/2014/main" id="{8382D26F-37D7-A71F-98FF-8A190AC35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51" name="AutoShape 27">
                <a:extLst>
                  <a:ext uri="{FF2B5EF4-FFF2-40B4-BE49-F238E27FC236}">
                    <a16:creationId xmlns:a16="http://schemas.microsoft.com/office/drawing/2014/main" id="{31D22331-A45A-74F0-A06D-5A8BCC20E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52" name="Line 28">
                <a:extLst>
                  <a:ext uri="{FF2B5EF4-FFF2-40B4-BE49-F238E27FC236}">
                    <a16:creationId xmlns:a16="http://schemas.microsoft.com/office/drawing/2014/main" id="{19A5B37B-531A-A578-CFD7-6612587EF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736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653" name="AutoShape 29">
                <a:extLst>
                  <a:ext uri="{FF2B5EF4-FFF2-40B4-BE49-F238E27FC236}">
                    <a16:creationId xmlns:a16="http://schemas.microsoft.com/office/drawing/2014/main" id="{416FFCC9-D721-2972-4C90-BA5D3BAFC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grpSp>
          <p:nvGrpSpPr>
            <p:cNvPr id="26654" name="Group 30">
              <a:extLst>
                <a:ext uri="{FF2B5EF4-FFF2-40B4-BE49-F238E27FC236}">
                  <a16:creationId xmlns:a16="http://schemas.microsoft.com/office/drawing/2014/main" id="{849EA5E1-26AF-1D31-D5D0-F289F8D34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064"/>
              <a:ext cx="2016" cy="672"/>
              <a:chOff x="3168" y="2064"/>
              <a:chExt cx="2016" cy="672"/>
            </a:xfrm>
          </p:grpSpPr>
          <p:sp>
            <p:nvSpPr>
              <p:cNvPr id="26655" name="AutoShape 31">
                <a:extLst>
                  <a:ext uri="{FF2B5EF4-FFF2-40B4-BE49-F238E27FC236}">
                    <a16:creationId xmlns:a16="http://schemas.microsoft.com/office/drawing/2014/main" id="{0DE6D5B8-E632-AC5F-C004-420388D04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3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grpSp>
            <p:nvGrpSpPr>
              <p:cNvPr id="26656" name="Group 32">
                <a:extLst>
                  <a:ext uri="{FF2B5EF4-FFF2-40B4-BE49-F238E27FC236}">
                    <a16:creationId xmlns:a16="http://schemas.microsoft.com/office/drawing/2014/main" id="{1113CDB1-E7FE-ACA5-2E76-22EC9F6661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064"/>
                <a:ext cx="2016" cy="672"/>
                <a:chOff x="3168" y="2064"/>
                <a:chExt cx="2016" cy="672"/>
              </a:xfrm>
            </p:grpSpPr>
            <p:sp>
              <p:nvSpPr>
                <p:cNvPr id="26657" name="Line 33">
                  <a:extLst>
                    <a:ext uri="{FF2B5EF4-FFF2-40B4-BE49-F238E27FC236}">
                      <a16:creationId xmlns:a16="http://schemas.microsoft.com/office/drawing/2014/main" id="{52A90770-F29B-EF56-2A20-66165A3A62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68" y="2736"/>
                  <a:ext cx="2016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  <p:sp>
              <p:nvSpPr>
                <p:cNvPr id="26658" name="AutoShape 34">
                  <a:extLst>
                    <a:ext uri="{FF2B5EF4-FFF2-40B4-BE49-F238E27FC236}">
                      <a16:creationId xmlns:a16="http://schemas.microsoft.com/office/drawing/2014/main" id="{51C7ED6D-5403-35CE-9503-7782153B7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59" name="AutoShape 35">
                  <a:extLst>
                    <a:ext uri="{FF2B5EF4-FFF2-40B4-BE49-F238E27FC236}">
                      <a16:creationId xmlns:a16="http://schemas.microsoft.com/office/drawing/2014/main" id="{A2B958B7-D592-E2A8-24AE-A11276484A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2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0" name="AutoShape 36">
                  <a:extLst>
                    <a:ext uri="{FF2B5EF4-FFF2-40B4-BE49-F238E27FC236}">
                      <a16:creationId xmlns:a16="http://schemas.microsoft.com/office/drawing/2014/main" id="{05CAEF4E-1ADB-E8C9-9238-C09F664AEB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1" name="AutoShape 37">
                  <a:extLst>
                    <a:ext uri="{FF2B5EF4-FFF2-40B4-BE49-F238E27FC236}">
                      <a16:creationId xmlns:a16="http://schemas.microsoft.com/office/drawing/2014/main" id="{0F840C5E-F66F-87EA-D586-F69EB5987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2" name="AutoShape 38">
                  <a:extLst>
                    <a:ext uri="{FF2B5EF4-FFF2-40B4-BE49-F238E27FC236}">
                      <a16:creationId xmlns:a16="http://schemas.microsoft.com/office/drawing/2014/main" id="{A88FE49F-E8CB-5A6A-160D-55A3EA9F1C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3" name="AutoShape 39">
                  <a:extLst>
                    <a:ext uri="{FF2B5EF4-FFF2-40B4-BE49-F238E27FC236}">
                      <a16:creationId xmlns:a16="http://schemas.microsoft.com/office/drawing/2014/main" id="{2E6B11A6-9F9A-41DE-1F93-C25E560EE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4" y="249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4" name="AutoShape 40">
                  <a:extLst>
                    <a:ext uri="{FF2B5EF4-FFF2-40B4-BE49-F238E27FC236}">
                      <a16:creationId xmlns:a16="http://schemas.microsoft.com/office/drawing/2014/main" id="{58849771-800E-FE7F-A508-0E5F1D391D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44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5" name="AutoShape 41">
                  <a:extLst>
                    <a:ext uri="{FF2B5EF4-FFF2-40B4-BE49-F238E27FC236}">
                      <a16:creationId xmlns:a16="http://schemas.microsoft.com/office/drawing/2014/main" id="{40780D84-8913-FDFD-582A-E25E1A2324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44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6" name="AutoShape 42">
                  <a:extLst>
                    <a:ext uri="{FF2B5EF4-FFF2-40B4-BE49-F238E27FC236}">
                      <a16:creationId xmlns:a16="http://schemas.microsoft.com/office/drawing/2014/main" id="{1B1DECD5-5AC0-21EC-1A51-45BF2C0886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7" name="AutoShape 43">
                  <a:extLst>
                    <a:ext uri="{FF2B5EF4-FFF2-40B4-BE49-F238E27FC236}">
                      <a16:creationId xmlns:a16="http://schemas.microsoft.com/office/drawing/2014/main" id="{94A62F3D-2FAF-CD7C-38E0-8D23384C49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35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8" name="AutoShape 44">
                  <a:extLst>
                    <a:ext uri="{FF2B5EF4-FFF2-40B4-BE49-F238E27FC236}">
                      <a16:creationId xmlns:a16="http://schemas.microsoft.com/office/drawing/2014/main" id="{61016009-CEE1-A23E-0990-79ADBB35CE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69" name="AutoShape 45">
                  <a:extLst>
                    <a:ext uri="{FF2B5EF4-FFF2-40B4-BE49-F238E27FC236}">
                      <a16:creationId xmlns:a16="http://schemas.microsoft.com/office/drawing/2014/main" id="{EA319758-C9C7-076F-FDC9-2FBF124BA8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30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0" name="AutoShape 46">
                  <a:extLst>
                    <a:ext uri="{FF2B5EF4-FFF2-40B4-BE49-F238E27FC236}">
                      <a16:creationId xmlns:a16="http://schemas.microsoft.com/office/drawing/2014/main" id="{0BC26E68-E688-8780-6E53-88F19FBA13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44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1" name="AutoShape 47">
                  <a:extLst>
                    <a:ext uri="{FF2B5EF4-FFF2-40B4-BE49-F238E27FC236}">
                      <a16:creationId xmlns:a16="http://schemas.microsoft.com/office/drawing/2014/main" id="{71CB9674-B205-8785-A36F-8CB4093C15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2" name="AutoShape 48">
                  <a:extLst>
                    <a:ext uri="{FF2B5EF4-FFF2-40B4-BE49-F238E27FC236}">
                      <a16:creationId xmlns:a16="http://schemas.microsoft.com/office/drawing/2014/main" id="{208084EA-9F95-F893-7FB4-8FFE4D9C6A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32" y="225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3" name="AutoShape 49">
                  <a:extLst>
                    <a:ext uri="{FF2B5EF4-FFF2-40B4-BE49-F238E27FC236}">
                      <a16:creationId xmlns:a16="http://schemas.microsoft.com/office/drawing/2014/main" id="{39DFC926-0E51-DD20-F5B8-95BDE8427F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30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4" name="AutoShape 50">
                  <a:extLst>
                    <a:ext uri="{FF2B5EF4-FFF2-40B4-BE49-F238E27FC236}">
                      <a16:creationId xmlns:a16="http://schemas.microsoft.com/office/drawing/2014/main" id="{0EAE5364-06F1-B2A6-A096-0019E84F6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44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5" name="AutoShape 51">
                  <a:extLst>
                    <a:ext uri="{FF2B5EF4-FFF2-40B4-BE49-F238E27FC236}">
                      <a16:creationId xmlns:a16="http://schemas.microsoft.com/office/drawing/2014/main" id="{6F7704B7-D017-30FB-F8A3-92D21BCCB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6" name="AutoShape 52">
                  <a:extLst>
                    <a:ext uri="{FF2B5EF4-FFF2-40B4-BE49-F238E27FC236}">
                      <a16:creationId xmlns:a16="http://schemas.microsoft.com/office/drawing/2014/main" id="{02527C70-D63F-949C-1922-3D977D7061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06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7" name="AutoShape 53">
                  <a:extLst>
                    <a:ext uri="{FF2B5EF4-FFF2-40B4-BE49-F238E27FC236}">
                      <a16:creationId xmlns:a16="http://schemas.microsoft.com/office/drawing/2014/main" id="{2CCFAF03-D659-37C8-0772-43A065097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16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8" name="AutoShape 54">
                  <a:extLst>
                    <a:ext uri="{FF2B5EF4-FFF2-40B4-BE49-F238E27FC236}">
                      <a16:creationId xmlns:a16="http://schemas.microsoft.com/office/drawing/2014/main" id="{1DAA62BC-BE69-79D7-E84B-50E379DF00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44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79" name="AutoShape 55">
                  <a:extLst>
                    <a:ext uri="{FF2B5EF4-FFF2-40B4-BE49-F238E27FC236}">
                      <a16:creationId xmlns:a16="http://schemas.microsoft.com/office/drawing/2014/main" id="{9F3D38B9-C802-0144-AEEA-092030D9B1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80" name="AutoShape 56">
                  <a:extLst>
                    <a:ext uri="{FF2B5EF4-FFF2-40B4-BE49-F238E27FC236}">
                      <a16:creationId xmlns:a16="http://schemas.microsoft.com/office/drawing/2014/main" id="{F75C8B30-9ED2-48C1-EFCC-4F9A95E7D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6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81" name="AutoShape 57">
                  <a:extLst>
                    <a:ext uri="{FF2B5EF4-FFF2-40B4-BE49-F238E27FC236}">
                      <a16:creationId xmlns:a16="http://schemas.microsoft.com/office/drawing/2014/main" id="{53137ED4-48C1-0E08-9DCE-4E0C4F8D4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16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682" name="AutoShape 58">
                  <a:extLst>
                    <a:ext uri="{FF2B5EF4-FFF2-40B4-BE49-F238E27FC236}">
                      <a16:creationId xmlns:a16="http://schemas.microsoft.com/office/drawing/2014/main" id="{D68A2070-8825-8A32-EF11-5CE1747ED6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2" y="235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</p:grpSp>
        </p:grpSp>
        <p:grpSp>
          <p:nvGrpSpPr>
            <p:cNvPr id="26683" name="Group 59">
              <a:extLst>
                <a:ext uri="{FF2B5EF4-FFF2-40B4-BE49-F238E27FC236}">
                  <a16:creationId xmlns:a16="http://schemas.microsoft.com/office/drawing/2014/main" id="{2E522E15-8049-D302-38F8-14CB078D0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248"/>
              <a:ext cx="2016" cy="577"/>
              <a:chOff x="3120" y="1248"/>
              <a:chExt cx="2016" cy="577"/>
            </a:xfrm>
          </p:grpSpPr>
          <p:sp>
            <p:nvSpPr>
              <p:cNvPr id="26684" name="Line 60">
                <a:extLst>
                  <a:ext uri="{FF2B5EF4-FFF2-40B4-BE49-F238E27FC236}">
                    <a16:creationId xmlns:a16="http://schemas.microsoft.com/office/drawing/2014/main" id="{CC74A2D4-97B0-ACA3-F28D-FD4A9EDDC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824"/>
                <a:ext cx="2016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6685" name="AutoShape 61">
                <a:extLst>
                  <a:ext uri="{FF2B5EF4-FFF2-40B4-BE49-F238E27FC236}">
                    <a16:creationId xmlns:a16="http://schemas.microsoft.com/office/drawing/2014/main" id="{0826C197-05F1-F742-177B-23440F6D9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86" name="AutoShape 62">
                <a:extLst>
                  <a:ext uri="{FF2B5EF4-FFF2-40B4-BE49-F238E27FC236}">
                    <a16:creationId xmlns:a16="http://schemas.microsoft.com/office/drawing/2014/main" id="{6D80026D-40A7-4F43-EF01-8AD59AC99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87" name="AutoShape 63">
                <a:extLst>
                  <a:ext uri="{FF2B5EF4-FFF2-40B4-BE49-F238E27FC236}">
                    <a16:creationId xmlns:a16="http://schemas.microsoft.com/office/drawing/2014/main" id="{4A6F2498-7F1D-E8E5-2D3F-CB444CB8E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88" name="AutoShape 64">
                <a:extLst>
                  <a:ext uri="{FF2B5EF4-FFF2-40B4-BE49-F238E27FC236}">
                    <a16:creationId xmlns:a16="http://schemas.microsoft.com/office/drawing/2014/main" id="{ABCCAB32-66E6-7B75-E1E4-E06423ECF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89" name="AutoShape 65">
                <a:extLst>
                  <a:ext uri="{FF2B5EF4-FFF2-40B4-BE49-F238E27FC236}">
                    <a16:creationId xmlns:a16="http://schemas.microsoft.com/office/drawing/2014/main" id="{B5293E3C-C81E-B0C9-4899-337131FC1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0" name="AutoShape 66">
                <a:extLst>
                  <a:ext uri="{FF2B5EF4-FFF2-40B4-BE49-F238E27FC236}">
                    <a16:creationId xmlns:a16="http://schemas.microsoft.com/office/drawing/2014/main" id="{49DBDABA-E273-3A31-3302-F4BD5C97B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1" name="AutoShape 67">
                <a:extLst>
                  <a:ext uri="{FF2B5EF4-FFF2-40B4-BE49-F238E27FC236}">
                    <a16:creationId xmlns:a16="http://schemas.microsoft.com/office/drawing/2014/main" id="{47557796-A3EF-A415-4291-ACE956BBF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2" name="AutoShape 68">
                <a:extLst>
                  <a:ext uri="{FF2B5EF4-FFF2-40B4-BE49-F238E27FC236}">
                    <a16:creationId xmlns:a16="http://schemas.microsoft.com/office/drawing/2014/main" id="{6C8D775A-8218-A192-5DC7-3A2638776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3" name="AutoShape 69">
                <a:extLst>
                  <a:ext uri="{FF2B5EF4-FFF2-40B4-BE49-F238E27FC236}">
                    <a16:creationId xmlns:a16="http://schemas.microsoft.com/office/drawing/2014/main" id="{8F8EFDD7-1400-7B49-8D6C-B8192B4703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4" name="AutoShape 70">
                <a:extLst>
                  <a:ext uri="{FF2B5EF4-FFF2-40B4-BE49-F238E27FC236}">
                    <a16:creationId xmlns:a16="http://schemas.microsoft.com/office/drawing/2014/main" id="{D6B6E9B2-CE6D-3E7D-608C-3951B0AE0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5" name="AutoShape 71">
                <a:extLst>
                  <a:ext uri="{FF2B5EF4-FFF2-40B4-BE49-F238E27FC236}">
                    <a16:creationId xmlns:a16="http://schemas.microsoft.com/office/drawing/2014/main" id="{BEC757B1-0DEB-3EC3-EC35-A1EE6B4B9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6" name="AutoShape 72">
                <a:extLst>
                  <a:ext uri="{FF2B5EF4-FFF2-40B4-BE49-F238E27FC236}">
                    <a16:creationId xmlns:a16="http://schemas.microsoft.com/office/drawing/2014/main" id="{209509FA-3DE2-D79D-692B-0EB0DDD42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7" name="AutoShape 73">
                <a:extLst>
                  <a:ext uri="{FF2B5EF4-FFF2-40B4-BE49-F238E27FC236}">
                    <a16:creationId xmlns:a16="http://schemas.microsoft.com/office/drawing/2014/main" id="{8D42E6CD-7740-A2AD-2B66-38AA14248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8" name="AutoShape 74">
                <a:extLst>
                  <a:ext uri="{FF2B5EF4-FFF2-40B4-BE49-F238E27FC236}">
                    <a16:creationId xmlns:a16="http://schemas.microsoft.com/office/drawing/2014/main" id="{372FEE3A-4F6C-B704-2566-48A385A8C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699" name="AutoShape 75">
                <a:extLst>
                  <a:ext uri="{FF2B5EF4-FFF2-40B4-BE49-F238E27FC236}">
                    <a16:creationId xmlns:a16="http://schemas.microsoft.com/office/drawing/2014/main" id="{D19DD2C1-3907-17E6-B5F3-0ECB98A63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0" name="AutoShape 76">
                <a:extLst>
                  <a:ext uri="{FF2B5EF4-FFF2-40B4-BE49-F238E27FC236}">
                    <a16:creationId xmlns:a16="http://schemas.microsoft.com/office/drawing/2014/main" id="{700CE4C6-FCC0-FDBC-B60F-938EBE222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1" name="AutoShape 77">
                <a:extLst>
                  <a:ext uri="{FF2B5EF4-FFF2-40B4-BE49-F238E27FC236}">
                    <a16:creationId xmlns:a16="http://schemas.microsoft.com/office/drawing/2014/main" id="{569A109C-1F8F-6163-693E-63C446F2A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2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2" name="AutoShape 78">
                <a:extLst>
                  <a:ext uri="{FF2B5EF4-FFF2-40B4-BE49-F238E27FC236}">
                    <a16:creationId xmlns:a16="http://schemas.microsoft.com/office/drawing/2014/main" id="{0DC2B0CF-A6F9-48F6-EAF6-16E01F161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3" name="AutoShape 79">
                <a:extLst>
                  <a:ext uri="{FF2B5EF4-FFF2-40B4-BE49-F238E27FC236}">
                    <a16:creationId xmlns:a16="http://schemas.microsoft.com/office/drawing/2014/main" id="{EC5D462F-6672-A55C-0FBC-12BF53433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4" name="AutoShape 80">
                <a:extLst>
                  <a:ext uri="{FF2B5EF4-FFF2-40B4-BE49-F238E27FC236}">
                    <a16:creationId xmlns:a16="http://schemas.microsoft.com/office/drawing/2014/main" id="{DD16E865-A311-31FA-1B66-CE0BC42C3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5" name="AutoShape 81">
                <a:extLst>
                  <a:ext uri="{FF2B5EF4-FFF2-40B4-BE49-F238E27FC236}">
                    <a16:creationId xmlns:a16="http://schemas.microsoft.com/office/drawing/2014/main" id="{6DD34324-AFA3-3062-515B-BDF06D84C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6" name="AutoShape 82">
                <a:extLst>
                  <a:ext uri="{FF2B5EF4-FFF2-40B4-BE49-F238E27FC236}">
                    <a16:creationId xmlns:a16="http://schemas.microsoft.com/office/drawing/2014/main" id="{DAD813A6-28FD-77E2-3DE0-538934DA2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7" name="AutoShape 83">
                <a:extLst>
                  <a:ext uri="{FF2B5EF4-FFF2-40B4-BE49-F238E27FC236}">
                    <a16:creationId xmlns:a16="http://schemas.microsoft.com/office/drawing/2014/main" id="{CF4F6F1E-CCD1-CCE6-5711-C97A2D329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8" name="AutoShape 84">
                <a:extLst>
                  <a:ext uri="{FF2B5EF4-FFF2-40B4-BE49-F238E27FC236}">
                    <a16:creationId xmlns:a16="http://schemas.microsoft.com/office/drawing/2014/main" id="{C354814F-2508-F8F8-8FEC-03CDFB683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6709" name="AutoShape 85">
                <a:extLst>
                  <a:ext uri="{FF2B5EF4-FFF2-40B4-BE49-F238E27FC236}">
                    <a16:creationId xmlns:a16="http://schemas.microsoft.com/office/drawing/2014/main" id="{E309507F-02B6-EE1D-7C00-D8F06C2BB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grpSp>
          <p:nvGrpSpPr>
            <p:cNvPr id="26710" name="Group 86">
              <a:extLst>
                <a:ext uri="{FF2B5EF4-FFF2-40B4-BE49-F238E27FC236}">
                  <a16:creationId xmlns:a16="http://schemas.microsoft.com/office/drawing/2014/main" id="{66B0143A-087A-596B-7E35-A9FC86909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200"/>
              <a:ext cx="2016" cy="624"/>
              <a:chOff x="912" y="1200"/>
              <a:chExt cx="2016" cy="624"/>
            </a:xfrm>
          </p:grpSpPr>
          <p:sp>
            <p:nvSpPr>
              <p:cNvPr id="26711" name="AutoShape 87">
                <a:extLst>
                  <a:ext uri="{FF2B5EF4-FFF2-40B4-BE49-F238E27FC236}">
                    <a16:creationId xmlns:a16="http://schemas.microsoft.com/office/drawing/2014/main" id="{83519866-3247-7D5C-A0A8-DD2508B96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grpSp>
            <p:nvGrpSpPr>
              <p:cNvPr id="26712" name="Group 88">
                <a:extLst>
                  <a:ext uri="{FF2B5EF4-FFF2-40B4-BE49-F238E27FC236}">
                    <a16:creationId xmlns:a16="http://schemas.microsoft.com/office/drawing/2014/main" id="{F911E256-90A1-413B-16B8-C494201E27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200"/>
                <a:ext cx="2016" cy="624"/>
                <a:chOff x="912" y="1200"/>
                <a:chExt cx="2016" cy="624"/>
              </a:xfrm>
            </p:grpSpPr>
            <p:sp>
              <p:nvSpPr>
                <p:cNvPr id="26713" name="Line 89">
                  <a:extLst>
                    <a:ext uri="{FF2B5EF4-FFF2-40B4-BE49-F238E27FC236}">
                      <a16:creationId xmlns:a16="http://schemas.microsoft.com/office/drawing/2014/main" id="{8CBAC6A5-8302-8BBD-93CA-C2F106A5B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824"/>
                  <a:ext cx="2016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  <p:sp>
              <p:nvSpPr>
                <p:cNvPr id="26714" name="AutoShape 90">
                  <a:extLst>
                    <a:ext uri="{FF2B5EF4-FFF2-40B4-BE49-F238E27FC236}">
                      <a16:creationId xmlns:a16="http://schemas.microsoft.com/office/drawing/2014/main" id="{C5805F95-BC38-A874-3A5D-0E59A227F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15" name="AutoShape 91">
                  <a:extLst>
                    <a:ext uri="{FF2B5EF4-FFF2-40B4-BE49-F238E27FC236}">
                      <a16:creationId xmlns:a16="http://schemas.microsoft.com/office/drawing/2014/main" id="{56B193AC-1387-DB7B-5B68-EAB6B63C0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16" name="AutoShape 92">
                  <a:extLst>
                    <a:ext uri="{FF2B5EF4-FFF2-40B4-BE49-F238E27FC236}">
                      <a16:creationId xmlns:a16="http://schemas.microsoft.com/office/drawing/2014/main" id="{21F5ABBE-4456-29B6-CC20-8BED78C95C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17" name="AutoShape 93">
                  <a:extLst>
                    <a:ext uri="{FF2B5EF4-FFF2-40B4-BE49-F238E27FC236}">
                      <a16:creationId xmlns:a16="http://schemas.microsoft.com/office/drawing/2014/main" id="{70A81C0B-5872-0657-08F1-EBE59FE2C4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18" name="AutoShape 94">
                  <a:extLst>
                    <a:ext uri="{FF2B5EF4-FFF2-40B4-BE49-F238E27FC236}">
                      <a16:creationId xmlns:a16="http://schemas.microsoft.com/office/drawing/2014/main" id="{F41D1483-7DE7-D516-74C5-96E809EB18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19" name="AutoShape 95">
                  <a:extLst>
                    <a:ext uri="{FF2B5EF4-FFF2-40B4-BE49-F238E27FC236}">
                      <a16:creationId xmlns:a16="http://schemas.microsoft.com/office/drawing/2014/main" id="{B4C82AC5-3E58-636C-087B-5AFFE6EBB5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0" name="AutoShape 96">
                  <a:extLst>
                    <a:ext uri="{FF2B5EF4-FFF2-40B4-BE49-F238E27FC236}">
                      <a16:creationId xmlns:a16="http://schemas.microsoft.com/office/drawing/2014/main" id="{317CB7B3-53A4-F373-2939-E69A933A25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1" name="AutoShape 97">
                  <a:extLst>
                    <a:ext uri="{FF2B5EF4-FFF2-40B4-BE49-F238E27FC236}">
                      <a16:creationId xmlns:a16="http://schemas.microsoft.com/office/drawing/2014/main" id="{9501A41D-71CB-0193-FB9B-17CE8D25F2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2" name="AutoShape 98">
                  <a:extLst>
                    <a:ext uri="{FF2B5EF4-FFF2-40B4-BE49-F238E27FC236}">
                      <a16:creationId xmlns:a16="http://schemas.microsoft.com/office/drawing/2014/main" id="{1455728E-178A-4811-7DDB-39A8BDB9A0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6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3" name="AutoShape 99">
                  <a:extLst>
                    <a:ext uri="{FF2B5EF4-FFF2-40B4-BE49-F238E27FC236}">
                      <a16:creationId xmlns:a16="http://schemas.microsoft.com/office/drawing/2014/main" id="{2753068E-3438-187D-5FCF-77EA945D2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4" name="AutoShape 100">
                  <a:extLst>
                    <a:ext uri="{FF2B5EF4-FFF2-40B4-BE49-F238E27FC236}">
                      <a16:creationId xmlns:a16="http://schemas.microsoft.com/office/drawing/2014/main" id="{62294113-D23C-9368-0908-35B6400A33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5" name="AutoShape 101">
                  <a:extLst>
                    <a:ext uri="{FF2B5EF4-FFF2-40B4-BE49-F238E27FC236}">
                      <a16:creationId xmlns:a16="http://schemas.microsoft.com/office/drawing/2014/main" id="{C21321EF-A4B8-5D0A-0454-42AC1946DD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6" name="AutoShape 102">
                  <a:extLst>
                    <a:ext uri="{FF2B5EF4-FFF2-40B4-BE49-F238E27FC236}">
                      <a16:creationId xmlns:a16="http://schemas.microsoft.com/office/drawing/2014/main" id="{76FCE145-4C99-5D0E-3787-4ED384D005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7" name="AutoShape 103">
                  <a:extLst>
                    <a:ext uri="{FF2B5EF4-FFF2-40B4-BE49-F238E27FC236}">
                      <a16:creationId xmlns:a16="http://schemas.microsoft.com/office/drawing/2014/main" id="{4320F70E-3271-2375-57DF-C5D1B8E29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8" name="AutoShape 104">
                  <a:extLst>
                    <a:ext uri="{FF2B5EF4-FFF2-40B4-BE49-F238E27FC236}">
                      <a16:creationId xmlns:a16="http://schemas.microsoft.com/office/drawing/2014/main" id="{D0F5971E-CB76-9C17-4999-67A464A858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29" name="AutoShape 105">
                  <a:extLst>
                    <a:ext uri="{FF2B5EF4-FFF2-40B4-BE49-F238E27FC236}">
                      <a16:creationId xmlns:a16="http://schemas.microsoft.com/office/drawing/2014/main" id="{4BE937BC-04B1-DE71-329C-7BD1C9B56B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30" name="AutoShape 106">
                  <a:extLst>
                    <a:ext uri="{FF2B5EF4-FFF2-40B4-BE49-F238E27FC236}">
                      <a16:creationId xmlns:a16="http://schemas.microsoft.com/office/drawing/2014/main" id="{B8219805-7DC8-E72C-13E2-43E983E28E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31" name="AutoShape 107">
                  <a:extLst>
                    <a:ext uri="{FF2B5EF4-FFF2-40B4-BE49-F238E27FC236}">
                      <a16:creationId xmlns:a16="http://schemas.microsoft.com/office/drawing/2014/main" id="{9E6DABF4-97E4-EBE4-9BC2-A0E2519743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32" name="AutoShape 108">
                  <a:extLst>
                    <a:ext uri="{FF2B5EF4-FFF2-40B4-BE49-F238E27FC236}">
                      <a16:creationId xmlns:a16="http://schemas.microsoft.com/office/drawing/2014/main" id="{68A59A69-9127-5057-42F7-4823AA7A92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33" name="AutoShape 109">
                  <a:extLst>
                    <a:ext uri="{FF2B5EF4-FFF2-40B4-BE49-F238E27FC236}">
                      <a16:creationId xmlns:a16="http://schemas.microsoft.com/office/drawing/2014/main" id="{FC143E4D-AD00-83E3-2312-19D6CAE1C5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26734" name="AutoShape 110">
                  <a:extLst>
                    <a:ext uri="{FF2B5EF4-FFF2-40B4-BE49-F238E27FC236}">
                      <a16:creationId xmlns:a16="http://schemas.microsoft.com/office/drawing/2014/main" id="{4AC0C30C-3FE9-C203-555F-0B7F8D2944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20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2370004-2BBE-F425-8FAF-72B9859F6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0"/>
            <a:ext cx="7162800" cy="1524000"/>
          </a:xfrm>
        </p:spPr>
        <p:txBody>
          <a:bodyPr>
            <a:normAutofit/>
          </a:bodyPr>
          <a:lstStyle/>
          <a:p>
            <a:r>
              <a:rPr lang="en-US" altLang="ko-KR" sz="4800" dirty="0">
                <a:ea typeface="굴림" panose="020B0600000101010101" pitchFamily="34" charset="-127"/>
              </a:rPr>
              <a:t>Interpreting Graphs: Shapes</a:t>
            </a:r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E86D3901-2A5D-03E6-FDFD-91305D7CDC7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349189"/>
            <a:ext cx="8077200" cy="1098550"/>
            <a:chOff x="672" y="720"/>
            <a:chExt cx="5088" cy="692"/>
          </a:xfrm>
        </p:grpSpPr>
        <p:grpSp>
          <p:nvGrpSpPr>
            <p:cNvPr id="27653" name="Group 5">
              <a:extLst>
                <a:ext uri="{FF2B5EF4-FFF2-40B4-BE49-F238E27FC236}">
                  <a16:creationId xmlns:a16="http://schemas.microsoft.com/office/drawing/2014/main" id="{4D9AEF08-EF41-E72C-E86C-5058E8F8B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720"/>
              <a:ext cx="2016" cy="624"/>
              <a:chOff x="912" y="1200"/>
              <a:chExt cx="2016" cy="624"/>
            </a:xfrm>
          </p:grpSpPr>
          <p:sp>
            <p:nvSpPr>
              <p:cNvPr id="27654" name="Line 6">
                <a:extLst>
                  <a:ext uri="{FF2B5EF4-FFF2-40B4-BE49-F238E27FC236}">
                    <a16:creationId xmlns:a16="http://schemas.microsoft.com/office/drawing/2014/main" id="{0D03646D-78F3-91A6-359B-B9B6E9EDE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824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655" name="AutoShape 7">
                <a:extLst>
                  <a:ext uri="{FF2B5EF4-FFF2-40B4-BE49-F238E27FC236}">
                    <a16:creationId xmlns:a16="http://schemas.microsoft.com/office/drawing/2014/main" id="{C0AB3975-A0B8-24DF-590D-A1942D7A5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56" name="AutoShape 8">
                <a:extLst>
                  <a:ext uri="{FF2B5EF4-FFF2-40B4-BE49-F238E27FC236}">
                    <a16:creationId xmlns:a16="http://schemas.microsoft.com/office/drawing/2014/main" id="{0A0675C0-92EE-56A4-5307-75A287BAE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57" name="AutoShape 9">
                <a:extLst>
                  <a:ext uri="{FF2B5EF4-FFF2-40B4-BE49-F238E27FC236}">
                    <a16:creationId xmlns:a16="http://schemas.microsoft.com/office/drawing/2014/main" id="{75971477-76FD-9C37-DBF9-F00C551E3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58" name="AutoShape 10">
                <a:extLst>
                  <a:ext uri="{FF2B5EF4-FFF2-40B4-BE49-F238E27FC236}">
                    <a16:creationId xmlns:a16="http://schemas.microsoft.com/office/drawing/2014/main" id="{49E311DE-3CB3-D208-E74C-745AF0C19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59" name="AutoShape 11">
                <a:extLst>
                  <a:ext uri="{FF2B5EF4-FFF2-40B4-BE49-F238E27FC236}">
                    <a16:creationId xmlns:a16="http://schemas.microsoft.com/office/drawing/2014/main" id="{135ABE48-ED4E-06F9-220F-DD14D93B8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0" name="AutoShape 12">
                <a:extLst>
                  <a:ext uri="{FF2B5EF4-FFF2-40B4-BE49-F238E27FC236}">
                    <a16:creationId xmlns:a16="http://schemas.microsoft.com/office/drawing/2014/main" id="{D1EBE5DD-800C-5B4A-3B1F-4B11A4E02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1" name="AutoShape 13">
                <a:extLst>
                  <a:ext uri="{FF2B5EF4-FFF2-40B4-BE49-F238E27FC236}">
                    <a16:creationId xmlns:a16="http://schemas.microsoft.com/office/drawing/2014/main" id="{759F8F4F-5DA3-F380-C00B-CCE4B9A64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2" name="AutoShape 14">
                <a:extLst>
                  <a:ext uri="{FF2B5EF4-FFF2-40B4-BE49-F238E27FC236}">
                    <a16:creationId xmlns:a16="http://schemas.microsoft.com/office/drawing/2014/main" id="{7D8C47BD-E882-3CA7-B11D-4EF086418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3" name="AutoShape 15">
                <a:extLst>
                  <a:ext uri="{FF2B5EF4-FFF2-40B4-BE49-F238E27FC236}">
                    <a16:creationId xmlns:a16="http://schemas.microsoft.com/office/drawing/2014/main" id="{9C3F8FBA-D86A-EB9B-707B-9F4D82915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4" name="AutoShape 16">
                <a:extLst>
                  <a:ext uri="{FF2B5EF4-FFF2-40B4-BE49-F238E27FC236}">
                    <a16:creationId xmlns:a16="http://schemas.microsoft.com/office/drawing/2014/main" id="{08B63350-4173-AF7A-F0E8-A21B22552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5" name="AutoShape 17">
                <a:extLst>
                  <a:ext uri="{FF2B5EF4-FFF2-40B4-BE49-F238E27FC236}">
                    <a16:creationId xmlns:a16="http://schemas.microsoft.com/office/drawing/2014/main" id="{B8A8C78F-E1AB-B69D-D5BA-9BC843271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6" name="AutoShape 18">
                <a:extLst>
                  <a:ext uri="{FF2B5EF4-FFF2-40B4-BE49-F238E27FC236}">
                    <a16:creationId xmlns:a16="http://schemas.microsoft.com/office/drawing/2014/main" id="{75408A26-3F01-9E07-E5FC-7C7EB755A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7" name="AutoShape 19">
                <a:extLst>
                  <a:ext uri="{FF2B5EF4-FFF2-40B4-BE49-F238E27FC236}">
                    <a16:creationId xmlns:a16="http://schemas.microsoft.com/office/drawing/2014/main" id="{52178CC9-6018-82C6-3D24-3E5D40046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8" name="AutoShape 20">
                <a:extLst>
                  <a:ext uri="{FF2B5EF4-FFF2-40B4-BE49-F238E27FC236}">
                    <a16:creationId xmlns:a16="http://schemas.microsoft.com/office/drawing/2014/main" id="{ABD8D41B-4425-B219-D1AF-BFA1692CF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48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69" name="AutoShape 21">
                <a:extLst>
                  <a:ext uri="{FF2B5EF4-FFF2-40B4-BE49-F238E27FC236}">
                    <a16:creationId xmlns:a16="http://schemas.microsoft.com/office/drawing/2014/main" id="{4404E9BC-3FAB-B618-C759-91654922A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48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70" name="AutoShape 22">
                <a:extLst>
                  <a:ext uri="{FF2B5EF4-FFF2-40B4-BE49-F238E27FC236}">
                    <a16:creationId xmlns:a16="http://schemas.microsoft.com/office/drawing/2014/main" id="{FECA7A4B-CD08-72C1-FB54-F4F9DD20E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48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71" name="AutoShape 23">
                <a:extLst>
                  <a:ext uri="{FF2B5EF4-FFF2-40B4-BE49-F238E27FC236}">
                    <a16:creationId xmlns:a16="http://schemas.microsoft.com/office/drawing/2014/main" id="{78285822-9F96-0D75-BA4A-0823D047F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3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72" name="AutoShape 24">
                <a:extLst>
                  <a:ext uri="{FF2B5EF4-FFF2-40B4-BE49-F238E27FC236}">
                    <a16:creationId xmlns:a16="http://schemas.microsoft.com/office/drawing/2014/main" id="{366C9F07-B8AF-DA0E-A236-0B18B5CDC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3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73" name="AutoShape 25">
                <a:extLst>
                  <a:ext uri="{FF2B5EF4-FFF2-40B4-BE49-F238E27FC236}">
                    <a16:creationId xmlns:a16="http://schemas.microsoft.com/office/drawing/2014/main" id="{C5DDB204-5A14-71FA-887D-8E5EA8419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3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74" name="AutoShape 26">
                <a:extLst>
                  <a:ext uri="{FF2B5EF4-FFF2-40B4-BE49-F238E27FC236}">
                    <a16:creationId xmlns:a16="http://schemas.microsoft.com/office/drawing/2014/main" id="{59AF48B3-6298-97DA-29BC-52D3DF062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75" name="AutoShape 27">
                <a:extLst>
                  <a:ext uri="{FF2B5EF4-FFF2-40B4-BE49-F238E27FC236}">
                    <a16:creationId xmlns:a16="http://schemas.microsoft.com/office/drawing/2014/main" id="{30B3DEF3-FD66-25F5-C8F8-8D3629E98A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20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sp>
          <p:nvSpPr>
            <p:cNvPr id="27676" name="Text Box 28">
              <a:extLst>
                <a:ext uri="{FF2B5EF4-FFF2-40B4-BE49-F238E27FC236}">
                  <a16:creationId xmlns:a16="http://schemas.microsoft.com/office/drawing/2014/main" id="{7D01C54F-D360-240F-04F5-0464AF6B1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816"/>
              <a:ext cx="292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800" b="1" dirty="0">
                  <a:solidFill>
                    <a:srgbClr val="333333"/>
                  </a:solidFill>
                  <a:ea typeface="굴림" panose="020B0600000101010101" pitchFamily="34" charset="-127"/>
                </a:rPr>
                <a:t>Mound shaped and symmetric (mirror images)</a:t>
              </a:r>
            </a:p>
          </p:txBody>
        </p:sp>
      </p:grpSp>
      <p:grpSp>
        <p:nvGrpSpPr>
          <p:cNvPr id="27768" name="Group 120">
            <a:extLst>
              <a:ext uri="{FF2B5EF4-FFF2-40B4-BE49-F238E27FC236}">
                <a16:creationId xmlns:a16="http://schemas.microsoft.com/office/drawing/2014/main" id="{FE4B9F27-5327-B741-F0BB-D33F15C271F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644589"/>
            <a:ext cx="8001000" cy="946150"/>
            <a:chOff x="720" y="1536"/>
            <a:chExt cx="5040" cy="596"/>
          </a:xfrm>
        </p:grpSpPr>
        <p:grpSp>
          <p:nvGrpSpPr>
            <p:cNvPr id="27678" name="Group 30">
              <a:extLst>
                <a:ext uri="{FF2B5EF4-FFF2-40B4-BE49-F238E27FC236}">
                  <a16:creationId xmlns:a16="http://schemas.microsoft.com/office/drawing/2014/main" id="{E6DDC768-7F9C-8F12-E4DA-81AE96B96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536"/>
              <a:ext cx="2016" cy="577"/>
              <a:chOff x="3120" y="1248"/>
              <a:chExt cx="2016" cy="577"/>
            </a:xfrm>
          </p:grpSpPr>
          <p:sp>
            <p:nvSpPr>
              <p:cNvPr id="27679" name="Line 31">
                <a:extLst>
                  <a:ext uri="{FF2B5EF4-FFF2-40B4-BE49-F238E27FC236}">
                    <a16:creationId xmlns:a16="http://schemas.microsoft.com/office/drawing/2014/main" id="{C9BBF2E3-DBB4-2D84-D7EB-5E4ADF034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824"/>
                <a:ext cx="2016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680" name="AutoShape 32">
                <a:extLst>
                  <a:ext uri="{FF2B5EF4-FFF2-40B4-BE49-F238E27FC236}">
                    <a16:creationId xmlns:a16="http://schemas.microsoft.com/office/drawing/2014/main" id="{E212A917-7EB8-15CC-590F-50A2CBBE7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1" name="AutoShape 33">
                <a:extLst>
                  <a:ext uri="{FF2B5EF4-FFF2-40B4-BE49-F238E27FC236}">
                    <a16:creationId xmlns:a16="http://schemas.microsoft.com/office/drawing/2014/main" id="{05989989-D88B-A1DD-2C29-017CC614E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2" name="AutoShape 34">
                <a:extLst>
                  <a:ext uri="{FF2B5EF4-FFF2-40B4-BE49-F238E27FC236}">
                    <a16:creationId xmlns:a16="http://schemas.microsoft.com/office/drawing/2014/main" id="{AB974538-D4B8-0644-DA8D-0697A3F11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3" name="AutoShape 35">
                <a:extLst>
                  <a:ext uri="{FF2B5EF4-FFF2-40B4-BE49-F238E27FC236}">
                    <a16:creationId xmlns:a16="http://schemas.microsoft.com/office/drawing/2014/main" id="{0372F5AA-BA8B-1D80-CE2E-202AD6F7D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4" name="AutoShape 36">
                <a:extLst>
                  <a:ext uri="{FF2B5EF4-FFF2-40B4-BE49-F238E27FC236}">
                    <a16:creationId xmlns:a16="http://schemas.microsoft.com/office/drawing/2014/main" id="{9E250EF1-7386-F8D3-12D2-64AC0794A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5" name="AutoShape 37">
                <a:extLst>
                  <a:ext uri="{FF2B5EF4-FFF2-40B4-BE49-F238E27FC236}">
                    <a16:creationId xmlns:a16="http://schemas.microsoft.com/office/drawing/2014/main" id="{DF716507-73D8-75D9-0554-80F5A1080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6" name="AutoShape 38">
                <a:extLst>
                  <a:ext uri="{FF2B5EF4-FFF2-40B4-BE49-F238E27FC236}">
                    <a16:creationId xmlns:a16="http://schemas.microsoft.com/office/drawing/2014/main" id="{E56A6E4B-1EAA-B304-063E-461B8A9FD6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7" name="AutoShape 39">
                <a:extLst>
                  <a:ext uri="{FF2B5EF4-FFF2-40B4-BE49-F238E27FC236}">
                    <a16:creationId xmlns:a16="http://schemas.microsoft.com/office/drawing/2014/main" id="{072F60CD-4B6D-2D42-5D02-A3A260E4E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8" name="AutoShape 40">
                <a:extLst>
                  <a:ext uri="{FF2B5EF4-FFF2-40B4-BE49-F238E27FC236}">
                    <a16:creationId xmlns:a16="http://schemas.microsoft.com/office/drawing/2014/main" id="{1F2A3BB2-679C-7883-5FAD-3DEE2AFB9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89" name="AutoShape 41">
                <a:extLst>
                  <a:ext uri="{FF2B5EF4-FFF2-40B4-BE49-F238E27FC236}">
                    <a16:creationId xmlns:a16="http://schemas.microsoft.com/office/drawing/2014/main" id="{EAC705CB-CD84-A8A2-8A31-F2ADC99274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0" name="AutoShape 42">
                <a:extLst>
                  <a:ext uri="{FF2B5EF4-FFF2-40B4-BE49-F238E27FC236}">
                    <a16:creationId xmlns:a16="http://schemas.microsoft.com/office/drawing/2014/main" id="{8EB0805A-51AB-3A01-E91B-4C7B39618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1" name="AutoShape 43">
                <a:extLst>
                  <a:ext uri="{FF2B5EF4-FFF2-40B4-BE49-F238E27FC236}">
                    <a16:creationId xmlns:a16="http://schemas.microsoft.com/office/drawing/2014/main" id="{C7EEE028-1D63-7A5B-6B66-9E819E0CD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2" name="AutoShape 44">
                <a:extLst>
                  <a:ext uri="{FF2B5EF4-FFF2-40B4-BE49-F238E27FC236}">
                    <a16:creationId xmlns:a16="http://schemas.microsoft.com/office/drawing/2014/main" id="{FAE591A5-D828-D43C-3944-5BDBBD84B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3" name="AutoShape 45">
                <a:extLst>
                  <a:ext uri="{FF2B5EF4-FFF2-40B4-BE49-F238E27FC236}">
                    <a16:creationId xmlns:a16="http://schemas.microsoft.com/office/drawing/2014/main" id="{D22F3AB8-0A9D-F4B4-E5DB-021092169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4" name="AutoShape 46">
                <a:extLst>
                  <a:ext uri="{FF2B5EF4-FFF2-40B4-BE49-F238E27FC236}">
                    <a16:creationId xmlns:a16="http://schemas.microsoft.com/office/drawing/2014/main" id="{7C04F272-3F5E-813F-160A-4667EA1CC4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5" name="AutoShape 47">
                <a:extLst>
                  <a:ext uri="{FF2B5EF4-FFF2-40B4-BE49-F238E27FC236}">
                    <a16:creationId xmlns:a16="http://schemas.microsoft.com/office/drawing/2014/main" id="{CE657093-2653-C9CA-13F2-3B73B5CA7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6" name="AutoShape 48">
                <a:extLst>
                  <a:ext uri="{FF2B5EF4-FFF2-40B4-BE49-F238E27FC236}">
                    <a16:creationId xmlns:a16="http://schemas.microsoft.com/office/drawing/2014/main" id="{BC3509CD-81EA-41A7-8C50-E17BEA046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2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7" name="AutoShape 49">
                <a:extLst>
                  <a:ext uri="{FF2B5EF4-FFF2-40B4-BE49-F238E27FC236}">
                    <a16:creationId xmlns:a16="http://schemas.microsoft.com/office/drawing/2014/main" id="{7A182590-8EC1-B526-1714-9911BED9E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8" name="AutoShape 50">
                <a:extLst>
                  <a:ext uri="{FF2B5EF4-FFF2-40B4-BE49-F238E27FC236}">
                    <a16:creationId xmlns:a16="http://schemas.microsoft.com/office/drawing/2014/main" id="{3DCD6847-6CB7-C28B-1FE9-F27BB8903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699" name="AutoShape 51">
                <a:extLst>
                  <a:ext uri="{FF2B5EF4-FFF2-40B4-BE49-F238E27FC236}">
                    <a16:creationId xmlns:a16="http://schemas.microsoft.com/office/drawing/2014/main" id="{30FFF77F-B849-7CFE-3B32-3590D6710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00" name="AutoShape 52">
                <a:extLst>
                  <a:ext uri="{FF2B5EF4-FFF2-40B4-BE49-F238E27FC236}">
                    <a16:creationId xmlns:a16="http://schemas.microsoft.com/office/drawing/2014/main" id="{6084054E-51F9-3867-39CA-0D2B0A1F1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01" name="AutoShape 53">
                <a:extLst>
                  <a:ext uri="{FF2B5EF4-FFF2-40B4-BE49-F238E27FC236}">
                    <a16:creationId xmlns:a16="http://schemas.microsoft.com/office/drawing/2014/main" id="{897E69FF-4E46-18F3-504B-AE9F2DC6E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02" name="AutoShape 54">
                <a:extLst>
                  <a:ext uri="{FF2B5EF4-FFF2-40B4-BE49-F238E27FC236}">
                    <a16:creationId xmlns:a16="http://schemas.microsoft.com/office/drawing/2014/main" id="{022CC712-C667-5AAF-8DBC-82F500E17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03" name="AutoShape 55">
                <a:extLst>
                  <a:ext uri="{FF2B5EF4-FFF2-40B4-BE49-F238E27FC236}">
                    <a16:creationId xmlns:a16="http://schemas.microsoft.com/office/drawing/2014/main" id="{69A83EEE-CDBA-D853-1642-772D79FBE9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04" name="AutoShape 56">
                <a:extLst>
                  <a:ext uri="{FF2B5EF4-FFF2-40B4-BE49-F238E27FC236}">
                    <a16:creationId xmlns:a16="http://schemas.microsoft.com/office/drawing/2014/main" id="{164EBC57-62CF-1ABC-60B9-7313B10ED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sp>
          <p:nvSpPr>
            <p:cNvPr id="27705" name="Text Box 57">
              <a:extLst>
                <a:ext uri="{FF2B5EF4-FFF2-40B4-BE49-F238E27FC236}">
                  <a16:creationId xmlns:a16="http://schemas.microsoft.com/office/drawing/2014/main" id="{B0D1BFEA-E648-DFE9-F1E2-4494177C8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536"/>
              <a:ext cx="292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800" b="1" dirty="0">
                  <a:solidFill>
                    <a:srgbClr val="333333"/>
                  </a:solidFill>
                  <a:ea typeface="굴림" panose="020B0600000101010101" pitchFamily="34" charset="-127"/>
                </a:rPr>
                <a:t>Skewed right: a few unusually large measurements</a:t>
              </a:r>
            </a:p>
          </p:txBody>
        </p:sp>
      </p:grpSp>
      <p:grpSp>
        <p:nvGrpSpPr>
          <p:cNvPr id="27706" name="Group 58">
            <a:extLst>
              <a:ext uri="{FF2B5EF4-FFF2-40B4-BE49-F238E27FC236}">
                <a16:creationId xmlns:a16="http://schemas.microsoft.com/office/drawing/2014/main" id="{8F54E1EF-3DFA-5F37-0730-E83329F1559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863789"/>
            <a:ext cx="8001000" cy="1098550"/>
            <a:chOff x="720" y="2304"/>
            <a:chExt cx="5040" cy="692"/>
          </a:xfrm>
        </p:grpSpPr>
        <p:grpSp>
          <p:nvGrpSpPr>
            <p:cNvPr id="27707" name="Group 59">
              <a:extLst>
                <a:ext uri="{FF2B5EF4-FFF2-40B4-BE49-F238E27FC236}">
                  <a16:creationId xmlns:a16="http://schemas.microsoft.com/office/drawing/2014/main" id="{6E727AB5-76EF-5F08-30E1-C34A89F7BE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304"/>
              <a:ext cx="2016" cy="672"/>
              <a:chOff x="3168" y="2064"/>
              <a:chExt cx="2016" cy="672"/>
            </a:xfrm>
          </p:grpSpPr>
          <p:sp>
            <p:nvSpPr>
              <p:cNvPr id="27708" name="Line 60">
                <a:extLst>
                  <a:ext uri="{FF2B5EF4-FFF2-40B4-BE49-F238E27FC236}">
                    <a16:creationId xmlns:a16="http://schemas.microsoft.com/office/drawing/2014/main" id="{5EE844CC-258F-DE7C-CAC3-5DA49D119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36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709" name="AutoShape 61">
                <a:extLst>
                  <a:ext uri="{FF2B5EF4-FFF2-40B4-BE49-F238E27FC236}">
                    <a16:creationId xmlns:a16="http://schemas.microsoft.com/office/drawing/2014/main" id="{9FF3AF75-E199-C143-0E99-9F8DC6A13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0" name="AutoShape 62">
                <a:extLst>
                  <a:ext uri="{FF2B5EF4-FFF2-40B4-BE49-F238E27FC236}">
                    <a16:creationId xmlns:a16="http://schemas.microsoft.com/office/drawing/2014/main" id="{42BC6A49-B9F7-14C8-2354-851530833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1" name="AutoShape 63">
                <a:extLst>
                  <a:ext uri="{FF2B5EF4-FFF2-40B4-BE49-F238E27FC236}">
                    <a16:creationId xmlns:a16="http://schemas.microsoft.com/office/drawing/2014/main" id="{F3F1EF93-EA9F-7A90-0995-E465E0346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2" name="AutoShape 64">
                <a:extLst>
                  <a:ext uri="{FF2B5EF4-FFF2-40B4-BE49-F238E27FC236}">
                    <a16:creationId xmlns:a16="http://schemas.microsoft.com/office/drawing/2014/main" id="{64111862-ED5C-C850-7720-119E18BA8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3" name="AutoShape 65">
                <a:extLst>
                  <a:ext uri="{FF2B5EF4-FFF2-40B4-BE49-F238E27FC236}">
                    <a16:creationId xmlns:a16="http://schemas.microsoft.com/office/drawing/2014/main" id="{C845FAEC-34FD-FD2F-E034-4F31929C7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4" name="AutoShape 66">
                <a:extLst>
                  <a:ext uri="{FF2B5EF4-FFF2-40B4-BE49-F238E27FC236}">
                    <a16:creationId xmlns:a16="http://schemas.microsoft.com/office/drawing/2014/main" id="{6E35ADBA-7D55-8F55-338C-F76F4C0E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4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5" name="AutoShape 67">
                <a:extLst>
                  <a:ext uri="{FF2B5EF4-FFF2-40B4-BE49-F238E27FC236}">
                    <a16:creationId xmlns:a16="http://schemas.microsoft.com/office/drawing/2014/main" id="{DFD64CA6-B1CC-8388-8A07-A886296E4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6" name="AutoShape 68">
                <a:extLst>
                  <a:ext uri="{FF2B5EF4-FFF2-40B4-BE49-F238E27FC236}">
                    <a16:creationId xmlns:a16="http://schemas.microsoft.com/office/drawing/2014/main" id="{9A4F63C6-82F4-6EC4-BAE1-76A8BE635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7" name="AutoShape 69">
                <a:extLst>
                  <a:ext uri="{FF2B5EF4-FFF2-40B4-BE49-F238E27FC236}">
                    <a16:creationId xmlns:a16="http://schemas.microsoft.com/office/drawing/2014/main" id="{A7972317-0FF6-ACBB-B75E-3DB3B3AF3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8" name="AutoShape 70">
                <a:extLst>
                  <a:ext uri="{FF2B5EF4-FFF2-40B4-BE49-F238E27FC236}">
                    <a16:creationId xmlns:a16="http://schemas.microsoft.com/office/drawing/2014/main" id="{32463E6A-5AC6-6117-5AF1-2ED4F7EC8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3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19" name="AutoShape 71">
                <a:extLst>
                  <a:ext uri="{FF2B5EF4-FFF2-40B4-BE49-F238E27FC236}">
                    <a16:creationId xmlns:a16="http://schemas.microsoft.com/office/drawing/2014/main" id="{3403DB7D-36A0-7598-A061-3F9F69060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0" name="AutoShape 72">
                <a:extLst>
                  <a:ext uri="{FF2B5EF4-FFF2-40B4-BE49-F238E27FC236}">
                    <a16:creationId xmlns:a16="http://schemas.microsoft.com/office/drawing/2014/main" id="{0B12A390-664B-9DFB-6985-5AAE7B0A25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1" name="AutoShape 73">
                <a:extLst>
                  <a:ext uri="{FF2B5EF4-FFF2-40B4-BE49-F238E27FC236}">
                    <a16:creationId xmlns:a16="http://schemas.microsoft.com/office/drawing/2014/main" id="{2C8ABE50-8159-3BF4-B560-A90A90E12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2" name="AutoShape 74">
                <a:extLst>
                  <a:ext uri="{FF2B5EF4-FFF2-40B4-BE49-F238E27FC236}">
                    <a16:creationId xmlns:a16="http://schemas.microsoft.com/office/drawing/2014/main" id="{1F744981-3782-17E6-FF3C-CC78F77E7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3" name="AutoShape 75">
                <a:extLst>
                  <a:ext uri="{FF2B5EF4-FFF2-40B4-BE49-F238E27FC236}">
                    <a16:creationId xmlns:a16="http://schemas.microsoft.com/office/drawing/2014/main" id="{748F47FF-35C7-6886-1E2E-853D57A55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25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4" name="AutoShape 76">
                <a:extLst>
                  <a:ext uri="{FF2B5EF4-FFF2-40B4-BE49-F238E27FC236}">
                    <a16:creationId xmlns:a16="http://schemas.microsoft.com/office/drawing/2014/main" id="{EEDED579-5596-C32F-4003-7737DDCAC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5" name="AutoShape 77">
                <a:extLst>
                  <a:ext uri="{FF2B5EF4-FFF2-40B4-BE49-F238E27FC236}">
                    <a16:creationId xmlns:a16="http://schemas.microsoft.com/office/drawing/2014/main" id="{EEDFEBE7-A72B-3BEF-9D05-DFF48D3BC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6" name="AutoShape 78">
                <a:extLst>
                  <a:ext uri="{FF2B5EF4-FFF2-40B4-BE49-F238E27FC236}">
                    <a16:creationId xmlns:a16="http://schemas.microsoft.com/office/drawing/2014/main" id="{A7219022-1EBB-4EFC-D3F0-7582F9F55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7" name="AutoShape 79">
                <a:extLst>
                  <a:ext uri="{FF2B5EF4-FFF2-40B4-BE49-F238E27FC236}">
                    <a16:creationId xmlns:a16="http://schemas.microsoft.com/office/drawing/2014/main" id="{B4BFDA68-43CD-152C-0E4B-D1E26F43B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06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8" name="AutoShape 80">
                <a:extLst>
                  <a:ext uri="{FF2B5EF4-FFF2-40B4-BE49-F238E27FC236}">
                    <a16:creationId xmlns:a16="http://schemas.microsoft.com/office/drawing/2014/main" id="{FDD4C860-A277-7395-E568-6957EE1E4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16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29" name="AutoShape 81">
                <a:extLst>
                  <a:ext uri="{FF2B5EF4-FFF2-40B4-BE49-F238E27FC236}">
                    <a16:creationId xmlns:a16="http://schemas.microsoft.com/office/drawing/2014/main" id="{02FE78C9-77FA-9DCF-ABCE-0793C498B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30" name="AutoShape 82">
                <a:extLst>
                  <a:ext uri="{FF2B5EF4-FFF2-40B4-BE49-F238E27FC236}">
                    <a16:creationId xmlns:a16="http://schemas.microsoft.com/office/drawing/2014/main" id="{71195C09-C730-931F-0499-4A8F9283B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31" name="AutoShape 83">
                <a:extLst>
                  <a:ext uri="{FF2B5EF4-FFF2-40B4-BE49-F238E27FC236}">
                    <a16:creationId xmlns:a16="http://schemas.microsoft.com/office/drawing/2014/main" id="{FE462AA7-3503-98D2-A3E0-BB9A40E5C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32" name="AutoShape 84">
                <a:extLst>
                  <a:ext uri="{FF2B5EF4-FFF2-40B4-BE49-F238E27FC236}">
                    <a16:creationId xmlns:a16="http://schemas.microsoft.com/office/drawing/2014/main" id="{2B7E869A-0DFB-6215-DE6D-DA30CEF96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16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33" name="AutoShape 85">
                <a:extLst>
                  <a:ext uri="{FF2B5EF4-FFF2-40B4-BE49-F238E27FC236}">
                    <a16:creationId xmlns:a16="http://schemas.microsoft.com/office/drawing/2014/main" id="{52F41231-1BDC-4C21-95DD-D096E0CB7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3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sp>
          <p:nvSpPr>
            <p:cNvPr id="27734" name="Text Box 86">
              <a:extLst>
                <a:ext uri="{FF2B5EF4-FFF2-40B4-BE49-F238E27FC236}">
                  <a16:creationId xmlns:a16="http://schemas.microsoft.com/office/drawing/2014/main" id="{37E1C364-57D3-0C31-87CD-F06B8BE7C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400"/>
              <a:ext cx="292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800" b="1">
                  <a:solidFill>
                    <a:srgbClr val="333333"/>
                  </a:solidFill>
                  <a:ea typeface="굴림" panose="020B0600000101010101" pitchFamily="34" charset="-127"/>
                </a:rPr>
                <a:t>Skewed left: a few unusually small measurements</a:t>
              </a:r>
            </a:p>
          </p:txBody>
        </p:sp>
      </p:grpSp>
      <p:grpSp>
        <p:nvGrpSpPr>
          <p:cNvPr id="27735" name="Group 87">
            <a:extLst>
              <a:ext uri="{FF2B5EF4-FFF2-40B4-BE49-F238E27FC236}">
                <a16:creationId xmlns:a16="http://schemas.microsoft.com/office/drawing/2014/main" id="{5BC59375-B50C-FB48-8F76-D85ACD7D946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387789"/>
            <a:ext cx="8077200" cy="914400"/>
            <a:chOff x="672" y="3264"/>
            <a:chExt cx="5088" cy="576"/>
          </a:xfrm>
        </p:grpSpPr>
        <p:grpSp>
          <p:nvGrpSpPr>
            <p:cNvPr id="27736" name="Group 88">
              <a:extLst>
                <a:ext uri="{FF2B5EF4-FFF2-40B4-BE49-F238E27FC236}">
                  <a16:creationId xmlns:a16="http://schemas.microsoft.com/office/drawing/2014/main" id="{5A160332-0079-D936-5AB9-C5609F5BF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3264"/>
              <a:ext cx="2016" cy="576"/>
              <a:chOff x="672" y="3264"/>
              <a:chExt cx="2016" cy="576"/>
            </a:xfrm>
          </p:grpSpPr>
          <p:sp>
            <p:nvSpPr>
              <p:cNvPr id="27737" name="Line 89">
                <a:extLst>
                  <a:ext uri="{FF2B5EF4-FFF2-40B4-BE49-F238E27FC236}">
                    <a16:creationId xmlns:a16="http://schemas.microsoft.com/office/drawing/2014/main" id="{2D8F67C2-355D-3540-342E-7F3E90CD0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3840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738" name="AutoShape 90">
                <a:extLst>
                  <a:ext uri="{FF2B5EF4-FFF2-40B4-BE49-F238E27FC236}">
                    <a16:creationId xmlns:a16="http://schemas.microsoft.com/office/drawing/2014/main" id="{588C4410-1EB2-EA2A-F10B-D35815B55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39" name="AutoShape 91">
                <a:extLst>
                  <a:ext uri="{FF2B5EF4-FFF2-40B4-BE49-F238E27FC236}">
                    <a16:creationId xmlns:a16="http://schemas.microsoft.com/office/drawing/2014/main" id="{F732EC76-9E26-8FBC-001D-AE7F00B03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0" name="AutoShape 92">
                <a:extLst>
                  <a:ext uri="{FF2B5EF4-FFF2-40B4-BE49-F238E27FC236}">
                    <a16:creationId xmlns:a16="http://schemas.microsoft.com/office/drawing/2014/main" id="{387214CA-4FBB-AC1E-B500-2AB155F38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1" name="AutoShape 93">
                <a:extLst>
                  <a:ext uri="{FF2B5EF4-FFF2-40B4-BE49-F238E27FC236}">
                    <a16:creationId xmlns:a16="http://schemas.microsoft.com/office/drawing/2014/main" id="{DD98326F-BD09-3FE6-2B81-030C8530F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2" name="AutoShape 94">
                <a:extLst>
                  <a:ext uri="{FF2B5EF4-FFF2-40B4-BE49-F238E27FC236}">
                    <a16:creationId xmlns:a16="http://schemas.microsoft.com/office/drawing/2014/main" id="{B00A1129-0A96-1CC0-DF27-06031E5A8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3" name="AutoShape 95">
                <a:extLst>
                  <a:ext uri="{FF2B5EF4-FFF2-40B4-BE49-F238E27FC236}">
                    <a16:creationId xmlns:a16="http://schemas.microsoft.com/office/drawing/2014/main" id="{37B56C62-36EC-0516-AEC0-8612CC857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60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4" name="AutoShape 96">
                <a:extLst>
                  <a:ext uri="{FF2B5EF4-FFF2-40B4-BE49-F238E27FC236}">
                    <a16:creationId xmlns:a16="http://schemas.microsoft.com/office/drawing/2014/main" id="{90E69CAC-B72E-A4F3-76F5-2125BBCAE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5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5" name="AutoShape 97">
                <a:extLst>
                  <a:ext uri="{FF2B5EF4-FFF2-40B4-BE49-F238E27FC236}">
                    <a16:creationId xmlns:a16="http://schemas.microsoft.com/office/drawing/2014/main" id="{F1887DC5-E3EF-3019-242D-6DA91C3DD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5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6" name="AutoShape 98">
                <a:extLst>
                  <a:ext uri="{FF2B5EF4-FFF2-40B4-BE49-F238E27FC236}">
                    <a16:creationId xmlns:a16="http://schemas.microsoft.com/office/drawing/2014/main" id="{F086578A-5093-BBC2-140A-56A48129B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7" name="AutoShape 99">
                <a:extLst>
                  <a:ext uri="{FF2B5EF4-FFF2-40B4-BE49-F238E27FC236}">
                    <a16:creationId xmlns:a16="http://schemas.microsoft.com/office/drawing/2014/main" id="{C2BD87A1-376A-4896-D9E0-98ADAE68F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45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8" name="AutoShape 100">
                <a:extLst>
                  <a:ext uri="{FF2B5EF4-FFF2-40B4-BE49-F238E27FC236}">
                    <a16:creationId xmlns:a16="http://schemas.microsoft.com/office/drawing/2014/main" id="{B31D513F-04B1-2281-5407-87371C313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49" name="AutoShape 101">
                <a:extLst>
                  <a:ext uri="{FF2B5EF4-FFF2-40B4-BE49-F238E27FC236}">
                    <a16:creationId xmlns:a16="http://schemas.microsoft.com/office/drawing/2014/main" id="{8354E95A-C343-5F8A-C312-AB1021C7B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40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0" name="AutoShape 102">
                <a:extLst>
                  <a:ext uri="{FF2B5EF4-FFF2-40B4-BE49-F238E27FC236}">
                    <a16:creationId xmlns:a16="http://schemas.microsoft.com/office/drawing/2014/main" id="{E221581B-EB11-70E8-FD45-F5EED1138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5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1" name="AutoShape 103">
                <a:extLst>
                  <a:ext uri="{FF2B5EF4-FFF2-40B4-BE49-F238E27FC236}">
                    <a16:creationId xmlns:a16="http://schemas.microsoft.com/office/drawing/2014/main" id="{631FFF5B-8CA8-07B2-C08F-4C451512A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2" name="AutoShape 104">
                <a:extLst>
                  <a:ext uri="{FF2B5EF4-FFF2-40B4-BE49-F238E27FC236}">
                    <a16:creationId xmlns:a16="http://schemas.microsoft.com/office/drawing/2014/main" id="{3C7152F6-F0D4-6123-1FD9-7EBDDE50C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5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3" name="AutoShape 105">
                <a:extLst>
                  <a:ext uri="{FF2B5EF4-FFF2-40B4-BE49-F238E27FC236}">
                    <a16:creationId xmlns:a16="http://schemas.microsoft.com/office/drawing/2014/main" id="{70BC6005-A6C0-0F0B-2497-5D88E26CF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26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4" name="AutoShape 106">
                <a:extLst>
                  <a:ext uri="{FF2B5EF4-FFF2-40B4-BE49-F238E27FC236}">
                    <a16:creationId xmlns:a16="http://schemas.microsoft.com/office/drawing/2014/main" id="{2743DDB0-D852-BAF4-E04D-1F21ED0B4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5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5" name="AutoShape 107">
                <a:extLst>
                  <a:ext uri="{FF2B5EF4-FFF2-40B4-BE49-F238E27FC236}">
                    <a16:creationId xmlns:a16="http://schemas.microsoft.com/office/drawing/2014/main" id="{75B9294C-0F10-95E3-F016-CF124C924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6" name="AutoShape 108">
                <a:extLst>
                  <a:ext uri="{FF2B5EF4-FFF2-40B4-BE49-F238E27FC236}">
                    <a16:creationId xmlns:a16="http://schemas.microsoft.com/office/drawing/2014/main" id="{881D2514-9854-9A8D-FEA9-1882F7EE79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40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7" name="AutoShape 109">
                <a:extLst>
                  <a:ext uri="{FF2B5EF4-FFF2-40B4-BE49-F238E27FC236}">
                    <a16:creationId xmlns:a16="http://schemas.microsoft.com/office/drawing/2014/main" id="{D9E73EFD-1151-CA3A-85F5-8F61AC40C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326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8" name="AutoShape 110">
                <a:extLst>
                  <a:ext uri="{FF2B5EF4-FFF2-40B4-BE49-F238E27FC236}">
                    <a16:creationId xmlns:a16="http://schemas.microsoft.com/office/drawing/2014/main" id="{A1E37854-D567-2158-2FB9-BC4C9750C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35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59" name="AutoShape 111">
                <a:extLst>
                  <a:ext uri="{FF2B5EF4-FFF2-40B4-BE49-F238E27FC236}">
                    <a16:creationId xmlns:a16="http://schemas.microsoft.com/office/drawing/2014/main" id="{BF01A859-9BC0-7CF4-2626-D7E6221F0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60" name="AutoShape 112">
                <a:extLst>
                  <a:ext uri="{FF2B5EF4-FFF2-40B4-BE49-F238E27FC236}">
                    <a16:creationId xmlns:a16="http://schemas.microsoft.com/office/drawing/2014/main" id="{02029DCA-1686-E14D-2AC1-4DD03E089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6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61" name="AutoShape 113">
                <a:extLst>
                  <a:ext uri="{FF2B5EF4-FFF2-40B4-BE49-F238E27FC236}">
                    <a16:creationId xmlns:a16="http://schemas.microsoft.com/office/drawing/2014/main" id="{4F7288E6-B186-99FD-00DB-9904ABBFC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60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62" name="AutoShape 114">
                <a:extLst>
                  <a:ext uri="{FF2B5EF4-FFF2-40B4-BE49-F238E27FC236}">
                    <a16:creationId xmlns:a16="http://schemas.microsoft.com/office/drawing/2014/main" id="{7C17AD26-169A-A746-FAB4-D90BA7C69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40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63" name="AutoShape 115">
                <a:extLst>
                  <a:ext uri="{FF2B5EF4-FFF2-40B4-BE49-F238E27FC236}">
                    <a16:creationId xmlns:a16="http://schemas.microsoft.com/office/drawing/2014/main" id="{486C4F54-6AE8-68BE-76A1-70E4B2E2F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340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64" name="AutoShape 116">
                <a:extLst>
                  <a:ext uri="{FF2B5EF4-FFF2-40B4-BE49-F238E27FC236}">
                    <a16:creationId xmlns:a16="http://schemas.microsoft.com/office/drawing/2014/main" id="{337D4E85-8CCE-CEA7-3B80-0242FD294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26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7765" name="AutoShape 117">
                <a:extLst>
                  <a:ext uri="{FF2B5EF4-FFF2-40B4-BE49-F238E27FC236}">
                    <a16:creationId xmlns:a16="http://schemas.microsoft.com/office/drawing/2014/main" id="{DCA99EE7-B7B0-C2CF-E435-35EB192F2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45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sp>
          <p:nvSpPr>
            <p:cNvPr id="27766" name="Text Box 118">
              <a:extLst>
                <a:ext uri="{FF2B5EF4-FFF2-40B4-BE49-F238E27FC236}">
                  <a16:creationId xmlns:a16="http://schemas.microsoft.com/office/drawing/2014/main" id="{BB3F3975-286C-1E93-7501-8F07E47E5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12"/>
              <a:ext cx="29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sz="2800" b="1">
                  <a:solidFill>
                    <a:srgbClr val="333333"/>
                  </a:solidFill>
                  <a:ea typeface="굴림" panose="020B0600000101010101" pitchFamily="34" charset="-127"/>
                </a:rPr>
                <a:t>Bimodal: two local peaks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8DFBB34-CC75-3F43-BDA6-71E3E0E72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ko-KR" sz="4800">
                <a:ea typeface="굴림" panose="020B0600000101010101" pitchFamily="34" charset="-127"/>
              </a:rPr>
              <a:t>Interpreting Graphs: Outliers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ADFDE6EA-1FD0-97BD-2474-124980EA2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19400" y="4191000"/>
            <a:ext cx="7086600" cy="1828800"/>
          </a:xfrm>
        </p:spPr>
        <p:txBody>
          <a:bodyPr/>
          <a:lstStyle/>
          <a:p>
            <a:r>
              <a:rPr lang="en-US" altLang="ko-KR" b="1" dirty="0">
                <a:solidFill>
                  <a:srgbClr val="333333"/>
                </a:solidFill>
                <a:ea typeface="굴림" panose="020B0600000101010101" pitchFamily="34" charset="-127"/>
              </a:rPr>
              <a:t>Are there any strange or unusual measurements that stand out in the data set?</a:t>
            </a:r>
          </a:p>
        </p:txBody>
      </p:sp>
      <p:grpSp>
        <p:nvGrpSpPr>
          <p:cNvPr id="28677" name="Group 5">
            <a:extLst>
              <a:ext uri="{FF2B5EF4-FFF2-40B4-BE49-F238E27FC236}">
                <a16:creationId xmlns:a16="http://schemas.microsoft.com/office/drawing/2014/main" id="{B4283474-F80E-AAA2-6B05-69F1F01D638D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082801"/>
            <a:ext cx="3429000" cy="1563688"/>
            <a:chOff x="2928" y="1312"/>
            <a:chExt cx="2160" cy="985"/>
          </a:xfrm>
        </p:grpSpPr>
        <p:sp>
          <p:nvSpPr>
            <p:cNvPr id="28678" name="Line 6">
              <a:extLst>
                <a:ext uri="{FF2B5EF4-FFF2-40B4-BE49-F238E27FC236}">
                  <a16:creationId xmlns:a16="http://schemas.microsoft.com/office/drawing/2014/main" id="{E64BA084-C489-43D2-2B11-9A5BCAB19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872"/>
              <a:ext cx="216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8679" name="AutoShape 7">
              <a:extLst>
                <a:ext uri="{FF2B5EF4-FFF2-40B4-BE49-F238E27FC236}">
                  <a16:creationId xmlns:a16="http://schemas.microsoft.com/office/drawing/2014/main" id="{AEFF6D58-9F4B-4B7B-28B6-8E6C1382B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759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0" name="AutoShape 8">
              <a:extLst>
                <a:ext uri="{FF2B5EF4-FFF2-40B4-BE49-F238E27FC236}">
                  <a16:creationId xmlns:a16="http://schemas.microsoft.com/office/drawing/2014/main" id="{1501EF66-89C8-216E-DDA5-FF540A0D2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647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1" name="AutoShape 9">
              <a:extLst>
                <a:ext uri="{FF2B5EF4-FFF2-40B4-BE49-F238E27FC236}">
                  <a16:creationId xmlns:a16="http://schemas.microsoft.com/office/drawing/2014/main" id="{1C75C23E-115A-8F1E-9E5D-416D3554F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59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2" name="AutoShape 10">
              <a:extLst>
                <a:ext uri="{FF2B5EF4-FFF2-40B4-BE49-F238E27FC236}">
                  <a16:creationId xmlns:a16="http://schemas.microsoft.com/office/drawing/2014/main" id="{24E08610-9281-7BBB-9D47-92BFBE8CD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647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3" name="AutoShape 11">
              <a:extLst>
                <a:ext uri="{FF2B5EF4-FFF2-40B4-BE49-F238E27FC236}">
                  <a16:creationId xmlns:a16="http://schemas.microsoft.com/office/drawing/2014/main" id="{FBA7D12C-228F-FCCF-918C-B7EFEEE83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35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4" name="AutoShape 12">
              <a:extLst>
                <a:ext uri="{FF2B5EF4-FFF2-40B4-BE49-F238E27FC236}">
                  <a16:creationId xmlns:a16="http://schemas.microsoft.com/office/drawing/2014/main" id="{74F50392-B518-E345-4AC9-B5E49881C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24"/>
              <a:ext cx="96" cy="111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5" name="AutoShape 13">
              <a:extLst>
                <a:ext uri="{FF2B5EF4-FFF2-40B4-BE49-F238E27FC236}">
                  <a16:creationId xmlns:a16="http://schemas.microsoft.com/office/drawing/2014/main" id="{02C62782-D025-3A79-0180-BB93035AE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776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6" name="AutoShape 14">
              <a:extLst>
                <a:ext uri="{FF2B5EF4-FFF2-40B4-BE49-F238E27FC236}">
                  <a16:creationId xmlns:a16="http://schemas.microsoft.com/office/drawing/2014/main" id="{C7FE73B9-C27A-20E5-C7CA-2C0C6B20D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776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7" name="AutoShape 15">
              <a:extLst>
                <a:ext uri="{FF2B5EF4-FFF2-40B4-BE49-F238E27FC236}">
                  <a16:creationId xmlns:a16="http://schemas.microsoft.com/office/drawing/2014/main" id="{EBEA19BD-3527-B530-6FBF-B0FF940E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776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8" name="AutoShape 16">
              <a:extLst>
                <a:ext uri="{FF2B5EF4-FFF2-40B4-BE49-F238E27FC236}">
                  <a16:creationId xmlns:a16="http://schemas.microsoft.com/office/drawing/2014/main" id="{F7BF3E6D-B680-1DDA-EBE7-16715F1A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759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89" name="AutoShape 17">
              <a:extLst>
                <a:ext uri="{FF2B5EF4-FFF2-40B4-BE49-F238E27FC236}">
                  <a16:creationId xmlns:a16="http://schemas.microsoft.com/office/drawing/2014/main" id="{857CB899-F26A-051E-F92B-4722F8D48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759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0" name="AutoShape 18">
              <a:extLst>
                <a:ext uri="{FF2B5EF4-FFF2-40B4-BE49-F238E27FC236}">
                  <a16:creationId xmlns:a16="http://schemas.microsoft.com/office/drawing/2014/main" id="{086A74A7-7B04-BD8B-D182-95F9485DA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47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1" name="AutoShape 19">
              <a:extLst>
                <a:ext uri="{FF2B5EF4-FFF2-40B4-BE49-F238E27FC236}">
                  <a16:creationId xmlns:a16="http://schemas.microsoft.com/office/drawing/2014/main" id="{9FF7D055-70D6-32D4-CA2D-2A2E3F414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535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2" name="AutoShape 20">
              <a:extLst>
                <a:ext uri="{FF2B5EF4-FFF2-40B4-BE49-F238E27FC236}">
                  <a16:creationId xmlns:a16="http://schemas.microsoft.com/office/drawing/2014/main" id="{A9B4D230-5E13-7DEA-BA4D-D1E6EDBA9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647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3" name="AutoShape 21">
              <a:extLst>
                <a:ext uri="{FF2B5EF4-FFF2-40B4-BE49-F238E27FC236}">
                  <a16:creationId xmlns:a16="http://schemas.microsoft.com/office/drawing/2014/main" id="{757974B5-EBFD-CADB-47A3-D2CF91BFA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12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4" name="AutoShape 22">
              <a:extLst>
                <a:ext uri="{FF2B5EF4-FFF2-40B4-BE49-F238E27FC236}">
                  <a16:creationId xmlns:a16="http://schemas.microsoft.com/office/drawing/2014/main" id="{94BCE6E9-9B46-6539-67E6-42C96ECFE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424"/>
              <a:ext cx="96" cy="111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5" name="AutoShape 23">
              <a:extLst>
                <a:ext uri="{FF2B5EF4-FFF2-40B4-BE49-F238E27FC236}">
                  <a16:creationId xmlns:a16="http://schemas.microsoft.com/office/drawing/2014/main" id="{BA4EB41D-DA26-55B6-5229-504878300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728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6" name="AutoShape 24">
              <a:extLst>
                <a:ext uri="{FF2B5EF4-FFF2-40B4-BE49-F238E27FC236}">
                  <a16:creationId xmlns:a16="http://schemas.microsoft.com/office/drawing/2014/main" id="{CB095625-3FA7-24BC-889D-45583C49C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35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7" name="AutoShape 25">
              <a:extLst>
                <a:ext uri="{FF2B5EF4-FFF2-40B4-BE49-F238E27FC236}">
                  <a16:creationId xmlns:a16="http://schemas.microsoft.com/office/drawing/2014/main" id="{F42EA5AE-39BC-9D4A-5296-5CD7AED3C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647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8" name="AutoShape 26">
              <a:extLst>
                <a:ext uri="{FF2B5EF4-FFF2-40B4-BE49-F238E27FC236}">
                  <a16:creationId xmlns:a16="http://schemas.microsoft.com/office/drawing/2014/main" id="{06D4FAEC-FA3C-7926-8D38-0807BF0FD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59"/>
              <a:ext cx="96" cy="112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699" name="AutoShape 27">
              <a:extLst>
                <a:ext uri="{FF2B5EF4-FFF2-40B4-BE49-F238E27FC236}">
                  <a16:creationId xmlns:a16="http://schemas.microsoft.com/office/drawing/2014/main" id="{3CF2D285-5738-1F53-103D-99045C15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424"/>
              <a:ext cx="96" cy="111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28700" name="Text Box 28">
              <a:extLst>
                <a:ext uri="{FF2B5EF4-FFF2-40B4-BE49-F238E27FC236}">
                  <a16:creationId xmlns:a16="http://schemas.microsoft.com/office/drawing/2014/main" id="{66A435CB-97D4-FFB9-7CA1-66B429749D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64"/>
              <a:ext cx="6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rgbClr val="CC0066"/>
                  </a:solidFill>
                  <a:latin typeface="Garamond" panose="02020404030301010803" pitchFamily="18" charset="0"/>
                  <a:ea typeface="굴림" panose="020B0600000101010101" pitchFamily="34" charset="-127"/>
                </a:rPr>
                <a:t>Outlier</a:t>
              </a:r>
            </a:p>
          </p:txBody>
        </p:sp>
        <p:sp>
          <p:nvSpPr>
            <p:cNvPr id="28701" name="Line 29">
              <a:extLst>
                <a:ext uri="{FF2B5EF4-FFF2-40B4-BE49-F238E27FC236}">
                  <a16:creationId xmlns:a16="http://schemas.microsoft.com/office/drawing/2014/main" id="{17C9F523-1E74-7089-A9C6-65621EB02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1920"/>
              <a:ext cx="144" cy="19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8702" name="Group 30">
            <a:extLst>
              <a:ext uri="{FF2B5EF4-FFF2-40B4-BE49-F238E27FC236}">
                <a16:creationId xmlns:a16="http://schemas.microsoft.com/office/drawing/2014/main" id="{D34B3DE1-5279-4183-37AF-986C28D8E27D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057401"/>
            <a:ext cx="3200400" cy="1589088"/>
            <a:chOff x="672" y="1296"/>
            <a:chExt cx="2016" cy="1001"/>
          </a:xfrm>
        </p:grpSpPr>
        <p:grpSp>
          <p:nvGrpSpPr>
            <p:cNvPr id="28703" name="Group 31">
              <a:extLst>
                <a:ext uri="{FF2B5EF4-FFF2-40B4-BE49-F238E27FC236}">
                  <a16:creationId xmlns:a16="http://schemas.microsoft.com/office/drawing/2014/main" id="{65A0A93F-5742-46BF-CBE2-18C862B4A8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1296"/>
              <a:ext cx="2016" cy="577"/>
              <a:chOff x="3120" y="1248"/>
              <a:chExt cx="2016" cy="577"/>
            </a:xfrm>
          </p:grpSpPr>
          <p:sp>
            <p:nvSpPr>
              <p:cNvPr id="28704" name="Line 32">
                <a:extLst>
                  <a:ext uri="{FF2B5EF4-FFF2-40B4-BE49-F238E27FC236}">
                    <a16:creationId xmlns:a16="http://schemas.microsoft.com/office/drawing/2014/main" id="{88F04D0F-FB3C-64DB-AA00-6918D0921F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824"/>
                <a:ext cx="2016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8705" name="AutoShape 33">
                <a:extLst>
                  <a:ext uri="{FF2B5EF4-FFF2-40B4-BE49-F238E27FC236}">
                    <a16:creationId xmlns:a16="http://schemas.microsoft.com/office/drawing/2014/main" id="{9B293A44-88D0-1289-7310-C298CEEEE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06" name="AutoShape 34">
                <a:extLst>
                  <a:ext uri="{FF2B5EF4-FFF2-40B4-BE49-F238E27FC236}">
                    <a16:creationId xmlns:a16="http://schemas.microsoft.com/office/drawing/2014/main" id="{4191FB17-094E-8C8A-78FF-5B4BC63206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07" name="AutoShape 35">
                <a:extLst>
                  <a:ext uri="{FF2B5EF4-FFF2-40B4-BE49-F238E27FC236}">
                    <a16:creationId xmlns:a16="http://schemas.microsoft.com/office/drawing/2014/main" id="{D0AB80ED-65B3-07B1-0A49-2B2757EFE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08" name="AutoShape 36">
                <a:extLst>
                  <a:ext uri="{FF2B5EF4-FFF2-40B4-BE49-F238E27FC236}">
                    <a16:creationId xmlns:a16="http://schemas.microsoft.com/office/drawing/2014/main" id="{22735C2E-1825-EC2C-2E68-3C26713C4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09" name="AutoShape 37">
                <a:extLst>
                  <a:ext uri="{FF2B5EF4-FFF2-40B4-BE49-F238E27FC236}">
                    <a16:creationId xmlns:a16="http://schemas.microsoft.com/office/drawing/2014/main" id="{C6FC6D56-7ED1-7316-31CE-B15DB3547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0" name="AutoShape 38">
                <a:extLst>
                  <a:ext uri="{FF2B5EF4-FFF2-40B4-BE49-F238E27FC236}">
                    <a16:creationId xmlns:a16="http://schemas.microsoft.com/office/drawing/2014/main" id="{844C4394-BD27-AA48-9ABB-8DC6640E7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1" name="AutoShape 39">
                <a:extLst>
                  <a:ext uri="{FF2B5EF4-FFF2-40B4-BE49-F238E27FC236}">
                    <a16:creationId xmlns:a16="http://schemas.microsoft.com/office/drawing/2014/main" id="{7D7DB63A-76F4-11B7-5191-6ABCE5371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2" name="AutoShape 40">
                <a:extLst>
                  <a:ext uri="{FF2B5EF4-FFF2-40B4-BE49-F238E27FC236}">
                    <a16:creationId xmlns:a16="http://schemas.microsoft.com/office/drawing/2014/main" id="{98052234-E46A-1FD2-6012-918CD1C7A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3" name="AutoShape 41">
                <a:extLst>
                  <a:ext uri="{FF2B5EF4-FFF2-40B4-BE49-F238E27FC236}">
                    <a16:creationId xmlns:a16="http://schemas.microsoft.com/office/drawing/2014/main" id="{0F73D374-4DE7-0355-AB1A-F704D2E3D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4" name="AutoShape 42">
                <a:extLst>
                  <a:ext uri="{FF2B5EF4-FFF2-40B4-BE49-F238E27FC236}">
                    <a16:creationId xmlns:a16="http://schemas.microsoft.com/office/drawing/2014/main" id="{A4C669AD-37B0-7696-EA0F-0EF523623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5" name="AutoShape 43">
                <a:extLst>
                  <a:ext uri="{FF2B5EF4-FFF2-40B4-BE49-F238E27FC236}">
                    <a16:creationId xmlns:a16="http://schemas.microsoft.com/office/drawing/2014/main" id="{DDF1787F-650F-1E8F-1FA3-2D0A7F49F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6" name="AutoShape 44">
                <a:extLst>
                  <a:ext uri="{FF2B5EF4-FFF2-40B4-BE49-F238E27FC236}">
                    <a16:creationId xmlns:a16="http://schemas.microsoft.com/office/drawing/2014/main" id="{04C8F4F7-CDF2-0401-170F-808E5A364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7" name="AutoShape 45">
                <a:extLst>
                  <a:ext uri="{FF2B5EF4-FFF2-40B4-BE49-F238E27FC236}">
                    <a16:creationId xmlns:a16="http://schemas.microsoft.com/office/drawing/2014/main" id="{A6532FDC-743D-707C-95F7-5BAAB736C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8" name="AutoShape 46">
                <a:extLst>
                  <a:ext uri="{FF2B5EF4-FFF2-40B4-BE49-F238E27FC236}">
                    <a16:creationId xmlns:a16="http://schemas.microsoft.com/office/drawing/2014/main" id="{20F448B8-5E07-99C7-0214-89F778922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19" name="AutoShape 47">
                <a:extLst>
                  <a:ext uri="{FF2B5EF4-FFF2-40B4-BE49-F238E27FC236}">
                    <a16:creationId xmlns:a16="http://schemas.microsoft.com/office/drawing/2014/main" id="{C952CE2C-DE2A-462D-D667-EA4FBE0B9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0" name="AutoShape 48">
                <a:extLst>
                  <a:ext uri="{FF2B5EF4-FFF2-40B4-BE49-F238E27FC236}">
                    <a16:creationId xmlns:a16="http://schemas.microsoft.com/office/drawing/2014/main" id="{14F3D92E-F3FB-99C5-3FB2-0516E5814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1" name="AutoShape 49">
                <a:extLst>
                  <a:ext uri="{FF2B5EF4-FFF2-40B4-BE49-F238E27FC236}">
                    <a16:creationId xmlns:a16="http://schemas.microsoft.com/office/drawing/2014/main" id="{6664F4EB-A46F-2A54-98E4-73B51837A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2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2" name="AutoShape 50">
                <a:extLst>
                  <a:ext uri="{FF2B5EF4-FFF2-40B4-BE49-F238E27FC236}">
                    <a16:creationId xmlns:a16="http://schemas.microsoft.com/office/drawing/2014/main" id="{837F16D6-400E-D0FF-F92B-4E3B8F020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3" name="AutoShape 51">
                <a:extLst>
                  <a:ext uri="{FF2B5EF4-FFF2-40B4-BE49-F238E27FC236}">
                    <a16:creationId xmlns:a16="http://schemas.microsoft.com/office/drawing/2014/main" id="{D3CA9FEA-F048-C3D6-9D3F-FF0B56251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4" name="AutoShape 52">
                <a:extLst>
                  <a:ext uri="{FF2B5EF4-FFF2-40B4-BE49-F238E27FC236}">
                    <a16:creationId xmlns:a16="http://schemas.microsoft.com/office/drawing/2014/main" id="{25140123-58B8-C6A3-A5B6-F6D722313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5" name="AutoShape 53">
                <a:extLst>
                  <a:ext uri="{FF2B5EF4-FFF2-40B4-BE49-F238E27FC236}">
                    <a16:creationId xmlns:a16="http://schemas.microsoft.com/office/drawing/2014/main" id="{48A8ED83-8C10-80A6-AE1D-DEFFB1E2D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6" name="AutoShape 54">
                <a:extLst>
                  <a:ext uri="{FF2B5EF4-FFF2-40B4-BE49-F238E27FC236}">
                    <a16:creationId xmlns:a16="http://schemas.microsoft.com/office/drawing/2014/main" id="{2E89419F-F963-386D-CBFC-6753F15CE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7" name="AutoShape 55">
                <a:extLst>
                  <a:ext uri="{FF2B5EF4-FFF2-40B4-BE49-F238E27FC236}">
                    <a16:creationId xmlns:a16="http://schemas.microsoft.com/office/drawing/2014/main" id="{F384DF8C-B77B-0EBA-4B74-6B5F20417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8" name="AutoShape 56">
                <a:extLst>
                  <a:ext uri="{FF2B5EF4-FFF2-40B4-BE49-F238E27FC236}">
                    <a16:creationId xmlns:a16="http://schemas.microsoft.com/office/drawing/2014/main" id="{DF84EDF5-6F6B-E103-9593-9CE5A7B17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28729" name="AutoShape 57">
                <a:extLst>
                  <a:ext uri="{FF2B5EF4-FFF2-40B4-BE49-F238E27FC236}">
                    <a16:creationId xmlns:a16="http://schemas.microsoft.com/office/drawing/2014/main" id="{6FE59E8D-90DE-0A80-1E75-46A8FC89E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  <p:sp>
          <p:nvSpPr>
            <p:cNvPr id="28730" name="Text Box 58">
              <a:extLst>
                <a:ext uri="{FF2B5EF4-FFF2-40B4-BE49-F238E27FC236}">
                  <a16:creationId xmlns:a16="http://schemas.microsoft.com/office/drawing/2014/main" id="{55F52594-9C2A-4FAF-CE20-F5F78975B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064"/>
              <a:ext cx="110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solidFill>
                    <a:srgbClr val="CC0066"/>
                  </a:solidFill>
                  <a:latin typeface="Garamond" panose="02020404030301010803" pitchFamily="18" charset="0"/>
                  <a:ea typeface="굴림" panose="020B0600000101010101" pitchFamily="34" charset="-127"/>
                </a:rPr>
                <a:t>No Outliers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02E9154-3E34-FA29-B838-1FEA71417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304800"/>
            <a:ext cx="7772400" cy="1143000"/>
          </a:xfrm>
        </p:spPr>
        <p:txBody>
          <a:bodyPr/>
          <a:lstStyle/>
          <a:p>
            <a:pPr algn="ctr"/>
            <a:r>
              <a:rPr lang="en-US" altLang="ko-KR" sz="4800" dirty="0"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268C455-E8AF-483A-C412-8CA46808D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371600"/>
            <a:ext cx="8382000" cy="1828800"/>
          </a:xfrm>
        </p:spPr>
        <p:txBody>
          <a:bodyPr>
            <a:normAutofit lnSpcReduction="10000"/>
          </a:bodyPr>
          <a:lstStyle/>
          <a:p>
            <a:r>
              <a:rPr lang="en-US" altLang="ko-KR">
                <a:ea typeface="굴림" panose="020B0600000101010101" pitchFamily="34" charset="-127"/>
              </a:rPr>
              <a:t>A quality control process measures the diameter of a gear being made by a machine (cm). The technician records 15 diameters, but inadvertently makes a typing mistake on the second entry.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D7352CD8-2AFB-94FF-9DB7-18EA218E3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200400"/>
            <a:ext cx="7315200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b="1">
                <a:solidFill>
                  <a:srgbClr val="CC0066"/>
                </a:solidFill>
                <a:latin typeface="Garamond" panose="02020404030301010803" pitchFamily="18" charset="0"/>
                <a:ea typeface="굴림" panose="020B0600000101010101" pitchFamily="34" charset="-127"/>
              </a:rPr>
              <a:t>1.991	1.891	1.991	1.988	1.993	 1.989	1.990	1.988</a:t>
            </a:r>
          </a:p>
          <a:p>
            <a:pPr>
              <a:spcBef>
                <a:spcPct val="50000"/>
              </a:spcBef>
            </a:pPr>
            <a:r>
              <a:rPr lang="en-US" altLang="ko-KR" b="1">
                <a:solidFill>
                  <a:srgbClr val="CC0066"/>
                </a:solidFill>
                <a:latin typeface="Garamond" panose="02020404030301010803" pitchFamily="18" charset="0"/>
                <a:ea typeface="굴림" panose="020B0600000101010101" pitchFamily="34" charset="-127"/>
              </a:rPr>
              <a:t>1.988	1.993	1.991	1.989	1.989	1.993	1.990	1.994</a:t>
            </a:r>
          </a:p>
        </p:txBody>
      </p:sp>
      <p:grpSp>
        <p:nvGrpSpPr>
          <p:cNvPr id="29707" name="Group 11">
            <a:extLst>
              <a:ext uri="{FF2B5EF4-FFF2-40B4-BE49-F238E27FC236}">
                <a16:creationId xmlns:a16="http://schemas.microsoft.com/office/drawing/2014/main" id="{5FF1E418-0E02-979D-6770-C829B68D08FA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419600"/>
            <a:ext cx="5791200" cy="1371600"/>
            <a:chOff x="1200" y="2784"/>
            <a:chExt cx="3648" cy="864"/>
          </a:xfrm>
        </p:grpSpPr>
        <p:sp>
          <p:nvSpPr>
            <p:cNvPr id="29703" name="Rectangle 7">
              <a:extLst>
                <a:ext uri="{FF2B5EF4-FFF2-40B4-BE49-F238E27FC236}">
                  <a16:creationId xmlns:a16="http://schemas.microsoft.com/office/drawing/2014/main" id="{D0E3C5E9-2C79-7654-A234-B02C7FFE0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784"/>
              <a:ext cx="3648" cy="86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9704" name="Picture 8">
              <a:extLst>
                <a:ext uri="{FF2B5EF4-FFF2-40B4-BE49-F238E27FC236}">
                  <a16:creationId xmlns:a16="http://schemas.microsoft.com/office/drawing/2014/main" id="{D67A4F5D-9D6C-9B7E-F326-E5AEBC672C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880"/>
              <a:ext cx="3448" cy="64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29711" name="Group 15">
            <a:extLst>
              <a:ext uri="{FF2B5EF4-FFF2-40B4-BE49-F238E27FC236}">
                <a16:creationId xmlns:a16="http://schemas.microsoft.com/office/drawing/2014/main" id="{EE046403-64B4-DFE2-5870-604DA7C6A762}"/>
              </a:ext>
            </a:extLst>
          </p:cNvPr>
          <p:cNvGrpSpPr>
            <a:grpSpLocks/>
          </p:cNvGrpSpPr>
          <p:nvPr/>
        </p:nvGrpSpPr>
        <p:grpSpPr bwMode="auto">
          <a:xfrm>
            <a:off x="10076331" y="114300"/>
            <a:ext cx="1295400" cy="1295400"/>
            <a:chOff x="4800" y="72"/>
            <a:chExt cx="816" cy="816"/>
          </a:xfrm>
        </p:grpSpPr>
        <p:sp>
          <p:nvSpPr>
            <p:cNvPr id="29709" name="Rectangle 13">
              <a:extLst>
                <a:ext uri="{FF2B5EF4-FFF2-40B4-BE49-F238E27FC236}">
                  <a16:creationId xmlns:a16="http://schemas.microsoft.com/office/drawing/2014/main" id="{CF3D5211-80B7-215C-32B5-BC1654ABD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72"/>
              <a:ext cx="816" cy="816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29708" name="Picture 12">
              <a:extLst>
                <a:ext uri="{FF2B5EF4-FFF2-40B4-BE49-F238E27FC236}">
                  <a16:creationId xmlns:a16="http://schemas.microsoft.com/office/drawing/2014/main" id="{31F09CE4-3E87-2DC3-ED6E-4F1DD81768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3" y="123"/>
              <a:ext cx="730" cy="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712" name="Line 16">
            <a:extLst>
              <a:ext uri="{FF2B5EF4-FFF2-40B4-BE49-F238E27FC236}">
                <a16:creationId xmlns:a16="http://schemas.microsoft.com/office/drawing/2014/main" id="{15E32623-779D-50ED-5B15-B740EF2F63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3581400"/>
            <a:ext cx="228600" cy="121920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60D477F-5563-FDD2-8758-49C0907C6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ko-KR" sz="4400">
                <a:ea typeface="굴림" panose="020B0600000101010101" pitchFamily="34" charset="-127"/>
              </a:rPr>
              <a:t>Relative Frequency Histograms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FBF46EC-A078-A853-6849-3A68BB387F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488144"/>
            <a:ext cx="8153400" cy="2590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A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relative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frequency histogram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for a quantitative data set is a bar graph in which the height of the bar shows “how often” (measured as a proportion or relative frequency) measurements fall in a particular class or subinterval.</a:t>
            </a:r>
          </a:p>
        </p:txBody>
      </p:sp>
      <p:grpSp>
        <p:nvGrpSpPr>
          <p:cNvPr id="30725" name="Group 5">
            <a:extLst>
              <a:ext uri="{FF2B5EF4-FFF2-40B4-BE49-F238E27FC236}">
                <a16:creationId xmlns:a16="http://schemas.microsoft.com/office/drawing/2014/main" id="{6A228C67-C46F-B922-17E4-898A6988C952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840946"/>
            <a:ext cx="3886200" cy="1055688"/>
            <a:chOff x="432" y="2880"/>
            <a:chExt cx="2448" cy="665"/>
          </a:xfrm>
        </p:grpSpPr>
        <p:sp>
          <p:nvSpPr>
            <p:cNvPr id="30726" name="AutoShape 6">
              <a:extLst>
                <a:ext uri="{FF2B5EF4-FFF2-40B4-BE49-F238E27FC236}">
                  <a16:creationId xmlns:a16="http://schemas.microsoft.com/office/drawing/2014/main" id="{A8FCA298-9D9F-58F9-64E6-7621AAD61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976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grpSp>
          <p:nvGrpSpPr>
            <p:cNvPr id="30727" name="Group 7">
              <a:extLst>
                <a:ext uri="{FF2B5EF4-FFF2-40B4-BE49-F238E27FC236}">
                  <a16:creationId xmlns:a16="http://schemas.microsoft.com/office/drawing/2014/main" id="{6B1FAF21-452C-3670-2697-13D143A10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880"/>
              <a:ext cx="2448" cy="665"/>
              <a:chOff x="432" y="2880"/>
              <a:chExt cx="2448" cy="665"/>
            </a:xfrm>
          </p:grpSpPr>
          <p:sp>
            <p:nvSpPr>
              <p:cNvPr id="30728" name="AutoShape 8">
                <a:extLst>
                  <a:ext uri="{FF2B5EF4-FFF2-40B4-BE49-F238E27FC236}">
                    <a16:creationId xmlns:a16="http://schemas.microsoft.com/office/drawing/2014/main" id="{447664F7-B3EC-025E-E59C-BB079DF65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97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grpSp>
            <p:nvGrpSpPr>
              <p:cNvPr id="30729" name="Group 9">
                <a:extLst>
                  <a:ext uri="{FF2B5EF4-FFF2-40B4-BE49-F238E27FC236}">
                    <a16:creationId xmlns:a16="http://schemas.microsoft.com/office/drawing/2014/main" id="{F898537B-7FED-411D-E005-70942A49FD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2880"/>
                <a:ext cx="2448" cy="665"/>
                <a:chOff x="432" y="2880"/>
                <a:chExt cx="2448" cy="665"/>
              </a:xfrm>
            </p:grpSpPr>
            <p:sp>
              <p:nvSpPr>
                <p:cNvPr id="30730" name="AutoShape 10">
                  <a:extLst>
                    <a:ext uri="{FF2B5EF4-FFF2-40B4-BE49-F238E27FC236}">
                      <a16:creationId xmlns:a16="http://schemas.microsoft.com/office/drawing/2014/main" id="{94FD55AF-035F-F88A-7240-47CCA389A1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97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grpSp>
              <p:nvGrpSpPr>
                <p:cNvPr id="30731" name="Group 11">
                  <a:extLst>
                    <a:ext uri="{FF2B5EF4-FFF2-40B4-BE49-F238E27FC236}">
                      <a16:creationId xmlns:a16="http://schemas.microsoft.com/office/drawing/2014/main" id="{BFD1149E-AB01-B240-2709-07D6C4A989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2880"/>
                  <a:ext cx="2448" cy="665"/>
                  <a:chOff x="432" y="2880"/>
                  <a:chExt cx="2448" cy="665"/>
                </a:xfrm>
              </p:grpSpPr>
              <p:grpSp>
                <p:nvGrpSpPr>
                  <p:cNvPr id="30732" name="Group 12">
                    <a:extLst>
                      <a:ext uri="{FF2B5EF4-FFF2-40B4-BE49-F238E27FC236}">
                        <a16:creationId xmlns:a16="http://schemas.microsoft.com/office/drawing/2014/main" id="{3A34B7CE-FC14-63C2-472B-2ECBA2471FA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104" y="2976"/>
                    <a:ext cx="576" cy="96"/>
                    <a:chOff x="1104" y="2976"/>
                    <a:chExt cx="576" cy="96"/>
                  </a:xfrm>
                </p:grpSpPr>
                <p:sp>
                  <p:nvSpPr>
                    <p:cNvPr id="30733" name="AutoShape 13">
                      <a:extLst>
                        <a:ext uri="{FF2B5EF4-FFF2-40B4-BE49-F238E27FC236}">
                          <a16:creationId xmlns:a16="http://schemas.microsoft.com/office/drawing/2014/main" id="{6EFC1CA4-9A70-20D9-D553-46A17429E97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8" y="2976"/>
                      <a:ext cx="96" cy="96"/>
                    </a:xfrm>
                    <a:prstGeom prst="diamond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0734" name="AutoShape 14">
                      <a:extLst>
                        <a:ext uri="{FF2B5EF4-FFF2-40B4-BE49-F238E27FC236}">
                          <a16:creationId xmlns:a16="http://schemas.microsoft.com/office/drawing/2014/main" id="{F4D71232-8416-F4A6-716D-FE134B7436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976"/>
                      <a:ext cx="96" cy="96"/>
                    </a:xfrm>
                    <a:prstGeom prst="diamond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0735" name="AutoShape 15">
                      <a:extLst>
                        <a:ext uri="{FF2B5EF4-FFF2-40B4-BE49-F238E27FC236}">
                          <a16:creationId xmlns:a16="http://schemas.microsoft.com/office/drawing/2014/main" id="{978A4248-D788-60A3-D5EB-61D091A436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84" y="2976"/>
                      <a:ext cx="96" cy="96"/>
                    </a:xfrm>
                    <a:prstGeom prst="diamond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ID"/>
                    </a:p>
                  </p:txBody>
                </p:sp>
              </p:grpSp>
              <p:grpSp>
                <p:nvGrpSpPr>
                  <p:cNvPr id="30736" name="Group 16">
                    <a:extLst>
                      <a:ext uri="{FF2B5EF4-FFF2-40B4-BE49-F238E27FC236}">
                        <a16:creationId xmlns:a16="http://schemas.microsoft.com/office/drawing/2014/main" id="{B0B4EC10-EA4F-B73F-1486-DD56FE8393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2" y="2880"/>
                    <a:ext cx="2448" cy="665"/>
                    <a:chOff x="432" y="2880"/>
                    <a:chExt cx="2448" cy="665"/>
                  </a:xfrm>
                </p:grpSpPr>
                <p:sp>
                  <p:nvSpPr>
                    <p:cNvPr id="30737" name="AutoShape 17">
                      <a:extLst>
                        <a:ext uri="{FF2B5EF4-FFF2-40B4-BE49-F238E27FC236}">
                          <a16:creationId xmlns:a16="http://schemas.microsoft.com/office/drawing/2014/main" id="{2C331E0C-B108-8EF3-C7EA-8D766819FFA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16" y="2976"/>
                      <a:ext cx="96" cy="96"/>
                    </a:xfrm>
                    <a:prstGeom prst="diamond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ID"/>
                    </a:p>
                  </p:txBody>
                </p:sp>
                <p:sp>
                  <p:nvSpPr>
                    <p:cNvPr id="30738" name="AutoShape 18">
                      <a:extLst>
                        <a:ext uri="{FF2B5EF4-FFF2-40B4-BE49-F238E27FC236}">
                          <a16:creationId xmlns:a16="http://schemas.microsoft.com/office/drawing/2014/main" id="{FB7BF8F1-2378-72F6-886A-B084766F38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60" y="2976"/>
                      <a:ext cx="96" cy="96"/>
                    </a:xfrm>
                    <a:prstGeom prst="diamond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ID"/>
                    </a:p>
                  </p:txBody>
                </p:sp>
                <p:grpSp>
                  <p:nvGrpSpPr>
                    <p:cNvPr id="30739" name="Group 19">
                      <a:extLst>
                        <a:ext uri="{FF2B5EF4-FFF2-40B4-BE49-F238E27FC236}">
                          <a16:creationId xmlns:a16="http://schemas.microsoft.com/office/drawing/2014/main" id="{EC9983DD-C138-D621-52A6-06D7F66EC7F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32" y="2880"/>
                      <a:ext cx="2448" cy="665"/>
                      <a:chOff x="432" y="2880"/>
                      <a:chExt cx="2448" cy="665"/>
                    </a:xfrm>
                  </p:grpSpPr>
                  <p:sp>
                    <p:nvSpPr>
                      <p:cNvPr id="30740" name="AutoShape 20">
                        <a:extLst>
                          <a:ext uri="{FF2B5EF4-FFF2-40B4-BE49-F238E27FC236}">
                            <a16:creationId xmlns:a16="http://schemas.microsoft.com/office/drawing/2014/main" id="{87994B9A-3ADE-52C2-4FBF-1208C0CD61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16" y="2880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1" name="AutoShape 21">
                        <a:extLst>
                          <a:ext uri="{FF2B5EF4-FFF2-40B4-BE49-F238E27FC236}">
                            <a16:creationId xmlns:a16="http://schemas.microsoft.com/office/drawing/2014/main" id="{ABE89841-A835-1BA0-9D41-10981B3DF1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60" y="2880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2" name="AutoShape 22">
                        <a:extLst>
                          <a:ext uri="{FF2B5EF4-FFF2-40B4-BE49-F238E27FC236}">
                            <a16:creationId xmlns:a16="http://schemas.microsoft.com/office/drawing/2014/main" id="{21D86243-027F-327D-BD2C-9E705839566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12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3" name="AutoShape 23">
                        <a:extLst>
                          <a:ext uri="{FF2B5EF4-FFF2-40B4-BE49-F238E27FC236}">
                            <a16:creationId xmlns:a16="http://schemas.microsoft.com/office/drawing/2014/main" id="{BA7EAEB1-FA61-6EA2-D5E7-E7825F7FC6D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12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4" name="AutoShape 24">
                        <a:extLst>
                          <a:ext uri="{FF2B5EF4-FFF2-40B4-BE49-F238E27FC236}">
                            <a16:creationId xmlns:a16="http://schemas.microsoft.com/office/drawing/2014/main" id="{1287E8A1-3C6D-86A2-6D0B-0C8CA41825B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112" y="2880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5" name="AutoShape 25">
                        <a:extLst>
                          <a:ext uri="{FF2B5EF4-FFF2-40B4-BE49-F238E27FC236}">
                            <a16:creationId xmlns:a16="http://schemas.microsoft.com/office/drawing/2014/main" id="{A72D91D9-BA19-5D6D-1192-E7FABE11A00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80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6" name="AutoShape 26">
                        <a:extLst>
                          <a:ext uri="{FF2B5EF4-FFF2-40B4-BE49-F238E27FC236}">
                            <a16:creationId xmlns:a16="http://schemas.microsoft.com/office/drawing/2014/main" id="{843F502C-539E-BDF0-3BE1-2679398187B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296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7" name="AutoShape 27">
                        <a:extLst>
                          <a:ext uri="{FF2B5EF4-FFF2-40B4-BE49-F238E27FC236}">
                            <a16:creationId xmlns:a16="http://schemas.microsoft.com/office/drawing/2014/main" id="{C82E3386-595F-A182-4FC9-EDB524C280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296" y="2880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8" name="AutoShape 28">
                        <a:extLst>
                          <a:ext uri="{FF2B5EF4-FFF2-40B4-BE49-F238E27FC236}">
                            <a16:creationId xmlns:a16="http://schemas.microsoft.com/office/drawing/2014/main" id="{D3C53713-E519-5D24-83C9-896BDE539AD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68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49" name="AutoShape 29">
                        <a:extLst>
                          <a:ext uri="{FF2B5EF4-FFF2-40B4-BE49-F238E27FC236}">
                            <a16:creationId xmlns:a16="http://schemas.microsoft.com/office/drawing/2014/main" id="{2CCBE6EA-72B7-5CAA-64E2-6AD5A650EC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56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0" name="AutoShape 30">
                        <a:extLst>
                          <a:ext uri="{FF2B5EF4-FFF2-40B4-BE49-F238E27FC236}">
                            <a16:creationId xmlns:a16="http://schemas.microsoft.com/office/drawing/2014/main" id="{AB1BAC02-1D1A-A5FB-70DC-CC95DC17510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96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1" name="AutoShape 31">
                        <a:extLst>
                          <a:ext uri="{FF2B5EF4-FFF2-40B4-BE49-F238E27FC236}">
                            <a16:creationId xmlns:a16="http://schemas.microsoft.com/office/drawing/2014/main" id="{691029FB-6BA2-F67D-FE23-C2E2F446423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824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2" name="AutoShape 32">
                        <a:extLst>
                          <a:ext uri="{FF2B5EF4-FFF2-40B4-BE49-F238E27FC236}">
                            <a16:creationId xmlns:a16="http://schemas.microsoft.com/office/drawing/2014/main" id="{4F3441AF-41FA-D41B-4620-D928281DA98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56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3" name="AutoShape 33">
                        <a:extLst>
                          <a:ext uri="{FF2B5EF4-FFF2-40B4-BE49-F238E27FC236}">
                            <a16:creationId xmlns:a16="http://schemas.microsoft.com/office/drawing/2014/main" id="{B3BD9117-B159-0ABA-1E84-80490CF5D41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400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4" name="AutoShape 34">
                        <a:extLst>
                          <a:ext uri="{FF2B5EF4-FFF2-40B4-BE49-F238E27FC236}">
                            <a16:creationId xmlns:a16="http://schemas.microsoft.com/office/drawing/2014/main" id="{565F8469-A885-A82B-7D6A-028A2E384BD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24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5" name="AutoShape 35">
                        <a:extLst>
                          <a:ext uri="{FF2B5EF4-FFF2-40B4-BE49-F238E27FC236}">
                            <a16:creationId xmlns:a16="http://schemas.microsoft.com/office/drawing/2014/main" id="{265F9053-8123-239D-38E0-7B5171EC7A5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2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6" name="AutoShape 36">
                        <a:extLst>
                          <a:ext uri="{FF2B5EF4-FFF2-40B4-BE49-F238E27FC236}">
                            <a16:creationId xmlns:a16="http://schemas.microsoft.com/office/drawing/2014/main" id="{1AEEE2EC-89ED-3E74-304E-F7F620AD685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440" y="2976"/>
                        <a:ext cx="96" cy="96"/>
                      </a:xfrm>
                      <a:prstGeom prst="diamond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ID"/>
                      </a:p>
                    </p:txBody>
                  </p:sp>
                  <p:sp>
                    <p:nvSpPr>
                      <p:cNvPr id="30757" name="Text Box 37">
                        <a:extLst>
                          <a:ext uri="{FF2B5EF4-FFF2-40B4-BE49-F238E27FC236}">
                            <a16:creationId xmlns:a16="http://schemas.microsoft.com/office/drawing/2014/main" id="{4463108C-C7B0-B055-93D5-D27DFDA9993D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60" y="3312"/>
                        <a:ext cx="1536" cy="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>
                        <a:spAutoFit/>
                      </a:bodyPr>
                      <a:lstStyle/>
                      <a:p>
                        <a:pPr>
                          <a:spcBef>
                            <a:spcPct val="50000"/>
                          </a:spcBef>
                        </a:pPr>
                        <a:r>
                          <a:rPr lang="en-US" altLang="ko-KR">
                            <a:solidFill>
                              <a:srgbClr val="CC0066"/>
                            </a:solidFill>
                            <a:latin typeface="Garamond" panose="02020404030301010803" pitchFamily="18" charset="0"/>
                            <a:ea typeface="굴림" panose="020B0600000101010101" pitchFamily="34" charset="-127"/>
                          </a:rPr>
                          <a:t>Create intervals</a:t>
                        </a:r>
                      </a:p>
                    </p:txBody>
                  </p:sp>
                  <p:grpSp>
                    <p:nvGrpSpPr>
                      <p:cNvPr id="30758" name="Group 38">
                        <a:extLst>
                          <a:ext uri="{FF2B5EF4-FFF2-40B4-BE49-F238E27FC236}">
                            <a16:creationId xmlns:a16="http://schemas.microsoft.com/office/drawing/2014/main" id="{3D508125-D508-D7DC-937F-C2781E786CA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32" y="3024"/>
                        <a:ext cx="2448" cy="192"/>
                        <a:chOff x="2832" y="3024"/>
                        <a:chExt cx="2448" cy="192"/>
                      </a:xfrm>
                    </p:grpSpPr>
                    <p:sp>
                      <p:nvSpPr>
                        <p:cNvPr id="30759" name="Line 39">
                          <a:extLst>
                            <a:ext uri="{FF2B5EF4-FFF2-40B4-BE49-F238E27FC236}">
                              <a16:creationId xmlns:a16="http://schemas.microsoft.com/office/drawing/2014/main" id="{BB64D0D2-6354-B810-9E7D-52BC4E68A43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32" y="3072"/>
                          <a:ext cx="2448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0" name="Line 40">
                          <a:extLst>
                            <a:ext uri="{FF2B5EF4-FFF2-40B4-BE49-F238E27FC236}">
                              <a16:creationId xmlns:a16="http://schemas.microsoft.com/office/drawing/2014/main" id="{2C6AA2D3-89EE-B3CF-BCAF-92AE30487BA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312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1" name="Line 41">
                          <a:extLst>
                            <a:ext uri="{FF2B5EF4-FFF2-40B4-BE49-F238E27FC236}">
                              <a16:creationId xmlns:a16="http://schemas.microsoft.com/office/drawing/2014/main" id="{E7B975C5-F8FC-3B8A-9898-E139FEEF907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696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2" name="Line 42">
                          <a:extLst>
                            <a:ext uri="{FF2B5EF4-FFF2-40B4-BE49-F238E27FC236}">
                              <a16:creationId xmlns:a16="http://schemas.microsoft.com/office/drawing/2014/main" id="{979C1D6F-8BF3-E8C0-2412-F08AC0A233A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80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3" name="Line 43">
                          <a:extLst>
                            <a:ext uri="{FF2B5EF4-FFF2-40B4-BE49-F238E27FC236}">
                              <a16:creationId xmlns:a16="http://schemas.microsoft.com/office/drawing/2014/main" id="{65E18E9E-C930-CD83-6525-30F57AC64BB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64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4" name="Line 44">
                          <a:extLst>
                            <a:ext uri="{FF2B5EF4-FFF2-40B4-BE49-F238E27FC236}">
                              <a16:creationId xmlns:a16="http://schemas.microsoft.com/office/drawing/2014/main" id="{E12E9767-63B8-72AB-2BF3-8F31103946D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896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5" name="Line 45">
                          <a:extLst>
                            <a:ext uri="{FF2B5EF4-FFF2-40B4-BE49-F238E27FC236}">
                              <a16:creationId xmlns:a16="http://schemas.microsoft.com/office/drawing/2014/main" id="{B7211FC5-ECCD-4346-CDD2-C2CE7DD3E41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80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  <p:sp>
                      <p:nvSpPr>
                        <p:cNvPr id="30766" name="Line 46">
                          <a:extLst>
                            <a:ext uri="{FF2B5EF4-FFF2-40B4-BE49-F238E27FC236}">
                              <a16:creationId xmlns:a16="http://schemas.microsoft.com/office/drawing/2014/main" id="{38FBDF74-209E-2BC6-CC97-CCC3EED4ABF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280" y="3024"/>
                          <a:ext cx="0" cy="192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CC0066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ID"/>
                        </a:p>
                      </p:txBody>
                    </p:sp>
                  </p:grpSp>
                </p:grpSp>
              </p:grpSp>
            </p:grpSp>
          </p:grpSp>
        </p:grpSp>
      </p:grpSp>
      <p:grpSp>
        <p:nvGrpSpPr>
          <p:cNvPr id="30767" name="Group 47">
            <a:extLst>
              <a:ext uri="{FF2B5EF4-FFF2-40B4-BE49-F238E27FC236}">
                <a16:creationId xmlns:a16="http://schemas.microsoft.com/office/drawing/2014/main" id="{0FF26FE5-CA4B-FC24-180D-3449FE8394A1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4078945"/>
            <a:ext cx="3886200" cy="1893888"/>
            <a:chOff x="2880" y="2400"/>
            <a:chExt cx="2448" cy="1193"/>
          </a:xfrm>
        </p:grpSpPr>
        <p:grpSp>
          <p:nvGrpSpPr>
            <p:cNvPr id="30768" name="Group 48">
              <a:extLst>
                <a:ext uri="{FF2B5EF4-FFF2-40B4-BE49-F238E27FC236}">
                  <a16:creationId xmlns:a16="http://schemas.microsoft.com/office/drawing/2014/main" id="{344DC91A-AAAE-6D30-F698-1F4E67539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2400"/>
              <a:ext cx="2064" cy="1193"/>
              <a:chOff x="3120" y="2400"/>
              <a:chExt cx="2064" cy="1193"/>
            </a:xfrm>
          </p:grpSpPr>
          <p:sp>
            <p:nvSpPr>
              <p:cNvPr id="30769" name="AutoShape 49">
                <a:extLst>
                  <a:ext uri="{FF2B5EF4-FFF2-40B4-BE49-F238E27FC236}">
                    <a16:creationId xmlns:a16="http://schemas.microsoft.com/office/drawing/2014/main" id="{3275B0D8-7A92-3E9E-4134-93D0FC0EC1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8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grpSp>
            <p:nvGrpSpPr>
              <p:cNvPr id="30770" name="Group 50">
                <a:extLst>
                  <a:ext uri="{FF2B5EF4-FFF2-40B4-BE49-F238E27FC236}">
                    <a16:creationId xmlns:a16="http://schemas.microsoft.com/office/drawing/2014/main" id="{DBD166DF-9668-9765-7357-549AA3A72B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2400"/>
                <a:ext cx="2064" cy="1193"/>
                <a:chOff x="3120" y="2400"/>
                <a:chExt cx="2064" cy="1193"/>
              </a:xfrm>
            </p:grpSpPr>
            <p:sp>
              <p:nvSpPr>
                <p:cNvPr id="30771" name="Text Box 51">
                  <a:extLst>
                    <a:ext uri="{FF2B5EF4-FFF2-40B4-BE49-F238E27FC236}">
                      <a16:creationId xmlns:a16="http://schemas.microsoft.com/office/drawing/2014/main" id="{8EB4232C-B6FA-98B9-4F6E-7A69AFAAC4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0" y="3360"/>
                  <a:ext cx="206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ko-KR">
                      <a:solidFill>
                        <a:srgbClr val="CC0066"/>
                      </a:solidFill>
                      <a:latin typeface="Garamond" panose="02020404030301010803" pitchFamily="18" charset="0"/>
                      <a:ea typeface="굴림" panose="020B0600000101010101" pitchFamily="34" charset="-127"/>
                    </a:rPr>
                    <a:t>Stack and draw bars</a:t>
                  </a:r>
                </a:p>
              </p:txBody>
            </p:sp>
            <p:grpSp>
              <p:nvGrpSpPr>
                <p:cNvPr id="30772" name="Group 52">
                  <a:extLst>
                    <a:ext uri="{FF2B5EF4-FFF2-40B4-BE49-F238E27FC236}">
                      <a16:creationId xmlns:a16="http://schemas.microsoft.com/office/drawing/2014/main" id="{1B9E8FE0-C554-31A9-6A5D-BF4E842DD1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0" y="2592"/>
                  <a:ext cx="96" cy="480"/>
                  <a:chOff x="3120" y="2592"/>
                  <a:chExt cx="96" cy="480"/>
                </a:xfrm>
              </p:grpSpPr>
              <p:sp>
                <p:nvSpPr>
                  <p:cNvPr id="30773" name="AutoShape 53">
                    <a:extLst>
                      <a:ext uri="{FF2B5EF4-FFF2-40B4-BE49-F238E27FC236}">
                        <a16:creationId xmlns:a16="http://schemas.microsoft.com/office/drawing/2014/main" id="{31CFDE0D-F3DF-CD82-1188-AE244A8C65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880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74" name="AutoShape 54">
                    <a:extLst>
                      <a:ext uri="{FF2B5EF4-FFF2-40B4-BE49-F238E27FC236}">
                        <a16:creationId xmlns:a16="http://schemas.microsoft.com/office/drawing/2014/main" id="{0841E4F6-A7A2-A5F7-0F65-508C473DD8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976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75" name="AutoShape 55">
                    <a:extLst>
                      <a:ext uri="{FF2B5EF4-FFF2-40B4-BE49-F238E27FC236}">
                        <a16:creationId xmlns:a16="http://schemas.microsoft.com/office/drawing/2014/main" id="{24505E14-C9A3-CC8C-F3A9-6B4D69EC9A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784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76" name="AutoShape 56">
                    <a:extLst>
                      <a:ext uri="{FF2B5EF4-FFF2-40B4-BE49-F238E27FC236}">
                        <a16:creationId xmlns:a16="http://schemas.microsoft.com/office/drawing/2014/main" id="{961F10BB-DB64-51D8-86D2-2A13898068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688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77" name="AutoShape 57">
                    <a:extLst>
                      <a:ext uri="{FF2B5EF4-FFF2-40B4-BE49-F238E27FC236}">
                        <a16:creationId xmlns:a16="http://schemas.microsoft.com/office/drawing/2014/main" id="{06226EDA-6EA0-2E09-7D42-DCDA8326E8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592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</p:grpSp>
            <p:sp>
              <p:nvSpPr>
                <p:cNvPr id="30778" name="AutoShape 58">
                  <a:extLst>
                    <a:ext uri="{FF2B5EF4-FFF2-40B4-BE49-F238E27FC236}">
                      <a16:creationId xmlns:a16="http://schemas.microsoft.com/office/drawing/2014/main" id="{4254355E-17AD-4292-D10E-8F64C9081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97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79" name="AutoShape 59">
                  <a:extLst>
                    <a:ext uri="{FF2B5EF4-FFF2-40B4-BE49-F238E27FC236}">
                      <a16:creationId xmlns:a16="http://schemas.microsoft.com/office/drawing/2014/main" id="{F696D6DB-4750-46AD-97C8-0A22F5024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8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80" name="AutoShape 60">
                  <a:extLst>
                    <a:ext uri="{FF2B5EF4-FFF2-40B4-BE49-F238E27FC236}">
                      <a16:creationId xmlns:a16="http://schemas.microsoft.com/office/drawing/2014/main" id="{FE394371-C01F-B5ED-A73D-5A57942FD8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7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81" name="AutoShape 61">
                  <a:extLst>
                    <a:ext uri="{FF2B5EF4-FFF2-40B4-BE49-F238E27FC236}">
                      <a16:creationId xmlns:a16="http://schemas.microsoft.com/office/drawing/2014/main" id="{BE912E46-9A84-800A-C3D0-52D74DA5C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6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82" name="AutoShape 62">
                  <a:extLst>
                    <a:ext uri="{FF2B5EF4-FFF2-40B4-BE49-F238E27FC236}">
                      <a16:creationId xmlns:a16="http://schemas.microsoft.com/office/drawing/2014/main" id="{01EFAEC8-B2BB-C2C8-F71A-700CFD42F7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49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83" name="AutoShape 63">
                  <a:extLst>
                    <a:ext uri="{FF2B5EF4-FFF2-40B4-BE49-F238E27FC236}">
                      <a16:creationId xmlns:a16="http://schemas.microsoft.com/office/drawing/2014/main" id="{F88EA9C4-1691-E953-1A99-DD71A1ACB5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5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84" name="AutoShape 64">
                  <a:extLst>
                    <a:ext uri="{FF2B5EF4-FFF2-40B4-BE49-F238E27FC236}">
                      <a16:creationId xmlns:a16="http://schemas.microsoft.com/office/drawing/2014/main" id="{539F2643-7476-9686-24E1-C178FB6B41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240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grpSp>
              <p:nvGrpSpPr>
                <p:cNvPr id="30785" name="Group 65">
                  <a:extLst>
                    <a:ext uri="{FF2B5EF4-FFF2-40B4-BE49-F238E27FC236}">
                      <a16:creationId xmlns:a16="http://schemas.microsoft.com/office/drawing/2014/main" id="{3A04EC48-3E86-3CD1-8408-D29F421DDD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40" y="2592"/>
                  <a:ext cx="96" cy="480"/>
                  <a:chOff x="3120" y="2592"/>
                  <a:chExt cx="96" cy="480"/>
                </a:xfrm>
              </p:grpSpPr>
              <p:sp>
                <p:nvSpPr>
                  <p:cNvPr id="30786" name="AutoShape 66">
                    <a:extLst>
                      <a:ext uri="{FF2B5EF4-FFF2-40B4-BE49-F238E27FC236}">
                        <a16:creationId xmlns:a16="http://schemas.microsoft.com/office/drawing/2014/main" id="{A3C2EC24-A05D-D91E-51E0-964CC61F4F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880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87" name="AutoShape 67">
                    <a:extLst>
                      <a:ext uri="{FF2B5EF4-FFF2-40B4-BE49-F238E27FC236}">
                        <a16:creationId xmlns:a16="http://schemas.microsoft.com/office/drawing/2014/main" id="{313784F5-E174-478B-8883-FED9332157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976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88" name="AutoShape 68">
                    <a:extLst>
                      <a:ext uri="{FF2B5EF4-FFF2-40B4-BE49-F238E27FC236}">
                        <a16:creationId xmlns:a16="http://schemas.microsoft.com/office/drawing/2014/main" id="{58470962-9E9B-7AC2-E355-3C2257CC85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784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89" name="AutoShape 69">
                    <a:extLst>
                      <a:ext uri="{FF2B5EF4-FFF2-40B4-BE49-F238E27FC236}">
                        <a16:creationId xmlns:a16="http://schemas.microsoft.com/office/drawing/2014/main" id="{DCBF2CDF-E4CC-DEE5-03DB-567D051326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688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30790" name="AutoShape 70">
                    <a:extLst>
                      <a:ext uri="{FF2B5EF4-FFF2-40B4-BE49-F238E27FC236}">
                        <a16:creationId xmlns:a16="http://schemas.microsoft.com/office/drawing/2014/main" id="{EC9D9EA6-A70D-D728-68F3-8448CF140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120" y="2592"/>
                    <a:ext cx="96" cy="96"/>
                  </a:xfrm>
                  <a:prstGeom prst="diamond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</p:grpSp>
            <p:sp>
              <p:nvSpPr>
                <p:cNvPr id="30791" name="AutoShape 71">
                  <a:extLst>
                    <a:ext uri="{FF2B5EF4-FFF2-40B4-BE49-F238E27FC236}">
                      <a16:creationId xmlns:a16="http://schemas.microsoft.com/office/drawing/2014/main" id="{4206FCA2-3683-F546-C2F8-B3F8927F07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297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92" name="AutoShape 72">
                  <a:extLst>
                    <a:ext uri="{FF2B5EF4-FFF2-40B4-BE49-F238E27FC236}">
                      <a16:creationId xmlns:a16="http://schemas.microsoft.com/office/drawing/2014/main" id="{9B4850F1-7A2E-B669-FD0D-6A90EE54B0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28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93" name="AutoShape 73">
                  <a:extLst>
                    <a:ext uri="{FF2B5EF4-FFF2-40B4-BE49-F238E27FC236}">
                      <a16:creationId xmlns:a16="http://schemas.microsoft.com/office/drawing/2014/main" id="{555BC43C-354A-4FAA-FA41-E6D527A2E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8" y="27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94" name="AutoShape 74">
                  <a:extLst>
                    <a:ext uri="{FF2B5EF4-FFF2-40B4-BE49-F238E27FC236}">
                      <a16:creationId xmlns:a16="http://schemas.microsoft.com/office/drawing/2014/main" id="{B31F1BFF-4AEB-918B-D8AA-B70C5CB9E9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8" y="297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95" name="AutoShape 75">
                  <a:extLst>
                    <a:ext uri="{FF2B5EF4-FFF2-40B4-BE49-F238E27FC236}">
                      <a16:creationId xmlns:a16="http://schemas.microsoft.com/office/drawing/2014/main" id="{18DE7C29-4598-7296-2B19-C9B628AE68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08" y="26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30796" name="AutoShape 76">
                  <a:extLst>
                    <a:ext uri="{FF2B5EF4-FFF2-40B4-BE49-F238E27FC236}">
                      <a16:creationId xmlns:a16="http://schemas.microsoft.com/office/drawing/2014/main" id="{0C8877D5-736F-6376-8614-DAB29F59F6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0" y="2976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</p:grpSp>
        </p:grpSp>
        <p:grpSp>
          <p:nvGrpSpPr>
            <p:cNvPr id="30797" name="Group 77">
              <a:extLst>
                <a:ext uri="{FF2B5EF4-FFF2-40B4-BE49-F238E27FC236}">
                  <a16:creationId xmlns:a16="http://schemas.microsoft.com/office/drawing/2014/main" id="{AC6D50FC-7DCF-F3D4-495D-9F6A9166CB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3024"/>
              <a:ext cx="2448" cy="192"/>
              <a:chOff x="2832" y="3024"/>
              <a:chExt cx="2448" cy="192"/>
            </a:xfrm>
          </p:grpSpPr>
          <p:sp>
            <p:nvSpPr>
              <p:cNvPr id="30798" name="Line 78">
                <a:extLst>
                  <a:ext uri="{FF2B5EF4-FFF2-40B4-BE49-F238E27FC236}">
                    <a16:creationId xmlns:a16="http://schemas.microsoft.com/office/drawing/2014/main" id="{8F7A7899-8CB2-1B41-7C0D-334E69BFC9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3072"/>
                <a:ext cx="244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799" name="Line 79">
                <a:extLst>
                  <a:ext uri="{FF2B5EF4-FFF2-40B4-BE49-F238E27FC236}">
                    <a16:creationId xmlns:a16="http://schemas.microsoft.com/office/drawing/2014/main" id="{8B2F4F95-EFAC-C0BF-B479-70F95B380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800" name="Line 80">
                <a:extLst>
                  <a:ext uri="{FF2B5EF4-FFF2-40B4-BE49-F238E27FC236}">
                    <a16:creationId xmlns:a16="http://schemas.microsoft.com/office/drawing/2014/main" id="{F7440F71-870D-6C45-7483-C764E78C0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801" name="Line 81">
                <a:extLst>
                  <a:ext uri="{FF2B5EF4-FFF2-40B4-BE49-F238E27FC236}">
                    <a16:creationId xmlns:a16="http://schemas.microsoft.com/office/drawing/2014/main" id="{6C097EAE-6B29-BBF1-2C32-FA4E39F24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802" name="Line 82">
                <a:extLst>
                  <a:ext uri="{FF2B5EF4-FFF2-40B4-BE49-F238E27FC236}">
                    <a16:creationId xmlns:a16="http://schemas.microsoft.com/office/drawing/2014/main" id="{17493308-DBD3-6239-6563-7F9674863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803" name="Line 83">
                <a:extLst>
                  <a:ext uri="{FF2B5EF4-FFF2-40B4-BE49-F238E27FC236}">
                    <a16:creationId xmlns:a16="http://schemas.microsoft.com/office/drawing/2014/main" id="{BFD270F9-A46D-C461-EB0D-F6F69611F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804" name="Line 84">
                <a:extLst>
                  <a:ext uri="{FF2B5EF4-FFF2-40B4-BE49-F238E27FC236}">
                    <a16:creationId xmlns:a16="http://schemas.microsoft.com/office/drawing/2014/main" id="{BB215B3F-4D5E-8A55-DF4E-45977C0E7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30805" name="Line 85">
                <a:extLst>
                  <a:ext uri="{FF2B5EF4-FFF2-40B4-BE49-F238E27FC236}">
                    <a16:creationId xmlns:a16="http://schemas.microsoft.com/office/drawing/2014/main" id="{27FDCD8F-81A6-AEEF-6A9F-F9DE6F9AB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0" y="302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CC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</p:grpSp>
      <p:grpSp>
        <p:nvGrpSpPr>
          <p:cNvPr id="30806" name="Group 86">
            <a:extLst>
              <a:ext uri="{FF2B5EF4-FFF2-40B4-BE49-F238E27FC236}">
                <a16:creationId xmlns:a16="http://schemas.microsoft.com/office/drawing/2014/main" id="{FE03F681-BDC0-6FC4-D307-B0CAC03D3CBD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078944"/>
            <a:ext cx="3657600" cy="1066800"/>
            <a:chOff x="3168" y="2400"/>
            <a:chExt cx="2304" cy="672"/>
          </a:xfrm>
        </p:grpSpPr>
        <p:sp>
          <p:nvSpPr>
            <p:cNvPr id="30807" name="Rectangle 87">
              <a:extLst>
                <a:ext uri="{FF2B5EF4-FFF2-40B4-BE49-F238E27FC236}">
                  <a16:creationId xmlns:a16="http://schemas.microsoft.com/office/drawing/2014/main" id="{EA28FB54-FAA5-1EB0-C3BE-9F06A790F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592"/>
              <a:ext cx="384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30808" name="Rectangle 88">
              <a:extLst>
                <a:ext uri="{FF2B5EF4-FFF2-40B4-BE49-F238E27FC236}">
                  <a16:creationId xmlns:a16="http://schemas.microsoft.com/office/drawing/2014/main" id="{5D2F9C56-07E2-0AB6-A2B1-BEBBB651F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00"/>
              <a:ext cx="384" cy="67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30809" name="Rectangle 89">
              <a:extLst>
                <a:ext uri="{FF2B5EF4-FFF2-40B4-BE49-F238E27FC236}">
                  <a16:creationId xmlns:a16="http://schemas.microsoft.com/office/drawing/2014/main" id="{306C039D-A80D-73F4-B7B8-D8A031B7B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592"/>
              <a:ext cx="384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30810" name="Rectangle 90">
              <a:extLst>
                <a:ext uri="{FF2B5EF4-FFF2-40B4-BE49-F238E27FC236}">
                  <a16:creationId xmlns:a16="http://schemas.microsoft.com/office/drawing/2014/main" id="{366A7987-E174-283C-3B5C-8C3DE7ED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880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30811" name="Rectangle 91">
              <a:extLst>
                <a:ext uri="{FF2B5EF4-FFF2-40B4-BE49-F238E27FC236}">
                  <a16:creationId xmlns:a16="http://schemas.microsoft.com/office/drawing/2014/main" id="{725F3EF6-A141-0FEF-7E9A-6330D1739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88"/>
              <a:ext cx="38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30812" name="Rectangle 92">
              <a:extLst>
                <a:ext uri="{FF2B5EF4-FFF2-40B4-BE49-F238E27FC236}">
                  <a16:creationId xmlns:a16="http://schemas.microsoft.com/office/drawing/2014/main" id="{E484F0D6-D782-55F5-7988-E606CA707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928"/>
              <a:ext cx="384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9FDC546-977F-0B9B-F606-1AC8F0E9E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3565" y="14791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ko-KR" sz="4400" dirty="0">
                <a:ea typeface="굴림" panose="020B0600000101010101" pitchFamily="34" charset="-127"/>
              </a:rPr>
              <a:t>Relative Frequency Histograms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747" name="Rectangle 3">
                <a:extLst>
                  <a:ext uri="{FF2B5EF4-FFF2-40B4-BE49-F238E27FC236}">
                    <a16:creationId xmlns:a16="http://schemas.microsoft.com/office/drawing/2014/main" id="{27354C9F-D961-BC97-D1FC-3459CDF4A22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936376" y="1344708"/>
                <a:ext cx="9888071" cy="5334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ko-KR" dirty="0">
                    <a:ea typeface="굴림" panose="020B0600000101010101" pitchFamily="34" charset="-127"/>
                  </a:rPr>
                  <a:t>Divide the range of the data into</a:t>
                </a:r>
                <a:r>
                  <a:rPr lang="en-US" altLang="ko-KR" dirty="0">
                    <a:solidFill>
                      <a:srgbClr val="FFFF99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panose="020B0600000101010101" pitchFamily="34" charset="-127"/>
                  </a:rPr>
                  <a:t>5-12</a:t>
                </a:r>
                <a:r>
                  <a:rPr lang="en-US" altLang="ko-KR" dirty="0">
                    <a:solidFill>
                      <a:schemeClr val="bg1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panose="020B0600000101010101" pitchFamily="34" charset="-127"/>
                  </a:rPr>
                  <a:t>subintervals</a:t>
                </a:r>
                <a:r>
                  <a:rPr lang="en-US" altLang="ko-KR" dirty="0">
                    <a:solidFill>
                      <a:srgbClr val="FFFF99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ea typeface="굴림" panose="020B0600000101010101" pitchFamily="34" charset="-127"/>
                  </a:rPr>
                  <a:t>of equal length. (ex. Eight classes)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ko-KR" dirty="0">
                    <a:ea typeface="굴림" panose="020B0600000101010101" pitchFamily="34" charset="-127"/>
                  </a:rPr>
                  <a:t>Calculate the</a:t>
                </a:r>
                <a:r>
                  <a:rPr lang="en-US" altLang="ko-KR" dirty="0">
                    <a:solidFill>
                      <a:srgbClr val="FFFF99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panose="020B0600000101010101" pitchFamily="34" charset="-127"/>
                  </a:rPr>
                  <a:t>approximate width</a:t>
                </a:r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ea typeface="굴림" panose="020B0600000101010101" pitchFamily="34" charset="-127"/>
                  </a:rPr>
                  <a:t>of the subinterval as Range/number of subintervals.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ko-KR" dirty="0">
                    <a:ea typeface="굴림" panose="020B0600000101010101" pitchFamily="34" charset="-127"/>
                  </a:rPr>
                  <a:t>    (ex.: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𝟑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𝟒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−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𝟏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𝟗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=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𝟏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𝟓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     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𝟏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𝟓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/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𝟖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=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𝟎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𝟏𝟖𝟕𝟓</m:t>
                    </m:r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ko-KR" dirty="0">
                    <a:ea typeface="굴림" panose="020B0600000101010101" pitchFamily="34" charset="-127"/>
                  </a:rPr>
                  <a:t>Round the approximate width up to a convenient value. (</a:t>
                </a:r>
                <a:r>
                  <a:rPr lang="en-US" altLang="ko-KR" dirty="0" err="1">
                    <a:ea typeface="굴림" panose="020B0600000101010101" pitchFamily="34" charset="-127"/>
                  </a:rPr>
                  <a:t>ex.: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𝒘𝒊𝒅𝒕𝒉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=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𝟎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𝟐</m:t>
                    </m:r>
                  </m:oMath>
                </a14:m>
                <a:r>
                  <a:rPr lang="en-US" altLang="ko-KR" dirty="0">
                    <a:ea typeface="굴림" panose="020B0600000101010101" pitchFamily="34" charset="-127"/>
                  </a:rPr>
                  <a:t>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ko-KR" dirty="0">
                    <a:ea typeface="굴림" panose="020B0600000101010101" pitchFamily="34" charset="-127"/>
                  </a:rPr>
                  <a:t>Use the method of</a:t>
                </a:r>
                <a:r>
                  <a:rPr lang="en-US" altLang="ko-KR" dirty="0">
                    <a:solidFill>
                      <a:srgbClr val="FFFF99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panose="020B0600000101010101" pitchFamily="34" charset="-127"/>
                  </a:rPr>
                  <a:t>left inclusion</a:t>
                </a:r>
                <a:r>
                  <a:rPr lang="en-US" altLang="ko-KR" dirty="0">
                    <a:solidFill>
                      <a:schemeClr val="bg1"/>
                    </a:solidFill>
                    <a:ea typeface="굴림" panose="020B0600000101010101" pitchFamily="34" charset="-127"/>
                  </a:rPr>
                  <a:t>,</a:t>
                </a:r>
                <a:r>
                  <a:rPr lang="en-US" altLang="ko-KR" dirty="0">
                    <a:solidFill>
                      <a:srgbClr val="FFFF99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ea typeface="굴림" panose="020B0600000101010101" pitchFamily="34" charset="-127"/>
                  </a:rPr>
                  <a:t>including the left endpoint, but not the right in your tally.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(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𝟏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.</m:t>
                    </m:r>
                    <m:r>
                      <a:rPr lang="en-US" altLang="ko-KR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𝟗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ko-KR" b="1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chemeClr val="accent2">
                      <a:lumMod val="75000"/>
                    </a:schemeClr>
                  </a:solidFill>
                  <a:ea typeface="굴림" panose="020B0600000101010101" pitchFamily="34" charset="-127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ko-KR" dirty="0">
                    <a:ea typeface="굴림" panose="020B0600000101010101" pitchFamily="34" charset="-127"/>
                  </a:rPr>
                  <a:t>Create a</a:t>
                </a:r>
                <a:r>
                  <a:rPr lang="en-US" altLang="ko-KR" dirty="0">
                    <a:solidFill>
                      <a:srgbClr val="FFFF99"/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panose="020B0600000101010101" pitchFamily="34" charset="-127"/>
                  </a:rPr>
                  <a:t>statistical table</a:t>
                </a:r>
                <a:r>
                  <a:rPr lang="en-US" altLang="ko-KR" dirty="0">
                    <a:solidFill>
                      <a:schemeClr val="accent2">
                        <a:lumMod val="75000"/>
                      </a:schemeClr>
                    </a:solidFill>
                    <a:ea typeface="굴림" panose="020B0600000101010101" pitchFamily="34" charset="-127"/>
                  </a:rPr>
                  <a:t> </a:t>
                </a:r>
                <a:r>
                  <a:rPr lang="en-US" altLang="ko-KR" dirty="0">
                    <a:ea typeface="굴림" panose="020B0600000101010101" pitchFamily="34" charset="-127"/>
                  </a:rPr>
                  <a:t>including the subintervals, their frequencies and relative frequencies.</a:t>
                </a:r>
              </a:p>
            </p:txBody>
          </p:sp>
        </mc:Choice>
        <mc:Fallback xmlns="">
          <p:sp>
            <p:nvSpPr>
              <p:cNvPr id="31747" name="Rectangle 3">
                <a:extLst>
                  <a:ext uri="{FF2B5EF4-FFF2-40B4-BE49-F238E27FC236}">
                    <a16:creationId xmlns:a16="http://schemas.microsoft.com/office/drawing/2014/main" id="{27354C9F-D961-BC97-D1FC-3459CDF4A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36376" y="1344708"/>
                <a:ext cx="9888071" cy="5334000"/>
              </a:xfrm>
              <a:blipFill>
                <a:blip r:embed="rId2"/>
                <a:stretch>
                  <a:fillRect l="-1110" t="-2171" r="-277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0295DC5-4DF7-B56A-06DE-3799F1F35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4953" y="107577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ko-KR" sz="4400" dirty="0">
                <a:ea typeface="굴림" panose="020B0600000101010101" pitchFamily="34" charset="-127"/>
              </a:rPr>
              <a:t>Relative Frequency Histograms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6F01944-A900-B83F-BC24-2D7EA74E9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1" y="1353673"/>
            <a:ext cx="9152964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Draw the</a:t>
            </a:r>
            <a:r>
              <a:rPr lang="en-US" altLang="ko-KR" dirty="0">
                <a:solidFill>
                  <a:srgbClr val="FFFF99"/>
                </a:solidFill>
                <a:ea typeface="굴림" panose="020B0600000101010101" pitchFamily="34" charset="-127"/>
              </a:rPr>
              <a:t>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relative frequency histogram</a:t>
            </a:r>
            <a:r>
              <a:rPr lang="en-US" altLang="ko-KR" dirty="0">
                <a:solidFill>
                  <a:schemeClr val="bg1"/>
                </a:solidFill>
                <a:ea typeface="굴림" panose="020B0600000101010101" pitchFamily="34" charset="-127"/>
              </a:rPr>
              <a:t>,</a:t>
            </a:r>
            <a:r>
              <a:rPr lang="en-US" altLang="ko-KR" dirty="0">
                <a:solidFill>
                  <a:srgbClr val="FFFF99"/>
                </a:solidFill>
                <a:ea typeface="굴림" panose="020B0600000101010101" pitchFamily="34" charset="-127"/>
              </a:rPr>
              <a:t> </a:t>
            </a:r>
            <a:r>
              <a:rPr lang="en-US" altLang="ko-KR" dirty="0">
                <a:ea typeface="굴림" panose="020B0600000101010101" pitchFamily="34" charset="-127"/>
              </a:rPr>
              <a:t>plotting the subintervals on the horizontal axis and the relative frequencies on the vertical axis.</a:t>
            </a: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The height of the bar represents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The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proportion </a:t>
            </a: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of measurements falling in that class or subinterval.</a:t>
            </a:r>
          </a:p>
          <a:p>
            <a:pPr lvl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The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probability</a:t>
            </a: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  that a single measurement, drawn at random from the set, will belong to that class or subinterval.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1E5B57E-E48B-CBCA-2E97-8398B0BB1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0"/>
            <a:ext cx="7772400" cy="1143000"/>
          </a:xfrm>
        </p:spPr>
        <p:txBody>
          <a:bodyPr/>
          <a:lstStyle/>
          <a:p>
            <a:pPr algn="ctr"/>
            <a:r>
              <a:rPr lang="en-US" altLang="ko-KR" sz="4800" dirty="0">
                <a:ea typeface="굴림" panose="020B0600000101010101" pitchFamily="34" charset="-127"/>
              </a:rPr>
              <a:t>Example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EFCCC29-2C16-39D7-19CC-CFE791C41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129555"/>
            <a:ext cx="8001000" cy="3048000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The ages of 50 tenured faculty at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state university.</a:t>
            </a:r>
          </a:p>
          <a:p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34   48   </a:t>
            </a:r>
            <a:r>
              <a:rPr lang="en-US" altLang="ko-KR" sz="2400" dirty="0">
                <a:ea typeface="굴림" panose="020B0600000101010101" pitchFamily="34" charset="-127"/>
              </a:rPr>
              <a:t>70</a:t>
            </a:r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   63   52   52   35   50   37   43   53   43   52   44  </a:t>
            </a:r>
          </a:p>
          <a:p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42   31   36   48   43   </a:t>
            </a:r>
            <a:r>
              <a:rPr lang="en-US" altLang="ko-KR" sz="2400" dirty="0">
                <a:ea typeface="굴림" panose="020B0600000101010101" pitchFamily="34" charset="-127"/>
              </a:rPr>
              <a:t>26</a:t>
            </a:r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   58   62   49   34   48   53   39	45</a:t>
            </a:r>
          </a:p>
          <a:p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34   59   34   66   40   59   36   41   35   36   62   34   38   28</a:t>
            </a:r>
          </a:p>
          <a:p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43   50   30   43   32   44   58   53</a:t>
            </a:r>
          </a:p>
          <a:p>
            <a:endParaRPr lang="en-US" altLang="ko-KR" sz="2400" dirty="0">
              <a:solidFill>
                <a:srgbClr val="CC0066"/>
              </a:solidFill>
              <a:ea typeface="굴림" panose="020B0600000101010101" pitchFamily="34" charset="-127"/>
            </a:endParaRP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9F930D67-A6D8-0BEA-630A-D6D0559F0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905000"/>
            <a:ext cx="7772400" cy="1905000"/>
          </a:xfrm>
          <a:prstGeom prst="rect">
            <a:avLst/>
          </a:prstGeom>
          <a:noFill/>
          <a:ln w="9525">
            <a:solidFill>
              <a:srgbClr val="33993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D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48019020-CD42-FCC2-A2FF-D7391CF2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352800"/>
            <a:ext cx="80010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ko-KR" altLang="en-US">
              <a:solidFill>
                <a:schemeClr val="bg1"/>
              </a:solidFill>
              <a:ea typeface="굴림" panose="020B0600000101010101" pitchFamily="34" charset="-127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C959CA9E-8033-E2E2-35D1-7101B9F41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025155"/>
            <a:ext cx="80010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We choose to use</a:t>
            </a: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6 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intervals.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Minimum class width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=</a:t>
            </a:r>
            <a:r>
              <a:rPr lang="en-US" altLang="ko-KR" sz="3200" dirty="0">
                <a:solidFill>
                  <a:srgbClr val="FFFF99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(70 – 26)/6 = 7.33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Convenient class width</a:t>
            </a:r>
            <a:r>
              <a:rPr lang="en-US" altLang="ko-KR" sz="3200" dirty="0">
                <a:solidFill>
                  <a:srgbClr val="FFFF99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= 8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Use</a:t>
            </a:r>
            <a:r>
              <a:rPr lang="en-US" altLang="ko-KR" sz="3200" dirty="0">
                <a:solidFill>
                  <a:srgbClr val="FFFF99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6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 classes of length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8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, starting at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25.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ko-KR" altLang="en-US" sz="3200" dirty="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  <p:grpSp>
        <p:nvGrpSpPr>
          <p:cNvPr id="33805" name="Group 13">
            <a:extLst>
              <a:ext uri="{FF2B5EF4-FFF2-40B4-BE49-F238E27FC236}">
                <a16:creationId xmlns:a16="http://schemas.microsoft.com/office/drawing/2014/main" id="{F4FC2B1B-3215-941F-9026-BFBCB3697335}"/>
              </a:ext>
            </a:extLst>
          </p:cNvPr>
          <p:cNvGrpSpPr>
            <a:grpSpLocks/>
          </p:cNvGrpSpPr>
          <p:nvPr/>
        </p:nvGrpSpPr>
        <p:grpSpPr bwMode="auto">
          <a:xfrm>
            <a:off x="10201835" y="0"/>
            <a:ext cx="1981200" cy="1600200"/>
            <a:chOff x="4416" y="96"/>
            <a:chExt cx="1248" cy="1008"/>
          </a:xfrm>
        </p:grpSpPr>
        <p:sp>
          <p:nvSpPr>
            <p:cNvPr id="33801" name="Rectangle 9">
              <a:extLst>
                <a:ext uri="{FF2B5EF4-FFF2-40B4-BE49-F238E27FC236}">
                  <a16:creationId xmlns:a16="http://schemas.microsoft.com/office/drawing/2014/main" id="{5F51841F-FCC3-695E-3A88-291DABF67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"/>
              <a:ext cx="1248" cy="1008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33802" name="Picture 10">
              <a:extLst>
                <a:ext uri="{FF2B5EF4-FFF2-40B4-BE49-F238E27FC236}">
                  <a16:creationId xmlns:a16="http://schemas.microsoft.com/office/drawing/2014/main" id="{C65F8841-F72E-5770-F006-7E8B6ADC5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192"/>
              <a:ext cx="1080" cy="856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56" name="Group 340">
            <a:extLst>
              <a:ext uri="{FF2B5EF4-FFF2-40B4-BE49-F238E27FC236}">
                <a16:creationId xmlns:a16="http://schemas.microsoft.com/office/drawing/2014/main" id="{7559C802-202E-CEC4-D33D-F36C1D090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892450"/>
              </p:ext>
            </p:extLst>
          </p:nvPr>
        </p:nvGraphicFramePr>
        <p:xfrm>
          <a:off x="2693895" y="309285"/>
          <a:ext cx="7848600" cy="3078480"/>
        </p:xfrm>
        <a:graphic>
          <a:graphicData uri="http://schemas.openxmlformats.org/drawingml/2006/table">
            <a:tbl>
              <a:tblPr/>
              <a:tblGrid>
                <a:gridCol w="1568450">
                  <a:extLst>
                    <a:ext uri="{9D8B030D-6E8A-4147-A177-3AD203B41FA5}">
                      <a16:colId xmlns:a16="http://schemas.microsoft.com/office/drawing/2014/main" val="2267850779"/>
                    </a:ext>
                  </a:extLst>
                </a:gridCol>
                <a:gridCol w="2274888">
                  <a:extLst>
                    <a:ext uri="{9D8B030D-6E8A-4147-A177-3AD203B41FA5}">
                      <a16:colId xmlns:a16="http://schemas.microsoft.com/office/drawing/2014/main" val="3274129849"/>
                    </a:ext>
                  </a:extLst>
                </a:gridCol>
                <a:gridCol w="1389062">
                  <a:extLst>
                    <a:ext uri="{9D8B030D-6E8A-4147-A177-3AD203B41FA5}">
                      <a16:colId xmlns:a16="http://schemas.microsoft.com/office/drawing/2014/main" val="154615057"/>
                    </a:ext>
                  </a:extLst>
                </a:gridCol>
                <a:gridCol w="1471613">
                  <a:extLst>
                    <a:ext uri="{9D8B030D-6E8A-4147-A177-3AD203B41FA5}">
                      <a16:colId xmlns:a16="http://schemas.microsoft.com/office/drawing/2014/main" val="2408381196"/>
                    </a:ext>
                  </a:extLst>
                </a:gridCol>
                <a:gridCol w="1144587">
                  <a:extLst>
                    <a:ext uri="{9D8B030D-6E8A-4147-A177-3AD203B41FA5}">
                      <a16:colId xmlns:a16="http://schemas.microsoft.com/office/drawing/2014/main" val="1397398290"/>
                    </a:ext>
                  </a:extLst>
                </a:gridCol>
              </a:tblGrid>
              <a:tr h="5016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Tally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Frequency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Relative Frequency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Percent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661254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25 to &lt; 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5/50 = .10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10%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441802"/>
                  </a:ext>
                </a:extLst>
              </a:tr>
              <a:tr h="2651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33 to &lt; 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1111  1111  1111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14/50 = .28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28%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987148"/>
                  </a:ext>
                </a:extLst>
              </a:tr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41 to &lt; 49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1111  1111  111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13/50 = .26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26%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667410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49 to &lt; 57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1111  1111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9/50 = .18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18%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344314"/>
                  </a:ext>
                </a:extLst>
              </a:tr>
              <a:tr h="263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57 to &lt; 65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1111  11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7/50 = .14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14%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9092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65 to &lt; 73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2/50 = .04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3200">
                          <a:solidFill>
                            <a:srgbClr val="339933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anose="02020603050405020304" pitchFamily="18" charset="0"/>
                          <a:ea typeface="굴림" panose="020B0600000101010101" pitchFamily="34" charset="-127"/>
                        </a:rPr>
                        <a:t>4%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712621"/>
                  </a:ext>
                </a:extLst>
              </a:tr>
            </a:tbl>
          </a:graphicData>
        </a:graphic>
      </p:graphicFrame>
      <p:sp>
        <p:nvSpPr>
          <p:cNvPr id="34872" name="Line 56">
            <a:extLst>
              <a:ext uri="{FF2B5EF4-FFF2-40B4-BE49-F238E27FC236}">
                <a16:creationId xmlns:a16="http://schemas.microsoft.com/office/drawing/2014/main" id="{D37B17A2-6BEA-5C72-D2CE-826CEB89E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8565" y="1174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5157" name="Line 341">
            <a:extLst>
              <a:ext uri="{FF2B5EF4-FFF2-40B4-BE49-F238E27FC236}">
                <a16:creationId xmlns:a16="http://schemas.microsoft.com/office/drawing/2014/main" id="{82E09B02-1D1D-794B-52F5-267BA10A29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365" y="1936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5158" name="Line 342">
            <a:extLst>
              <a:ext uri="{FF2B5EF4-FFF2-40B4-BE49-F238E27FC236}">
                <a16:creationId xmlns:a16="http://schemas.microsoft.com/office/drawing/2014/main" id="{9D1ECD28-05D1-784E-6546-4F4964C59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8565" y="2317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5159" name="Line 343">
            <a:extLst>
              <a:ext uri="{FF2B5EF4-FFF2-40B4-BE49-F238E27FC236}">
                <a16:creationId xmlns:a16="http://schemas.microsoft.com/office/drawing/2014/main" id="{B2A11C63-41B1-426D-A251-75731CA68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365" y="2698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5160" name="Line 344">
            <a:extLst>
              <a:ext uri="{FF2B5EF4-FFF2-40B4-BE49-F238E27FC236}">
                <a16:creationId xmlns:a16="http://schemas.microsoft.com/office/drawing/2014/main" id="{C628967A-2424-08D2-F6D1-97AF98065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2365" y="1555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5161" name="Line 345">
            <a:extLst>
              <a:ext uri="{FF2B5EF4-FFF2-40B4-BE49-F238E27FC236}">
                <a16:creationId xmlns:a16="http://schemas.microsoft.com/office/drawing/2014/main" id="{B3B9D54F-74C3-5A4F-4095-2C137A778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8165" y="1936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5162" name="Line 346">
            <a:extLst>
              <a:ext uri="{FF2B5EF4-FFF2-40B4-BE49-F238E27FC236}">
                <a16:creationId xmlns:a16="http://schemas.microsoft.com/office/drawing/2014/main" id="{82B7AC62-B1E7-A0D2-0B5C-867DE97E5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4365" y="1555380"/>
            <a:ext cx="381000" cy="1524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grpSp>
        <p:nvGrpSpPr>
          <p:cNvPr id="35164" name="Group 348">
            <a:extLst>
              <a:ext uri="{FF2B5EF4-FFF2-40B4-BE49-F238E27FC236}">
                <a16:creationId xmlns:a16="http://schemas.microsoft.com/office/drawing/2014/main" id="{0C2114A0-4ADF-0204-13C7-536610C8250B}"/>
              </a:ext>
            </a:extLst>
          </p:cNvPr>
          <p:cNvGrpSpPr>
            <a:grpSpLocks/>
          </p:cNvGrpSpPr>
          <p:nvPr/>
        </p:nvGrpSpPr>
        <p:grpSpPr bwMode="auto">
          <a:xfrm>
            <a:off x="4217895" y="3357285"/>
            <a:ext cx="4953000" cy="3276600"/>
            <a:chOff x="1488" y="2064"/>
            <a:chExt cx="3120" cy="2064"/>
          </a:xfrm>
        </p:grpSpPr>
        <p:sp>
          <p:nvSpPr>
            <p:cNvPr id="34870" name="Rectangle 54">
              <a:extLst>
                <a:ext uri="{FF2B5EF4-FFF2-40B4-BE49-F238E27FC236}">
                  <a16:creationId xmlns:a16="http://schemas.microsoft.com/office/drawing/2014/main" id="{11C98AE3-82D8-DD34-11C4-529E132EC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3120" cy="206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35163" name="Picture 347">
              <a:extLst>
                <a:ext uri="{FF2B5EF4-FFF2-40B4-BE49-F238E27FC236}">
                  <a16:creationId xmlns:a16="http://schemas.microsoft.com/office/drawing/2014/main" id="{EFF5E7CB-4607-2208-B8D7-BAE6AF283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8" y="2208"/>
              <a:ext cx="2904" cy="1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Text Box 6">
            <a:extLst>
              <a:ext uri="{FF2B5EF4-FFF2-40B4-BE49-F238E27FC236}">
                <a16:creationId xmlns:a16="http://schemas.microsoft.com/office/drawing/2014/main" id="{94ECDB0C-3F65-D054-5CB5-CA7E11589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35" y="3133165"/>
            <a:ext cx="539227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 dirty="0">
                <a:ea typeface="굴림" panose="020B0600000101010101" pitchFamily="34" charset="-127"/>
              </a:rPr>
              <a:t>Shape?</a:t>
            </a:r>
          </a:p>
          <a:p>
            <a:pPr>
              <a:spcBef>
                <a:spcPct val="50000"/>
              </a:spcBef>
            </a:pPr>
            <a:r>
              <a:rPr lang="en-US" altLang="ko-KR" sz="2400" dirty="0">
                <a:ea typeface="굴림" panose="020B0600000101010101" pitchFamily="34" charset="-127"/>
              </a:rPr>
              <a:t>Outliers?</a:t>
            </a:r>
          </a:p>
          <a:p>
            <a:pPr>
              <a:spcBef>
                <a:spcPct val="50000"/>
              </a:spcBef>
            </a:pPr>
            <a:r>
              <a:rPr lang="en-US" altLang="ko-KR" sz="2400" dirty="0">
                <a:ea typeface="굴림" panose="020B0600000101010101" pitchFamily="34" charset="-127"/>
              </a:rPr>
              <a:t>What proportion of the tenured faculty are younger than 41?</a:t>
            </a:r>
          </a:p>
          <a:p>
            <a:pPr>
              <a:spcBef>
                <a:spcPct val="50000"/>
              </a:spcBef>
            </a:pPr>
            <a:r>
              <a:rPr lang="en-US" altLang="ko-KR" sz="2400" dirty="0">
                <a:ea typeface="굴림" panose="020B0600000101010101" pitchFamily="34" charset="-127"/>
              </a:rPr>
              <a:t>What is the probability that a randomly selected faculty member is 49 or older? 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C4A600C7-B072-E824-8BF7-E9FE10AC9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633" y="3142130"/>
            <a:ext cx="22098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Skewed right</a:t>
            </a:r>
          </a:p>
          <a:p>
            <a:pPr>
              <a:spcBef>
                <a:spcPct val="50000"/>
              </a:spcBef>
            </a:pPr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No.</a:t>
            </a:r>
          </a:p>
        </p:txBody>
      </p:sp>
      <p:sp>
        <p:nvSpPr>
          <p:cNvPr id="35848" name="Text Box 8">
            <a:extLst>
              <a:ext uri="{FF2B5EF4-FFF2-40B4-BE49-F238E27FC236}">
                <a16:creationId xmlns:a16="http://schemas.microsoft.com/office/drawing/2014/main" id="{16D8E95B-E53F-C43D-ABE0-C4990F889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307" y="4334436"/>
            <a:ext cx="403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>
                <a:solidFill>
                  <a:srgbClr val="CC0066"/>
                </a:solidFill>
                <a:ea typeface="굴림" panose="020B0600000101010101" pitchFamily="34" charset="-127"/>
              </a:rPr>
              <a:t>(14 + 5)/50 = 19/50 = .38</a:t>
            </a:r>
          </a:p>
          <a:p>
            <a:pPr>
              <a:spcBef>
                <a:spcPct val="50000"/>
              </a:spcBef>
            </a:pPr>
            <a:endParaRPr lang="en-US" altLang="ko-KR" sz="2400">
              <a:solidFill>
                <a:srgbClr val="CC0066"/>
              </a:solidFill>
              <a:ea typeface="굴림" panose="020B0600000101010101" pitchFamily="34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2400">
                <a:solidFill>
                  <a:srgbClr val="CC0066"/>
                </a:solidFill>
                <a:ea typeface="굴림" panose="020B0600000101010101" pitchFamily="34" charset="-127"/>
              </a:rPr>
              <a:t>(8 + 7 + 2)/50 = 17/50 = .34</a:t>
            </a:r>
          </a:p>
        </p:txBody>
      </p:sp>
      <p:sp>
        <p:nvSpPr>
          <p:cNvPr id="35849" name="Text Box 9">
            <a:extLst>
              <a:ext uri="{FF2B5EF4-FFF2-40B4-BE49-F238E27FC236}">
                <a16:creationId xmlns:a16="http://schemas.microsoft.com/office/drawing/2014/main" id="{EBE02F80-0FE9-3DC5-406B-D6820F8E7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307" y="1075766"/>
            <a:ext cx="3505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4000" b="1" dirty="0">
                <a:solidFill>
                  <a:srgbClr val="CC0066"/>
                </a:solidFill>
                <a:ea typeface="굴림" panose="020B0600000101010101" pitchFamily="34" charset="-127"/>
              </a:rPr>
              <a:t>Describing the Distribution</a:t>
            </a:r>
          </a:p>
        </p:txBody>
      </p:sp>
      <p:grpSp>
        <p:nvGrpSpPr>
          <p:cNvPr id="35851" name="Group 11">
            <a:extLst>
              <a:ext uri="{FF2B5EF4-FFF2-40B4-BE49-F238E27FC236}">
                <a16:creationId xmlns:a16="http://schemas.microsoft.com/office/drawing/2014/main" id="{1F721DBD-B84F-61DE-93E6-77FF005F84FA}"/>
              </a:ext>
            </a:extLst>
          </p:cNvPr>
          <p:cNvGrpSpPr>
            <a:grpSpLocks/>
          </p:cNvGrpSpPr>
          <p:nvPr/>
        </p:nvGrpSpPr>
        <p:grpSpPr bwMode="auto">
          <a:xfrm>
            <a:off x="6450107" y="466165"/>
            <a:ext cx="4648200" cy="2971800"/>
            <a:chOff x="1488" y="2064"/>
            <a:chExt cx="3120" cy="2064"/>
          </a:xfrm>
        </p:grpSpPr>
        <p:sp>
          <p:nvSpPr>
            <p:cNvPr id="35852" name="Rectangle 12">
              <a:extLst>
                <a:ext uri="{FF2B5EF4-FFF2-40B4-BE49-F238E27FC236}">
                  <a16:creationId xmlns:a16="http://schemas.microsoft.com/office/drawing/2014/main" id="{ABDA08FD-B8DD-8842-DFE8-8446450A2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3120" cy="206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pic>
          <p:nvPicPr>
            <p:cNvPr id="35853" name="Picture 13">
              <a:extLst>
                <a:ext uri="{FF2B5EF4-FFF2-40B4-BE49-F238E27FC236}">
                  <a16:creationId xmlns:a16="http://schemas.microsoft.com/office/drawing/2014/main" id="{1C466447-2F2C-4DC5-2113-35D3408A8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8" y="2208"/>
              <a:ext cx="2904" cy="18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 build="p" autoUpdateAnimBg="0"/>
      <p:bldP spid="35848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AU" sz="36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Measures of Location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989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08C08DE-8C95-3708-BF54-BFA6F6BA2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Measures of Center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661DBB6-1FF8-DA2E-D251-26139C75E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8901953" cy="1295399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ea typeface="굴림" charset="-127"/>
              </a:rPr>
              <a:t>A measure along the horizontal axis of the data distribution that locates the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center</a:t>
            </a:r>
            <a:r>
              <a:rPr lang="en-US" altLang="ko-KR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of the distribution.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EAE7AFCE-FA14-3039-C73E-E66FC7820572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732214"/>
            <a:ext cx="6705600" cy="992187"/>
            <a:chOff x="960" y="2064"/>
            <a:chExt cx="4224" cy="625"/>
          </a:xfrm>
        </p:grpSpPr>
        <p:grpSp>
          <p:nvGrpSpPr>
            <p:cNvPr id="22537" name="Group 7">
              <a:extLst>
                <a:ext uri="{FF2B5EF4-FFF2-40B4-BE49-F238E27FC236}">
                  <a16:creationId xmlns:a16="http://schemas.microsoft.com/office/drawing/2014/main" id="{2959A0D3-E2E5-895A-CD77-1D2A8CD4EB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112"/>
              <a:ext cx="2016" cy="577"/>
              <a:chOff x="3120" y="1248"/>
              <a:chExt cx="2016" cy="577"/>
            </a:xfrm>
          </p:grpSpPr>
          <p:sp>
            <p:nvSpPr>
              <p:cNvPr id="22563" name="Line 8">
                <a:extLst>
                  <a:ext uri="{FF2B5EF4-FFF2-40B4-BE49-F238E27FC236}">
                    <a16:creationId xmlns:a16="http://schemas.microsoft.com/office/drawing/2014/main" id="{04EA4123-BBC0-7D9C-C61F-EE59B34BF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824"/>
                <a:ext cx="2016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2564" name="AutoShape 9">
                <a:extLst>
                  <a:ext uri="{FF2B5EF4-FFF2-40B4-BE49-F238E27FC236}">
                    <a16:creationId xmlns:a16="http://schemas.microsoft.com/office/drawing/2014/main" id="{921774EB-27D4-FD90-F6B0-03BA25311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65" name="AutoShape 10">
                <a:extLst>
                  <a:ext uri="{FF2B5EF4-FFF2-40B4-BE49-F238E27FC236}">
                    <a16:creationId xmlns:a16="http://schemas.microsoft.com/office/drawing/2014/main" id="{44A20846-AACF-7164-BEE4-23DB32BCC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66" name="AutoShape 11">
                <a:extLst>
                  <a:ext uri="{FF2B5EF4-FFF2-40B4-BE49-F238E27FC236}">
                    <a16:creationId xmlns:a16="http://schemas.microsoft.com/office/drawing/2014/main" id="{D49E331F-B7F6-32FB-F7AC-7C65994CA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67" name="AutoShape 12">
                <a:extLst>
                  <a:ext uri="{FF2B5EF4-FFF2-40B4-BE49-F238E27FC236}">
                    <a16:creationId xmlns:a16="http://schemas.microsoft.com/office/drawing/2014/main" id="{3B724289-72F6-699B-86A3-A3D63A88F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68" name="AutoShape 13">
                <a:extLst>
                  <a:ext uri="{FF2B5EF4-FFF2-40B4-BE49-F238E27FC236}">
                    <a16:creationId xmlns:a16="http://schemas.microsoft.com/office/drawing/2014/main" id="{AB161E2C-F940-C469-9CD3-009C42655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69" name="AutoShape 14">
                <a:extLst>
                  <a:ext uri="{FF2B5EF4-FFF2-40B4-BE49-F238E27FC236}">
                    <a16:creationId xmlns:a16="http://schemas.microsoft.com/office/drawing/2014/main" id="{AFA8A499-ED52-14B7-2A51-FAD551C24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0" name="AutoShape 15">
                <a:extLst>
                  <a:ext uri="{FF2B5EF4-FFF2-40B4-BE49-F238E27FC236}">
                    <a16:creationId xmlns:a16="http://schemas.microsoft.com/office/drawing/2014/main" id="{80C54638-FD1B-9CE4-C2D2-756B8D49E1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1" name="AutoShape 16">
                <a:extLst>
                  <a:ext uri="{FF2B5EF4-FFF2-40B4-BE49-F238E27FC236}">
                    <a16:creationId xmlns:a16="http://schemas.microsoft.com/office/drawing/2014/main" id="{3566FEEB-1408-D44C-CDE2-05BE9C396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2" name="AutoShape 17">
                <a:extLst>
                  <a:ext uri="{FF2B5EF4-FFF2-40B4-BE49-F238E27FC236}">
                    <a16:creationId xmlns:a16="http://schemas.microsoft.com/office/drawing/2014/main" id="{44FCF88D-8275-6B09-D03C-A555EB024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3" name="AutoShape 18">
                <a:extLst>
                  <a:ext uri="{FF2B5EF4-FFF2-40B4-BE49-F238E27FC236}">
                    <a16:creationId xmlns:a16="http://schemas.microsoft.com/office/drawing/2014/main" id="{8579B2AC-590B-819E-522C-664F22258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4" name="AutoShape 19">
                <a:extLst>
                  <a:ext uri="{FF2B5EF4-FFF2-40B4-BE49-F238E27FC236}">
                    <a16:creationId xmlns:a16="http://schemas.microsoft.com/office/drawing/2014/main" id="{D1B867E0-C468-79A2-ED4E-D9C029F62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5" name="AutoShape 20">
                <a:extLst>
                  <a:ext uri="{FF2B5EF4-FFF2-40B4-BE49-F238E27FC236}">
                    <a16:creationId xmlns:a16="http://schemas.microsoft.com/office/drawing/2014/main" id="{F96D1E61-6057-9CF2-E9D6-B5E30DCF3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6" name="AutoShape 21">
                <a:extLst>
                  <a:ext uri="{FF2B5EF4-FFF2-40B4-BE49-F238E27FC236}">
                    <a16:creationId xmlns:a16="http://schemas.microsoft.com/office/drawing/2014/main" id="{6F9E1E2A-9AAA-954D-FC66-2E41313782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7" name="AutoShape 22">
                <a:extLst>
                  <a:ext uri="{FF2B5EF4-FFF2-40B4-BE49-F238E27FC236}">
                    <a16:creationId xmlns:a16="http://schemas.microsoft.com/office/drawing/2014/main" id="{91F5D321-C3B5-FF36-9BFC-61656E660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8" name="AutoShape 23">
                <a:extLst>
                  <a:ext uri="{FF2B5EF4-FFF2-40B4-BE49-F238E27FC236}">
                    <a16:creationId xmlns:a16="http://schemas.microsoft.com/office/drawing/2014/main" id="{2A9DBE7B-3F6B-6FF2-94CA-E750E0B5D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79" name="AutoShape 24">
                <a:extLst>
                  <a:ext uri="{FF2B5EF4-FFF2-40B4-BE49-F238E27FC236}">
                    <a16:creationId xmlns:a16="http://schemas.microsoft.com/office/drawing/2014/main" id="{7D8354DB-BB36-970A-071D-BFA430E32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0" name="AutoShape 25">
                <a:extLst>
                  <a:ext uri="{FF2B5EF4-FFF2-40B4-BE49-F238E27FC236}">
                    <a16:creationId xmlns:a16="http://schemas.microsoft.com/office/drawing/2014/main" id="{A1CFAF6E-B9AF-6D08-8EE9-CC609D7B22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2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1" name="AutoShape 26">
                <a:extLst>
                  <a:ext uri="{FF2B5EF4-FFF2-40B4-BE49-F238E27FC236}">
                    <a16:creationId xmlns:a16="http://schemas.microsoft.com/office/drawing/2014/main" id="{AFD0AF16-90AC-F6FE-BB37-0397998E8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2" name="AutoShape 27">
                <a:extLst>
                  <a:ext uri="{FF2B5EF4-FFF2-40B4-BE49-F238E27FC236}">
                    <a16:creationId xmlns:a16="http://schemas.microsoft.com/office/drawing/2014/main" id="{0E8DADDB-DD2E-CC15-AEF8-99033388A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3" name="AutoShape 28">
                <a:extLst>
                  <a:ext uri="{FF2B5EF4-FFF2-40B4-BE49-F238E27FC236}">
                    <a16:creationId xmlns:a16="http://schemas.microsoft.com/office/drawing/2014/main" id="{F08B1D0C-7111-7699-C2EB-857A6A7C1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4" name="AutoShape 29">
                <a:extLst>
                  <a:ext uri="{FF2B5EF4-FFF2-40B4-BE49-F238E27FC236}">
                    <a16:creationId xmlns:a16="http://schemas.microsoft.com/office/drawing/2014/main" id="{C323B64F-95AB-FCDC-E0EA-1F7A54396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5" name="AutoShape 30">
                <a:extLst>
                  <a:ext uri="{FF2B5EF4-FFF2-40B4-BE49-F238E27FC236}">
                    <a16:creationId xmlns:a16="http://schemas.microsoft.com/office/drawing/2014/main" id="{F1B7BFE7-12C6-E2AC-EB2C-027DD3866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6" name="AutoShape 31">
                <a:extLst>
                  <a:ext uri="{FF2B5EF4-FFF2-40B4-BE49-F238E27FC236}">
                    <a16:creationId xmlns:a16="http://schemas.microsoft.com/office/drawing/2014/main" id="{5B98BF68-82C1-7C63-0F72-93B441F9F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7" name="AutoShape 32">
                <a:extLst>
                  <a:ext uri="{FF2B5EF4-FFF2-40B4-BE49-F238E27FC236}">
                    <a16:creationId xmlns:a16="http://schemas.microsoft.com/office/drawing/2014/main" id="{6905BD47-0AAA-2D7F-5BFD-D7C173536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88" name="AutoShape 33">
                <a:extLst>
                  <a:ext uri="{FF2B5EF4-FFF2-40B4-BE49-F238E27FC236}">
                    <a16:creationId xmlns:a16="http://schemas.microsoft.com/office/drawing/2014/main" id="{10035A02-BC24-52E5-253F-6C98CCBB9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22538" name="Group 34">
              <a:extLst>
                <a:ext uri="{FF2B5EF4-FFF2-40B4-BE49-F238E27FC236}">
                  <a16:creationId xmlns:a16="http://schemas.microsoft.com/office/drawing/2014/main" id="{3129C07F-F882-A9E9-F3D9-29571CD0A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064"/>
              <a:ext cx="2016" cy="624"/>
              <a:chOff x="912" y="1200"/>
              <a:chExt cx="2016" cy="624"/>
            </a:xfrm>
          </p:grpSpPr>
          <p:sp>
            <p:nvSpPr>
              <p:cNvPr id="22539" name="AutoShape 35">
                <a:extLst>
                  <a:ext uri="{FF2B5EF4-FFF2-40B4-BE49-F238E27FC236}">
                    <a16:creationId xmlns:a16="http://schemas.microsoft.com/office/drawing/2014/main" id="{821E4803-973D-B2C1-0A1D-82811E3E3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2540" name="Group 36">
                <a:extLst>
                  <a:ext uri="{FF2B5EF4-FFF2-40B4-BE49-F238E27FC236}">
                    <a16:creationId xmlns:a16="http://schemas.microsoft.com/office/drawing/2014/main" id="{CCCE2FFD-E290-C14A-68BE-7F5E390DE0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200"/>
                <a:ext cx="2016" cy="624"/>
                <a:chOff x="912" y="1200"/>
                <a:chExt cx="2016" cy="624"/>
              </a:xfrm>
            </p:grpSpPr>
            <p:sp>
              <p:nvSpPr>
                <p:cNvPr id="22541" name="Line 37">
                  <a:extLst>
                    <a:ext uri="{FF2B5EF4-FFF2-40B4-BE49-F238E27FC236}">
                      <a16:creationId xmlns:a16="http://schemas.microsoft.com/office/drawing/2014/main" id="{133B7237-51CA-2CF0-7AC1-F0D724F0D6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824"/>
                  <a:ext cx="2016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  <p:sp>
              <p:nvSpPr>
                <p:cNvPr id="22542" name="AutoShape 38">
                  <a:extLst>
                    <a:ext uri="{FF2B5EF4-FFF2-40B4-BE49-F238E27FC236}">
                      <a16:creationId xmlns:a16="http://schemas.microsoft.com/office/drawing/2014/main" id="{B9C3E39A-4F28-454E-D505-7A636D3A52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3" name="AutoShape 39">
                  <a:extLst>
                    <a:ext uri="{FF2B5EF4-FFF2-40B4-BE49-F238E27FC236}">
                      <a16:creationId xmlns:a16="http://schemas.microsoft.com/office/drawing/2014/main" id="{B7D4B3D4-6ED1-D984-ABD9-8A5E42975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4" name="AutoShape 40">
                  <a:extLst>
                    <a:ext uri="{FF2B5EF4-FFF2-40B4-BE49-F238E27FC236}">
                      <a16:creationId xmlns:a16="http://schemas.microsoft.com/office/drawing/2014/main" id="{417E9271-C1F8-5E97-1E66-265D6B560F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5" name="AutoShape 41">
                  <a:extLst>
                    <a:ext uri="{FF2B5EF4-FFF2-40B4-BE49-F238E27FC236}">
                      <a16:creationId xmlns:a16="http://schemas.microsoft.com/office/drawing/2014/main" id="{605661B8-B522-4CCA-EFC9-6B50BA414A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6" name="AutoShape 42">
                  <a:extLst>
                    <a:ext uri="{FF2B5EF4-FFF2-40B4-BE49-F238E27FC236}">
                      <a16:creationId xmlns:a16="http://schemas.microsoft.com/office/drawing/2014/main" id="{5065185A-FE23-B81D-2D86-039B02235D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7" name="AutoShape 43">
                  <a:extLst>
                    <a:ext uri="{FF2B5EF4-FFF2-40B4-BE49-F238E27FC236}">
                      <a16:creationId xmlns:a16="http://schemas.microsoft.com/office/drawing/2014/main" id="{F3EA927A-694E-F419-B0FA-5C17D70B8E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8" name="AutoShape 44">
                  <a:extLst>
                    <a:ext uri="{FF2B5EF4-FFF2-40B4-BE49-F238E27FC236}">
                      <a16:creationId xmlns:a16="http://schemas.microsoft.com/office/drawing/2014/main" id="{5F0F5A85-EBDB-F8AE-0D6E-CEEB0868E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49" name="AutoShape 45">
                  <a:extLst>
                    <a:ext uri="{FF2B5EF4-FFF2-40B4-BE49-F238E27FC236}">
                      <a16:creationId xmlns:a16="http://schemas.microsoft.com/office/drawing/2014/main" id="{4AEDCAB0-8717-7DAC-E1A2-8E317C4150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0" name="AutoShape 46">
                  <a:extLst>
                    <a:ext uri="{FF2B5EF4-FFF2-40B4-BE49-F238E27FC236}">
                      <a16:creationId xmlns:a16="http://schemas.microsoft.com/office/drawing/2014/main" id="{ACAE4D1D-2C39-E228-76D6-C4F9487B40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6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1" name="AutoShape 47">
                  <a:extLst>
                    <a:ext uri="{FF2B5EF4-FFF2-40B4-BE49-F238E27FC236}">
                      <a16:creationId xmlns:a16="http://schemas.microsoft.com/office/drawing/2014/main" id="{74AE77F2-96CD-CF2B-5144-5652BD7549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2" name="AutoShape 48">
                  <a:extLst>
                    <a:ext uri="{FF2B5EF4-FFF2-40B4-BE49-F238E27FC236}">
                      <a16:creationId xmlns:a16="http://schemas.microsoft.com/office/drawing/2014/main" id="{0B5A7EFB-FD9F-3DBF-AFAA-EA06609AB1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3" name="AutoShape 49">
                  <a:extLst>
                    <a:ext uri="{FF2B5EF4-FFF2-40B4-BE49-F238E27FC236}">
                      <a16:creationId xmlns:a16="http://schemas.microsoft.com/office/drawing/2014/main" id="{07C62C6E-24F1-9ACD-20E3-ACD651D360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4" name="AutoShape 50">
                  <a:extLst>
                    <a:ext uri="{FF2B5EF4-FFF2-40B4-BE49-F238E27FC236}">
                      <a16:creationId xmlns:a16="http://schemas.microsoft.com/office/drawing/2014/main" id="{BEA37F56-3F69-B515-4FA5-DA87CCF327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5" name="AutoShape 51">
                  <a:extLst>
                    <a:ext uri="{FF2B5EF4-FFF2-40B4-BE49-F238E27FC236}">
                      <a16:creationId xmlns:a16="http://schemas.microsoft.com/office/drawing/2014/main" id="{27F916EF-2744-CDE9-6CD8-480A525562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6" name="AutoShape 52">
                  <a:extLst>
                    <a:ext uri="{FF2B5EF4-FFF2-40B4-BE49-F238E27FC236}">
                      <a16:creationId xmlns:a16="http://schemas.microsoft.com/office/drawing/2014/main" id="{E0387AAE-D437-5E04-D32B-4C1335D349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7" name="AutoShape 53">
                  <a:extLst>
                    <a:ext uri="{FF2B5EF4-FFF2-40B4-BE49-F238E27FC236}">
                      <a16:creationId xmlns:a16="http://schemas.microsoft.com/office/drawing/2014/main" id="{1933C731-00B0-1242-660E-32EF4738C7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8" name="AutoShape 54">
                  <a:extLst>
                    <a:ext uri="{FF2B5EF4-FFF2-40B4-BE49-F238E27FC236}">
                      <a16:creationId xmlns:a16="http://schemas.microsoft.com/office/drawing/2014/main" id="{57127609-F191-8286-FBB6-65688DDD86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59" name="AutoShape 55">
                  <a:extLst>
                    <a:ext uri="{FF2B5EF4-FFF2-40B4-BE49-F238E27FC236}">
                      <a16:creationId xmlns:a16="http://schemas.microsoft.com/office/drawing/2014/main" id="{222F267F-4916-2C19-795B-BF4BD96709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60" name="AutoShape 56">
                  <a:extLst>
                    <a:ext uri="{FF2B5EF4-FFF2-40B4-BE49-F238E27FC236}">
                      <a16:creationId xmlns:a16="http://schemas.microsoft.com/office/drawing/2014/main" id="{8C68E394-D369-D6AF-B15E-C7E048075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61" name="AutoShape 57">
                  <a:extLst>
                    <a:ext uri="{FF2B5EF4-FFF2-40B4-BE49-F238E27FC236}">
                      <a16:creationId xmlns:a16="http://schemas.microsoft.com/office/drawing/2014/main" id="{C46885D4-3AB6-FF04-4DBB-27AD2D20A0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2562" name="AutoShape 58">
                  <a:extLst>
                    <a:ext uri="{FF2B5EF4-FFF2-40B4-BE49-F238E27FC236}">
                      <a16:creationId xmlns:a16="http://schemas.microsoft.com/office/drawing/2014/main" id="{A2F48900-66AB-65ED-2856-B99501047A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20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</p:grpSp>
      </p:grpSp>
      <p:grpSp>
        <p:nvGrpSpPr>
          <p:cNvPr id="6" name="Group 59">
            <a:extLst>
              <a:ext uri="{FF2B5EF4-FFF2-40B4-BE49-F238E27FC236}">
                <a16:creationId xmlns:a16="http://schemas.microsoft.com/office/drawing/2014/main" id="{6BD348BC-BA5E-460F-0DEE-6877B87DC678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4800600"/>
            <a:ext cx="2514600" cy="457200"/>
            <a:chOff x="2016" y="2736"/>
            <a:chExt cx="1584" cy="288"/>
          </a:xfrm>
        </p:grpSpPr>
        <p:sp>
          <p:nvSpPr>
            <p:cNvPr id="22535" name="Line 60">
              <a:extLst>
                <a:ext uri="{FF2B5EF4-FFF2-40B4-BE49-F238E27FC236}">
                  <a16:creationId xmlns:a16="http://schemas.microsoft.com/office/drawing/2014/main" id="{F5531D1E-E755-4489-A794-632137336A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736"/>
              <a:ext cx="0" cy="288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2536" name="Line 61">
              <a:extLst>
                <a:ext uri="{FF2B5EF4-FFF2-40B4-BE49-F238E27FC236}">
                  <a16:creationId xmlns:a16="http://schemas.microsoft.com/office/drawing/2014/main" id="{B6BE4667-5838-2E50-9D9D-C745DC087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36"/>
              <a:ext cx="0" cy="288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13D7BEC-6241-A9A0-FA8C-55787DC5D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ko-KR" sz="4800">
                <a:ea typeface="굴림" charset="-127"/>
              </a:rPr>
              <a:t>Arithmetic Mean or Average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D6CD12F-DB48-7A5E-7682-87AECEBD80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90800" y="1538666"/>
            <a:ext cx="7543800" cy="1452979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ea typeface="굴림" charset="-127"/>
              </a:rPr>
              <a:t>The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mean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of a set of measurements is the sum of the measurements divided by the total number of measurements.</a:t>
            </a:r>
          </a:p>
        </p:txBody>
      </p:sp>
      <p:graphicFrame>
        <p:nvGraphicFramePr>
          <p:cNvPr id="11275" name="Object 11">
            <a:extLst>
              <a:ext uri="{FF2B5EF4-FFF2-40B4-BE49-F238E27FC236}">
                <a16:creationId xmlns:a16="http://schemas.microsoft.com/office/drawing/2014/main" id="{DA7CBED3-E830-9530-D01C-74F5EC59D9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9064" y="3271839"/>
          <a:ext cx="1671637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317160" progId="Equation.3">
                  <p:embed/>
                </p:oleObj>
              </mc:Choice>
              <mc:Fallback>
                <p:oleObj name="Equation" r:id="rId2" imgW="431640" imgH="317160" progId="Equation.3">
                  <p:embed/>
                  <p:pic>
                    <p:nvPicPr>
                      <p:cNvPr id="11275" name="Object 11">
                        <a:extLst>
                          <a:ext uri="{FF2B5EF4-FFF2-40B4-BE49-F238E27FC236}">
                            <a16:creationId xmlns:a16="http://schemas.microsoft.com/office/drawing/2014/main" id="{DA7CBED3-E830-9530-D01C-74F5EC59D9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4" y="3271839"/>
                        <a:ext cx="1671637" cy="12287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12">
            <a:extLst>
              <a:ext uri="{FF2B5EF4-FFF2-40B4-BE49-F238E27FC236}">
                <a16:creationId xmlns:a16="http://schemas.microsoft.com/office/drawing/2014/main" id="{C51E9554-34D0-07F1-AC06-D50D583FB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953001"/>
            <a:ext cx="6400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where </a:t>
            </a:r>
            <a:r>
              <a:rPr lang="en-US" altLang="ko-KR" sz="3200" i="1">
                <a:solidFill>
                  <a:srgbClr val="339933"/>
                </a:solidFill>
                <a:ea typeface="굴림" panose="020B0600000101010101" pitchFamily="34" charset="-127"/>
              </a:rPr>
              <a:t>n = 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number of measurements</a:t>
            </a:r>
          </a:p>
          <a:p>
            <a:pPr eaLnBrk="1" hangingPunct="1">
              <a:spcBef>
                <a:spcPct val="50000"/>
              </a:spcBef>
            </a:pPr>
            <a:endParaRPr lang="ko-KR" altLang="en-US" sz="320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5B87F789-6162-4135-8A08-205EBAA68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513389"/>
          <a:ext cx="594360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49080" imgH="177480" progId="Equation.3">
                  <p:embed/>
                </p:oleObj>
              </mc:Choice>
              <mc:Fallback>
                <p:oleObj name="Equation" r:id="rId4" imgW="1549080" imgH="17748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5B87F789-6162-4135-8A08-205EBAA68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513389"/>
                        <a:ext cx="5943600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6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6" name="Rectangle 18">
            <a:extLst>
              <a:ext uri="{FF2B5EF4-FFF2-40B4-BE49-F238E27FC236}">
                <a16:creationId xmlns:a16="http://schemas.microsoft.com/office/drawing/2014/main" id="{76D62A60-212E-80E0-14DC-7E86B024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286000"/>
            <a:ext cx="7848600" cy="1447800"/>
          </a:xfrm>
          <a:prstGeom prst="rect">
            <a:avLst/>
          </a:prstGeom>
          <a:solidFill>
            <a:srgbClr val="F4ECC6"/>
          </a:solidFill>
          <a:ln w="19050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06630BEB-C001-1A4F-4F68-4E75D3C9E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Example</a:t>
            </a:r>
          </a:p>
        </p:txBody>
      </p:sp>
      <p:sp>
        <p:nvSpPr>
          <p:cNvPr id="2055" name="Rectangle 14">
            <a:extLst>
              <a:ext uri="{FF2B5EF4-FFF2-40B4-BE49-F238E27FC236}">
                <a16:creationId xmlns:a16="http://schemas.microsoft.com/office/drawing/2014/main" id="{17127A70-6ADC-70EC-0886-4A57FF2DC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1" y="1143001"/>
            <a:ext cx="48053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The set:  2,  9,  11,  5,  6</a:t>
            </a:r>
          </a:p>
        </p:txBody>
      </p:sp>
      <p:graphicFrame>
        <p:nvGraphicFramePr>
          <p:cNvPr id="12304" name="Object 16">
            <a:extLst>
              <a:ext uri="{FF2B5EF4-FFF2-40B4-BE49-F238E27FC236}">
                <a16:creationId xmlns:a16="http://schemas.microsoft.com/office/drawing/2014/main" id="{1D9752EB-6DEB-3197-47DD-A4C8647D6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2286000"/>
          <a:ext cx="2209800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17160" progId="Equation.3">
                  <p:embed/>
                </p:oleObj>
              </mc:Choice>
              <mc:Fallback>
                <p:oleObj name="Equation" r:id="rId2" imgW="533160" imgH="317160" progId="Equation.3">
                  <p:embed/>
                  <p:pic>
                    <p:nvPicPr>
                      <p:cNvPr id="12304" name="Object 16">
                        <a:extLst>
                          <a:ext uri="{FF2B5EF4-FFF2-40B4-BE49-F238E27FC236}">
                            <a16:creationId xmlns:a16="http://schemas.microsoft.com/office/drawing/2014/main" id="{1D9752EB-6DEB-3197-47DD-A4C8647D6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0"/>
                        <a:ext cx="2209800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17">
            <a:extLst>
              <a:ext uri="{FF2B5EF4-FFF2-40B4-BE49-F238E27FC236}">
                <a16:creationId xmlns:a16="http://schemas.microsoft.com/office/drawing/2014/main" id="{46D7D98E-3AE9-5554-7992-A558A0059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2362200"/>
          <a:ext cx="5524500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317160" progId="Equation.3">
                  <p:embed/>
                </p:oleObj>
              </mc:Choice>
              <mc:Fallback>
                <p:oleObj name="Equation" r:id="rId4" imgW="1333440" imgH="317160" progId="Equation.3">
                  <p:embed/>
                  <p:pic>
                    <p:nvPicPr>
                      <p:cNvPr id="12305" name="Object 17">
                        <a:extLst>
                          <a:ext uri="{FF2B5EF4-FFF2-40B4-BE49-F238E27FC236}">
                            <a16:creationId xmlns:a16="http://schemas.microsoft.com/office/drawing/2014/main" id="{46D7D98E-3AE9-5554-7992-A558A0059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362200"/>
                        <a:ext cx="5524500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8" name="Text Box 20">
            <a:extLst>
              <a:ext uri="{FF2B5EF4-FFF2-40B4-BE49-F238E27FC236}">
                <a16:creationId xmlns:a16="http://schemas.microsoft.com/office/drawing/2014/main" id="{122B9759-9DF4-4219-DDAD-916D5E6DC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191000"/>
            <a:ext cx="8001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If we were able to enumerate the whole population, the </a:t>
            </a: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population mean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 would be called </a:t>
            </a: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  <a:ea typeface="굴림" charset="-127"/>
              </a:rPr>
              <a:t>m</a:t>
            </a:r>
            <a:r>
              <a:rPr lang="en-US" altLang="ko-KR" sz="3200">
                <a:solidFill>
                  <a:srgbClr val="339933"/>
                </a:solidFill>
                <a:latin typeface="Symbol" pitchFamily="18" charset="2"/>
                <a:ea typeface="굴림" charset="-127"/>
              </a:rPr>
              <a:t> 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(the Greek letter “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mu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”).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8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7">
            <a:extLst>
              <a:ext uri="{FF2B5EF4-FFF2-40B4-BE49-F238E27FC236}">
                <a16:creationId xmlns:a16="http://schemas.microsoft.com/office/drawing/2014/main" id="{D9345822-ABFA-F940-3E5C-49EDABD2D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524000"/>
            <a:ext cx="8229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median </a:t>
            </a: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of a set of measurements is the middle measurement when the measurements are ranked from smallest to largest.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the median</a:t>
            </a:r>
            <a:r>
              <a:rPr lang="en-US" altLang="ko-KR" sz="3600" b="1">
                <a:solidFill>
                  <a:schemeClr val="bg1"/>
                </a:solidFill>
                <a:ea typeface="굴림" charset="-127"/>
              </a:rPr>
              <a:t> </a:t>
            </a: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is </a:t>
            </a:r>
          </a:p>
          <a:p>
            <a:pPr marL="742950" lvl="1" indent="-285750" algn="ctr">
              <a:spcBef>
                <a:spcPct val="20000"/>
              </a:spcBef>
              <a:defRPr/>
            </a:pPr>
            <a:endParaRPr lang="ko-KR" altLang="en-US" sz="400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759CD6A9-1AF6-F856-D0FF-0E0A0872A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4800">
                <a:ea typeface="굴림" charset="-127"/>
              </a:rPr>
              <a:t>Median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A68D21DE-17BF-11D9-77B9-687D122114AB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495800"/>
            <a:ext cx="2362200" cy="762000"/>
            <a:chOff x="2400" y="2832"/>
            <a:chExt cx="1488" cy="480"/>
          </a:xfrm>
        </p:grpSpPr>
        <p:sp>
          <p:nvSpPr>
            <p:cNvPr id="13321" name="Rectangle 9">
              <a:extLst>
                <a:ext uri="{FF2B5EF4-FFF2-40B4-BE49-F238E27FC236}">
                  <a16:creationId xmlns:a16="http://schemas.microsoft.com/office/drawing/2014/main" id="{61758629-BE6A-6349-E544-6F5DEEBB7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832"/>
              <a:ext cx="1488" cy="48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22" name="Text Box 10">
              <a:extLst>
                <a:ext uri="{FF2B5EF4-FFF2-40B4-BE49-F238E27FC236}">
                  <a16:creationId xmlns:a16="http://schemas.microsoft.com/office/drawing/2014/main" id="{6D64522C-72A9-74AA-5F5E-BB5942F216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0"/>
              <a:ext cx="124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36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.5(</a:t>
              </a:r>
              <a:r>
                <a:rPr lang="en-US" altLang="ko-KR" sz="3600" b="1" i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n</a:t>
              </a:r>
              <a:r>
                <a:rPr lang="en-US" altLang="ko-KR" sz="36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+ 1)</a:t>
              </a:r>
            </a:p>
          </p:txBody>
        </p:sp>
      </p:grpSp>
      <p:sp>
        <p:nvSpPr>
          <p:cNvPr id="13325" name="Text Box 13">
            <a:extLst>
              <a:ext uri="{FF2B5EF4-FFF2-40B4-BE49-F238E27FC236}">
                <a16:creationId xmlns:a16="http://schemas.microsoft.com/office/drawing/2014/main" id="{1E2CE07D-6E11-80A8-DB36-665EFD557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257801"/>
            <a:ext cx="8001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20000"/>
              </a:spcBef>
            </a:pPr>
            <a:r>
              <a:rPr lang="en-US" altLang="ko-KR" sz="4000">
                <a:solidFill>
                  <a:srgbClr val="339933"/>
                </a:solidFill>
                <a:ea typeface="굴림" panose="020B0600000101010101" pitchFamily="34" charset="-127"/>
              </a:rPr>
              <a:t>once the measurements have been ordered.</a:t>
            </a:r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build="p" autoUpdateAnimBg="0"/>
      <p:bldP spid="1332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80BEDFB-07E5-1F31-39FD-45224CB60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</a:t>
            </a:r>
          </a:p>
        </p:txBody>
      </p:sp>
      <p:sp>
        <p:nvSpPr>
          <p:cNvPr id="14361" name="Rectangle 25">
            <a:extLst>
              <a:ext uri="{FF2B5EF4-FFF2-40B4-BE49-F238E27FC236}">
                <a16:creationId xmlns:a16="http://schemas.microsoft.com/office/drawing/2014/main" id="{25FFE770-EE4E-382B-08F1-7A3F4B459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4600" y="1295400"/>
            <a:ext cx="7696200" cy="2133600"/>
          </a:xfrm>
          <a:noFill/>
        </p:spPr>
        <p:txBody>
          <a:bodyPr/>
          <a:lstStyle/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The set:  2, 4, 9, 8, 6, 5, 3	</a:t>
            </a:r>
            <a:r>
              <a:rPr lang="en-US" altLang="ko-KR" i="1">
                <a:ea typeface="굴림" panose="020B0600000101010101" pitchFamily="34" charset="-127"/>
              </a:rPr>
              <a:t>n = </a:t>
            </a:r>
            <a:r>
              <a:rPr lang="en-US" altLang="ko-KR">
                <a:ea typeface="굴림" panose="020B0600000101010101" pitchFamily="34" charset="-127"/>
              </a:rPr>
              <a:t>7</a:t>
            </a:r>
          </a:p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Sort:	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2, 3, 4, 5, 6, 8, 9</a:t>
            </a:r>
          </a:p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Position:</a:t>
            </a:r>
            <a:r>
              <a:rPr lang="en-US" altLang="ko-KR">
                <a:solidFill>
                  <a:srgbClr val="FFFF99"/>
                </a:solidFill>
                <a:ea typeface="굴림" panose="020B0600000101010101" pitchFamily="34" charset="-127"/>
              </a:rPr>
              <a:t>  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.5(</a:t>
            </a:r>
            <a:r>
              <a:rPr lang="en-US" altLang="ko-KR" i="1">
                <a:solidFill>
                  <a:srgbClr val="333333"/>
                </a:solidFill>
                <a:ea typeface="굴림" panose="020B0600000101010101" pitchFamily="34" charset="-127"/>
              </a:rPr>
              <a:t>n 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+ 1) = .5(7 + 1) = 4</a:t>
            </a:r>
            <a:r>
              <a:rPr lang="en-US" altLang="ko-KR" baseline="30000">
                <a:solidFill>
                  <a:srgbClr val="333333"/>
                </a:solidFill>
                <a:ea typeface="굴림" panose="020B0600000101010101" pitchFamily="34" charset="-127"/>
              </a:rPr>
              <a:t>th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endParaRPr lang="en-US" altLang="ko-KR" b="1">
              <a:solidFill>
                <a:srgbClr val="333333"/>
              </a:solidFill>
              <a:ea typeface="굴림" panose="020B0600000101010101" pitchFamily="34" charset="-127"/>
            </a:endParaRPr>
          </a:p>
          <a:p>
            <a:pPr eaLnBrk="1" hangingPunct="1"/>
            <a:endParaRPr lang="ko-KR" altLang="en-US" b="1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A3DDBCAE-6916-AB55-EAD4-895C0100DEFE}"/>
              </a:ext>
            </a:extLst>
          </p:cNvPr>
          <p:cNvGrpSpPr>
            <a:grpSpLocks/>
          </p:cNvGrpSpPr>
          <p:nvPr/>
        </p:nvGrpSpPr>
        <p:grpSpPr bwMode="auto">
          <a:xfrm>
            <a:off x="2668477" y="1759254"/>
            <a:ext cx="5029200" cy="1828800"/>
            <a:chOff x="960" y="1296"/>
            <a:chExt cx="3168" cy="1152"/>
          </a:xfrm>
        </p:grpSpPr>
        <p:sp>
          <p:nvSpPr>
            <p:cNvPr id="24587" name="Oval 27">
              <a:extLst>
                <a:ext uri="{FF2B5EF4-FFF2-40B4-BE49-F238E27FC236}">
                  <a16:creationId xmlns:a16="http://schemas.microsoft.com/office/drawing/2014/main" id="{13F08DA2-A589-65E5-5FDA-B1C54C1B7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96"/>
              <a:ext cx="336" cy="336"/>
            </a:xfrm>
            <a:prstGeom prst="ellips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588" name="Line 28">
              <a:extLst>
                <a:ext uri="{FF2B5EF4-FFF2-40B4-BE49-F238E27FC236}">
                  <a16:creationId xmlns:a16="http://schemas.microsoft.com/office/drawing/2014/main" id="{F337327E-83C2-7F08-B121-F8973F584B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1584"/>
              <a:ext cx="528" cy="528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4589" name="Text Box 29">
              <a:extLst>
                <a:ext uri="{FF2B5EF4-FFF2-40B4-BE49-F238E27FC236}">
                  <a16:creationId xmlns:a16="http://schemas.microsoft.com/office/drawing/2014/main" id="{19EC3D9B-9065-6FC2-8002-7E8B11B2C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160"/>
              <a:ext cx="31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Median = 4</a:t>
              </a:r>
              <a:r>
                <a:rPr lang="en-US" altLang="ko-KR" baseline="30000">
                  <a:solidFill>
                    <a:srgbClr val="CC0066"/>
                  </a:solidFill>
                  <a:ea typeface="굴림" panose="020B0600000101010101" pitchFamily="34" charset="-127"/>
                </a:rPr>
                <a:t>th</a:t>
              </a: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 largest measurement</a:t>
              </a:r>
            </a:p>
          </p:txBody>
        </p:sp>
      </p:grpSp>
      <p:sp>
        <p:nvSpPr>
          <p:cNvPr id="14366" name="Rectangle 30">
            <a:extLst>
              <a:ext uri="{FF2B5EF4-FFF2-40B4-BE49-F238E27FC236}">
                <a16:creationId xmlns:a16="http://schemas.microsoft.com/office/drawing/2014/main" id="{75F4F511-DC76-15B5-7FB2-4B532D3C2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7696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The set:  2, 4, 9, 8, 6, 5		</a:t>
            </a:r>
            <a:r>
              <a:rPr lang="en-US" altLang="ko-KR" sz="3600" i="1">
                <a:solidFill>
                  <a:srgbClr val="339933"/>
                </a:solidFill>
                <a:ea typeface="굴림" panose="020B0600000101010101" pitchFamily="34" charset="-127"/>
              </a:rPr>
              <a:t>n = </a:t>
            </a: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6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Sort:	</a:t>
            </a:r>
            <a:r>
              <a:rPr lang="en-US" altLang="ko-KR" sz="3600">
                <a:solidFill>
                  <a:srgbClr val="333333"/>
                </a:solidFill>
                <a:ea typeface="굴림" panose="020B0600000101010101" pitchFamily="34" charset="-127"/>
              </a:rPr>
              <a:t>2, 4, 5, 6, 8, 9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Position:  </a:t>
            </a:r>
            <a:r>
              <a:rPr lang="en-US" altLang="ko-KR" sz="3600">
                <a:solidFill>
                  <a:srgbClr val="333333"/>
                </a:solidFill>
                <a:ea typeface="굴림" panose="020B0600000101010101" pitchFamily="34" charset="-127"/>
              </a:rPr>
              <a:t>.5(</a:t>
            </a:r>
            <a:r>
              <a:rPr lang="en-US" altLang="ko-KR" sz="3600" i="1">
                <a:solidFill>
                  <a:srgbClr val="333333"/>
                </a:solidFill>
                <a:ea typeface="굴림" panose="020B0600000101010101" pitchFamily="34" charset="-127"/>
              </a:rPr>
              <a:t>n </a:t>
            </a:r>
            <a:r>
              <a:rPr lang="en-US" altLang="ko-KR" sz="3600">
                <a:solidFill>
                  <a:srgbClr val="333333"/>
                </a:solidFill>
                <a:ea typeface="굴림" panose="020B0600000101010101" pitchFamily="34" charset="-127"/>
              </a:rPr>
              <a:t>+ 1) = .5(6 + 1) = 3.5</a:t>
            </a:r>
            <a:r>
              <a:rPr lang="en-US" altLang="ko-KR" sz="3600" baseline="30000">
                <a:solidFill>
                  <a:srgbClr val="333333"/>
                </a:solidFill>
                <a:ea typeface="굴림" panose="020B0600000101010101" pitchFamily="34" charset="-127"/>
              </a:rPr>
              <a:t>th</a:t>
            </a:r>
            <a:r>
              <a:rPr lang="en-US" altLang="ko-KR" sz="360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endParaRPr lang="en-US" altLang="ko-KR" sz="3600" b="1">
              <a:solidFill>
                <a:srgbClr val="3333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ko-KR" altLang="en-US" sz="3600" b="1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B6F50CD6-A776-165E-D2A3-EB461765A23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419602"/>
            <a:ext cx="8458200" cy="2125663"/>
            <a:chOff x="432" y="2736"/>
            <a:chExt cx="5328" cy="1339"/>
          </a:xfrm>
        </p:grpSpPr>
        <p:sp>
          <p:nvSpPr>
            <p:cNvPr id="24584" name="Oval 32">
              <a:extLst>
                <a:ext uri="{FF2B5EF4-FFF2-40B4-BE49-F238E27FC236}">
                  <a16:creationId xmlns:a16="http://schemas.microsoft.com/office/drawing/2014/main" id="{E0362E3A-1C4A-C413-8E14-279EF135B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736"/>
              <a:ext cx="624" cy="336"/>
            </a:xfrm>
            <a:prstGeom prst="ellipse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585" name="Line 33">
              <a:extLst>
                <a:ext uri="{FF2B5EF4-FFF2-40B4-BE49-F238E27FC236}">
                  <a16:creationId xmlns:a16="http://schemas.microsoft.com/office/drawing/2014/main" id="{D584761F-9BCF-9A10-B614-2A33E016B8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3072"/>
              <a:ext cx="500" cy="528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4586" name="Text Box 34">
              <a:extLst>
                <a:ext uri="{FF2B5EF4-FFF2-40B4-BE49-F238E27FC236}">
                  <a16:creationId xmlns:a16="http://schemas.microsoft.com/office/drawing/2014/main" id="{5A5F1AB1-6D06-A2EB-0C40-80B5E0427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552"/>
              <a:ext cx="532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Median = (5 + 6)/2 = 5.5 — average of the 3</a:t>
              </a:r>
              <a:r>
                <a:rPr lang="en-US" altLang="ko-KR" baseline="30000">
                  <a:solidFill>
                    <a:srgbClr val="CC0066"/>
                  </a:solidFill>
                  <a:ea typeface="굴림" panose="020B0600000101010101" pitchFamily="34" charset="-127"/>
                </a:rPr>
                <a:t>rd</a:t>
              </a: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 and 4</a:t>
              </a:r>
              <a:r>
                <a:rPr lang="en-US" altLang="ko-KR" baseline="30000">
                  <a:solidFill>
                    <a:srgbClr val="CC0066"/>
                  </a:solidFill>
                  <a:ea typeface="굴림" panose="020B0600000101010101" pitchFamily="34" charset="-127"/>
                </a:rPr>
                <a:t>th</a:t>
              </a: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 measurements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1" grpId="0" build="p" autoUpdateAnimBg="0"/>
      <p:bldP spid="14366" grpId="0" build="p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70BA5E2-CE04-7A6D-6AD2-4DAA0F47B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Mode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D4F82659-0ECA-0EF3-7B1E-5918FE998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295400"/>
            <a:ext cx="8229600" cy="47244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mode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sz="3200" dirty="0">
                <a:ea typeface="굴림" charset="-127"/>
              </a:rPr>
              <a:t>is the measurement which occurs most frequently.</a:t>
            </a: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set:  2, 4, 9, 8, 8, 5, 3</a:t>
            </a:r>
          </a:p>
          <a:p>
            <a:pPr lvl="1" eaLnBrk="1" hangingPunct="1">
              <a:defRPr/>
            </a:pPr>
            <a:r>
              <a:rPr lang="en-US" altLang="ko-KR" sz="3200" dirty="0">
                <a:ea typeface="굴림" charset="-127"/>
              </a:rPr>
              <a:t>The mode is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8</a:t>
            </a:r>
            <a:r>
              <a:rPr lang="en-US" altLang="ko-KR" sz="3200" dirty="0">
                <a:ea typeface="굴림" charset="-127"/>
              </a:rPr>
              <a:t>, which occurs twice</a:t>
            </a: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set:  2, 2, 9, 8, 8, 5, 3</a:t>
            </a:r>
          </a:p>
          <a:p>
            <a:pPr lvl="1" eaLnBrk="1" hangingPunct="1">
              <a:defRPr/>
            </a:pPr>
            <a:r>
              <a:rPr lang="en-US" altLang="ko-KR" sz="3200" dirty="0">
                <a:ea typeface="굴림" charset="-127"/>
              </a:rPr>
              <a:t>There are two modes—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8</a:t>
            </a:r>
            <a:r>
              <a:rPr lang="en-US" altLang="ko-KR" sz="3200" dirty="0">
                <a:ea typeface="굴림" charset="-127"/>
              </a:rPr>
              <a:t> and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2</a:t>
            </a:r>
            <a:r>
              <a:rPr lang="en-US" altLang="ko-KR" sz="3200" dirty="0">
                <a:ea typeface="굴림" charset="-127"/>
              </a:rPr>
              <a:t> (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bimodal</a:t>
            </a:r>
            <a:r>
              <a:rPr lang="en-US" altLang="ko-KR" sz="3200" dirty="0">
                <a:ea typeface="굴림" charset="-127"/>
              </a:rPr>
              <a:t>)</a:t>
            </a: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set:  2, 4, 9, 8, 5, 3</a:t>
            </a:r>
          </a:p>
          <a:p>
            <a:pPr lvl="1" eaLnBrk="1" hangingPunct="1">
              <a:defRPr/>
            </a:pPr>
            <a:r>
              <a:rPr lang="en-US" altLang="ko-KR" sz="3200" dirty="0">
                <a:ea typeface="굴림" charset="-127"/>
              </a:rPr>
              <a:t>There is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no mode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 </a:t>
            </a:r>
            <a:r>
              <a:rPr lang="en-US" altLang="ko-KR" sz="3200" dirty="0">
                <a:ea typeface="굴림" charset="-127"/>
              </a:rPr>
              <a:t>(each value is unique).</a:t>
            </a:r>
          </a:p>
          <a:p>
            <a:pPr eaLnBrk="1" hangingPunct="1">
              <a:defRPr/>
            </a:pPr>
            <a:endParaRPr lang="ko-KR" altLang="en-US" sz="3200" dirty="0"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build="p" bldLvl="2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D3E330A-F949-CA02-5DB2-CEA6EBB1E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F72E1475-A9C6-36B3-CC3D-59E9A7211C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8363" y="3048000"/>
            <a:ext cx="3962400" cy="3429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Mean?</a:t>
            </a:r>
          </a:p>
          <a:p>
            <a:pPr eaLnBrk="1" hangingPunct="1"/>
            <a:endParaRPr lang="en-US" altLang="ko-KR">
              <a:solidFill>
                <a:srgbClr val="CC0066"/>
              </a:solidFill>
              <a:ea typeface="굴림" panose="020B0600000101010101" pitchFamily="34" charset="-127"/>
            </a:endParaRPr>
          </a:p>
          <a:p>
            <a:pPr eaLnBrk="1" hangingPunct="1"/>
            <a:endParaRPr lang="en-US" altLang="ko-KR">
              <a:solidFill>
                <a:srgbClr val="CC0066"/>
              </a:solidFill>
              <a:ea typeface="굴림" panose="020B0600000101010101" pitchFamily="34" charset="-127"/>
            </a:endParaRPr>
          </a:p>
          <a:p>
            <a:pPr eaLnBrk="1" hangingPunct="1"/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Median?</a:t>
            </a:r>
          </a:p>
          <a:p>
            <a:pPr eaLnBrk="1" hangingPunct="1"/>
            <a:endParaRPr lang="en-US" altLang="ko-KR">
              <a:solidFill>
                <a:srgbClr val="CC0066"/>
              </a:solidFill>
              <a:ea typeface="굴림" panose="020B0600000101010101" pitchFamily="34" charset="-127"/>
            </a:endParaRPr>
          </a:p>
          <a:p>
            <a:pPr eaLnBrk="1" hangingPunct="1"/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Mode? (Highest peak)</a:t>
            </a:r>
          </a:p>
        </p:txBody>
      </p:sp>
      <p:grpSp>
        <p:nvGrpSpPr>
          <p:cNvPr id="3080" name="Group 33">
            <a:extLst>
              <a:ext uri="{FF2B5EF4-FFF2-40B4-BE49-F238E27FC236}">
                <a16:creationId xmlns:a16="http://schemas.microsoft.com/office/drawing/2014/main" id="{56C90FC2-3AF0-3A7F-F3D9-DE430BFFB598}"/>
              </a:ext>
            </a:extLst>
          </p:cNvPr>
          <p:cNvGrpSpPr>
            <a:grpSpLocks/>
          </p:cNvGrpSpPr>
          <p:nvPr/>
        </p:nvGrpSpPr>
        <p:grpSpPr bwMode="auto">
          <a:xfrm>
            <a:off x="9661865" y="-6350"/>
            <a:ext cx="2514600" cy="2133600"/>
            <a:chOff x="3936" y="48"/>
            <a:chExt cx="1584" cy="1344"/>
          </a:xfrm>
        </p:grpSpPr>
        <p:sp>
          <p:nvSpPr>
            <p:cNvPr id="38917" name="Rectangle 5">
              <a:extLst>
                <a:ext uri="{FF2B5EF4-FFF2-40B4-BE49-F238E27FC236}">
                  <a16:creationId xmlns:a16="http://schemas.microsoft.com/office/drawing/2014/main" id="{53BCA2C5-7474-3C86-1135-BF05F2FF8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48"/>
              <a:ext cx="1584" cy="1344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3092" name="Picture 9" descr="milk2">
              <a:extLst>
                <a:ext uri="{FF2B5EF4-FFF2-40B4-BE49-F238E27FC236}">
                  <a16:creationId xmlns:a16="http://schemas.microsoft.com/office/drawing/2014/main" id="{57E5D79E-7D89-A360-AE04-1D19E9C0D3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120"/>
              <a:ext cx="1440" cy="1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81" name="Text Box 11">
            <a:extLst>
              <a:ext uri="{FF2B5EF4-FFF2-40B4-BE49-F238E27FC236}">
                <a16:creationId xmlns:a16="http://schemas.microsoft.com/office/drawing/2014/main" id="{29FC6F29-A9E5-BBB9-D1DB-4C3483189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143000"/>
            <a:ext cx="48768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The number of quarts of milk purchased by 25 households: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0   0   1   1  1   1   1   2   2   2   2   2  2   2   2   2   3   3   3   3   3   4   4  4   5</a:t>
            </a: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57F9A2CD-6F42-3ABA-A075-D556E58F19DC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971800"/>
            <a:ext cx="4495800" cy="3124200"/>
            <a:chOff x="2304" y="1680"/>
            <a:chExt cx="3312" cy="2304"/>
          </a:xfrm>
        </p:grpSpPr>
        <p:sp>
          <p:nvSpPr>
            <p:cNvPr id="38925" name="Rectangle 13">
              <a:extLst>
                <a:ext uri="{FF2B5EF4-FFF2-40B4-BE49-F238E27FC236}">
                  <a16:creationId xmlns:a16="http://schemas.microsoft.com/office/drawing/2014/main" id="{9918572A-22B2-4E9B-8951-76C9EA6DD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80"/>
              <a:ext cx="3312" cy="2304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3090" name="Picture 12" descr="milk3">
              <a:extLst>
                <a:ext uri="{FF2B5EF4-FFF2-40B4-BE49-F238E27FC236}">
                  <a16:creationId xmlns:a16="http://schemas.microsoft.com/office/drawing/2014/main" id="{BED18960-CCF1-334F-0471-EEDED7E9E5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0" y="1728"/>
              <a:ext cx="3128" cy="2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8928" name="Object 16">
            <a:extLst>
              <a:ext uri="{FF2B5EF4-FFF2-40B4-BE49-F238E27FC236}">
                <a16:creationId xmlns:a16="http://schemas.microsoft.com/office/drawing/2014/main" id="{ED65F0C8-ADF1-BBF2-1048-64A6E06AEE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581401"/>
          <a:ext cx="32004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560" imgH="393480" progId="Equation.3">
                  <p:embed/>
                </p:oleObj>
              </mc:Choice>
              <mc:Fallback>
                <p:oleObj name="Equation" r:id="rId4" imgW="1231560" imgH="393480" progId="Equation.3">
                  <p:embed/>
                  <p:pic>
                    <p:nvPicPr>
                      <p:cNvPr id="38928" name="Object 16">
                        <a:extLst>
                          <a:ext uri="{FF2B5EF4-FFF2-40B4-BE49-F238E27FC236}">
                            <a16:creationId xmlns:a16="http://schemas.microsoft.com/office/drawing/2014/main" id="{ED65F0C8-ADF1-BBF2-1048-64A6E06AEE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81401"/>
                        <a:ext cx="3200400" cy="9747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12700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9" name="Object 17">
            <a:extLst>
              <a:ext uri="{FF2B5EF4-FFF2-40B4-BE49-F238E27FC236}">
                <a16:creationId xmlns:a16="http://schemas.microsoft.com/office/drawing/2014/main" id="{95DAD9A0-440E-BFFB-7389-7D3AE9281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5105400"/>
          <a:ext cx="1066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177480" progId="Equation.3">
                  <p:embed/>
                </p:oleObj>
              </mc:Choice>
              <mc:Fallback>
                <p:oleObj name="Equation" r:id="rId6" imgW="393480" imgH="177480" progId="Equation.3">
                  <p:embed/>
                  <p:pic>
                    <p:nvPicPr>
                      <p:cNvPr id="38929" name="Object 17">
                        <a:extLst>
                          <a:ext uri="{FF2B5EF4-FFF2-40B4-BE49-F238E27FC236}">
                            <a16:creationId xmlns:a16="http://schemas.microsoft.com/office/drawing/2014/main" id="{95DAD9A0-440E-BFFB-7389-7D3AE9281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105400"/>
                        <a:ext cx="1066800" cy="444500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12700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18">
            <a:extLst>
              <a:ext uri="{FF2B5EF4-FFF2-40B4-BE49-F238E27FC236}">
                <a16:creationId xmlns:a16="http://schemas.microsoft.com/office/drawing/2014/main" id="{947878B6-3AC7-F82F-3893-4B12D2F1E1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470543"/>
              </p:ext>
            </p:extLst>
          </p:nvPr>
        </p:nvGraphicFramePr>
        <p:xfrm>
          <a:off x="3548849" y="6189956"/>
          <a:ext cx="16525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177480" progId="Equation.3">
                  <p:embed/>
                </p:oleObj>
              </mc:Choice>
              <mc:Fallback>
                <p:oleObj name="Equation" r:id="rId8" imgW="609480" imgH="177480" progId="Equation.3">
                  <p:embed/>
                  <p:pic>
                    <p:nvPicPr>
                      <p:cNvPr id="38930" name="Object 18">
                        <a:extLst>
                          <a:ext uri="{FF2B5EF4-FFF2-40B4-BE49-F238E27FC236}">
                            <a16:creationId xmlns:a16="http://schemas.microsoft.com/office/drawing/2014/main" id="{947878B6-3AC7-F82F-3893-4B12D2F1E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849" y="6189956"/>
                        <a:ext cx="1652588" cy="444500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12700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2" name="Freeform 20">
            <a:extLst>
              <a:ext uri="{FF2B5EF4-FFF2-40B4-BE49-F238E27FC236}">
                <a16:creationId xmlns:a16="http://schemas.microsoft.com/office/drawing/2014/main" id="{5B02B30A-C18B-33FF-8B44-BA772702DB68}"/>
              </a:ext>
            </a:extLst>
          </p:cNvPr>
          <p:cNvSpPr>
            <a:spLocks/>
          </p:cNvSpPr>
          <p:nvPr/>
        </p:nvSpPr>
        <p:spPr bwMode="auto">
          <a:xfrm>
            <a:off x="5181600" y="3276600"/>
            <a:ext cx="2590800" cy="2438400"/>
          </a:xfrm>
          <a:custGeom>
            <a:avLst/>
            <a:gdLst>
              <a:gd name="T0" fmla="*/ 0 w 1440"/>
              <a:gd name="T1" fmla="*/ 1488 h 1488"/>
              <a:gd name="T2" fmla="*/ 384 w 1440"/>
              <a:gd name="T3" fmla="*/ 1392 h 1488"/>
              <a:gd name="T4" fmla="*/ 576 w 1440"/>
              <a:gd name="T5" fmla="*/ 1248 h 1488"/>
              <a:gd name="T6" fmla="*/ 864 w 1440"/>
              <a:gd name="T7" fmla="*/ 864 h 1488"/>
              <a:gd name="T8" fmla="*/ 1152 w 1440"/>
              <a:gd name="T9" fmla="*/ 240 h 1488"/>
              <a:gd name="T10" fmla="*/ 1440 w 1440"/>
              <a:gd name="T11" fmla="*/ 0 h 14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40"/>
              <a:gd name="T19" fmla="*/ 0 h 1488"/>
              <a:gd name="T20" fmla="*/ 1440 w 1440"/>
              <a:gd name="T21" fmla="*/ 1488 h 14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40" h="1488">
                <a:moveTo>
                  <a:pt x="0" y="1488"/>
                </a:moveTo>
                <a:cubicBezTo>
                  <a:pt x="144" y="1460"/>
                  <a:pt x="288" y="1432"/>
                  <a:pt x="384" y="1392"/>
                </a:cubicBezTo>
                <a:cubicBezTo>
                  <a:pt x="480" y="1352"/>
                  <a:pt x="496" y="1336"/>
                  <a:pt x="576" y="1248"/>
                </a:cubicBezTo>
                <a:cubicBezTo>
                  <a:pt x="656" y="1160"/>
                  <a:pt x="768" y="1032"/>
                  <a:pt x="864" y="864"/>
                </a:cubicBezTo>
                <a:cubicBezTo>
                  <a:pt x="960" y="696"/>
                  <a:pt x="1056" y="384"/>
                  <a:pt x="1152" y="240"/>
                </a:cubicBezTo>
                <a:cubicBezTo>
                  <a:pt x="1248" y="96"/>
                  <a:pt x="1352" y="48"/>
                  <a:pt x="1440" y="0"/>
                </a:cubicBezTo>
              </a:path>
            </a:pathLst>
          </a:custGeom>
          <a:noFill/>
          <a:ln w="19050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935" name="Line 23">
            <a:extLst>
              <a:ext uri="{FF2B5EF4-FFF2-40B4-BE49-F238E27FC236}">
                <a16:creationId xmlns:a16="http://schemas.microsoft.com/office/drawing/2014/main" id="{72DC5448-9151-1984-156F-2C90562075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5638800"/>
            <a:ext cx="0" cy="4572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38936" name="Line 24">
            <a:extLst>
              <a:ext uri="{FF2B5EF4-FFF2-40B4-BE49-F238E27FC236}">
                <a16:creationId xmlns:a16="http://schemas.microsoft.com/office/drawing/2014/main" id="{C0645B11-B541-5E4C-7631-9B8B79644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5638800"/>
            <a:ext cx="0" cy="45720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5D7696FD-ADDA-63B8-110D-DE13F00845B2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2057401"/>
            <a:ext cx="2895600" cy="2708275"/>
            <a:chOff x="1680" y="1296"/>
            <a:chExt cx="1824" cy="1706"/>
          </a:xfrm>
        </p:grpSpPr>
        <p:cxnSp>
          <p:nvCxnSpPr>
            <p:cNvPr id="3087" name="AutoShape 30">
              <a:extLst>
                <a:ext uri="{FF2B5EF4-FFF2-40B4-BE49-F238E27FC236}">
                  <a16:creationId xmlns:a16="http://schemas.microsoft.com/office/drawing/2014/main" id="{DAC0D68D-4688-F9E5-1415-9BD78BC33D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>
              <a:off x="1680" y="1296"/>
              <a:ext cx="1673" cy="1706"/>
            </a:xfrm>
            <a:prstGeom prst="curvedConnector4">
              <a:avLst>
                <a:gd name="adj1" fmla="val 75250"/>
                <a:gd name="adj2" fmla="val 109731"/>
              </a:avLst>
            </a:prstGeom>
            <a:noFill/>
            <a:ln w="2222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88" name="Oval 31">
              <a:extLst>
                <a:ext uri="{FF2B5EF4-FFF2-40B4-BE49-F238E27FC236}">
                  <a16:creationId xmlns:a16="http://schemas.microsoft.com/office/drawing/2014/main" id="{0FF6CCAC-84D9-B1C6-110A-7D7A843CE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296"/>
              <a:ext cx="288" cy="288"/>
            </a:xfrm>
            <a:prstGeom prst="ellips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E8923650-1D60-0F40-96DA-AAE7105B2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599" y="1447800"/>
            <a:ext cx="8439705" cy="1205883"/>
          </a:xfrm>
          <a:noFill/>
        </p:spPr>
        <p:txBody>
          <a:bodyPr/>
          <a:lstStyle/>
          <a:p>
            <a:pPr eaLnBrk="1" hangingPunct="1"/>
            <a:r>
              <a:rPr lang="en-US" altLang="ko-KR" dirty="0">
                <a:ea typeface="굴림" panose="020B0600000101010101" pitchFamily="34" charset="-127"/>
              </a:rPr>
              <a:t>The mean is more easily affected by extremely large or small values than the median.</a:t>
            </a: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2C839E26-791C-E4FD-3CEA-1BB1DE68E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Extreme Values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2A27C38A-E0A6-DEF8-080E-EAE17F375EB5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895600"/>
            <a:ext cx="6019800" cy="1524000"/>
            <a:chOff x="864" y="1824"/>
            <a:chExt cx="3792" cy="960"/>
          </a:xfrm>
        </p:grpSpPr>
        <p:sp>
          <p:nvSpPr>
            <p:cNvPr id="39942" name="Rectangle 6">
              <a:extLst>
                <a:ext uri="{FF2B5EF4-FFF2-40B4-BE49-F238E27FC236}">
                  <a16:creationId xmlns:a16="http://schemas.microsoft.com/office/drawing/2014/main" id="{338C9D39-849A-7A7A-FB8A-731E49D40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824"/>
              <a:ext cx="3792" cy="960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26633" name="Picture 10" descr="applet1">
              <a:extLst>
                <a:ext uri="{FF2B5EF4-FFF2-40B4-BE49-F238E27FC236}">
                  <a16:creationId xmlns:a16="http://schemas.microsoft.com/office/drawing/2014/main" id="{70BEB8DA-D5C8-2539-7852-EE3A20A0C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872"/>
              <a:ext cx="3600" cy="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948" name="Text Box 12">
            <a:extLst>
              <a:ext uri="{FF2B5EF4-FFF2-40B4-BE49-F238E27FC236}">
                <a16:creationId xmlns:a16="http://schemas.microsoft.com/office/drawing/2014/main" id="{4D4911BF-3868-25D6-27B9-0A9E57B01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0"/>
            <a:ext cx="82873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The median is often used as a measure of center when the distribution is skewed.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>
            <a:extLst>
              <a:ext uri="{FF2B5EF4-FFF2-40B4-BE49-F238E27FC236}">
                <a16:creationId xmlns:a16="http://schemas.microsoft.com/office/drawing/2014/main" id="{672B850E-1D89-0A99-68CF-0E5BDB0E23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Extreme Values</a:t>
            </a:r>
          </a:p>
        </p:txBody>
      </p:sp>
      <p:grpSp>
        <p:nvGrpSpPr>
          <p:cNvPr id="27652" name="Group 94">
            <a:extLst>
              <a:ext uri="{FF2B5EF4-FFF2-40B4-BE49-F238E27FC236}">
                <a16:creationId xmlns:a16="http://schemas.microsoft.com/office/drawing/2014/main" id="{552AC334-8D01-7564-BD10-CDA3239CFCD4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752600"/>
            <a:ext cx="3429000" cy="4191000"/>
            <a:chOff x="384" y="1104"/>
            <a:chExt cx="2160" cy="2640"/>
          </a:xfrm>
        </p:grpSpPr>
        <p:grpSp>
          <p:nvGrpSpPr>
            <p:cNvPr id="27656" name="Group 10">
              <a:extLst>
                <a:ext uri="{FF2B5EF4-FFF2-40B4-BE49-F238E27FC236}">
                  <a16:creationId xmlns:a16="http://schemas.microsoft.com/office/drawing/2014/main" id="{51F362C1-6A43-6757-E57B-A7CB7E369C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160"/>
              <a:ext cx="2016" cy="577"/>
              <a:chOff x="3120" y="1248"/>
              <a:chExt cx="2016" cy="577"/>
            </a:xfrm>
          </p:grpSpPr>
          <p:sp>
            <p:nvSpPr>
              <p:cNvPr id="27709" name="Line 11">
                <a:extLst>
                  <a:ext uri="{FF2B5EF4-FFF2-40B4-BE49-F238E27FC236}">
                    <a16:creationId xmlns:a16="http://schemas.microsoft.com/office/drawing/2014/main" id="{D99103D4-828D-62DD-9388-5BBFDA2C3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824"/>
                <a:ext cx="2016" cy="1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710" name="AutoShape 12">
                <a:extLst>
                  <a:ext uri="{FF2B5EF4-FFF2-40B4-BE49-F238E27FC236}">
                    <a16:creationId xmlns:a16="http://schemas.microsoft.com/office/drawing/2014/main" id="{A71FE68B-551A-15EC-BB8B-B6A1A70E3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1" name="AutoShape 13">
                <a:extLst>
                  <a:ext uri="{FF2B5EF4-FFF2-40B4-BE49-F238E27FC236}">
                    <a16:creationId xmlns:a16="http://schemas.microsoft.com/office/drawing/2014/main" id="{A57115D4-DBA0-356F-F9BA-763EBC022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2" name="AutoShape 14">
                <a:extLst>
                  <a:ext uri="{FF2B5EF4-FFF2-40B4-BE49-F238E27FC236}">
                    <a16:creationId xmlns:a16="http://schemas.microsoft.com/office/drawing/2014/main" id="{86748BB1-7664-6E2E-B90D-B24FA09DD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3" name="AutoShape 15">
                <a:extLst>
                  <a:ext uri="{FF2B5EF4-FFF2-40B4-BE49-F238E27FC236}">
                    <a16:creationId xmlns:a16="http://schemas.microsoft.com/office/drawing/2014/main" id="{2309AA05-E0FF-C7F4-FB95-54425BECF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4" name="AutoShape 16">
                <a:extLst>
                  <a:ext uri="{FF2B5EF4-FFF2-40B4-BE49-F238E27FC236}">
                    <a16:creationId xmlns:a16="http://schemas.microsoft.com/office/drawing/2014/main" id="{F5C66606-DC87-5D6D-69A3-2626EA2F2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5" name="AutoShape 17">
                <a:extLst>
                  <a:ext uri="{FF2B5EF4-FFF2-40B4-BE49-F238E27FC236}">
                    <a16:creationId xmlns:a16="http://schemas.microsoft.com/office/drawing/2014/main" id="{274A8BB3-78EE-C706-CAEA-F8B1C0B1F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6" name="AutoShape 18">
                <a:extLst>
                  <a:ext uri="{FF2B5EF4-FFF2-40B4-BE49-F238E27FC236}">
                    <a16:creationId xmlns:a16="http://schemas.microsoft.com/office/drawing/2014/main" id="{A6E87BBD-3799-FB4A-161F-ACCC28089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7" name="AutoShape 19">
                <a:extLst>
                  <a:ext uri="{FF2B5EF4-FFF2-40B4-BE49-F238E27FC236}">
                    <a16:creationId xmlns:a16="http://schemas.microsoft.com/office/drawing/2014/main" id="{7EC371C8-DD80-5C8D-195B-3D8909D19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8" name="AutoShape 20">
                <a:extLst>
                  <a:ext uri="{FF2B5EF4-FFF2-40B4-BE49-F238E27FC236}">
                    <a16:creationId xmlns:a16="http://schemas.microsoft.com/office/drawing/2014/main" id="{BEA74EF2-9DDE-B2F8-2933-7AB75B44E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19" name="AutoShape 21">
                <a:extLst>
                  <a:ext uri="{FF2B5EF4-FFF2-40B4-BE49-F238E27FC236}">
                    <a16:creationId xmlns:a16="http://schemas.microsoft.com/office/drawing/2014/main" id="{44FD4266-915F-D65A-E0EF-1AF86EA36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0" name="AutoShape 22">
                <a:extLst>
                  <a:ext uri="{FF2B5EF4-FFF2-40B4-BE49-F238E27FC236}">
                    <a16:creationId xmlns:a16="http://schemas.microsoft.com/office/drawing/2014/main" id="{AEF40A52-705B-1E28-E572-939257C69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1" name="AutoShape 23">
                <a:extLst>
                  <a:ext uri="{FF2B5EF4-FFF2-40B4-BE49-F238E27FC236}">
                    <a16:creationId xmlns:a16="http://schemas.microsoft.com/office/drawing/2014/main" id="{37A35419-1AC6-9AC8-C234-450E7C250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2" name="AutoShape 24">
                <a:extLst>
                  <a:ext uri="{FF2B5EF4-FFF2-40B4-BE49-F238E27FC236}">
                    <a16:creationId xmlns:a16="http://schemas.microsoft.com/office/drawing/2014/main" id="{F46DFD48-572D-F439-0530-F00A3C74B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3" name="AutoShape 25">
                <a:extLst>
                  <a:ext uri="{FF2B5EF4-FFF2-40B4-BE49-F238E27FC236}">
                    <a16:creationId xmlns:a16="http://schemas.microsoft.com/office/drawing/2014/main" id="{C6F769E0-5A5F-8CA2-99A0-A4CBA04D7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4" name="AutoShape 26">
                <a:extLst>
                  <a:ext uri="{FF2B5EF4-FFF2-40B4-BE49-F238E27FC236}">
                    <a16:creationId xmlns:a16="http://schemas.microsoft.com/office/drawing/2014/main" id="{0513CA36-C8B1-4C7A-D83E-36B495C1FC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5" name="AutoShape 27">
                <a:extLst>
                  <a:ext uri="{FF2B5EF4-FFF2-40B4-BE49-F238E27FC236}">
                    <a16:creationId xmlns:a16="http://schemas.microsoft.com/office/drawing/2014/main" id="{511D1454-825D-548D-AAF6-F91831DC3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6" name="AutoShape 28">
                <a:extLst>
                  <a:ext uri="{FF2B5EF4-FFF2-40B4-BE49-F238E27FC236}">
                    <a16:creationId xmlns:a16="http://schemas.microsoft.com/office/drawing/2014/main" id="{A06902A7-7C9F-E85E-9685-7A4734943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2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7" name="AutoShape 29">
                <a:extLst>
                  <a:ext uri="{FF2B5EF4-FFF2-40B4-BE49-F238E27FC236}">
                    <a16:creationId xmlns:a16="http://schemas.microsoft.com/office/drawing/2014/main" id="{A9FEEB45-0205-0E21-0BA8-5E835A1F3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8" name="AutoShape 30">
                <a:extLst>
                  <a:ext uri="{FF2B5EF4-FFF2-40B4-BE49-F238E27FC236}">
                    <a16:creationId xmlns:a16="http://schemas.microsoft.com/office/drawing/2014/main" id="{AAC9234D-FFAC-B19D-D9C7-2A48CD28C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29" name="AutoShape 31">
                <a:extLst>
                  <a:ext uri="{FF2B5EF4-FFF2-40B4-BE49-F238E27FC236}">
                    <a16:creationId xmlns:a16="http://schemas.microsoft.com/office/drawing/2014/main" id="{56849FB5-5DDC-356C-5C8D-90A8F45F7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30" name="AutoShape 32">
                <a:extLst>
                  <a:ext uri="{FF2B5EF4-FFF2-40B4-BE49-F238E27FC236}">
                    <a16:creationId xmlns:a16="http://schemas.microsoft.com/office/drawing/2014/main" id="{3DFAEB63-6D3C-05BF-FEB3-69C6DE4D5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31" name="AutoShape 33">
                <a:extLst>
                  <a:ext uri="{FF2B5EF4-FFF2-40B4-BE49-F238E27FC236}">
                    <a16:creationId xmlns:a16="http://schemas.microsoft.com/office/drawing/2014/main" id="{13485C6A-3989-9BA8-A985-73391F63D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32" name="AutoShape 34">
                <a:extLst>
                  <a:ext uri="{FF2B5EF4-FFF2-40B4-BE49-F238E27FC236}">
                    <a16:creationId xmlns:a16="http://schemas.microsoft.com/office/drawing/2014/main" id="{4F64FB38-601A-C4A2-EDFA-257AEDF21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63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33" name="AutoShape 35">
                <a:extLst>
                  <a:ext uri="{FF2B5EF4-FFF2-40B4-BE49-F238E27FC236}">
                    <a16:creationId xmlns:a16="http://schemas.microsoft.com/office/drawing/2014/main" id="{11291BDE-83C1-7AC5-880A-7594059C3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172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734" name="AutoShape 36">
                <a:extLst>
                  <a:ext uri="{FF2B5EF4-FFF2-40B4-BE49-F238E27FC236}">
                    <a16:creationId xmlns:a16="http://schemas.microsoft.com/office/drawing/2014/main" id="{1A5B8D4A-1A54-F150-F156-689D1C88A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44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27657" name="Group 37">
              <a:extLst>
                <a:ext uri="{FF2B5EF4-FFF2-40B4-BE49-F238E27FC236}">
                  <a16:creationId xmlns:a16="http://schemas.microsoft.com/office/drawing/2014/main" id="{F0DBA7A5-0692-6A02-21C5-6421C74D66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104"/>
              <a:ext cx="2016" cy="624"/>
              <a:chOff x="912" y="1200"/>
              <a:chExt cx="2016" cy="624"/>
            </a:xfrm>
          </p:grpSpPr>
          <p:sp>
            <p:nvSpPr>
              <p:cNvPr id="27685" name="AutoShape 38">
                <a:extLst>
                  <a:ext uri="{FF2B5EF4-FFF2-40B4-BE49-F238E27FC236}">
                    <a16:creationId xmlns:a16="http://schemas.microsoft.com/office/drawing/2014/main" id="{763CA034-7F9F-A551-343D-C053B175D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7686" name="Group 39">
                <a:extLst>
                  <a:ext uri="{FF2B5EF4-FFF2-40B4-BE49-F238E27FC236}">
                    <a16:creationId xmlns:a16="http://schemas.microsoft.com/office/drawing/2014/main" id="{44C18D44-864C-DB83-5DEC-7C5D760548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200"/>
                <a:ext cx="2016" cy="624"/>
                <a:chOff x="912" y="1200"/>
                <a:chExt cx="2016" cy="624"/>
              </a:xfrm>
            </p:grpSpPr>
            <p:sp>
              <p:nvSpPr>
                <p:cNvPr id="27687" name="Line 40">
                  <a:extLst>
                    <a:ext uri="{FF2B5EF4-FFF2-40B4-BE49-F238E27FC236}">
                      <a16:creationId xmlns:a16="http://schemas.microsoft.com/office/drawing/2014/main" id="{77C6237B-6EA5-DF6C-26F2-79E5EFA252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824"/>
                  <a:ext cx="2016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  <p:sp>
              <p:nvSpPr>
                <p:cNvPr id="27688" name="AutoShape 41">
                  <a:extLst>
                    <a:ext uri="{FF2B5EF4-FFF2-40B4-BE49-F238E27FC236}">
                      <a16:creationId xmlns:a16="http://schemas.microsoft.com/office/drawing/2014/main" id="{B6E509B4-0D7F-9FC3-D0B5-FB0723C941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89" name="AutoShape 42">
                  <a:extLst>
                    <a:ext uri="{FF2B5EF4-FFF2-40B4-BE49-F238E27FC236}">
                      <a16:creationId xmlns:a16="http://schemas.microsoft.com/office/drawing/2014/main" id="{827EAE05-3BAD-643B-A99D-15516C4037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0" name="AutoShape 43">
                  <a:extLst>
                    <a:ext uri="{FF2B5EF4-FFF2-40B4-BE49-F238E27FC236}">
                      <a16:creationId xmlns:a16="http://schemas.microsoft.com/office/drawing/2014/main" id="{C1A188A6-0284-C8D6-0F9D-91D1E2CBF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1" name="AutoShape 44">
                  <a:extLst>
                    <a:ext uri="{FF2B5EF4-FFF2-40B4-BE49-F238E27FC236}">
                      <a16:creationId xmlns:a16="http://schemas.microsoft.com/office/drawing/2014/main" id="{FB5063BA-FD30-BDF8-D43E-5EBF4D2276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2" name="AutoShape 45">
                  <a:extLst>
                    <a:ext uri="{FF2B5EF4-FFF2-40B4-BE49-F238E27FC236}">
                      <a16:creationId xmlns:a16="http://schemas.microsoft.com/office/drawing/2014/main" id="{E2B9FCB5-EDAF-13D4-ECF1-A2079ACE63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3" name="AutoShape 46">
                  <a:extLst>
                    <a:ext uri="{FF2B5EF4-FFF2-40B4-BE49-F238E27FC236}">
                      <a16:creationId xmlns:a16="http://schemas.microsoft.com/office/drawing/2014/main" id="{EF88E835-DDEC-FABE-660B-AEC7E12512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4" name="AutoShape 47">
                  <a:extLst>
                    <a:ext uri="{FF2B5EF4-FFF2-40B4-BE49-F238E27FC236}">
                      <a16:creationId xmlns:a16="http://schemas.microsoft.com/office/drawing/2014/main" id="{9D95D6B5-C88A-0645-409C-B1BB96E7F7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5" name="AutoShape 48">
                  <a:extLst>
                    <a:ext uri="{FF2B5EF4-FFF2-40B4-BE49-F238E27FC236}">
                      <a16:creationId xmlns:a16="http://schemas.microsoft.com/office/drawing/2014/main" id="{98C31245-B686-F78C-1ACB-76994A8CE3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6" name="AutoShape 49">
                  <a:extLst>
                    <a:ext uri="{FF2B5EF4-FFF2-40B4-BE49-F238E27FC236}">
                      <a16:creationId xmlns:a16="http://schemas.microsoft.com/office/drawing/2014/main" id="{5B632FE6-7001-FD0F-8F15-3BDBAE8B40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6" y="168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7" name="AutoShape 50">
                  <a:extLst>
                    <a:ext uri="{FF2B5EF4-FFF2-40B4-BE49-F238E27FC236}">
                      <a16:creationId xmlns:a16="http://schemas.microsoft.com/office/drawing/2014/main" id="{AF222FED-24E2-6E3F-60E9-266CD9A25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8" name="AutoShape 51">
                  <a:extLst>
                    <a:ext uri="{FF2B5EF4-FFF2-40B4-BE49-F238E27FC236}">
                      <a16:creationId xmlns:a16="http://schemas.microsoft.com/office/drawing/2014/main" id="{91DB40C3-EB9B-87F4-DC82-DB1EEB7DD7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99" name="AutoShape 52">
                  <a:extLst>
                    <a:ext uri="{FF2B5EF4-FFF2-40B4-BE49-F238E27FC236}">
                      <a16:creationId xmlns:a16="http://schemas.microsoft.com/office/drawing/2014/main" id="{B76B1A01-7BC8-82B7-0CAE-C5798744A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0" name="AutoShape 53">
                  <a:extLst>
                    <a:ext uri="{FF2B5EF4-FFF2-40B4-BE49-F238E27FC236}">
                      <a16:creationId xmlns:a16="http://schemas.microsoft.com/office/drawing/2014/main" id="{41D9E9DA-034E-CA8D-52BE-80997AF973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1" name="AutoShape 54">
                  <a:extLst>
                    <a:ext uri="{FF2B5EF4-FFF2-40B4-BE49-F238E27FC236}">
                      <a16:creationId xmlns:a16="http://schemas.microsoft.com/office/drawing/2014/main" id="{84BF71CE-A4AB-9C6C-0AAB-CF3F692B13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2" name="AutoShape 55">
                  <a:extLst>
                    <a:ext uri="{FF2B5EF4-FFF2-40B4-BE49-F238E27FC236}">
                      <a16:creationId xmlns:a16="http://schemas.microsoft.com/office/drawing/2014/main" id="{F3D17DCC-25C9-5901-BC51-26068BE001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3" name="AutoShape 56">
                  <a:extLst>
                    <a:ext uri="{FF2B5EF4-FFF2-40B4-BE49-F238E27FC236}">
                      <a16:creationId xmlns:a16="http://schemas.microsoft.com/office/drawing/2014/main" id="{4EEBC4B3-90AA-E159-8CF3-F3445EAF7C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488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4" name="AutoShape 57">
                  <a:extLst>
                    <a:ext uri="{FF2B5EF4-FFF2-40B4-BE49-F238E27FC236}">
                      <a16:creationId xmlns:a16="http://schemas.microsoft.com/office/drawing/2014/main" id="{0F2AA113-D908-7ACD-D531-9B7247B3B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5" name="AutoShape 58">
                  <a:extLst>
                    <a:ext uri="{FF2B5EF4-FFF2-40B4-BE49-F238E27FC236}">
                      <a16:creationId xmlns:a16="http://schemas.microsoft.com/office/drawing/2014/main" id="{04DD8AFE-93F7-9BF0-18C4-F01CF839D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0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6" name="AutoShape 59">
                  <a:extLst>
                    <a:ext uri="{FF2B5EF4-FFF2-40B4-BE49-F238E27FC236}">
                      <a16:creationId xmlns:a16="http://schemas.microsoft.com/office/drawing/2014/main" id="{8DE1E65E-D01C-571B-1A13-66EA71C41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1392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7" name="AutoShape 60">
                  <a:extLst>
                    <a:ext uri="{FF2B5EF4-FFF2-40B4-BE49-F238E27FC236}">
                      <a16:creationId xmlns:a16="http://schemas.microsoft.com/office/drawing/2014/main" id="{8AFA1ED4-EEE5-9BB4-5C0B-800BF61030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584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708" name="AutoShape 61">
                  <a:extLst>
                    <a:ext uri="{FF2B5EF4-FFF2-40B4-BE49-F238E27FC236}">
                      <a16:creationId xmlns:a16="http://schemas.microsoft.com/office/drawing/2014/main" id="{AF0E685C-78B9-D54D-AB36-DB29F46DB4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8" y="1200"/>
                  <a:ext cx="96" cy="96"/>
                </a:xfrm>
                <a:prstGeom prst="diamond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</p:grpSp>
        <p:grpSp>
          <p:nvGrpSpPr>
            <p:cNvPr id="27658" name="Group 64">
              <a:extLst>
                <a:ext uri="{FF2B5EF4-FFF2-40B4-BE49-F238E27FC236}">
                  <a16:creationId xmlns:a16="http://schemas.microsoft.com/office/drawing/2014/main" id="{3E7D8480-44BD-6F51-64A1-5163B04EF1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3072"/>
              <a:ext cx="2016" cy="672"/>
              <a:chOff x="3168" y="2064"/>
              <a:chExt cx="2016" cy="672"/>
            </a:xfrm>
          </p:grpSpPr>
          <p:sp>
            <p:nvSpPr>
              <p:cNvPr id="27659" name="Line 65">
                <a:extLst>
                  <a:ext uri="{FF2B5EF4-FFF2-40B4-BE49-F238E27FC236}">
                    <a16:creationId xmlns:a16="http://schemas.microsoft.com/office/drawing/2014/main" id="{6C56A750-BBC0-9A2B-80DB-6859AD371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36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7660" name="AutoShape 66">
                <a:extLst>
                  <a:ext uri="{FF2B5EF4-FFF2-40B4-BE49-F238E27FC236}">
                    <a16:creationId xmlns:a16="http://schemas.microsoft.com/office/drawing/2014/main" id="{011F0254-B461-174A-5A04-00A4AA1E9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1" name="AutoShape 67">
                <a:extLst>
                  <a:ext uri="{FF2B5EF4-FFF2-40B4-BE49-F238E27FC236}">
                    <a16:creationId xmlns:a16="http://schemas.microsoft.com/office/drawing/2014/main" id="{553F453C-BEF8-70B3-8E31-02FB38B4F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2" name="AutoShape 68">
                <a:extLst>
                  <a:ext uri="{FF2B5EF4-FFF2-40B4-BE49-F238E27FC236}">
                    <a16:creationId xmlns:a16="http://schemas.microsoft.com/office/drawing/2014/main" id="{5C49C6CD-32AE-3E45-060A-F71EC7D82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3" name="AutoShape 69">
                <a:extLst>
                  <a:ext uri="{FF2B5EF4-FFF2-40B4-BE49-F238E27FC236}">
                    <a16:creationId xmlns:a16="http://schemas.microsoft.com/office/drawing/2014/main" id="{D27EE202-6652-E0BE-7192-567252F8F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4" name="AutoShape 70">
                <a:extLst>
                  <a:ext uri="{FF2B5EF4-FFF2-40B4-BE49-F238E27FC236}">
                    <a16:creationId xmlns:a16="http://schemas.microsoft.com/office/drawing/2014/main" id="{994E7B8E-2A10-3BEB-D2B2-BF826271D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5" name="AutoShape 71">
                <a:extLst>
                  <a:ext uri="{FF2B5EF4-FFF2-40B4-BE49-F238E27FC236}">
                    <a16:creationId xmlns:a16="http://schemas.microsoft.com/office/drawing/2014/main" id="{6260B93C-3184-5825-8BA4-D50A6E019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49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6" name="AutoShape 72">
                <a:extLst>
                  <a:ext uri="{FF2B5EF4-FFF2-40B4-BE49-F238E27FC236}">
                    <a16:creationId xmlns:a16="http://schemas.microsoft.com/office/drawing/2014/main" id="{3C860D43-BBDE-137D-15C4-1D5966E84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7" name="AutoShape 73">
                <a:extLst>
                  <a:ext uri="{FF2B5EF4-FFF2-40B4-BE49-F238E27FC236}">
                    <a16:creationId xmlns:a16="http://schemas.microsoft.com/office/drawing/2014/main" id="{6D657A24-9F39-6151-C5D9-B39BC22E6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8" name="AutoShape 74">
                <a:extLst>
                  <a:ext uri="{FF2B5EF4-FFF2-40B4-BE49-F238E27FC236}">
                    <a16:creationId xmlns:a16="http://schemas.microsoft.com/office/drawing/2014/main" id="{77BC7E0D-CE38-D40C-5EF1-144BF885E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69" name="AutoShape 75">
                <a:extLst>
                  <a:ext uri="{FF2B5EF4-FFF2-40B4-BE49-F238E27FC236}">
                    <a16:creationId xmlns:a16="http://schemas.microsoft.com/office/drawing/2014/main" id="{45E2FC41-2436-D8D4-B1AF-2F05AA1FB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3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0" name="AutoShape 76">
                <a:extLst>
                  <a:ext uri="{FF2B5EF4-FFF2-40B4-BE49-F238E27FC236}">
                    <a16:creationId xmlns:a16="http://schemas.microsoft.com/office/drawing/2014/main" id="{17F74B48-D7C9-3324-27BB-FA939ED14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1" name="AutoShape 77">
                <a:extLst>
                  <a:ext uri="{FF2B5EF4-FFF2-40B4-BE49-F238E27FC236}">
                    <a16:creationId xmlns:a16="http://schemas.microsoft.com/office/drawing/2014/main" id="{FA8A5481-4355-01A7-9AAE-266F4C42B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2" name="AutoShape 78">
                <a:extLst>
                  <a:ext uri="{FF2B5EF4-FFF2-40B4-BE49-F238E27FC236}">
                    <a16:creationId xmlns:a16="http://schemas.microsoft.com/office/drawing/2014/main" id="{98388424-99BD-CA88-2419-6DC73CAED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3" name="AutoShape 79">
                <a:extLst>
                  <a:ext uri="{FF2B5EF4-FFF2-40B4-BE49-F238E27FC236}">
                    <a16:creationId xmlns:a16="http://schemas.microsoft.com/office/drawing/2014/main" id="{CC527012-D301-1215-0C0F-0B44915003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4" name="AutoShape 80">
                <a:extLst>
                  <a:ext uri="{FF2B5EF4-FFF2-40B4-BE49-F238E27FC236}">
                    <a16:creationId xmlns:a16="http://schemas.microsoft.com/office/drawing/2014/main" id="{EEC90B3C-C85A-4D80-0CCF-B7ED62829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2256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5" name="AutoShape 81">
                <a:extLst>
                  <a:ext uri="{FF2B5EF4-FFF2-40B4-BE49-F238E27FC236}">
                    <a16:creationId xmlns:a16="http://schemas.microsoft.com/office/drawing/2014/main" id="{51F2FE87-6B38-317C-5FDF-DA11CAECF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6" name="AutoShape 82">
                <a:extLst>
                  <a:ext uri="{FF2B5EF4-FFF2-40B4-BE49-F238E27FC236}">
                    <a16:creationId xmlns:a16="http://schemas.microsoft.com/office/drawing/2014/main" id="{57DF20B4-DE55-8F25-01A2-54EF117FA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7" name="AutoShape 83">
                <a:extLst>
                  <a:ext uri="{FF2B5EF4-FFF2-40B4-BE49-F238E27FC236}">
                    <a16:creationId xmlns:a16="http://schemas.microsoft.com/office/drawing/2014/main" id="{5CD59FB1-7AAB-E53B-EB00-910471540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8" name="AutoShape 84">
                <a:extLst>
                  <a:ext uri="{FF2B5EF4-FFF2-40B4-BE49-F238E27FC236}">
                    <a16:creationId xmlns:a16="http://schemas.microsoft.com/office/drawing/2014/main" id="{42D7A406-181D-E8E1-CFF1-61B48115A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06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79" name="AutoShape 85">
                <a:extLst>
                  <a:ext uri="{FF2B5EF4-FFF2-40B4-BE49-F238E27FC236}">
                    <a16:creationId xmlns:a16="http://schemas.microsoft.com/office/drawing/2014/main" id="{29A12D66-45FF-27EF-E54E-F2D4F10E9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216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80" name="AutoShape 86">
                <a:extLst>
                  <a:ext uri="{FF2B5EF4-FFF2-40B4-BE49-F238E27FC236}">
                    <a16:creationId xmlns:a16="http://schemas.microsoft.com/office/drawing/2014/main" id="{234793B1-BC57-C03D-0151-07CCDF812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81" name="AutoShape 87">
                <a:extLst>
                  <a:ext uri="{FF2B5EF4-FFF2-40B4-BE49-F238E27FC236}">
                    <a16:creationId xmlns:a16="http://schemas.microsoft.com/office/drawing/2014/main" id="{DC75D295-7F57-E928-F6BB-5DE8CDB40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82" name="AutoShape 88">
                <a:extLst>
                  <a:ext uri="{FF2B5EF4-FFF2-40B4-BE49-F238E27FC236}">
                    <a16:creationId xmlns:a16="http://schemas.microsoft.com/office/drawing/2014/main" id="{FC0849B9-399C-BCC8-E3AB-9F4DFA3816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25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83" name="AutoShape 89">
                <a:extLst>
                  <a:ext uri="{FF2B5EF4-FFF2-40B4-BE49-F238E27FC236}">
                    <a16:creationId xmlns:a16="http://schemas.microsoft.com/office/drawing/2014/main" id="{528004B1-1341-E287-ABB8-71B44BDF42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16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84" name="AutoShape 90">
                <a:extLst>
                  <a:ext uri="{FF2B5EF4-FFF2-40B4-BE49-F238E27FC236}">
                    <a16:creationId xmlns:a16="http://schemas.microsoft.com/office/drawing/2014/main" id="{2B5B148C-95C0-D270-C4EF-01638101E1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235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sp>
        <p:nvSpPr>
          <p:cNvPr id="41051" name="Text Box 91">
            <a:extLst>
              <a:ext uri="{FF2B5EF4-FFF2-40B4-BE49-F238E27FC236}">
                <a16:creationId xmlns:a16="http://schemas.microsoft.com/office/drawing/2014/main" id="{85D21AC9-043F-D640-B3FF-5AA4D61D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0292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Skewed left: Mean &lt; Median</a:t>
            </a:r>
          </a:p>
        </p:txBody>
      </p:sp>
      <p:sp>
        <p:nvSpPr>
          <p:cNvPr id="41052" name="Text Box 92">
            <a:extLst>
              <a:ext uri="{FF2B5EF4-FFF2-40B4-BE49-F238E27FC236}">
                <a16:creationId xmlns:a16="http://schemas.microsoft.com/office/drawing/2014/main" id="{926D2377-FE6A-3542-EEBE-72E4900B2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429001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Skewed right: Mean &gt; Median</a:t>
            </a:r>
          </a:p>
        </p:txBody>
      </p:sp>
      <p:sp>
        <p:nvSpPr>
          <p:cNvPr id="41053" name="Text Box 93">
            <a:extLst>
              <a:ext uri="{FF2B5EF4-FFF2-40B4-BE49-F238E27FC236}">
                <a16:creationId xmlns:a16="http://schemas.microsoft.com/office/drawing/2014/main" id="{AC2E8608-38B0-9E0D-6598-692098215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90500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Symmetric: Mean = Median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51" grpId="0" autoUpdateAnimBg="0"/>
      <p:bldP spid="41052" grpId="0" autoUpdateAnimBg="0"/>
      <p:bldP spid="4105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AU" sz="36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Measures of Variability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3324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E0593B2-4D18-2334-E099-21F7BC769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Measures of Variability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E8116B30-CC74-E78F-B0BE-84FDA4CC9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143000"/>
            <a:ext cx="7620000" cy="2362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ea typeface="굴림" charset="-127"/>
              </a:rPr>
              <a:t>A measure along the horizontal axis of the data distribution that describes the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spread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of the distribution from the center.</a:t>
            </a:r>
            <a:endParaRPr lang="en-US" altLang="ko-KR" b="1" dirty="0">
              <a:ea typeface="굴림" charset="-127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FB607F78-4048-91F6-AE6A-8E5A890AD50A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962400"/>
            <a:ext cx="3200400" cy="990600"/>
            <a:chOff x="912" y="1200"/>
            <a:chExt cx="2016" cy="624"/>
          </a:xfrm>
        </p:grpSpPr>
        <p:sp>
          <p:nvSpPr>
            <p:cNvPr id="28695" name="AutoShape 8">
              <a:extLst>
                <a:ext uri="{FF2B5EF4-FFF2-40B4-BE49-F238E27FC236}">
                  <a16:creationId xmlns:a16="http://schemas.microsoft.com/office/drawing/2014/main" id="{FF1A3729-18E3-301C-7971-F9B81B7B8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296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8696" name="Group 9">
              <a:extLst>
                <a:ext uri="{FF2B5EF4-FFF2-40B4-BE49-F238E27FC236}">
                  <a16:creationId xmlns:a16="http://schemas.microsoft.com/office/drawing/2014/main" id="{E9B57732-FC7C-3E4B-D831-690D4C1535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200"/>
              <a:ext cx="2016" cy="624"/>
              <a:chOff x="912" y="1200"/>
              <a:chExt cx="2016" cy="624"/>
            </a:xfrm>
          </p:grpSpPr>
          <p:sp>
            <p:nvSpPr>
              <p:cNvPr id="28697" name="Line 10">
                <a:extLst>
                  <a:ext uri="{FF2B5EF4-FFF2-40B4-BE49-F238E27FC236}">
                    <a16:creationId xmlns:a16="http://schemas.microsoft.com/office/drawing/2014/main" id="{E91C7277-6AF6-6050-6659-9CD9E50FB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824"/>
                <a:ext cx="2016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28698" name="AutoShape 11">
                <a:extLst>
                  <a:ext uri="{FF2B5EF4-FFF2-40B4-BE49-F238E27FC236}">
                    <a16:creationId xmlns:a16="http://schemas.microsoft.com/office/drawing/2014/main" id="{A89E4840-9CB6-1AF7-6216-76C69EFC6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699" name="AutoShape 12">
                <a:extLst>
                  <a:ext uri="{FF2B5EF4-FFF2-40B4-BE49-F238E27FC236}">
                    <a16:creationId xmlns:a16="http://schemas.microsoft.com/office/drawing/2014/main" id="{2077C064-BDD8-3A2D-677F-A012B7278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0" name="AutoShape 13">
                <a:extLst>
                  <a:ext uri="{FF2B5EF4-FFF2-40B4-BE49-F238E27FC236}">
                    <a16:creationId xmlns:a16="http://schemas.microsoft.com/office/drawing/2014/main" id="{7CF59360-935C-0F14-5DD2-EDED4FEED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1" name="AutoShape 14">
                <a:extLst>
                  <a:ext uri="{FF2B5EF4-FFF2-40B4-BE49-F238E27FC236}">
                    <a16:creationId xmlns:a16="http://schemas.microsoft.com/office/drawing/2014/main" id="{3863DBF0-64C9-B01B-82F7-693BBD66C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2" name="AutoShape 15">
                <a:extLst>
                  <a:ext uri="{FF2B5EF4-FFF2-40B4-BE49-F238E27FC236}">
                    <a16:creationId xmlns:a16="http://schemas.microsoft.com/office/drawing/2014/main" id="{31CB2319-5BFA-3984-EA0F-E9D256D87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3" name="AutoShape 16">
                <a:extLst>
                  <a:ext uri="{FF2B5EF4-FFF2-40B4-BE49-F238E27FC236}">
                    <a16:creationId xmlns:a16="http://schemas.microsoft.com/office/drawing/2014/main" id="{8284E861-3ECF-1ABE-8E48-9910C9ECE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4" name="AutoShape 17">
                <a:extLst>
                  <a:ext uri="{FF2B5EF4-FFF2-40B4-BE49-F238E27FC236}">
                    <a16:creationId xmlns:a16="http://schemas.microsoft.com/office/drawing/2014/main" id="{6165FD71-81CD-B613-8112-98E72CA91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5" name="AutoShape 18">
                <a:extLst>
                  <a:ext uri="{FF2B5EF4-FFF2-40B4-BE49-F238E27FC236}">
                    <a16:creationId xmlns:a16="http://schemas.microsoft.com/office/drawing/2014/main" id="{C58450C7-1153-8D25-BA26-1860D8193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6" name="AutoShape 19">
                <a:extLst>
                  <a:ext uri="{FF2B5EF4-FFF2-40B4-BE49-F238E27FC236}">
                    <a16:creationId xmlns:a16="http://schemas.microsoft.com/office/drawing/2014/main" id="{472525D1-A372-3B6C-1603-C009D1870B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68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7" name="AutoShape 20">
                <a:extLst>
                  <a:ext uri="{FF2B5EF4-FFF2-40B4-BE49-F238E27FC236}">
                    <a16:creationId xmlns:a16="http://schemas.microsoft.com/office/drawing/2014/main" id="{DEDD11AE-7629-9447-572C-DDC492A20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8" name="AutoShape 21">
                <a:extLst>
                  <a:ext uri="{FF2B5EF4-FFF2-40B4-BE49-F238E27FC236}">
                    <a16:creationId xmlns:a16="http://schemas.microsoft.com/office/drawing/2014/main" id="{E4B7E5B4-0F67-DD00-4B22-D9DF20B48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09" name="AutoShape 22">
                <a:extLst>
                  <a:ext uri="{FF2B5EF4-FFF2-40B4-BE49-F238E27FC236}">
                    <a16:creationId xmlns:a16="http://schemas.microsoft.com/office/drawing/2014/main" id="{CA5A41DF-1E2F-647D-99F6-ED034C485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0" name="AutoShape 23">
                <a:extLst>
                  <a:ext uri="{FF2B5EF4-FFF2-40B4-BE49-F238E27FC236}">
                    <a16:creationId xmlns:a16="http://schemas.microsoft.com/office/drawing/2014/main" id="{D091DCEC-420A-98EA-CCF7-8C4B769B2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1" name="AutoShape 24">
                <a:extLst>
                  <a:ext uri="{FF2B5EF4-FFF2-40B4-BE49-F238E27FC236}">
                    <a16:creationId xmlns:a16="http://schemas.microsoft.com/office/drawing/2014/main" id="{B2A76C59-6879-53B8-B352-64FCB8B05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48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2" name="AutoShape 25">
                <a:extLst>
                  <a:ext uri="{FF2B5EF4-FFF2-40B4-BE49-F238E27FC236}">
                    <a16:creationId xmlns:a16="http://schemas.microsoft.com/office/drawing/2014/main" id="{7271348B-31BD-EDE7-7899-0137A1058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48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3" name="AutoShape 26">
                <a:extLst>
                  <a:ext uri="{FF2B5EF4-FFF2-40B4-BE49-F238E27FC236}">
                    <a16:creationId xmlns:a16="http://schemas.microsoft.com/office/drawing/2014/main" id="{8710ED00-D54D-6C62-F04F-3CF881EC7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488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4" name="AutoShape 27">
                <a:extLst>
                  <a:ext uri="{FF2B5EF4-FFF2-40B4-BE49-F238E27FC236}">
                    <a16:creationId xmlns:a16="http://schemas.microsoft.com/office/drawing/2014/main" id="{1BCD38CF-5B85-3DF8-EE84-4485AC838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3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5" name="AutoShape 28">
                <a:extLst>
                  <a:ext uri="{FF2B5EF4-FFF2-40B4-BE49-F238E27FC236}">
                    <a16:creationId xmlns:a16="http://schemas.microsoft.com/office/drawing/2014/main" id="{84251577-A4C0-E88E-9EDC-D36EFB4DF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3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6" name="AutoShape 29">
                <a:extLst>
                  <a:ext uri="{FF2B5EF4-FFF2-40B4-BE49-F238E27FC236}">
                    <a16:creationId xmlns:a16="http://schemas.microsoft.com/office/drawing/2014/main" id="{1EBCFF12-5EBB-BAE9-1AC2-E12E8865D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1392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7" name="AutoShape 30">
                <a:extLst>
                  <a:ext uri="{FF2B5EF4-FFF2-40B4-BE49-F238E27FC236}">
                    <a16:creationId xmlns:a16="http://schemas.microsoft.com/office/drawing/2014/main" id="{E1269B44-C94B-5204-8DEA-264EAE74E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584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18" name="AutoShape 31">
                <a:extLst>
                  <a:ext uri="{FF2B5EF4-FFF2-40B4-BE49-F238E27FC236}">
                    <a16:creationId xmlns:a16="http://schemas.microsoft.com/office/drawing/2014/main" id="{0C053C5A-295C-DDD0-5E73-58756A1BE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200"/>
                <a:ext cx="96" cy="96"/>
              </a:xfrm>
              <a:prstGeom prst="diamond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grpSp>
        <p:nvGrpSpPr>
          <p:cNvPr id="4" name="Group 32">
            <a:extLst>
              <a:ext uri="{FF2B5EF4-FFF2-40B4-BE49-F238E27FC236}">
                <a16:creationId xmlns:a16="http://schemas.microsoft.com/office/drawing/2014/main" id="{48C30234-8CF2-5ED0-44C0-B2EA4D3EBC66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4419600"/>
            <a:ext cx="3200400" cy="533400"/>
            <a:chOff x="960" y="2400"/>
            <a:chExt cx="2016" cy="336"/>
          </a:xfrm>
        </p:grpSpPr>
        <p:sp>
          <p:nvSpPr>
            <p:cNvPr id="28685" name="AutoShape 33">
              <a:extLst>
                <a:ext uri="{FF2B5EF4-FFF2-40B4-BE49-F238E27FC236}">
                  <a16:creationId xmlns:a16="http://schemas.microsoft.com/office/drawing/2014/main" id="{25801160-BE0C-9482-592E-A2A5995D5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92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6" name="AutoShape 34">
              <a:extLst>
                <a:ext uri="{FF2B5EF4-FFF2-40B4-BE49-F238E27FC236}">
                  <a16:creationId xmlns:a16="http://schemas.microsoft.com/office/drawing/2014/main" id="{F0FA8244-F466-EB9A-2BA8-9A28E9973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96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7" name="AutoShape 35">
              <a:extLst>
                <a:ext uri="{FF2B5EF4-FFF2-40B4-BE49-F238E27FC236}">
                  <a16:creationId xmlns:a16="http://schemas.microsoft.com/office/drawing/2014/main" id="{0553B5B4-29E0-756D-E11F-7D33B73C7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592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8" name="AutoShape 36">
              <a:extLst>
                <a:ext uri="{FF2B5EF4-FFF2-40B4-BE49-F238E27FC236}">
                  <a16:creationId xmlns:a16="http://schemas.microsoft.com/office/drawing/2014/main" id="{EF5699CA-2CDC-FC5B-5BBB-2C879C1D2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96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89" name="AutoShape 37">
              <a:extLst>
                <a:ext uri="{FF2B5EF4-FFF2-40B4-BE49-F238E27FC236}">
                  <a16:creationId xmlns:a16="http://schemas.microsoft.com/office/drawing/2014/main" id="{646C97CF-9A16-25C5-1973-007BB5C2A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0" name="AutoShape 38">
              <a:extLst>
                <a:ext uri="{FF2B5EF4-FFF2-40B4-BE49-F238E27FC236}">
                  <a16:creationId xmlns:a16="http://schemas.microsoft.com/office/drawing/2014/main" id="{31581A3A-3031-1137-7C0C-A27494126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96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1" name="AutoShape 39">
              <a:extLst>
                <a:ext uri="{FF2B5EF4-FFF2-40B4-BE49-F238E27FC236}">
                  <a16:creationId xmlns:a16="http://schemas.microsoft.com/office/drawing/2014/main" id="{EE0F016E-6704-2F4D-25B9-E164B2DCE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592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2" name="AutoShape 40">
              <a:extLst>
                <a:ext uri="{FF2B5EF4-FFF2-40B4-BE49-F238E27FC236}">
                  <a16:creationId xmlns:a16="http://schemas.microsoft.com/office/drawing/2014/main" id="{2B756764-FE88-4AB1-292B-AA355659D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92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693" name="Line 41">
              <a:extLst>
                <a:ext uri="{FF2B5EF4-FFF2-40B4-BE49-F238E27FC236}">
                  <a16:creationId xmlns:a16="http://schemas.microsoft.com/office/drawing/2014/main" id="{D17E1CD6-0FE2-5D17-189D-023ACB067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736"/>
              <a:ext cx="201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8694" name="AutoShape 42">
              <a:extLst>
                <a:ext uri="{FF2B5EF4-FFF2-40B4-BE49-F238E27FC236}">
                  <a16:creationId xmlns:a16="http://schemas.microsoft.com/office/drawing/2014/main" id="{BDF4B002-25A7-7115-8F76-C195D5067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592"/>
              <a:ext cx="96" cy="96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43">
            <a:extLst>
              <a:ext uri="{FF2B5EF4-FFF2-40B4-BE49-F238E27FC236}">
                <a16:creationId xmlns:a16="http://schemas.microsoft.com/office/drawing/2014/main" id="{999AD642-F854-EE11-BA93-541610DBF75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105400"/>
            <a:ext cx="2438400" cy="457200"/>
            <a:chOff x="1296" y="1872"/>
            <a:chExt cx="1536" cy="288"/>
          </a:xfrm>
        </p:grpSpPr>
        <p:sp>
          <p:nvSpPr>
            <p:cNvPr id="28683" name="Line 44">
              <a:extLst>
                <a:ext uri="{FF2B5EF4-FFF2-40B4-BE49-F238E27FC236}">
                  <a16:creationId xmlns:a16="http://schemas.microsoft.com/office/drawing/2014/main" id="{F4360E31-0277-FA26-0942-DC2B14C08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872"/>
              <a:ext cx="0" cy="288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8684" name="Line 45">
              <a:extLst>
                <a:ext uri="{FF2B5EF4-FFF2-40B4-BE49-F238E27FC236}">
                  <a16:creationId xmlns:a16="http://schemas.microsoft.com/office/drawing/2014/main" id="{D8960881-F257-2B59-9512-7DDD81FA2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60"/>
              <a:ext cx="1536" cy="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6" name="Group 46">
            <a:extLst>
              <a:ext uri="{FF2B5EF4-FFF2-40B4-BE49-F238E27FC236}">
                <a16:creationId xmlns:a16="http://schemas.microsoft.com/office/drawing/2014/main" id="{1497544D-41D2-9DF2-AC8B-7CDDA55697A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5105400"/>
            <a:ext cx="1143000" cy="457200"/>
            <a:chOff x="1680" y="2784"/>
            <a:chExt cx="720" cy="288"/>
          </a:xfrm>
        </p:grpSpPr>
        <p:sp>
          <p:nvSpPr>
            <p:cNvPr id="28681" name="Line 47">
              <a:extLst>
                <a:ext uri="{FF2B5EF4-FFF2-40B4-BE49-F238E27FC236}">
                  <a16:creationId xmlns:a16="http://schemas.microsoft.com/office/drawing/2014/main" id="{EA7EACE9-80FF-C3C1-411F-81E2E7B62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288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28682" name="Line 48">
              <a:extLst>
                <a:ext uri="{FF2B5EF4-FFF2-40B4-BE49-F238E27FC236}">
                  <a16:creationId xmlns:a16="http://schemas.microsoft.com/office/drawing/2014/main" id="{0FCBBFC5-FCD3-1CEA-FF11-C02B2377D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072"/>
              <a:ext cx="720" cy="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B136A24-76B4-EE76-ACF0-35CB7B807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7062" y="207502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The Range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399E927-1062-5541-86AF-5E7289A5F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40023" y="1828800"/>
            <a:ext cx="8637973" cy="3810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range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,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R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,</a:t>
            </a:r>
            <a:r>
              <a:rPr lang="en-US" altLang="ko-KR" sz="3200" dirty="0">
                <a:ea typeface="굴림" charset="-127"/>
              </a:rPr>
              <a:t> of a set of </a:t>
            </a:r>
            <a:r>
              <a:rPr lang="en-US" altLang="ko-KR" sz="3200" i="1" dirty="0">
                <a:ea typeface="굴림" charset="-127"/>
              </a:rPr>
              <a:t>n</a:t>
            </a:r>
            <a:r>
              <a:rPr lang="en-US" altLang="ko-KR" sz="3200" dirty="0">
                <a:ea typeface="굴림" charset="-127"/>
              </a:rPr>
              <a:t> measurements is the difference between the largest and smallest measurements.</a:t>
            </a:r>
          </a:p>
          <a:p>
            <a:pPr eaLnBrk="1" hangingPunct="1">
              <a:defRPr/>
            </a:pP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: </a:t>
            </a:r>
            <a:r>
              <a:rPr lang="en-US" altLang="ko-KR" sz="3200" dirty="0">
                <a:ea typeface="굴림" charset="-127"/>
              </a:rPr>
              <a:t>A botanist records the number of petals on 5 flowers: </a:t>
            </a:r>
          </a:p>
          <a:p>
            <a:pPr algn="ctr" eaLnBrk="1" hangingPunct="1">
              <a:buFontTx/>
              <a:buNone/>
              <a:defRPr/>
            </a:pPr>
            <a:r>
              <a:rPr lang="en-US" altLang="ko-KR" sz="3200" dirty="0">
                <a:solidFill>
                  <a:srgbClr val="CC0066"/>
                </a:solidFill>
                <a:ea typeface="굴림" charset="-127"/>
              </a:rPr>
              <a:t>5, 12, 6, 8, 14</a:t>
            </a: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range is  </a:t>
            </a:r>
          </a:p>
        </p:txBody>
      </p:sp>
      <p:grpSp>
        <p:nvGrpSpPr>
          <p:cNvPr id="29701" name="Group 13">
            <a:extLst>
              <a:ext uri="{FF2B5EF4-FFF2-40B4-BE49-F238E27FC236}">
                <a16:creationId xmlns:a16="http://schemas.microsoft.com/office/drawing/2014/main" id="{3566A953-C85B-827D-BA58-AD51EAA0842C}"/>
              </a:ext>
            </a:extLst>
          </p:cNvPr>
          <p:cNvGrpSpPr>
            <a:grpSpLocks/>
          </p:cNvGrpSpPr>
          <p:nvPr/>
        </p:nvGrpSpPr>
        <p:grpSpPr bwMode="auto">
          <a:xfrm>
            <a:off x="9700523" y="76200"/>
            <a:ext cx="2362200" cy="1752600"/>
            <a:chOff x="3696" y="48"/>
            <a:chExt cx="1872" cy="1296"/>
          </a:xfrm>
        </p:grpSpPr>
        <p:sp>
          <p:nvSpPr>
            <p:cNvPr id="17420" name="Rectangle 12">
              <a:extLst>
                <a:ext uri="{FF2B5EF4-FFF2-40B4-BE49-F238E27FC236}">
                  <a16:creationId xmlns:a16="http://schemas.microsoft.com/office/drawing/2014/main" id="{C42BC784-69ED-38EE-75C5-267FE1F3C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29705" name="Picture 11" descr="flower">
              <a:extLst>
                <a:ext uri="{FF2B5EF4-FFF2-40B4-BE49-F238E27FC236}">
                  <a16:creationId xmlns:a16="http://schemas.microsoft.com/office/drawing/2014/main" id="{3458F91E-CC73-EAB4-30A6-320DFD70C0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22" name="Text Box 14">
            <a:extLst>
              <a:ext uri="{FF2B5EF4-FFF2-40B4-BE49-F238E27FC236}">
                <a16:creationId xmlns:a16="http://schemas.microsoft.com/office/drawing/2014/main" id="{151E951A-8E87-D489-6F43-1E1EC224E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029200"/>
            <a:ext cx="3886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R = 14 – 5 = 9.</a:t>
            </a:r>
          </a:p>
        </p:txBody>
      </p:sp>
      <p:sp>
        <p:nvSpPr>
          <p:cNvPr id="17423" name="Text Box 15">
            <a:extLst>
              <a:ext uri="{FF2B5EF4-FFF2-40B4-BE49-F238E27FC236}">
                <a16:creationId xmlns:a16="http://schemas.microsoft.com/office/drawing/2014/main" id="{9969BC31-2BFA-62A7-9100-8AC259707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638800"/>
            <a:ext cx="5181600" cy="88900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ko-KR" sz="2800">
                <a:solidFill>
                  <a:srgbClr val="F4ECC6"/>
                </a:solidFill>
                <a:ea typeface="굴림" charset="-127"/>
              </a:rPr>
              <a:t>Quick and easy, but only uses 2 of the 5 measurements.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bldLvl="2" autoUpdateAnimBg="0"/>
      <p:bldP spid="17422" grpId="0" autoUpdateAnimBg="0"/>
      <p:bldP spid="17423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A41F32A-92E5-31E2-751C-BE9C06D88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71800" y="190500"/>
            <a:ext cx="64008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The Variance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3C2E212-CE34-16FB-42A0-05693EBEF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9" y="1447800"/>
            <a:ext cx="8114191" cy="2971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ea typeface="굴림" charset="-127"/>
              </a:rPr>
              <a:t>The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variance</a:t>
            </a:r>
            <a:r>
              <a:rPr lang="en-US" altLang="ko-KR" dirty="0">
                <a:ea typeface="굴림" charset="-127"/>
              </a:rPr>
              <a:t> is measure of variability that uses all the measurements. It measures the average deviation of the measurements about their mean.</a:t>
            </a:r>
          </a:p>
          <a:p>
            <a:pPr eaLnBrk="1" hangingPunct="1"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Flower petals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:	</a:t>
            </a:r>
            <a:r>
              <a:rPr lang="en-US" altLang="ko-KR" b="1" dirty="0">
                <a:solidFill>
                  <a:srgbClr val="CC0066"/>
                </a:solidFill>
                <a:ea typeface="굴림" charset="-127"/>
              </a:rPr>
              <a:t>5, 12, 6, 8, 14</a:t>
            </a:r>
          </a:p>
        </p:txBody>
      </p:sp>
      <p:grpSp>
        <p:nvGrpSpPr>
          <p:cNvPr id="4102" name="Group 5">
            <a:extLst>
              <a:ext uri="{FF2B5EF4-FFF2-40B4-BE49-F238E27FC236}">
                <a16:creationId xmlns:a16="http://schemas.microsoft.com/office/drawing/2014/main" id="{E0986585-ACAA-FCCA-4CFB-A5EF9740CAFC}"/>
              </a:ext>
            </a:extLst>
          </p:cNvPr>
          <p:cNvGrpSpPr>
            <a:grpSpLocks/>
          </p:cNvGrpSpPr>
          <p:nvPr/>
        </p:nvGrpSpPr>
        <p:grpSpPr bwMode="auto">
          <a:xfrm>
            <a:off x="10400193" y="86554"/>
            <a:ext cx="1676400" cy="1219200"/>
            <a:chOff x="3696" y="48"/>
            <a:chExt cx="1872" cy="1296"/>
          </a:xfrm>
        </p:grpSpPr>
        <p:sp>
          <p:nvSpPr>
            <p:cNvPr id="41990" name="Rectangle 6">
              <a:extLst>
                <a:ext uri="{FF2B5EF4-FFF2-40B4-BE49-F238E27FC236}">
                  <a16:creationId xmlns:a16="http://schemas.microsoft.com/office/drawing/2014/main" id="{C9389B03-822A-7D46-8C3E-FE32995FA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4126" name="Picture 7" descr="flower">
              <a:extLst>
                <a:ext uri="{FF2B5EF4-FFF2-40B4-BE49-F238E27FC236}">
                  <a16:creationId xmlns:a16="http://schemas.microsoft.com/office/drawing/2014/main" id="{591558CD-28FF-0D35-6057-80FD88BDA0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41994" name="Object 10">
            <a:extLst>
              <a:ext uri="{FF2B5EF4-FFF2-40B4-BE49-F238E27FC236}">
                <a16:creationId xmlns:a16="http://schemas.microsoft.com/office/drawing/2014/main" id="{5C1F65D9-D6E5-D0A3-5C18-5C05098E4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4648201"/>
          <a:ext cx="17526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393480" progId="Equation.3">
                  <p:embed/>
                </p:oleObj>
              </mc:Choice>
              <mc:Fallback>
                <p:oleObj name="Equation" r:id="rId3" imgW="685800" imgH="393480" progId="Equation.3">
                  <p:embed/>
                  <p:pic>
                    <p:nvPicPr>
                      <p:cNvPr id="41994" name="Object 10">
                        <a:extLst>
                          <a:ext uri="{FF2B5EF4-FFF2-40B4-BE49-F238E27FC236}">
                            <a16:creationId xmlns:a16="http://schemas.microsoft.com/office/drawing/2014/main" id="{5C1F65D9-D6E5-D0A3-5C18-5C05098E41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648201"/>
                        <a:ext cx="1752600" cy="100647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1">
            <a:extLst>
              <a:ext uri="{FF2B5EF4-FFF2-40B4-BE49-F238E27FC236}">
                <a16:creationId xmlns:a16="http://schemas.microsoft.com/office/drawing/2014/main" id="{999E368C-B199-25BD-10B9-4B41FAC97C0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181600"/>
            <a:ext cx="4953000" cy="914400"/>
            <a:chOff x="2160" y="3264"/>
            <a:chExt cx="3120" cy="576"/>
          </a:xfrm>
        </p:grpSpPr>
        <p:grpSp>
          <p:nvGrpSpPr>
            <p:cNvPr id="4111" name="Group 28">
              <a:extLst>
                <a:ext uri="{FF2B5EF4-FFF2-40B4-BE49-F238E27FC236}">
                  <a16:creationId xmlns:a16="http://schemas.microsoft.com/office/drawing/2014/main" id="{313E09FE-1E51-2CAC-BA55-84E02B2AE9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264"/>
              <a:ext cx="3120" cy="576"/>
              <a:chOff x="2160" y="3264"/>
              <a:chExt cx="3120" cy="576"/>
            </a:xfrm>
          </p:grpSpPr>
          <p:sp>
            <p:nvSpPr>
              <p:cNvPr id="4118" name="Line 9">
                <a:extLst>
                  <a:ext uri="{FF2B5EF4-FFF2-40B4-BE49-F238E27FC236}">
                    <a16:creationId xmlns:a16="http://schemas.microsoft.com/office/drawing/2014/main" id="{3AD532F6-C29A-965E-A623-C76750D04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504"/>
                <a:ext cx="28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4119" name="Text Box 11">
                <a:extLst>
                  <a:ext uri="{FF2B5EF4-FFF2-40B4-BE49-F238E27FC236}">
                    <a16:creationId xmlns:a16="http://schemas.microsoft.com/office/drawing/2014/main" id="{05E42C8C-6D34-5E56-9CA3-46AF23E616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3552"/>
                <a:ext cx="31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333333"/>
                    </a:solidFill>
                    <a:ea typeface="굴림" panose="020B0600000101010101" pitchFamily="34" charset="-127"/>
                  </a:rPr>
                  <a:t>4        6        8        10        12        14</a:t>
                </a:r>
              </a:p>
            </p:txBody>
          </p:sp>
          <p:sp>
            <p:nvSpPr>
              <p:cNvPr id="4120" name="AutoShape 18">
                <a:extLst>
                  <a:ext uri="{FF2B5EF4-FFF2-40B4-BE49-F238E27FC236}">
                    <a16:creationId xmlns:a16="http://schemas.microsoft.com/office/drawing/2014/main" id="{65908532-3279-B7F6-F87C-38981B95D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264"/>
                <a:ext cx="96" cy="96"/>
              </a:xfrm>
              <a:prstGeom prst="diamond">
                <a:avLst/>
              </a:prstGeom>
              <a:solidFill>
                <a:srgbClr val="CC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121" name="AutoShape 19">
                <a:extLst>
                  <a:ext uri="{FF2B5EF4-FFF2-40B4-BE49-F238E27FC236}">
                    <a16:creationId xmlns:a16="http://schemas.microsoft.com/office/drawing/2014/main" id="{5D32DAC6-CF60-9F90-BBC8-67046F8C3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3264"/>
                <a:ext cx="96" cy="96"/>
              </a:xfrm>
              <a:prstGeom prst="diamond">
                <a:avLst/>
              </a:prstGeom>
              <a:solidFill>
                <a:srgbClr val="CC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122" name="AutoShape 20">
                <a:extLst>
                  <a:ext uri="{FF2B5EF4-FFF2-40B4-BE49-F238E27FC236}">
                    <a16:creationId xmlns:a16="http://schemas.microsoft.com/office/drawing/2014/main" id="{7C3832F8-4C38-EABD-02D7-82AA2B086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8" y="3264"/>
                <a:ext cx="96" cy="96"/>
              </a:xfrm>
              <a:prstGeom prst="diamond">
                <a:avLst/>
              </a:prstGeom>
              <a:solidFill>
                <a:srgbClr val="CC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123" name="AutoShape 21">
                <a:extLst>
                  <a:ext uri="{FF2B5EF4-FFF2-40B4-BE49-F238E27FC236}">
                    <a16:creationId xmlns:a16="http://schemas.microsoft.com/office/drawing/2014/main" id="{53AFCFC2-3C0E-57D3-33DC-6F1D4C71A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264"/>
                <a:ext cx="96" cy="96"/>
              </a:xfrm>
              <a:prstGeom prst="diamond">
                <a:avLst/>
              </a:prstGeom>
              <a:solidFill>
                <a:srgbClr val="CC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124" name="AutoShape 22">
                <a:extLst>
                  <a:ext uri="{FF2B5EF4-FFF2-40B4-BE49-F238E27FC236}">
                    <a16:creationId xmlns:a16="http://schemas.microsoft.com/office/drawing/2014/main" id="{9325AF5B-6271-678E-E0B8-CAD67C6FE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96" cy="96"/>
              </a:xfrm>
              <a:prstGeom prst="diamond">
                <a:avLst/>
              </a:prstGeom>
              <a:solidFill>
                <a:srgbClr val="CC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4112" name="Line 12">
              <a:extLst>
                <a:ext uri="{FF2B5EF4-FFF2-40B4-BE49-F238E27FC236}">
                  <a16:creationId xmlns:a16="http://schemas.microsoft.com/office/drawing/2014/main" id="{EE887F48-5537-BB7A-2FAF-D8AE0685B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113" name="Line 13">
              <a:extLst>
                <a:ext uri="{FF2B5EF4-FFF2-40B4-BE49-F238E27FC236}">
                  <a16:creationId xmlns:a16="http://schemas.microsoft.com/office/drawing/2014/main" id="{F1EA5E73-FA93-6850-9F6E-9F6B6C60A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114" name="Line 14">
              <a:extLst>
                <a:ext uri="{FF2B5EF4-FFF2-40B4-BE49-F238E27FC236}">
                  <a16:creationId xmlns:a16="http://schemas.microsoft.com/office/drawing/2014/main" id="{341C32ED-A1A6-0BEB-9EED-C8584A744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115" name="Line 15">
              <a:extLst>
                <a:ext uri="{FF2B5EF4-FFF2-40B4-BE49-F238E27FC236}">
                  <a16:creationId xmlns:a16="http://schemas.microsoft.com/office/drawing/2014/main" id="{6BE9E66B-56B7-B28E-D1A3-AAE694F7E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116" name="Line 16">
              <a:extLst>
                <a:ext uri="{FF2B5EF4-FFF2-40B4-BE49-F238E27FC236}">
                  <a16:creationId xmlns:a16="http://schemas.microsoft.com/office/drawing/2014/main" id="{E7DA2E87-713F-619D-4EBD-B6721F269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117" name="Line 17">
              <a:extLst>
                <a:ext uri="{FF2B5EF4-FFF2-40B4-BE49-F238E27FC236}">
                  <a16:creationId xmlns:a16="http://schemas.microsoft.com/office/drawing/2014/main" id="{2B268FAC-A523-B088-F96D-0B4ABB0F3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cxnSp>
        <p:nvCxnSpPr>
          <p:cNvPr id="42009" name="AutoShape 25">
            <a:extLst>
              <a:ext uri="{FF2B5EF4-FFF2-40B4-BE49-F238E27FC236}">
                <a16:creationId xmlns:a16="http://schemas.microsoft.com/office/drawing/2014/main" id="{42324446-F49F-88B9-D160-7CDF3EEFBE04}"/>
              </a:ext>
            </a:extLst>
          </p:cNvPr>
          <p:cNvCxnSpPr>
            <a:cxnSpLocks noChangeShapeType="1"/>
            <a:endCxn id="42011" idx="1"/>
          </p:cNvCxnSpPr>
          <p:nvPr/>
        </p:nvCxnSpPr>
        <p:spPr bwMode="auto">
          <a:xfrm rot="5400000" flipH="1" flipV="1">
            <a:off x="5345113" y="4003676"/>
            <a:ext cx="15875" cy="3314700"/>
          </a:xfrm>
          <a:prstGeom prst="bentConnector3">
            <a:avLst>
              <a:gd name="adj1" fmla="val -2880000"/>
            </a:avLst>
          </a:prstGeom>
          <a:noFill/>
          <a:ln w="9525">
            <a:solidFill>
              <a:srgbClr val="CC0066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11" name="Line 27">
            <a:extLst>
              <a:ext uri="{FF2B5EF4-FFF2-40B4-BE49-F238E27FC236}">
                <a16:creationId xmlns:a16="http://schemas.microsoft.com/office/drawing/2014/main" id="{1E651F8E-813A-145B-9D7A-77E438D5A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4724400"/>
            <a:ext cx="0" cy="914400"/>
          </a:xfrm>
          <a:prstGeom prst="line">
            <a:avLst/>
          </a:prstGeom>
          <a:noFill/>
          <a:ln w="28575">
            <a:solidFill>
              <a:srgbClr val="3399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cxnSp>
        <p:nvCxnSpPr>
          <p:cNvPr id="42015" name="AutoShape 31">
            <a:extLst>
              <a:ext uri="{FF2B5EF4-FFF2-40B4-BE49-F238E27FC236}">
                <a16:creationId xmlns:a16="http://schemas.microsoft.com/office/drawing/2014/main" id="{6047932A-7CAD-7AF0-138A-57D7EF2688D3}"/>
              </a:ext>
            </a:extLst>
          </p:cNvPr>
          <p:cNvCxnSpPr>
            <a:cxnSpLocks noChangeShapeType="1"/>
            <a:stCxn id="4120" idx="0"/>
          </p:cNvCxnSpPr>
          <p:nvPr/>
        </p:nvCxnSpPr>
        <p:spPr bwMode="auto">
          <a:xfrm rot="16200000">
            <a:off x="6210300" y="4381500"/>
            <a:ext cx="76200" cy="1524000"/>
          </a:xfrm>
          <a:prstGeom prst="bentConnector2">
            <a:avLst/>
          </a:prstGeom>
          <a:noFill/>
          <a:ln w="9525">
            <a:solidFill>
              <a:srgbClr val="33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6" name="AutoShape 32">
            <a:extLst>
              <a:ext uri="{FF2B5EF4-FFF2-40B4-BE49-F238E27FC236}">
                <a16:creationId xmlns:a16="http://schemas.microsoft.com/office/drawing/2014/main" id="{EFBA4A08-BDA7-015B-D9E5-53DB1831EC30}"/>
              </a:ext>
            </a:extLst>
          </p:cNvPr>
          <p:cNvCxnSpPr>
            <a:cxnSpLocks noChangeShapeType="1"/>
            <a:stCxn id="4121" idx="0"/>
          </p:cNvCxnSpPr>
          <p:nvPr/>
        </p:nvCxnSpPr>
        <p:spPr bwMode="auto">
          <a:xfrm rot="16200000">
            <a:off x="6286500" y="4457700"/>
            <a:ext cx="304800" cy="1143000"/>
          </a:xfrm>
          <a:prstGeom prst="bentConnector2">
            <a:avLst/>
          </a:prstGeom>
          <a:noFill/>
          <a:ln w="9525">
            <a:solidFill>
              <a:srgbClr val="33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19" name="AutoShape 35">
            <a:extLst>
              <a:ext uri="{FF2B5EF4-FFF2-40B4-BE49-F238E27FC236}">
                <a16:creationId xmlns:a16="http://schemas.microsoft.com/office/drawing/2014/main" id="{0DABC0D0-44E8-0B94-5393-7B086D8C83EE}"/>
              </a:ext>
            </a:extLst>
          </p:cNvPr>
          <p:cNvCxnSpPr>
            <a:cxnSpLocks noChangeShapeType="1"/>
            <a:stCxn id="4123" idx="0"/>
          </p:cNvCxnSpPr>
          <p:nvPr/>
        </p:nvCxnSpPr>
        <p:spPr bwMode="auto">
          <a:xfrm rot="5400000" flipH="1">
            <a:off x="7620000" y="4419600"/>
            <a:ext cx="228600" cy="1295400"/>
          </a:xfrm>
          <a:prstGeom prst="bentConnector2">
            <a:avLst/>
          </a:prstGeom>
          <a:noFill/>
          <a:ln w="9525">
            <a:solidFill>
              <a:srgbClr val="33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23" name="AutoShape 39">
            <a:extLst>
              <a:ext uri="{FF2B5EF4-FFF2-40B4-BE49-F238E27FC236}">
                <a16:creationId xmlns:a16="http://schemas.microsoft.com/office/drawing/2014/main" id="{5B20304B-1BCE-E86F-31FB-C953E0117C7F}"/>
              </a:ext>
            </a:extLst>
          </p:cNvPr>
          <p:cNvCxnSpPr>
            <a:cxnSpLocks noChangeShapeType="1"/>
            <a:stCxn id="4124" idx="3"/>
          </p:cNvCxnSpPr>
          <p:nvPr/>
        </p:nvCxnSpPr>
        <p:spPr bwMode="auto">
          <a:xfrm>
            <a:off x="6705600" y="5257800"/>
            <a:ext cx="304800" cy="1588"/>
          </a:xfrm>
          <a:prstGeom prst="straightConnector1">
            <a:avLst/>
          </a:prstGeom>
          <a:noFill/>
          <a:ln w="9525">
            <a:solidFill>
              <a:srgbClr val="3399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24" name="AutoShape 40">
            <a:extLst>
              <a:ext uri="{FF2B5EF4-FFF2-40B4-BE49-F238E27FC236}">
                <a16:creationId xmlns:a16="http://schemas.microsoft.com/office/drawing/2014/main" id="{8F5B14E5-3E72-8337-3516-036C5D1712EB}"/>
              </a:ext>
            </a:extLst>
          </p:cNvPr>
          <p:cNvCxnSpPr>
            <a:cxnSpLocks noChangeShapeType="1"/>
            <a:stCxn id="4122" idx="0"/>
          </p:cNvCxnSpPr>
          <p:nvPr/>
        </p:nvCxnSpPr>
        <p:spPr bwMode="auto">
          <a:xfrm rot="5400000" flipH="1">
            <a:off x="8153400" y="4038600"/>
            <a:ext cx="76200" cy="2209800"/>
          </a:xfrm>
          <a:prstGeom prst="bentConnector2">
            <a:avLst/>
          </a:prstGeom>
          <a:noFill/>
          <a:ln w="9525">
            <a:solidFill>
              <a:srgbClr val="33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0" name="Rectangle 12">
            <a:extLst>
              <a:ext uri="{FF2B5EF4-FFF2-40B4-BE49-F238E27FC236}">
                <a16:creationId xmlns:a16="http://schemas.microsoft.com/office/drawing/2014/main" id="{3F309209-705F-2456-B232-20D2B310E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524000"/>
            <a:ext cx="8397536" cy="13716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dirty="0">
                <a:ea typeface="굴림" charset="-127"/>
              </a:rPr>
              <a:t>The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variance of a population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of </a:t>
            </a:r>
            <a:r>
              <a:rPr lang="en-US" altLang="ko-KR" i="1" dirty="0">
                <a:ea typeface="굴림" charset="-127"/>
              </a:rPr>
              <a:t>N</a:t>
            </a:r>
            <a:r>
              <a:rPr lang="en-US" altLang="ko-KR" dirty="0">
                <a:ea typeface="굴림" charset="-127"/>
              </a:rPr>
              <a:t> measurements is the average of the squared deviations of the measurements about their mean </a:t>
            </a:r>
            <a:r>
              <a:rPr lang="en-US" altLang="ko-KR" dirty="0">
                <a:latin typeface="Symbol" pitchFamily="18" charset="2"/>
                <a:ea typeface="굴림" charset="-127"/>
              </a:rPr>
              <a:t>m.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11BF8C95-479E-FADE-BF3D-A05825A7F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76200"/>
            <a:ext cx="65532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The Variance</a:t>
            </a:r>
          </a:p>
        </p:txBody>
      </p:sp>
      <p:grpSp>
        <p:nvGrpSpPr>
          <p:cNvPr id="5127" name="Group 9">
            <a:extLst>
              <a:ext uri="{FF2B5EF4-FFF2-40B4-BE49-F238E27FC236}">
                <a16:creationId xmlns:a16="http://schemas.microsoft.com/office/drawing/2014/main" id="{00E5E88B-B856-B791-B305-D3B06B74E9AB}"/>
              </a:ext>
            </a:extLst>
          </p:cNvPr>
          <p:cNvGrpSpPr>
            <a:grpSpLocks/>
          </p:cNvGrpSpPr>
          <p:nvPr/>
        </p:nvGrpSpPr>
        <p:grpSpPr bwMode="auto">
          <a:xfrm>
            <a:off x="10402414" y="103572"/>
            <a:ext cx="1676400" cy="1219200"/>
            <a:chOff x="3696" y="48"/>
            <a:chExt cx="1872" cy="1296"/>
          </a:xfrm>
        </p:grpSpPr>
        <p:sp>
          <p:nvSpPr>
            <p:cNvPr id="43018" name="Rectangle 10">
              <a:extLst>
                <a:ext uri="{FF2B5EF4-FFF2-40B4-BE49-F238E27FC236}">
                  <a16:creationId xmlns:a16="http://schemas.microsoft.com/office/drawing/2014/main" id="{4B13D159-CEF8-4458-7761-861B3189C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5130" name="Picture 11" descr="flower">
              <a:extLst>
                <a:ext uri="{FF2B5EF4-FFF2-40B4-BE49-F238E27FC236}">
                  <a16:creationId xmlns:a16="http://schemas.microsoft.com/office/drawing/2014/main" id="{D2CB4479-4A0E-E366-8F07-ED1F329A3C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3021" name="Rectangle 13">
            <a:extLst>
              <a:ext uri="{FF2B5EF4-FFF2-40B4-BE49-F238E27FC236}">
                <a16:creationId xmlns:a16="http://schemas.microsoft.com/office/drawing/2014/main" id="{67547F22-5A8D-89F6-78F5-FACFAD1ED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999" y="3962400"/>
            <a:ext cx="8397535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variance of a sample</a:t>
            </a:r>
            <a:r>
              <a:rPr lang="en-US" altLang="ko-KR" sz="2800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 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of </a:t>
            </a:r>
            <a:r>
              <a:rPr lang="en-US" altLang="ko-KR" sz="2800" i="1" dirty="0">
                <a:solidFill>
                  <a:srgbClr val="339933"/>
                </a:solidFill>
                <a:ea typeface="굴림" charset="-127"/>
              </a:rPr>
              <a:t>n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 measurements is the sum of the squared deviations of the measurements about their mean, divided by </a:t>
            </a:r>
            <a:r>
              <a:rPr lang="en-US" altLang="ko-KR" sz="2800" i="1" dirty="0">
                <a:solidFill>
                  <a:srgbClr val="339933"/>
                </a:solidFill>
                <a:ea typeface="굴림" charset="-127"/>
              </a:rPr>
              <a:t>(n 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– 1)</a:t>
            </a:r>
            <a:r>
              <a:rPr lang="en-US" altLang="ko-KR" sz="2800" i="1" dirty="0">
                <a:solidFill>
                  <a:srgbClr val="339933"/>
                </a:solidFill>
                <a:latin typeface="Symbol" pitchFamily="18" charset="2"/>
                <a:ea typeface="굴림" charset="-127"/>
              </a:rPr>
              <a:t>.</a:t>
            </a:r>
            <a:endParaRPr lang="en-US" altLang="ko-KR" sz="2800" i="1" dirty="0">
              <a:solidFill>
                <a:srgbClr val="339933"/>
              </a:solidFill>
              <a:ea typeface="굴림" charset="-127"/>
            </a:endParaRPr>
          </a:p>
        </p:txBody>
      </p:sp>
      <p:graphicFrame>
        <p:nvGraphicFramePr>
          <p:cNvPr id="43022" name="Object 14">
            <a:extLst>
              <a:ext uri="{FF2B5EF4-FFF2-40B4-BE49-F238E27FC236}">
                <a16:creationId xmlns:a16="http://schemas.microsoft.com/office/drawing/2014/main" id="{555194BD-E949-549C-A56A-2607FBB33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8550" y="2819401"/>
          <a:ext cx="245268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419040" progId="Equation.3">
                  <p:embed/>
                </p:oleObj>
              </mc:Choice>
              <mc:Fallback>
                <p:oleObj name="Equation" r:id="rId3" imgW="1041120" imgH="419040" progId="Equation.3">
                  <p:embed/>
                  <p:pic>
                    <p:nvPicPr>
                      <p:cNvPr id="43022" name="Object 14">
                        <a:extLst>
                          <a:ext uri="{FF2B5EF4-FFF2-40B4-BE49-F238E27FC236}">
                            <a16:creationId xmlns:a16="http://schemas.microsoft.com/office/drawing/2014/main" id="{555194BD-E949-549C-A56A-2607FBB33D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8550" y="2819401"/>
                        <a:ext cx="2452688" cy="9874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5">
            <a:extLst>
              <a:ext uri="{FF2B5EF4-FFF2-40B4-BE49-F238E27FC236}">
                <a16:creationId xmlns:a16="http://schemas.microsoft.com/office/drawing/2014/main" id="{2B15719C-7EAB-83D2-56ED-254D4F5C9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2350" y="5257801"/>
          <a:ext cx="24511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760" imgH="419040" progId="Equation.3">
                  <p:embed/>
                </p:oleObj>
              </mc:Choice>
              <mc:Fallback>
                <p:oleObj name="Equation" r:id="rId5" imgW="977760" imgH="419040" progId="Equation.3">
                  <p:embed/>
                  <p:pic>
                    <p:nvPicPr>
                      <p:cNvPr id="43023" name="Object 15">
                        <a:extLst>
                          <a:ext uri="{FF2B5EF4-FFF2-40B4-BE49-F238E27FC236}">
                            <a16:creationId xmlns:a16="http://schemas.microsoft.com/office/drawing/2014/main" id="{2B15719C-7EAB-83D2-56ED-254D4F5C9E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5257801"/>
                        <a:ext cx="2451100" cy="10509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CBF258F-7CC1-68F0-62AC-080323EFF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6353" y="1447800"/>
            <a:ext cx="8549197" cy="3581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ko-KR" sz="3200" dirty="0">
                <a:ea typeface="굴림" charset="-127"/>
              </a:rPr>
              <a:t>In calculating the variance, we squared all of the deviations, and in doing so changed the scale of the measurements.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ko-KR" sz="3200" dirty="0">
                <a:ea typeface="굴림" charset="-127"/>
              </a:rPr>
              <a:t>   (inch-&gt; square inch)</a:t>
            </a:r>
            <a:endParaRPr lang="ko-KR" altLang="en-US" sz="3200" dirty="0">
              <a:ea typeface="굴림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3200" dirty="0">
                <a:ea typeface="굴림" charset="-127"/>
              </a:rPr>
              <a:t>To return this measure of variability to the original units of measure, we calculate the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standard deviation</a:t>
            </a:r>
            <a:r>
              <a:rPr lang="en-US" altLang="ko-KR" sz="3200" dirty="0">
                <a:ea typeface="굴림" charset="-127"/>
              </a:rPr>
              <a:t>, the positive square root of the variance.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7063A8A-110A-8B5E-D803-FE8E06D69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55398" y="305916"/>
            <a:ext cx="6553200" cy="8382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The Standard Deviation</a:t>
            </a:r>
          </a:p>
        </p:txBody>
      </p:sp>
      <p:grpSp>
        <p:nvGrpSpPr>
          <p:cNvPr id="6150" name="Group 5">
            <a:extLst>
              <a:ext uri="{FF2B5EF4-FFF2-40B4-BE49-F238E27FC236}">
                <a16:creationId xmlns:a16="http://schemas.microsoft.com/office/drawing/2014/main" id="{85A0C856-CC32-8923-83F2-06C7A34AFECF}"/>
              </a:ext>
            </a:extLst>
          </p:cNvPr>
          <p:cNvGrpSpPr>
            <a:grpSpLocks/>
          </p:cNvGrpSpPr>
          <p:nvPr/>
        </p:nvGrpSpPr>
        <p:grpSpPr bwMode="auto">
          <a:xfrm>
            <a:off x="10401675" y="86609"/>
            <a:ext cx="1676400" cy="1219200"/>
            <a:chOff x="3696" y="48"/>
            <a:chExt cx="1872" cy="1296"/>
          </a:xfrm>
        </p:grpSpPr>
        <p:sp>
          <p:nvSpPr>
            <p:cNvPr id="44038" name="Rectangle 6">
              <a:extLst>
                <a:ext uri="{FF2B5EF4-FFF2-40B4-BE49-F238E27FC236}">
                  <a16:creationId xmlns:a16="http://schemas.microsoft.com/office/drawing/2014/main" id="{1AF870ED-3611-2925-B1EB-3200BD1AC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6152" name="Picture 7" descr="flower">
              <a:extLst>
                <a:ext uri="{FF2B5EF4-FFF2-40B4-BE49-F238E27FC236}">
                  <a16:creationId xmlns:a16="http://schemas.microsoft.com/office/drawing/2014/main" id="{4F958C7E-B00A-DCA7-3244-F4E2B2E33B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44041" name="Object 9">
            <a:extLst>
              <a:ext uri="{FF2B5EF4-FFF2-40B4-BE49-F238E27FC236}">
                <a16:creationId xmlns:a16="http://schemas.microsoft.com/office/drawing/2014/main" id="{6FB9F04F-22DF-1C57-86AC-A4BEC600C3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988302"/>
              </p:ext>
            </p:extLst>
          </p:nvPr>
        </p:nvGraphicFramePr>
        <p:xfrm>
          <a:off x="3124201" y="5120195"/>
          <a:ext cx="5865813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89040" imgH="533160" progId="Equation.3">
                  <p:embed/>
                </p:oleObj>
              </mc:Choice>
              <mc:Fallback>
                <p:oleObj name="Equation" r:id="rId3" imgW="2489040" imgH="533160" progId="Equation.3">
                  <p:embed/>
                  <p:pic>
                    <p:nvPicPr>
                      <p:cNvPr id="44041" name="Object 9">
                        <a:extLst>
                          <a:ext uri="{FF2B5EF4-FFF2-40B4-BE49-F238E27FC236}">
                            <a16:creationId xmlns:a16="http://schemas.microsoft.com/office/drawing/2014/main" id="{6FB9F04F-22DF-1C57-86AC-A4BEC600C3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5120195"/>
                        <a:ext cx="5865813" cy="1257300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55" name="Rectangle 499">
            <a:extLst>
              <a:ext uri="{FF2B5EF4-FFF2-40B4-BE49-F238E27FC236}">
                <a16:creationId xmlns:a16="http://schemas.microsoft.com/office/drawing/2014/main" id="{948BE196-F38B-A09E-32FD-C65A6F03F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286000"/>
            <a:ext cx="4114800" cy="3733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3F465A1-78C0-BE00-FC51-119723373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2922" y="304801"/>
            <a:ext cx="65532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Two Ways to Calculate the Sample Variance</a:t>
            </a:r>
          </a:p>
        </p:txBody>
      </p:sp>
      <p:grpSp>
        <p:nvGrpSpPr>
          <p:cNvPr id="7179" name="Group 5">
            <a:extLst>
              <a:ext uri="{FF2B5EF4-FFF2-40B4-BE49-F238E27FC236}">
                <a16:creationId xmlns:a16="http://schemas.microsoft.com/office/drawing/2014/main" id="{250CEE17-57CB-08F7-E562-760F512B4B04}"/>
              </a:ext>
            </a:extLst>
          </p:cNvPr>
          <p:cNvGrpSpPr>
            <a:grpSpLocks/>
          </p:cNvGrpSpPr>
          <p:nvPr/>
        </p:nvGrpSpPr>
        <p:grpSpPr bwMode="auto">
          <a:xfrm>
            <a:off x="10439400" y="0"/>
            <a:ext cx="1676400" cy="1219200"/>
            <a:chOff x="3696" y="48"/>
            <a:chExt cx="1872" cy="1296"/>
          </a:xfrm>
        </p:grpSpPr>
        <p:sp>
          <p:nvSpPr>
            <p:cNvPr id="45062" name="Rectangle 6">
              <a:extLst>
                <a:ext uri="{FF2B5EF4-FFF2-40B4-BE49-F238E27FC236}">
                  <a16:creationId xmlns:a16="http://schemas.microsoft.com/office/drawing/2014/main" id="{94009F04-736A-2827-6DBC-F4EA741BC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7221" name="Picture 7" descr="flower">
              <a:extLst>
                <a:ext uri="{FF2B5EF4-FFF2-40B4-BE49-F238E27FC236}">
                  <a16:creationId xmlns:a16="http://schemas.microsoft.com/office/drawing/2014/main" id="{387106AE-56BB-E6FA-1263-EDABD577B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7170" name="Object 10">
            <a:extLst>
              <a:ext uri="{FF2B5EF4-FFF2-40B4-BE49-F238E27FC236}">
                <a16:creationId xmlns:a16="http://schemas.microsoft.com/office/drawing/2014/main" id="{76651782-B636-C05D-D817-7F194CE925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4175" y="2362201"/>
          <a:ext cx="24511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760" imgH="419040" progId="Equation.3">
                  <p:embed/>
                </p:oleObj>
              </mc:Choice>
              <mc:Fallback>
                <p:oleObj name="Equation" r:id="rId3" imgW="977760" imgH="419040" progId="Equation.3">
                  <p:embed/>
                  <p:pic>
                    <p:nvPicPr>
                      <p:cNvPr id="7170" name="Object 10">
                        <a:extLst>
                          <a:ext uri="{FF2B5EF4-FFF2-40B4-BE49-F238E27FC236}">
                            <a16:creationId xmlns:a16="http://schemas.microsoft.com/office/drawing/2014/main" id="{76651782-B636-C05D-D817-7F194CE925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4175" y="2362201"/>
                        <a:ext cx="24511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558" name="Group 502">
            <a:extLst>
              <a:ext uri="{FF2B5EF4-FFF2-40B4-BE49-F238E27FC236}">
                <a16:creationId xmlns:a16="http://schemas.microsoft.com/office/drawing/2014/main" id="{D930432C-16D8-D022-0EDF-8A7D86E5BEB6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905001"/>
          <a:ext cx="3581400" cy="33226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-4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9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-3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9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-1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Sum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60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18" name="Text Box 114">
            <a:extLst>
              <a:ext uri="{FF2B5EF4-FFF2-40B4-BE49-F238E27FC236}">
                <a16:creationId xmlns:a16="http://schemas.microsoft.com/office/drawing/2014/main" id="{4B32B45E-7B24-8AB8-1E03-A26D51380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6764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Use the Definition Formula:</a:t>
            </a:r>
          </a:p>
        </p:txBody>
      </p:sp>
      <p:grpSp>
        <p:nvGrpSpPr>
          <p:cNvPr id="7219" name="Group 503">
            <a:extLst>
              <a:ext uri="{FF2B5EF4-FFF2-40B4-BE49-F238E27FC236}">
                <a16:creationId xmlns:a16="http://schemas.microsoft.com/office/drawing/2014/main" id="{88FF41CC-F251-E769-E4D0-9DE55BDA6C01}"/>
              </a:ext>
            </a:extLst>
          </p:cNvPr>
          <p:cNvGrpSpPr>
            <a:grpSpLocks/>
          </p:cNvGrpSpPr>
          <p:nvPr/>
        </p:nvGrpSpPr>
        <p:grpSpPr bwMode="auto">
          <a:xfrm>
            <a:off x="3249614" y="1911350"/>
            <a:ext cx="2592387" cy="527050"/>
            <a:chOff x="1087" y="1204"/>
            <a:chExt cx="1633" cy="332"/>
          </a:xfrm>
        </p:grpSpPr>
        <p:graphicFrame>
          <p:nvGraphicFramePr>
            <p:cNvPr id="7173" name="Object 436">
              <a:extLst>
                <a:ext uri="{FF2B5EF4-FFF2-40B4-BE49-F238E27FC236}">
                  <a16:creationId xmlns:a16="http://schemas.microsoft.com/office/drawing/2014/main" id="{0FB38A10-4136-EB11-47DC-644DE92BD0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7" y="1209"/>
            <a:ext cx="210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3">
                    <p:embed/>
                  </p:oleObj>
                </mc:Choice>
                <mc:Fallback>
                  <p:oleObj name="Equation" r:id="rId5" imgW="152280" imgH="228600" progId="Equation.3">
                    <p:embed/>
                    <p:pic>
                      <p:nvPicPr>
                        <p:cNvPr id="7173" name="Object 436">
                          <a:extLst>
                            <a:ext uri="{FF2B5EF4-FFF2-40B4-BE49-F238E27FC236}">
                              <a16:creationId xmlns:a16="http://schemas.microsoft.com/office/drawing/2014/main" id="{0FB38A10-4136-EB11-47DC-644DE92BD0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7" y="1209"/>
                          <a:ext cx="210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437">
              <a:extLst>
                <a:ext uri="{FF2B5EF4-FFF2-40B4-BE49-F238E27FC236}">
                  <a16:creationId xmlns:a16="http://schemas.microsoft.com/office/drawing/2014/main" id="{0507DA35-BA77-103F-9E9C-A94DB85EF8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1222"/>
            <a:ext cx="52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80880" imgH="228600" progId="Equation.3">
                    <p:embed/>
                  </p:oleObj>
                </mc:Choice>
                <mc:Fallback>
                  <p:oleObj name="Equation" r:id="rId7" imgW="380880" imgH="228600" progId="Equation.3">
                    <p:embed/>
                    <p:pic>
                      <p:nvPicPr>
                        <p:cNvPr id="7174" name="Object 437">
                          <a:extLst>
                            <a:ext uri="{FF2B5EF4-FFF2-40B4-BE49-F238E27FC236}">
                              <a16:creationId xmlns:a16="http://schemas.microsoft.com/office/drawing/2014/main" id="{0507DA35-BA77-103F-9E9C-A94DB85EF8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222"/>
                          <a:ext cx="526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5" name="Object 438">
              <a:extLst>
                <a:ext uri="{FF2B5EF4-FFF2-40B4-BE49-F238E27FC236}">
                  <a16:creationId xmlns:a16="http://schemas.microsoft.com/office/drawing/2014/main" id="{281DD847-DAC8-F631-16D1-D2FA974C9B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1204"/>
            <a:ext cx="75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45760" imgH="241200" progId="Equation.3">
                    <p:embed/>
                  </p:oleObj>
                </mc:Choice>
                <mc:Fallback>
                  <p:oleObj name="Equation" r:id="rId9" imgW="545760" imgH="241200" progId="Equation.3">
                    <p:embed/>
                    <p:pic>
                      <p:nvPicPr>
                        <p:cNvPr id="7175" name="Object 438">
                          <a:extLst>
                            <a:ext uri="{FF2B5EF4-FFF2-40B4-BE49-F238E27FC236}">
                              <a16:creationId xmlns:a16="http://schemas.microsoft.com/office/drawing/2014/main" id="{281DD847-DAC8-F631-16D1-D2FA974C9B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1204"/>
                          <a:ext cx="752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556" name="Object 500">
            <a:extLst>
              <a:ext uri="{FF2B5EF4-FFF2-40B4-BE49-F238E27FC236}">
                <a16:creationId xmlns:a16="http://schemas.microsoft.com/office/drawing/2014/main" id="{31214AF4-3315-D49D-3808-E4701B35A1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1" y="3581401"/>
          <a:ext cx="155892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22080" imgH="393480" progId="Equation.3">
                  <p:embed/>
                </p:oleObj>
              </mc:Choice>
              <mc:Fallback>
                <p:oleObj name="Equation" r:id="rId11" imgW="622080" imgH="393480" progId="Equation.3">
                  <p:embed/>
                  <p:pic>
                    <p:nvPicPr>
                      <p:cNvPr id="45556" name="Object 500">
                        <a:extLst>
                          <a:ext uri="{FF2B5EF4-FFF2-40B4-BE49-F238E27FC236}">
                            <a16:creationId xmlns:a16="http://schemas.microsoft.com/office/drawing/2014/main" id="{31214AF4-3315-D49D-3808-E4701B35A1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3581401"/>
                        <a:ext cx="155892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557" name="Object 501">
            <a:extLst>
              <a:ext uri="{FF2B5EF4-FFF2-40B4-BE49-F238E27FC236}">
                <a16:creationId xmlns:a16="http://schemas.microsoft.com/office/drawing/2014/main" id="{5424EACC-28FF-FEAD-D3B3-AFEE585C8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4953001"/>
          <a:ext cx="33416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33440" imgH="253800" progId="Equation.3">
                  <p:embed/>
                </p:oleObj>
              </mc:Choice>
              <mc:Fallback>
                <p:oleObj name="Equation" r:id="rId13" imgW="1333440" imgH="253800" progId="Equation.3">
                  <p:embed/>
                  <p:pic>
                    <p:nvPicPr>
                      <p:cNvPr id="45557" name="Object 501">
                        <a:extLst>
                          <a:ext uri="{FF2B5EF4-FFF2-40B4-BE49-F238E27FC236}">
                            <a16:creationId xmlns:a16="http://schemas.microsoft.com/office/drawing/2014/main" id="{5424EACC-28FF-FEAD-D3B3-AFEE585C8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953001"/>
                        <a:ext cx="3341688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679D9D6-3FD6-2848-7382-439C4F2D8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905000"/>
            <a:ext cx="4114800" cy="44196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C0F70F4-BD35-1F65-C9F0-E49D52B03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6088" y="99172"/>
            <a:ext cx="65532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Two Ways to Calculate the Sample Variance</a:t>
            </a:r>
          </a:p>
        </p:txBody>
      </p:sp>
      <p:grpSp>
        <p:nvGrpSpPr>
          <p:cNvPr id="8202" name="Group 5">
            <a:extLst>
              <a:ext uri="{FF2B5EF4-FFF2-40B4-BE49-F238E27FC236}">
                <a16:creationId xmlns:a16="http://schemas.microsoft.com/office/drawing/2014/main" id="{191C7619-B3C6-9C59-0FD3-3029B882CBF5}"/>
              </a:ext>
            </a:extLst>
          </p:cNvPr>
          <p:cNvGrpSpPr>
            <a:grpSpLocks/>
          </p:cNvGrpSpPr>
          <p:nvPr/>
        </p:nvGrpSpPr>
        <p:grpSpPr bwMode="auto">
          <a:xfrm>
            <a:off x="10515600" y="0"/>
            <a:ext cx="1676400" cy="1219200"/>
            <a:chOff x="3696" y="48"/>
            <a:chExt cx="1872" cy="1296"/>
          </a:xfrm>
        </p:grpSpPr>
        <p:sp>
          <p:nvSpPr>
            <p:cNvPr id="47110" name="Rectangle 6">
              <a:extLst>
                <a:ext uri="{FF2B5EF4-FFF2-40B4-BE49-F238E27FC236}">
                  <a16:creationId xmlns:a16="http://schemas.microsoft.com/office/drawing/2014/main" id="{10AC61FA-3160-438C-8A97-9C7ED64CF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8236" name="Picture 7" descr="flower">
              <a:extLst>
                <a:ext uri="{FF2B5EF4-FFF2-40B4-BE49-F238E27FC236}">
                  <a16:creationId xmlns:a16="http://schemas.microsoft.com/office/drawing/2014/main" id="{E0F8BA0C-9264-3421-11D8-D55569F4DA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8194" name="Object 8">
            <a:extLst>
              <a:ext uri="{FF2B5EF4-FFF2-40B4-BE49-F238E27FC236}">
                <a16:creationId xmlns:a16="http://schemas.microsoft.com/office/drawing/2014/main" id="{924843D3-7FA3-F316-63D9-37E8FAD8C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9025" y="2116138"/>
          <a:ext cx="3119438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520" imgH="583920" progId="Equation.3">
                  <p:embed/>
                </p:oleObj>
              </mc:Choice>
              <mc:Fallback>
                <p:oleObj name="Equation" r:id="rId3" imgW="1244520" imgH="583920" progId="Equation.3">
                  <p:embed/>
                  <p:pic>
                    <p:nvPicPr>
                      <p:cNvPr id="8194" name="Object 8">
                        <a:extLst>
                          <a:ext uri="{FF2B5EF4-FFF2-40B4-BE49-F238E27FC236}">
                            <a16:creationId xmlns:a16="http://schemas.microsoft.com/office/drawing/2014/main" id="{924843D3-7FA3-F316-63D9-37E8FAD8C0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5" y="2116138"/>
                        <a:ext cx="3119438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1" name="Group 67">
            <a:extLst>
              <a:ext uri="{FF2B5EF4-FFF2-40B4-BE49-F238E27FC236}">
                <a16:creationId xmlns:a16="http://schemas.microsoft.com/office/drawing/2014/main" id="{BBFC3165-7465-65E7-9E72-F7DCA09523CE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905001"/>
          <a:ext cx="2438400" cy="3322639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3399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144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64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196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Sum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465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33" name="Text Box 60">
            <a:extLst>
              <a:ext uri="{FF2B5EF4-FFF2-40B4-BE49-F238E27FC236}">
                <a16:creationId xmlns:a16="http://schemas.microsoft.com/office/drawing/2014/main" id="{B95F0F90-602E-3162-5F73-F15C70E3F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38588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Use the Calculational Formula:</a:t>
            </a:r>
          </a:p>
        </p:txBody>
      </p:sp>
      <p:grpSp>
        <p:nvGrpSpPr>
          <p:cNvPr id="8234" name="Group 69">
            <a:extLst>
              <a:ext uri="{FF2B5EF4-FFF2-40B4-BE49-F238E27FC236}">
                <a16:creationId xmlns:a16="http://schemas.microsoft.com/office/drawing/2014/main" id="{8F39891D-57A4-2DFF-5384-5E65D2AA2152}"/>
              </a:ext>
            </a:extLst>
          </p:cNvPr>
          <p:cNvGrpSpPr>
            <a:grpSpLocks/>
          </p:cNvGrpSpPr>
          <p:nvPr/>
        </p:nvGrpSpPr>
        <p:grpSpPr bwMode="auto">
          <a:xfrm>
            <a:off x="3249613" y="1857375"/>
            <a:ext cx="1206500" cy="560388"/>
            <a:chOff x="1087" y="1170"/>
            <a:chExt cx="760" cy="353"/>
          </a:xfrm>
        </p:grpSpPr>
        <p:graphicFrame>
          <p:nvGraphicFramePr>
            <p:cNvPr id="8197" name="Object 62">
              <a:extLst>
                <a:ext uri="{FF2B5EF4-FFF2-40B4-BE49-F238E27FC236}">
                  <a16:creationId xmlns:a16="http://schemas.microsoft.com/office/drawing/2014/main" id="{4329556B-985D-0C28-665C-9B511EF95D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7" y="1209"/>
            <a:ext cx="210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2280" imgH="228600" progId="Equation.3">
                    <p:embed/>
                  </p:oleObj>
                </mc:Choice>
                <mc:Fallback>
                  <p:oleObj name="Equation" r:id="rId5" imgW="152280" imgH="228600" progId="Equation.3">
                    <p:embed/>
                    <p:pic>
                      <p:nvPicPr>
                        <p:cNvPr id="8197" name="Object 62">
                          <a:extLst>
                            <a:ext uri="{FF2B5EF4-FFF2-40B4-BE49-F238E27FC236}">
                              <a16:creationId xmlns:a16="http://schemas.microsoft.com/office/drawing/2014/main" id="{4329556B-985D-0C28-665C-9B511EF95D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7" y="1209"/>
                          <a:ext cx="210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8" name="Object 63">
              <a:extLst>
                <a:ext uri="{FF2B5EF4-FFF2-40B4-BE49-F238E27FC236}">
                  <a16:creationId xmlns:a16="http://schemas.microsoft.com/office/drawing/2014/main" id="{BA665E7D-FB36-06F2-381B-D24B362CA4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02" y="1170"/>
            <a:ext cx="24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7480" imgH="241200" progId="Equation.3">
                    <p:embed/>
                  </p:oleObj>
                </mc:Choice>
                <mc:Fallback>
                  <p:oleObj name="Equation" r:id="rId7" imgW="177480" imgH="241200" progId="Equation.3">
                    <p:embed/>
                    <p:pic>
                      <p:nvPicPr>
                        <p:cNvPr id="8198" name="Object 63">
                          <a:extLst>
                            <a:ext uri="{FF2B5EF4-FFF2-40B4-BE49-F238E27FC236}">
                              <a16:creationId xmlns:a16="http://schemas.microsoft.com/office/drawing/2014/main" id="{BA665E7D-FB36-06F2-381B-D24B362CA4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2" y="1170"/>
                          <a:ext cx="245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69" name="Object 65">
            <a:extLst>
              <a:ext uri="{FF2B5EF4-FFF2-40B4-BE49-F238E27FC236}">
                <a16:creationId xmlns:a16="http://schemas.microsoft.com/office/drawing/2014/main" id="{7E0366DC-78D7-9B9B-218F-DD4F979D37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3640138"/>
          <a:ext cx="2705100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79280" imgH="583920" progId="Equation.3">
                  <p:embed/>
                </p:oleObj>
              </mc:Choice>
              <mc:Fallback>
                <p:oleObj name="Equation" r:id="rId9" imgW="1079280" imgH="583920" progId="Equation.3">
                  <p:embed/>
                  <p:pic>
                    <p:nvPicPr>
                      <p:cNvPr id="47169" name="Object 65">
                        <a:extLst>
                          <a:ext uri="{FF2B5EF4-FFF2-40B4-BE49-F238E27FC236}">
                            <a16:creationId xmlns:a16="http://schemas.microsoft.com/office/drawing/2014/main" id="{7E0366DC-78D7-9B9B-218F-DD4F979D37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640138"/>
                        <a:ext cx="2705100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0" name="Object 66">
            <a:extLst>
              <a:ext uri="{FF2B5EF4-FFF2-40B4-BE49-F238E27FC236}">
                <a16:creationId xmlns:a16="http://schemas.microsoft.com/office/drawing/2014/main" id="{AB37742E-0B8D-5E0E-3CD2-F6E661FB71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5381626"/>
          <a:ext cx="33416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33440" imgH="253800" progId="Equation.3">
                  <p:embed/>
                </p:oleObj>
              </mc:Choice>
              <mc:Fallback>
                <p:oleObj name="Equation" r:id="rId11" imgW="1333440" imgH="253800" progId="Equation.3">
                  <p:embed/>
                  <p:pic>
                    <p:nvPicPr>
                      <p:cNvPr id="47170" name="Object 66">
                        <a:extLst>
                          <a:ext uri="{FF2B5EF4-FFF2-40B4-BE49-F238E27FC236}">
                            <a16:creationId xmlns:a16="http://schemas.microsoft.com/office/drawing/2014/main" id="{AB37742E-0B8D-5E0E-3CD2-F6E661FB71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381626"/>
                        <a:ext cx="3341688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4ECC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A12B935A-C715-2DA6-1CB6-FB80E6127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53087" y="1467775"/>
            <a:ext cx="8726749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dirty="0">
                <a:ea typeface="굴림" charset="-127"/>
              </a:rPr>
              <a:t>The value of </a:t>
            </a:r>
            <a:r>
              <a:rPr lang="en-US" altLang="ko-KR" i="1" dirty="0">
                <a:ea typeface="굴림" charset="-127"/>
              </a:rPr>
              <a:t>s</a:t>
            </a:r>
            <a:r>
              <a:rPr lang="en-US" altLang="ko-KR" dirty="0">
                <a:ea typeface="굴림" charset="-127"/>
              </a:rPr>
              <a:t> is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ALWAYS</a:t>
            </a:r>
            <a:r>
              <a:rPr lang="en-US" altLang="ko-KR" dirty="0">
                <a:ea typeface="굴림" charset="-127"/>
              </a:rPr>
              <a:t> positive.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dirty="0">
                <a:ea typeface="굴림" charset="-127"/>
              </a:rPr>
              <a:t>The larger the value of </a:t>
            </a:r>
            <a:r>
              <a:rPr lang="en-US" altLang="ko-KR" i="1" dirty="0">
                <a:ea typeface="굴림" charset="-127"/>
              </a:rPr>
              <a:t>s</a:t>
            </a:r>
            <a:r>
              <a:rPr lang="en-US" altLang="ko-KR" baseline="30000" dirty="0">
                <a:ea typeface="굴림" charset="-127"/>
              </a:rPr>
              <a:t>2</a:t>
            </a:r>
            <a:r>
              <a:rPr lang="en-US" altLang="ko-KR" dirty="0">
                <a:ea typeface="굴림" charset="-127"/>
              </a:rPr>
              <a:t> or </a:t>
            </a:r>
            <a:r>
              <a:rPr lang="en-US" altLang="ko-KR" i="1" dirty="0">
                <a:ea typeface="굴림" charset="-127"/>
              </a:rPr>
              <a:t>s</a:t>
            </a:r>
            <a:r>
              <a:rPr lang="en-US" altLang="ko-KR" dirty="0">
                <a:ea typeface="굴림" charset="-127"/>
              </a:rPr>
              <a:t>, the larger the variability of the data set.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Why divide by n –1?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dirty="0">
                <a:ea typeface="굴림" charset="-127"/>
              </a:rPr>
              <a:t>The sample standard deviation </a:t>
            </a:r>
            <a:r>
              <a:rPr lang="en-US" altLang="ko-KR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</a:t>
            </a:r>
            <a:r>
              <a:rPr lang="en-US" altLang="ko-KR" dirty="0">
                <a:ea typeface="굴림" charset="-127"/>
              </a:rPr>
              <a:t> is often used to estimate the population standard deviation </a:t>
            </a:r>
            <a:r>
              <a:rPr lang="en-US" altLang="ko-KR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  <a:ea typeface="굴림" charset="-127"/>
              </a:rPr>
              <a:t>s</a:t>
            </a:r>
            <a:r>
              <a:rPr lang="en-US" altLang="ko-KR" dirty="0">
                <a:latin typeface="Symbol" pitchFamily="18" charset="2"/>
                <a:ea typeface="굴림" charset="-127"/>
              </a:rPr>
              <a:t>. </a:t>
            </a:r>
            <a:r>
              <a:rPr lang="en-US" altLang="ko-KR" dirty="0">
                <a:ea typeface="굴림" charset="-127"/>
              </a:rPr>
              <a:t>Dividing by </a:t>
            </a:r>
            <a:r>
              <a:rPr lang="en-US" altLang="ko-KR" i="1" dirty="0">
                <a:ea typeface="굴림" charset="-127"/>
              </a:rPr>
              <a:t>n</a:t>
            </a:r>
            <a:r>
              <a:rPr lang="en-US" altLang="ko-KR" dirty="0">
                <a:ea typeface="굴림" charset="-127"/>
              </a:rPr>
              <a:t> –1 gives us a better estimate of </a:t>
            </a:r>
            <a:r>
              <a:rPr lang="en-US" altLang="ko-KR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  <a:ea typeface="굴림" charset="-127"/>
              </a:rPr>
              <a:t>s.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93F69AD-58E8-A6E4-F153-AEBFFDE6D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0576" y="228600"/>
            <a:ext cx="65532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Some Notes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uild="p" bldLvl="2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>
            <a:extLst>
              <a:ext uri="{FF2B5EF4-FFF2-40B4-BE49-F238E27FC236}">
                <a16:creationId xmlns:a16="http://schemas.microsoft.com/office/drawing/2014/main" id="{57C7250C-711F-C69F-3732-D386C7C5D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6326" y="172945"/>
            <a:ext cx="8527473" cy="1325563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ko-KR" dirty="0">
                <a:ea typeface="굴림" charset="-127"/>
              </a:rPr>
              <a:t>Using Measures of Center and Spread: </a:t>
            </a:r>
            <a:r>
              <a:rPr lang="en-US" altLang="ko-KR" dirty="0" err="1">
                <a:ea typeface="굴림" charset="-127"/>
              </a:rPr>
              <a:t>Tchebysheff’s</a:t>
            </a:r>
            <a:r>
              <a:rPr lang="en-US" altLang="ko-KR" dirty="0">
                <a:ea typeface="굴림" charset="-127"/>
              </a:rPr>
              <a:t> Theorem</a:t>
            </a:r>
          </a:p>
        </p:txBody>
      </p:sp>
      <p:sp>
        <p:nvSpPr>
          <p:cNvPr id="49158" name="Text Box 6">
            <a:extLst>
              <a:ext uri="{FF2B5EF4-FFF2-40B4-BE49-F238E27FC236}">
                <a16:creationId xmlns:a16="http://schemas.microsoft.com/office/drawing/2014/main" id="{88244C26-C3BA-207A-B247-29F4D888E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524000"/>
            <a:ext cx="7696200" cy="1828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Given a number </a:t>
            </a:r>
            <a:r>
              <a:rPr lang="en-US" altLang="ko-KR" sz="2800" i="1">
                <a:solidFill>
                  <a:srgbClr val="333333"/>
                </a:solidFill>
                <a:ea typeface="굴림" charset="-127"/>
              </a:rPr>
              <a:t>k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greater than or equal to 1 and a set of </a:t>
            </a:r>
            <a:r>
              <a:rPr lang="en-US" altLang="ko-KR" sz="2800" i="1">
                <a:solidFill>
                  <a:srgbClr val="333333"/>
                </a:solidFill>
                <a:ea typeface="굴림" charset="-127"/>
              </a:rPr>
              <a:t>n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measurements, at least 1-(1/</a:t>
            </a:r>
            <a:r>
              <a:rPr lang="en-US" altLang="ko-KR" sz="2800" i="1">
                <a:solidFill>
                  <a:srgbClr val="333333"/>
                </a:solidFill>
                <a:ea typeface="굴림" charset="-127"/>
              </a:rPr>
              <a:t>k</a:t>
            </a:r>
            <a:r>
              <a:rPr lang="en-US" altLang="ko-KR" sz="2800" baseline="30000">
                <a:solidFill>
                  <a:srgbClr val="333333"/>
                </a:solidFill>
                <a:ea typeface="굴림" charset="-127"/>
              </a:rPr>
              <a:t>2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) of the measurement will lie within </a:t>
            </a:r>
            <a:r>
              <a:rPr lang="en-US" altLang="ko-KR" sz="2800" i="1">
                <a:solidFill>
                  <a:srgbClr val="333333"/>
                </a:solidFill>
                <a:ea typeface="굴림" charset="-127"/>
              </a:rPr>
              <a:t>k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standard deviations of the mean.</a:t>
            </a:r>
          </a:p>
        </p:txBody>
      </p:sp>
      <p:sp>
        <p:nvSpPr>
          <p:cNvPr id="49159" name="Text Box 7">
            <a:extLst>
              <a:ext uri="{FF2B5EF4-FFF2-40B4-BE49-F238E27FC236}">
                <a16:creationId xmlns:a16="http://schemas.microsoft.com/office/drawing/2014/main" id="{97AD8426-A5B8-8146-A1CD-84AD4D40C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3429000"/>
            <a:ext cx="1158535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ko-KR" altLang="en-US" sz="2800" dirty="0">
                <a:solidFill>
                  <a:srgbClr val="339933"/>
                </a:solidFill>
                <a:ea typeface="굴림" charset="-127"/>
              </a:rPr>
              <a:t> 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Can be used to describe either samples (     and </a:t>
            </a:r>
            <a:r>
              <a:rPr lang="en-US" altLang="ko-KR" sz="2800" i="1" dirty="0">
                <a:solidFill>
                  <a:srgbClr val="339933"/>
                </a:solidFill>
                <a:ea typeface="굴림" charset="-127"/>
              </a:rPr>
              <a:t>s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) or a population (</a:t>
            </a:r>
            <a:r>
              <a:rPr lang="en-US" altLang="ko-KR" sz="2800" dirty="0">
                <a:solidFill>
                  <a:srgbClr val="339933"/>
                </a:solidFill>
                <a:latin typeface="Symbol" pitchFamily="18" charset="2"/>
                <a:ea typeface="굴림" charset="-127"/>
              </a:rPr>
              <a:t>m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 and </a:t>
            </a:r>
            <a:r>
              <a:rPr lang="en-US" altLang="ko-KR" sz="2800" dirty="0">
                <a:solidFill>
                  <a:srgbClr val="339933"/>
                </a:solidFill>
                <a:latin typeface="Symbol" pitchFamily="18" charset="2"/>
                <a:ea typeface="굴림" charset="-127"/>
              </a:rPr>
              <a:t>s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).</a:t>
            </a:r>
          </a:p>
          <a:p>
            <a:pPr>
              <a:buFont typeface="Wingdings" pitchFamily="2" charset="2"/>
              <a:buChar char="ü"/>
              <a:defRPr/>
            </a:pP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Important results: 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If </a:t>
            </a:r>
            <a:r>
              <a:rPr lang="en-US" altLang="ko-KR" sz="2800" i="1" dirty="0">
                <a:solidFill>
                  <a:srgbClr val="339933"/>
                </a:solidFill>
                <a:ea typeface="굴림" charset="-127"/>
              </a:rPr>
              <a:t>k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 = 2, </a:t>
            </a:r>
            <a:r>
              <a:rPr lang="en-US" altLang="ko-KR" sz="2800" dirty="0">
                <a:solidFill>
                  <a:srgbClr val="CC0066"/>
                </a:solidFill>
                <a:ea typeface="굴림" charset="-127"/>
              </a:rPr>
              <a:t>at least 1 – 1/2</a:t>
            </a:r>
            <a:r>
              <a:rPr lang="en-US" altLang="ko-KR" sz="2800" baseline="30000" dirty="0">
                <a:solidFill>
                  <a:srgbClr val="CC0066"/>
                </a:solidFill>
                <a:ea typeface="굴림" charset="-127"/>
              </a:rPr>
              <a:t>2</a:t>
            </a:r>
            <a:r>
              <a:rPr lang="en-US" altLang="ko-KR" sz="2800" dirty="0">
                <a:solidFill>
                  <a:srgbClr val="CC0066"/>
                </a:solidFill>
                <a:ea typeface="굴림" charset="-127"/>
              </a:rPr>
              <a:t> = 3/4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 of the measurements are within 2 standard deviations of the mean.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If </a:t>
            </a:r>
            <a:r>
              <a:rPr lang="en-US" altLang="ko-KR" sz="2800" i="1" dirty="0">
                <a:solidFill>
                  <a:srgbClr val="339933"/>
                </a:solidFill>
                <a:ea typeface="굴림" charset="-127"/>
              </a:rPr>
              <a:t>k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 = 3, </a:t>
            </a:r>
            <a:r>
              <a:rPr lang="en-US" altLang="ko-KR" sz="2800" dirty="0">
                <a:solidFill>
                  <a:srgbClr val="CC0066"/>
                </a:solidFill>
                <a:ea typeface="굴림" charset="-127"/>
              </a:rPr>
              <a:t>at least 1 – 1/3</a:t>
            </a:r>
            <a:r>
              <a:rPr lang="en-US" altLang="ko-KR" sz="2800" baseline="30000" dirty="0">
                <a:solidFill>
                  <a:srgbClr val="CC0066"/>
                </a:solidFill>
                <a:ea typeface="굴림" charset="-127"/>
              </a:rPr>
              <a:t>2</a:t>
            </a:r>
            <a:r>
              <a:rPr lang="en-US" altLang="ko-KR" sz="2800" dirty="0">
                <a:solidFill>
                  <a:srgbClr val="CC0066"/>
                </a:solidFill>
                <a:ea typeface="굴림" charset="-127"/>
              </a:rPr>
              <a:t> = 8/9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 of the measurements are within 3 standard deviations of the mean.</a:t>
            </a:r>
          </a:p>
        </p:txBody>
      </p:sp>
      <p:graphicFrame>
        <p:nvGraphicFramePr>
          <p:cNvPr id="9218" name="Object 9">
            <a:extLst>
              <a:ext uri="{FF2B5EF4-FFF2-40B4-BE49-F238E27FC236}">
                <a16:creationId xmlns:a16="http://schemas.microsoft.com/office/drawing/2014/main" id="{4A6B2DB8-75D2-4A73-6AB0-AA3224CFDC1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231599"/>
              </p:ext>
            </p:extLst>
          </p:nvPr>
        </p:nvGraphicFramePr>
        <p:xfrm>
          <a:off x="6772378" y="3500435"/>
          <a:ext cx="3048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9218" name="Object 9">
                        <a:extLst>
                          <a:ext uri="{FF2B5EF4-FFF2-40B4-BE49-F238E27FC236}">
                            <a16:creationId xmlns:a16="http://schemas.microsoft.com/office/drawing/2014/main" id="{4A6B2DB8-75D2-4A73-6AB0-AA3224CFDC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378" y="3500435"/>
                        <a:ext cx="3048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797ED14-FC6C-606A-0886-D951C5D7B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8812" y="253207"/>
            <a:ext cx="7048870" cy="14478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altLang="ko-KR" dirty="0">
                <a:ea typeface="굴림" charset="-127"/>
              </a:rPr>
              <a:t>Using Measures of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Center and Spread: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The Empirical Rule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08FFEE9E-0750-685F-949D-7B1327A91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992314"/>
            <a:ext cx="7696200" cy="4179887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Given a distribution of measurements</a:t>
            </a:r>
          </a:p>
          <a:p>
            <a:pPr>
              <a:defRPr/>
            </a:pP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that is approximately mound-shaped:</a:t>
            </a:r>
          </a:p>
          <a:p>
            <a:pPr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The interval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m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  <a:sym typeface="Symbol" pitchFamily="18" charset="2"/>
              </a:rPr>
              <a:t>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s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contains approximately 68% of the measurements.</a:t>
            </a:r>
          </a:p>
          <a:p>
            <a:pPr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The interval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m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  <a:sym typeface="Symbol" pitchFamily="18" charset="2"/>
              </a:rPr>
              <a:t>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2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s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contains approximately 95% of the measurements.</a:t>
            </a:r>
          </a:p>
          <a:p>
            <a:pPr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The interval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m 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  <a:sym typeface="Symbol" pitchFamily="18" charset="2"/>
              </a:rPr>
              <a:t>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3</a:t>
            </a:r>
            <a:r>
              <a:rPr lang="en-US" altLang="ko-KR" sz="280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s</a:t>
            </a:r>
            <a:r>
              <a:rPr lang="en-US" altLang="ko-KR" sz="2800">
                <a:solidFill>
                  <a:srgbClr val="333333"/>
                </a:solidFill>
                <a:ea typeface="굴림" charset="-127"/>
              </a:rPr>
              <a:t> contains approximately 99.7% of the measurements.</a:t>
            </a:r>
          </a:p>
        </p:txBody>
      </p:sp>
      <p:grpSp>
        <p:nvGrpSpPr>
          <p:cNvPr id="31749" name="Group 9">
            <a:extLst>
              <a:ext uri="{FF2B5EF4-FFF2-40B4-BE49-F238E27FC236}">
                <a16:creationId xmlns:a16="http://schemas.microsoft.com/office/drawing/2014/main" id="{E6AB75B7-4C5A-8B5B-D5B2-119FFF9A42A0}"/>
              </a:ext>
            </a:extLst>
          </p:cNvPr>
          <p:cNvGrpSpPr>
            <a:grpSpLocks/>
          </p:cNvGrpSpPr>
          <p:nvPr/>
        </p:nvGrpSpPr>
        <p:grpSpPr bwMode="auto">
          <a:xfrm>
            <a:off x="9992557" y="-38101"/>
            <a:ext cx="2133600" cy="1447800"/>
            <a:chOff x="4272" y="96"/>
            <a:chExt cx="1344" cy="912"/>
          </a:xfrm>
        </p:grpSpPr>
        <p:sp>
          <p:nvSpPr>
            <p:cNvPr id="51208" name="Rectangle 8">
              <a:extLst>
                <a:ext uri="{FF2B5EF4-FFF2-40B4-BE49-F238E27FC236}">
                  <a16:creationId xmlns:a16="http://schemas.microsoft.com/office/drawing/2014/main" id="{2D79BDF0-6791-F9DF-28B6-187C6982C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96"/>
              <a:ext cx="1344" cy="912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31751" name="Picture 7" descr="normal">
              <a:extLst>
                <a:ext uri="{FF2B5EF4-FFF2-40B4-BE49-F238E27FC236}">
                  <a16:creationId xmlns:a16="http://schemas.microsoft.com/office/drawing/2014/main" id="{4E0A4860-DD2F-4F35-1708-2E66CAF4F4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192"/>
              <a:ext cx="1239" cy="727"/>
            </a:xfrm>
            <a:prstGeom prst="rect">
              <a:avLst/>
            </a:prstGeom>
            <a:noFill/>
            <a:ln w="9525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444896A-A94F-DDA4-0E3B-DB40B134D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5E8DE9F-CA6F-2B0C-8F57-8D27511DD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7278" y="1216241"/>
            <a:ext cx="8001000" cy="3048000"/>
          </a:xfrm>
        </p:spPr>
        <p:txBody>
          <a:bodyPr>
            <a:normAutofit fontScale="92500"/>
          </a:bodyPr>
          <a:lstStyle/>
          <a:p>
            <a:pPr eaLnBrk="1" hangingPunct="1">
              <a:buFontTx/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The ages of 50 tenured faculty at 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state university.</a:t>
            </a:r>
          </a:p>
          <a:p>
            <a:pPr eaLnBrk="1" hangingPunct="1"/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34   48   </a:t>
            </a:r>
            <a:r>
              <a:rPr lang="en-US" altLang="ko-KR" sz="2400" dirty="0">
                <a:ea typeface="굴림" panose="020B0600000101010101" pitchFamily="34" charset="-127"/>
              </a:rPr>
              <a:t>70</a:t>
            </a:r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   63   52   52   35   50   37   43   53   43   52   44  </a:t>
            </a:r>
          </a:p>
          <a:p>
            <a:pPr eaLnBrk="1" hangingPunct="1"/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42   31   36   48   43   </a:t>
            </a:r>
            <a:r>
              <a:rPr lang="en-US" altLang="ko-KR" sz="2400" dirty="0">
                <a:ea typeface="굴림" panose="020B0600000101010101" pitchFamily="34" charset="-127"/>
              </a:rPr>
              <a:t>26</a:t>
            </a:r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   58   62   49   34   48   53   39	45</a:t>
            </a:r>
          </a:p>
          <a:p>
            <a:pPr eaLnBrk="1" hangingPunct="1"/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34   59   34   66   40   59   36   41   35   36   62   34   38   28</a:t>
            </a:r>
          </a:p>
          <a:p>
            <a:pPr eaLnBrk="1" hangingPunct="1"/>
            <a:r>
              <a:rPr lang="en-US" altLang="ko-KR" sz="2400" dirty="0">
                <a:solidFill>
                  <a:srgbClr val="CC0066"/>
                </a:solidFill>
                <a:ea typeface="굴림" panose="020B0600000101010101" pitchFamily="34" charset="-127"/>
              </a:rPr>
              <a:t>43   50   30   43   32   44   58   53</a:t>
            </a:r>
          </a:p>
          <a:p>
            <a:pPr eaLnBrk="1" hangingPunct="1"/>
            <a:endParaRPr lang="en-US" altLang="ko-KR" sz="2400" dirty="0">
              <a:solidFill>
                <a:srgbClr val="CC0066"/>
              </a:solidFill>
              <a:ea typeface="굴림" panose="020B0600000101010101" pitchFamily="34" charset="-127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C5C800DC-F89C-929D-1555-119D5BB40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905000"/>
            <a:ext cx="7772400" cy="1905000"/>
          </a:xfrm>
          <a:prstGeom prst="rect">
            <a:avLst/>
          </a:prstGeom>
          <a:noFill/>
          <a:ln w="9525">
            <a:solidFill>
              <a:srgbClr val="3399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0246" name="Group 7">
            <a:extLst>
              <a:ext uri="{FF2B5EF4-FFF2-40B4-BE49-F238E27FC236}">
                <a16:creationId xmlns:a16="http://schemas.microsoft.com/office/drawing/2014/main" id="{90B50CFC-630C-65CF-5E1D-4E1156C86315}"/>
              </a:ext>
            </a:extLst>
          </p:cNvPr>
          <p:cNvGrpSpPr>
            <a:grpSpLocks/>
          </p:cNvGrpSpPr>
          <p:nvPr/>
        </p:nvGrpSpPr>
        <p:grpSpPr bwMode="auto">
          <a:xfrm>
            <a:off x="10134600" y="0"/>
            <a:ext cx="1981200" cy="1600200"/>
            <a:chOff x="4416" y="96"/>
            <a:chExt cx="1248" cy="1008"/>
          </a:xfrm>
        </p:grpSpPr>
        <p:sp>
          <p:nvSpPr>
            <p:cNvPr id="53256" name="Rectangle 8">
              <a:extLst>
                <a:ext uri="{FF2B5EF4-FFF2-40B4-BE49-F238E27FC236}">
                  <a16:creationId xmlns:a16="http://schemas.microsoft.com/office/drawing/2014/main" id="{69FA8F59-FA7A-E0CF-0586-84B7450AD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"/>
              <a:ext cx="1248" cy="1008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0256" name="Picture 9" descr="faculty">
              <a:extLst>
                <a:ext uri="{FF2B5EF4-FFF2-40B4-BE49-F238E27FC236}">
                  <a16:creationId xmlns:a16="http://schemas.microsoft.com/office/drawing/2014/main" id="{F73D5505-E807-05CD-A92E-360E18732C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192"/>
              <a:ext cx="1080" cy="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742F3F78-13D9-0998-24F5-AD74131CE2D9}"/>
              </a:ext>
            </a:extLst>
          </p:cNvPr>
          <p:cNvGrpSpPr>
            <a:grpSpLocks/>
          </p:cNvGrpSpPr>
          <p:nvPr/>
        </p:nvGrpSpPr>
        <p:grpSpPr bwMode="auto">
          <a:xfrm>
            <a:off x="6028678" y="4035641"/>
            <a:ext cx="3962400" cy="2438400"/>
            <a:chOff x="1488" y="2064"/>
            <a:chExt cx="3120" cy="2064"/>
          </a:xfrm>
        </p:grpSpPr>
        <p:sp>
          <p:nvSpPr>
            <p:cNvPr id="53260" name="Rectangle 12">
              <a:extLst>
                <a:ext uri="{FF2B5EF4-FFF2-40B4-BE49-F238E27FC236}">
                  <a16:creationId xmlns:a16="http://schemas.microsoft.com/office/drawing/2014/main" id="{65E19C4F-6A4F-6D75-03BD-8228F36FD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3120" cy="2064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0254" name="Picture 13" descr="faculty">
              <a:extLst>
                <a:ext uri="{FF2B5EF4-FFF2-40B4-BE49-F238E27FC236}">
                  <a16:creationId xmlns:a16="http://schemas.microsoft.com/office/drawing/2014/main" id="{7030D7AE-5E1F-11A5-DA85-790D051B90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8" y="2208"/>
              <a:ext cx="2904" cy="1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95D6BCB4-1658-592B-348F-279385CF9D6E}"/>
              </a:ext>
            </a:extLst>
          </p:cNvPr>
          <p:cNvGrpSpPr>
            <a:grpSpLocks/>
          </p:cNvGrpSpPr>
          <p:nvPr/>
        </p:nvGrpSpPr>
        <p:grpSpPr bwMode="auto">
          <a:xfrm>
            <a:off x="2752078" y="4340441"/>
            <a:ext cx="2286000" cy="1600200"/>
            <a:chOff x="768" y="2544"/>
            <a:chExt cx="1440" cy="1008"/>
          </a:xfrm>
        </p:grpSpPr>
        <p:sp>
          <p:nvSpPr>
            <p:cNvPr id="53262" name="Rectangle 14">
              <a:extLst>
                <a:ext uri="{FF2B5EF4-FFF2-40B4-BE49-F238E27FC236}">
                  <a16:creationId xmlns:a16="http://schemas.microsoft.com/office/drawing/2014/main" id="{B1365108-9B43-456F-0E85-12F80CB55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544"/>
              <a:ext cx="1440" cy="1008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10242" name="Object 15">
              <a:extLst>
                <a:ext uri="{FF2B5EF4-FFF2-40B4-BE49-F238E27FC236}">
                  <a16:creationId xmlns:a16="http://schemas.microsoft.com/office/drawing/2014/main" id="{2EB7D868-73ED-1AD1-AECA-EF07EBBE60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2688"/>
            <a:ext cx="1048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83920" imgH="406080" progId="Equation.3">
                    <p:embed/>
                  </p:oleObj>
                </mc:Choice>
                <mc:Fallback>
                  <p:oleObj name="Equation" r:id="rId4" imgW="583920" imgH="406080" progId="Equation.3">
                    <p:embed/>
                    <p:pic>
                      <p:nvPicPr>
                        <p:cNvPr id="10242" name="Object 15">
                          <a:extLst>
                            <a:ext uri="{FF2B5EF4-FFF2-40B4-BE49-F238E27FC236}">
                              <a16:creationId xmlns:a16="http://schemas.microsoft.com/office/drawing/2014/main" id="{2EB7D868-73ED-1AD1-AECA-EF07EBBE60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688"/>
                          <a:ext cx="1048" cy="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65" name="Text Box 17">
            <a:extLst>
              <a:ext uri="{FF2B5EF4-FFF2-40B4-BE49-F238E27FC236}">
                <a16:creationId xmlns:a16="http://schemas.microsoft.com/office/drawing/2014/main" id="{06888711-BA3E-1D00-0BE7-DC2C3AC8E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2478" y="6169241"/>
            <a:ext cx="1600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Shape?</a:t>
            </a:r>
          </a:p>
        </p:txBody>
      </p:sp>
      <p:sp>
        <p:nvSpPr>
          <p:cNvPr id="53268" name="Text Box 20">
            <a:extLst>
              <a:ext uri="{FF2B5EF4-FFF2-40B4-BE49-F238E27FC236}">
                <a16:creationId xmlns:a16="http://schemas.microsoft.com/office/drawing/2014/main" id="{5E9E060C-CDDD-D544-9080-5C7921023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7878" y="6169241"/>
            <a:ext cx="259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Skewed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5" grpId="0" autoUpdateAnimBg="0"/>
      <p:bldP spid="5326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402" name="Group 130">
            <a:extLst>
              <a:ext uri="{FF2B5EF4-FFF2-40B4-BE49-F238E27FC236}">
                <a16:creationId xmlns:a16="http://schemas.microsoft.com/office/drawing/2014/main" id="{5E4EB4A9-62DB-1A6F-857A-289557A83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834493"/>
              </p:ext>
            </p:extLst>
          </p:nvPr>
        </p:nvGraphicFramePr>
        <p:xfrm>
          <a:off x="2826013" y="510469"/>
          <a:ext cx="8110537" cy="1951039"/>
        </p:xfrm>
        <a:graphic>
          <a:graphicData uri="http://schemas.openxmlformats.org/drawingml/2006/table">
            <a:tbl>
              <a:tblPr/>
              <a:tblGrid>
                <a:gridCol w="427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1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k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</a:t>
                      </a:r>
                      <a:r>
                        <a:rPr kumimoji="0" lang="en-US" altLang="ko-KR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ks</a:t>
                      </a:r>
                      <a:endParaRPr kumimoji="0" lang="en-US" altLang="ko-KR" sz="2000" b="1" i="1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Interval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Proportion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in Interval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Tchebysheff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Empirical Rule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44.9 </a:t>
                      </a: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10.73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34.17 to 55.63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31/50 (.62)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At least 0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 </a:t>
                      </a: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.68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44.9 </a:t>
                      </a: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21.46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23.44 to 66.36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49/50 (.98)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At least .75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 </a:t>
                      </a: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.95</a:t>
                      </a:r>
                      <a:endParaRPr kumimoji="0" lang="en-US" altLang="ko-KR" sz="20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44.9 </a:t>
                      </a: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32.19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12.71 to 77.09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50/50 (1.00)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At least .89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 </a:t>
                      </a:r>
                      <a:r>
                        <a:rPr kumimoji="0" lang="en-US" altLang="ko-K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굴림" charset="-127"/>
                          <a:sym typeface="Symbol" pitchFamily="18" charset="2"/>
                        </a:rPr>
                        <a:t>.997</a:t>
                      </a:r>
                      <a:endParaRPr kumimoji="0" lang="en-US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3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266" name="Object 80">
            <a:extLst>
              <a:ext uri="{FF2B5EF4-FFF2-40B4-BE49-F238E27FC236}">
                <a16:creationId xmlns:a16="http://schemas.microsoft.com/office/drawing/2014/main" id="{D9527138-9B05-81CB-D18A-2E43D6A21F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533400"/>
          <a:ext cx="2571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3">
                  <p:embed/>
                </p:oleObj>
              </mc:Choice>
              <mc:Fallback>
                <p:oleObj name="Equation" r:id="rId2" imgW="139680" imgH="164880" progId="Equation.3">
                  <p:embed/>
                  <p:pic>
                    <p:nvPicPr>
                      <p:cNvPr id="11266" name="Object 80">
                        <a:extLst>
                          <a:ext uri="{FF2B5EF4-FFF2-40B4-BE49-F238E27FC236}">
                            <a16:creationId xmlns:a16="http://schemas.microsoft.com/office/drawing/2014/main" id="{D9527138-9B05-81CB-D18A-2E43D6A21F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533400"/>
                        <a:ext cx="2571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82" name="Text Box 110">
            <a:extLst>
              <a:ext uri="{FF2B5EF4-FFF2-40B4-BE49-F238E27FC236}">
                <a16:creationId xmlns:a16="http://schemas.microsoft.com/office/drawing/2014/main" id="{F66DCFE4-2017-755C-E07B-E5CBC3E6C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507" y="3025679"/>
            <a:ext cx="5237825" cy="2308324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Do the actual proportions in the three intervals agree with those given by Tchebysheff’s Theorem?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Do they agree with the Empirical Rule?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Why or why not?</a:t>
            </a:r>
          </a:p>
        </p:txBody>
      </p:sp>
      <p:grpSp>
        <p:nvGrpSpPr>
          <p:cNvPr id="2" name="Group 120">
            <a:extLst>
              <a:ext uri="{FF2B5EF4-FFF2-40B4-BE49-F238E27FC236}">
                <a16:creationId xmlns:a16="http://schemas.microsoft.com/office/drawing/2014/main" id="{1C332184-EE0B-9189-FA08-B8CCE6A4CF37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2743200"/>
            <a:ext cx="3657600" cy="1200150"/>
            <a:chOff x="3456" y="2112"/>
            <a:chExt cx="2304" cy="756"/>
          </a:xfrm>
        </p:grpSpPr>
        <p:sp>
          <p:nvSpPr>
            <p:cNvPr id="11313" name="Text Box 112">
              <a:extLst>
                <a:ext uri="{FF2B5EF4-FFF2-40B4-BE49-F238E27FC236}">
                  <a16:creationId xmlns:a16="http://schemas.microsoft.com/office/drawing/2014/main" id="{4887BE11-A7B7-52DB-F7E3-DA0F91D39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112"/>
              <a:ext cx="1824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Yes. Tchebysheff’s Theorem must be true for any data set.</a:t>
              </a:r>
            </a:p>
          </p:txBody>
        </p:sp>
        <p:sp>
          <p:nvSpPr>
            <p:cNvPr id="11314" name="Line 115">
              <a:extLst>
                <a:ext uri="{FF2B5EF4-FFF2-40B4-BE49-F238E27FC236}">
                  <a16:creationId xmlns:a16="http://schemas.microsoft.com/office/drawing/2014/main" id="{BA2EC6A3-58C7-8F03-DE8C-7BDB30CF39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448"/>
              <a:ext cx="432" cy="0"/>
            </a:xfrm>
            <a:prstGeom prst="line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3" name="Group 119">
            <a:extLst>
              <a:ext uri="{FF2B5EF4-FFF2-40B4-BE49-F238E27FC236}">
                <a16:creationId xmlns:a16="http://schemas.microsoft.com/office/drawing/2014/main" id="{64B645D4-7183-AB26-DFF5-A9219B724F80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267200"/>
            <a:ext cx="3886200" cy="457200"/>
            <a:chOff x="3312" y="2976"/>
            <a:chExt cx="2448" cy="288"/>
          </a:xfrm>
        </p:grpSpPr>
        <p:sp>
          <p:nvSpPr>
            <p:cNvPr id="11311" name="Text Box 113">
              <a:extLst>
                <a:ext uri="{FF2B5EF4-FFF2-40B4-BE49-F238E27FC236}">
                  <a16:creationId xmlns:a16="http://schemas.microsoft.com/office/drawing/2014/main" id="{6211A4D7-40DA-04E1-7E84-24EA36D10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976"/>
              <a:ext cx="18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No. Not very well.</a:t>
              </a:r>
            </a:p>
          </p:txBody>
        </p:sp>
        <p:sp>
          <p:nvSpPr>
            <p:cNvPr id="11312" name="Line 116">
              <a:extLst>
                <a:ext uri="{FF2B5EF4-FFF2-40B4-BE49-F238E27FC236}">
                  <a16:creationId xmlns:a16="http://schemas.microsoft.com/office/drawing/2014/main" id="{3E76A686-18D0-ADC4-9D8E-96E091F51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" y="3120"/>
              <a:ext cx="624" cy="0"/>
            </a:xfrm>
            <a:prstGeom prst="line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118">
            <a:extLst>
              <a:ext uri="{FF2B5EF4-FFF2-40B4-BE49-F238E27FC236}">
                <a16:creationId xmlns:a16="http://schemas.microsoft.com/office/drawing/2014/main" id="{04123567-A178-1767-C665-C4C12AA562D3}"/>
              </a:ext>
            </a:extLst>
          </p:cNvPr>
          <p:cNvGrpSpPr>
            <a:grpSpLocks/>
          </p:cNvGrpSpPr>
          <p:nvPr/>
        </p:nvGrpSpPr>
        <p:grpSpPr bwMode="auto">
          <a:xfrm>
            <a:off x="5641970" y="4876804"/>
            <a:ext cx="6324600" cy="830263"/>
            <a:chOff x="2450" y="3360"/>
            <a:chExt cx="3984" cy="523"/>
          </a:xfrm>
        </p:grpSpPr>
        <p:sp>
          <p:nvSpPr>
            <p:cNvPr id="11309" name="Text Box 114">
              <a:extLst>
                <a:ext uri="{FF2B5EF4-FFF2-40B4-BE49-F238E27FC236}">
                  <a16:creationId xmlns:a16="http://schemas.microsoft.com/office/drawing/2014/main" id="{1F9C3B8D-8A47-9944-812C-BB229D49D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3360"/>
              <a:ext cx="340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b="1" dirty="0">
                  <a:solidFill>
                    <a:srgbClr val="CC0066"/>
                  </a:solidFill>
                  <a:ea typeface="굴림" panose="020B0600000101010101" pitchFamily="34" charset="-127"/>
                </a:rPr>
                <a:t>The data distribution is not very mound-shaped, but skewed right.</a:t>
              </a:r>
            </a:p>
          </p:txBody>
        </p:sp>
        <p:sp>
          <p:nvSpPr>
            <p:cNvPr id="11310" name="Line 117">
              <a:extLst>
                <a:ext uri="{FF2B5EF4-FFF2-40B4-BE49-F238E27FC236}">
                  <a16:creationId xmlns:a16="http://schemas.microsoft.com/office/drawing/2014/main" id="{5562BF9C-714E-B2D3-3079-0D50934DA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0" y="3504"/>
              <a:ext cx="576" cy="0"/>
            </a:xfrm>
            <a:prstGeom prst="line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2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382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8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>
            <a:extLst>
              <a:ext uri="{FF2B5EF4-FFF2-40B4-BE49-F238E27FC236}">
                <a16:creationId xmlns:a16="http://schemas.microsoft.com/office/drawing/2014/main" id="{A9638404-B52F-30E4-DDF6-E05EE662D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228600"/>
            <a:ext cx="4572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grpSp>
        <p:nvGrpSpPr>
          <p:cNvPr id="32772" name="Group 37">
            <a:extLst>
              <a:ext uri="{FF2B5EF4-FFF2-40B4-BE49-F238E27FC236}">
                <a16:creationId xmlns:a16="http://schemas.microsoft.com/office/drawing/2014/main" id="{FB21C182-1508-2021-D38B-C3135D51CB82}"/>
              </a:ext>
            </a:extLst>
          </p:cNvPr>
          <p:cNvGrpSpPr>
            <a:grpSpLocks/>
          </p:cNvGrpSpPr>
          <p:nvPr/>
        </p:nvGrpSpPr>
        <p:grpSpPr bwMode="auto">
          <a:xfrm>
            <a:off x="9731406" y="-15875"/>
            <a:ext cx="2438400" cy="1676400"/>
            <a:chOff x="4032" y="48"/>
            <a:chExt cx="1536" cy="1056"/>
          </a:xfrm>
        </p:grpSpPr>
        <p:sp>
          <p:nvSpPr>
            <p:cNvPr id="50183" name="Rectangle 7">
              <a:extLst>
                <a:ext uri="{FF2B5EF4-FFF2-40B4-BE49-F238E27FC236}">
                  <a16:creationId xmlns:a16="http://schemas.microsoft.com/office/drawing/2014/main" id="{154342A1-36C9-4326-BE19-D68004645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48"/>
              <a:ext cx="1536" cy="105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32793" name="Picture 6" descr="worker">
              <a:extLst>
                <a:ext uri="{FF2B5EF4-FFF2-40B4-BE49-F238E27FC236}">
                  <a16:creationId xmlns:a16="http://schemas.microsoft.com/office/drawing/2014/main" id="{8824FC48-1A6F-E5F3-8940-3034CD2B5F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20"/>
              <a:ext cx="1374" cy="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73" name="Text Box 9">
            <a:extLst>
              <a:ext uri="{FF2B5EF4-FFF2-40B4-BE49-F238E27FC236}">
                <a16:creationId xmlns:a16="http://schemas.microsoft.com/office/drawing/2014/main" id="{8538D0A2-4EF8-CAF0-A6D2-1E29F3D43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240" y="1636456"/>
            <a:ext cx="998737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The length of time for a worker to complete a specified operation averages 12.8 minutes with a standard deviation of 1.7 minutes. If the distribution of times is approximately mound-shaped, what proportion of workers will take longer than 16.2 minutes to complete the task?</a:t>
            </a:r>
            <a:endParaRPr lang="en-US" altLang="ko-KR" sz="3200" dirty="0">
              <a:ea typeface="굴림" panose="020B0600000101010101" pitchFamily="34" charset="-127"/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E1D06B9D-8253-F4B9-DF6A-C46691A11B96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4343400"/>
            <a:ext cx="3505200" cy="2286000"/>
            <a:chOff x="672" y="2736"/>
            <a:chExt cx="2208" cy="1440"/>
          </a:xfrm>
        </p:grpSpPr>
        <p:sp>
          <p:nvSpPr>
            <p:cNvPr id="50188" name="Rectangle 12">
              <a:extLst>
                <a:ext uri="{FF2B5EF4-FFF2-40B4-BE49-F238E27FC236}">
                  <a16:creationId xmlns:a16="http://schemas.microsoft.com/office/drawing/2014/main" id="{DC896BDC-1DE1-B763-AE51-25302619D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736"/>
              <a:ext cx="2208" cy="1440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32791" name="Picture 16" descr="normal">
              <a:extLst>
                <a:ext uri="{FF2B5EF4-FFF2-40B4-BE49-F238E27FC236}">
                  <a16:creationId xmlns:a16="http://schemas.microsoft.com/office/drawing/2014/main" id="{773CF217-CD78-2B6B-FC26-61A7777F5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832"/>
              <a:ext cx="2016" cy="1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35">
            <a:extLst>
              <a:ext uri="{FF2B5EF4-FFF2-40B4-BE49-F238E27FC236}">
                <a16:creationId xmlns:a16="http://schemas.microsoft.com/office/drawing/2014/main" id="{6CDFEACC-F8EF-89A7-DC81-5EDF3996B40C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4419601"/>
            <a:ext cx="6477000" cy="1509713"/>
            <a:chOff x="1440" y="2784"/>
            <a:chExt cx="4080" cy="951"/>
          </a:xfrm>
        </p:grpSpPr>
        <p:sp>
          <p:nvSpPr>
            <p:cNvPr id="32783" name="Line 26">
              <a:extLst>
                <a:ext uri="{FF2B5EF4-FFF2-40B4-BE49-F238E27FC236}">
                  <a16:creationId xmlns:a16="http://schemas.microsoft.com/office/drawing/2014/main" id="{2754CAC9-CAAB-728D-1D27-4A4A954C1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456"/>
              <a:ext cx="576" cy="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grpSp>
          <p:nvGrpSpPr>
            <p:cNvPr id="32784" name="Group 34">
              <a:extLst>
                <a:ext uri="{FF2B5EF4-FFF2-40B4-BE49-F238E27FC236}">
                  <a16:creationId xmlns:a16="http://schemas.microsoft.com/office/drawing/2014/main" id="{2C46B55F-4C4F-D3FE-0809-4F89F83EA8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784"/>
              <a:ext cx="4080" cy="951"/>
              <a:chOff x="1440" y="2784"/>
              <a:chExt cx="4080" cy="951"/>
            </a:xfrm>
          </p:grpSpPr>
          <p:sp>
            <p:nvSpPr>
              <p:cNvPr id="32785" name="Text Box 21">
                <a:extLst>
                  <a:ext uri="{FF2B5EF4-FFF2-40B4-BE49-F238E27FC236}">
                    <a16:creationId xmlns:a16="http://schemas.microsoft.com/office/drawing/2014/main" id="{62F04CAC-B909-1AC1-2C76-F4E9496C05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0" y="3504"/>
                <a:ext cx="3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rgbClr val="333333"/>
                    </a:solidFill>
                    <a:ea typeface="굴림" panose="020B0600000101010101" pitchFamily="34" charset="-127"/>
                  </a:rPr>
                  <a:t>.475</a:t>
                </a:r>
              </a:p>
            </p:txBody>
          </p:sp>
          <p:sp>
            <p:nvSpPr>
              <p:cNvPr id="32786" name="Text Box 22">
                <a:extLst>
                  <a:ext uri="{FF2B5EF4-FFF2-40B4-BE49-F238E27FC236}">
                    <a16:creationId xmlns:a16="http://schemas.microsoft.com/office/drawing/2014/main" id="{0B6BACEB-51F1-013C-8679-F52BD8FC9E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504"/>
                <a:ext cx="3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rgbClr val="333333"/>
                    </a:solidFill>
                    <a:ea typeface="굴림" panose="020B0600000101010101" pitchFamily="34" charset="-127"/>
                  </a:rPr>
                  <a:t>.475</a:t>
                </a:r>
              </a:p>
            </p:txBody>
          </p:sp>
          <p:grpSp>
            <p:nvGrpSpPr>
              <p:cNvPr id="32787" name="Group 28">
                <a:extLst>
                  <a:ext uri="{FF2B5EF4-FFF2-40B4-BE49-F238E27FC236}">
                    <a16:creationId xmlns:a16="http://schemas.microsoft.com/office/drawing/2014/main" id="{DE4971DF-6A7D-AA51-237D-87DC655FB7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2784"/>
                <a:ext cx="3792" cy="672"/>
                <a:chOff x="1728" y="2784"/>
                <a:chExt cx="3792" cy="672"/>
              </a:xfrm>
            </p:grpSpPr>
            <p:sp>
              <p:nvSpPr>
                <p:cNvPr id="32788" name="Text Box 18">
                  <a:extLst>
                    <a:ext uri="{FF2B5EF4-FFF2-40B4-BE49-F238E27FC236}">
                      <a16:creationId xmlns:a16="http://schemas.microsoft.com/office/drawing/2014/main" id="{6C08FB1F-6143-EAC0-CBF8-2DB300F272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72" y="2784"/>
                  <a:ext cx="244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ko-KR" b="1">
                      <a:solidFill>
                        <a:srgbClr val="CC0066"/>
                      </a:solidFill>
                      <a:ea typeface="굴림" panose="020B0600000101010101" pitchFamily="34" charset="-127"/>
                    </a:rPr>
                    <a:t>95% between 9.4 and 16.2</a:t>
                  </a:r>
                </a:p>
              </p:txBody>
            </p:sp>
            <p:cxnSp>
              <p:nvCxnSpPr>
                <p:cNvPr id="32789" name="AutoShape 27">
                  <a:extLst>
                    <a:ext uri="{FF2B5EF4-FFF2-40B4-BE49-F238E27FC236}">
                      <a16:creationId xmlns:a16="http://schemas.microsoft.com/office/drawing/2014/main" id="{592745BF-16CA-6437-15D7-4A909213A40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1728" y="2928"/>
                  <a:ext cx="1296" cy="528"/>
                </a:xfrm>
                <a:prstGeom prst="curvedConnector3">
                  <a:avLst>
                    <a:gd name="adj1" fmla="val 81093"/>
                  </a:avLst>
                </a:prstGeom>
                <a:noFill/>
                <a:ln w="9525">
                  <a:solidFill>
                    <a:srgbClr val="CC0066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7" name="Group 41">
            <a:extLst>
              <a:ext uri="{FF2B5EF4-FFF2-40B4-BE49-F238E27FC236}">
                <a16:creationId xmlns:a16="http://schemas.microsoft.com/office/drawing/2014/main" id="{7F2A3277-FA1D-6394-A990-A8B0F7E00BA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953001"/>
            <a:ext cx="6019800" cy="976313"/>
            <a:chOff x="1968" y="3120"/>
            <a:chExt cx="3792" cy="615"/>
          </a:xfrm>
        </p:grpSpPr>
        <p:sp>
          <p:nvSpPr>
            <p:cNvPr id="32781" name="Text Box 19">
              <a:extLst>
                <a:ext uri="{FF2B5EF4-FFF2-40B4-BE49-F238E27FC236}">
                  <a16:creationId xmlns:a16="http://schemas.microsoft.com/office/drawing/2014/main" id="{8553E6C3-5E6E-EC58-301D-8D74D9807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3120"/>
              <a:ext cx="2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47.5% between 12.8 and 16.2</a:t>
              </a:r>
            </a:p>
          </p:txBody>
        </p:sp>
        <p:cxnSp>
          <p:nvCxnSpPr>
            <p:cNvPr id="32782" name="AutoShape 29">
              <a:extLst>
                <a:ext uri="{FF2B5EF4-FFF2-40B4-BE49-F238E27FC236}">
                  <a16:creationId xmlns:a16="http://schemas.microsoft.com/office/drawing/2014/main" id="{DA65ACB5-2B93-1FFC-5F36-9E3D55C36F4C}"/>
                </a:ext>
              </a:extLst>
            </p:cNvPr>
            <p:cNvCxnSpPr>
              <a:cxnSpLocks noChangeShapeType="1"/>
              <a:stCxn id="32781" idx="1"/>
              <a:endCxn id="32786" idx="2"/>
            </p:cNvCxnSpPr>
            <p:nvPr/>
          </p:nvCxnSpPr>
          <p:spPr bwMode="auto">
            <a:xfrm rot="10800000" flipV="1">
              <a:off x="1968" y="3264"/>
              <a:ext cx="1104" cy="471"/>
            </a:xfrm>
            <a:prstGeom prst="curvedConnector4">
              <a:avLst>
                <a:gd name="adj1" fmla="val 41306"/>
                <a:gd name="adj2" fmla="val 65815"/>
              </a:avLst>
            </a:pr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0199" name="Text Box 23">
            <a:extLst>
              <a:ext uri="{FF2B5EF4-FFF2-40B4-BE49-F238E27FC236}">
                <a16:creationId xmlns:a16="http://schemas.microsoft.com/office/drawing/2014/main" id="{75F866A4-74B1-C6BB-5E58-A8159AEBD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638801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>
                <a:ea typeface="굴림" panose="020B0600000101010101" pitchFamily="34" charset="-127"/>
              </a:rPr>
              <a:t>.025</a:t>
            </a:r>
          </a:p>
        </p:txBody>
      </p:sp>
      <p:grpSp>
        <p:nvGrpSpPr>
          <p:cNvPr id="8" name="Group 42">
            <a:extLst>
              <a:ext uri="{FF2B5EF4-FFF2-40B4-BE49-F238E27FC236}">
                <a16:creationId xmlns:a16="http://schemas.microsoft.com/office/drawing/2014/main" id="{64ED3B01-FA6A-9962-CFBF-87BE729E3F57}"/>
              </a:ext>
            </a:extLst>
          </p:cNvPr>
          <p:cNvGrpSpPr>
            <a:grpSpLocks/>
          </p:cNvGrpSpPr>
          <p:nvPr/>
        </p:nvGrpSpPr>
        <p:grpSpPr bwMode="auto">
          <a:xfrm>
            <a:off x="5268914" y="5562601"/>
            <a:ext cx="5322887" cy="614363"/>
            <a:chOff x="2359" y="3504"/>
            <a:chExt cx="3353" cy="387"/>
          </a:xfrm>
        </p:grpSpPr>
        <p:sp>
          <p:nvSpPr>
            <p:cNvPr id="32779" name="Text Box 20">
              <a:extLst>
                <a:ext uri="{FF2B5EF4-FFF2-40B4-BE49-F238E27FC236}">
                  <a16:creationId xmlns:a16="http://schemas.microsoft.com/office/drawing/2014/main" id="{504049A7-9CE6-0B7F-4AAD-0B80DC901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504"/>
              <a:ext cx="26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(50-47.5)% = 2.5% above 16.2</a:t>
              </a:r>
            </a:p>
          </p:txBody>
        </p:sp>
        <p:sp>
          <p:nvSpPr>
            <p:cNvPr id="32780" name="Freeform 40">
              <a:extLst>
                <a:ext uri="{FF2B5EF4-FFF2-40B4-BE49-F238E27FC236}">
                  <a16:creationId xmlns:a16="http://schemas.microsoft.com/office/drawing/2014/main" id="{214D121B-3C2E-0481-9F12-7B33BA091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3642"/>
              <a:ext cx="709" cy="249"/>
            </a:xfrm>
            <a:custGeom>
              <a:avLst/>
              <a:gdLst>
                <a:gd name="T0" fmla="*/ 709 w 709"/>
                <a:gd name="T1" fmla="*/ 14 h 249"/>
                <a:gd name="T2" fmla="*/ 427 w 709"/>
                <a:gd name="T3" fmla="*/ 37 h 249"/>
                <a:gd name="T4" fmla="*/ 215 w 709"/>
                <a:gd name="T5" fmla="*/ 167 h 249"/>
                <a:gd name="T6" fmla="*/ 121 w 709"/>
                <a:gd name="T7" fmla="*/ 190 h 249"/>
                <a:gd name="T8" fmla="*/ 4 w 709"/>
                <a:gd name="T9" fmla="*/ 237 h 249"/>
                <a:gd name="T10" fmla="*/ 4 w 709"/>
                <a:gd name="T11" fmla="*/ 249 h 2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09"/>
                <a:gd name="T19" fmla="*/ 0 h 249"/>
                <a:gd name="T20" fmla="*/ 709 w 709"/>
                <a:gd name="T21" fmla="*/ 249 h 2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09" h="249">
                  <a:moveTo>
                    <a:pt x="709" y="14"/>
                  </a:moveTo>
                  <a:cubicBezTo>
                    <a:pt x="615" y="19"/>
                    <a:pt x="514" y="0"/>
                    <a:pt x="427" y="37"/>
                  </a:cubicBezTo>
                  <a:cubicBezTo>
                    <a:pt x="358" y="66"/>
                    <a:pt x="277" y="147"/>
                    <a:pt x="215" y="167"/>
                  </a:cubicBezTo>
                  <a:cubicBezTo>
                    <a:pt x="161" y="184"/>
                    <a:pt x="192" y="176"/>
                    <a:pt x="121" y="190"/>
                  </a:cubicBezTo>
                  <a:cubicBezTo>
                    <a:pt x="75" y="221"/>
                    <a:pt x="49" y="214"/>
                    <a:pt x="4" y="237"/>
                  </a:cubicBezTo>
                  <a:cubicBezTo>
                    <a:pt x="0" y="239"/>
                    <a:pt x="4" y="245"/>
                    <a:pt x="4" y="249"/>
                  </a:cubicBezTo>
                </a:path>
              </a:pathLst>
            </a:cu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9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CD0C067-9AAA-6DFD-1AE2-F5891942A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447800"/>
            <a:ext cx="77724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>
                <a:ea typeface="굴림" panose="020B0600000101010101" pitchFamily="34" charset="-127"/>
              </a:rPr>
              <a:t>From Tchebysheff’s Theorem and the Empirical Rule, we know that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</a:pPr>
            <a:r>
              <a:rPr lang="en-US" altLang="ko-KR" i="1">
                <a:ea typeface="굴림" panose="020B0600000101010101" pitchFamily="34" charset="-127"/>
              </a:rPr>
              <a:t>R </a:t>
            </a:r>
            <a:r>
              <a:rPr lang="en-US" altLang="ko-KR" i="1">
                <a:ea typeface="굴림" panose="020B0600000101010101" pitchFamily="34" charset="-127"/>
                <a:sym typeface="Symbol" panose="05050102010706020507" pitchFamily="18" charset="2"/>
              </a:rPr>
              <a:t> </a:t>
            </a:r>
            <a:r>
              <a:rPr lang="en-US" altLang="ko-KR">
                <a:ea typeface="굴림" panose="020B0600000101010101" pitchFamily="34" charset="-127"/>
                <a:sym typeface="Symbol" panose="05050102010706020507" pitchFamily="18" charset="2"/>
              </a:rPr>
              <a:t>4-6</a:t>
            </a:r>
            <a:r>
              <a:rPr lang="en-US" altLang="ko-KR" i="1">
                <a:ea typeface="굴림" panose="020B0600000101010101" pitchFamily="34" charset="-127"/>
                <a:sym typeface="Symbol" panose="05050102010706020507" pitchFamily="18" charset="2"/>
              </a:rPr>
              <a:t> 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>
                <a:ea typeface="굴림" panose="020B0600000101010101" pitchFamily="34" charset="-127"/>
                <a:sym typeface="Symbol" panose="05050102010706020507" pitchFamily="18" charset="2"/>
              </a:rPr>
              <a:t>To approximate the standard deviation of a set of measurements, we can use:</a:t>
            </a:r>
            <a:r>
              <a:rPr lang="en-US" altLang="ko-KR" i="1">
                <a:ea typeface="굴림" panose="020B0600000101010101" pitchFamily="34" charset="-127"/>
                <a:sym typeface="Symbol" panose="05050102010706020507" pitchFamily="18" charset="2"/>
              </a:rPr>
              <a:t>	</a:t>
            </a:r>
            <a:endParaRPr lang="en-US" altLang="ko-KR" i="1">
              <a:ea typeface="굴림" panose="020B0600000101010101" pitchFamily="34" charset="-127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A2DF98E-404E-B9CF-341F-16BEFCA9E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65532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4800">
                <a:ea typeface="굴림" charset="-127"/>
              </a:rPr>
              <a:t>Approximating </a:t>
            </a:r>
            <a:r>
              <a:rPr lang="en-US" altLang="ko-KR" sz="4800" i="1">
                <a:ea typeface="굴림" charset="-127"/>
              </a:rPr>
              <a:t>s</a:t>
            </a:r>
            <a:endParaRPr lang="en-US" altLang="ko-KR" sz="4800">
              <a:ea typeface="굴림" charset="-127"/>
            </a:endParaRPr>
          </a:p>
        </p:txBody>
      </p:sp>
      <p:grpSp>
        <p:nvGrpSpPr>
          <p:cNvPr id="12294" name="Group 5">
            <a:extLst>
              <a:ext uri="{FF2B5EF4-FFF2-40B4-BE49-F238E27FC236}">
                <a16:creationId xmlns:a16="http://schemas.microsoft.com/office/drawing/2014/main" id="{4017D10C-5C3D-36E3-632D-187D1F3832E0}"/>
              </a:ext>
            </a:extLst>
          </p:cNvPr>
          <p:cNvGrpSpPr>
            <a:grpSpLocks/>
          </p:cNvGrpSpPr>
          <p:nvPr/>
        </p:nvGrpSpPr>
        <p:grpSpPr bwMode="auto">
          <a:xfrm>
            <a:off x="8839200" y="76200"/>
            <a:ext cx="1676400" cy="1219200"/>
            <a:chOff x="3696" y="48"/>
            <a:chExt cx="1872" cy="1296"/>
          </a:xfrm>
        </p:grpSpPr>
        <p:sp>
          <p:nvSpPr>
            <p:cNvPr id="55302" name="Rectangle 6">
              <a:extLst>
                <a:ext uri="{FF2B5EF4-FFF2-40B4-BE49-F238E27FC236}">
                  <a16:creationId xmlns:a16="http://schemas.microsoft.com/office/drawing/2014/main" id="{79B899D7-57E4-CE6C-86C1-C94AFFA21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48"/>
              <a:ext cx="1872" cy="1296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2296" name="Picture 7" descr="flower">
              <a:extLst>
                <a:ext uri="{FF2B5EF4-FFF2-40B4-BE49-F238E27FC236}">
                  <a16:creationId xmlns:a16="http://schemas.microsoft.com/office/drawing/2014/main" id="{AFEB711D-9890-D6D3-B459-3F769BB14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44"/>
              <a:ext cx="1680" cy="1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55304" name="Object 8">
            <a:extLst>
              <a:ext uri="{FF2B5EF4-FFF2-40B4-BE49-F238E27FC236}">
                <a16:creationId xmlns:a16="http://schemas.microsoft.com/office/drawing/2014/main" id="{DC448C47-DCD6-E30D-0C01-8BB134A07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343401"/>
          <a:ext cx="5576888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342720" progId="Equation.3">
                  <p:embed/>
                </p:oleObj>
              </mc:Choice>
              <mc:Fallback>
                <p:oleObj name="Equation" r:id="rId3" imgW="1333440" imgH="342720" progId="Equation.3">
                  <p:embed/>
                  <p:pic>
                    <p:nvPicPr>
                      <p:cNvPr id="55304" name="Object 8">
                        <a:extLst>
                          <a:ext uri="{FF2B5EF4-FFF2-40B4-BE49-F238E27FC236}">
                            <a16:creationId xmlns:a16="http://schemas.microsoft.com/office/drawing/2014/main" id="{DC448C47-DCD6-E30D-0C01-8BB134A07C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343401"/>
                        <a:ext cx="5576888" cy="14319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>
            <a:extLst>
              <a:ext uri="{FF2B5EF4-FFF2-40B4-BE49-F238E27FC236}">
                <a16:creationId xmlns:a16="http://schemas.microsoft.com/office/drawing/2014/main" id="{0B60D948-8B93-20BD-19E8-16BE308D3C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203447"/>
            <a:ext cx="6553200" cy="8382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Approximating </a:t>
            </a:r>
            <a:r>
              <a:rPr lang="en-US" altLang="ko-KR" sz="4400" i="1" dirty="0">
                <a:ea typeface="굴림" charset="-127"/>
              </a:rPr>
              <a:t>s</a:t>
            </a:r>
            <a:endParaRPr lang="en-US" altLang="ko-KR" sz="4400" dirty="0">
              <a:ea typeface="굴림" charset="-127"/>
            </a:endParaRPr>
          </a:p>
        </p:txBody>
      </p:sp>
      <p:sp>
        <p:nvSpPr>
          <p:cNvPr id="13317" name="Rectangle 10">
            <a:extLst>
              <a:ext uri="{FF2B5EF4-FFF2-40B4-BE49-F238E27FC236}">
                <a16:creationId xmlns:a16="http://schemas.microsoft.com/office/drawing/2014/main" id="{72EF003F-13F6-87A1-823C-DC3247CD5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60923"/>
            <a:ext cx="4419600" cy="26670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8" name="Text Box 11">
            <a:extLst>
              <a:ext uri="{FF2B5EF4-FFF2-40B4-BE49-F238E27FC236}">
                <a16:creationId xmlns:a16="http://schemas.microsoft.com/office/drawing/2014/main" id="{48F8E921-5551-E689-506A-8E84A5AF8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962400"/>
            <a:ext cx="327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R = 70 – 26 = 44</a:t>
            </a:r>
          </a:p>
        </p:txBody>
      </p:sp>
      <p:graphicFrame>
        <p:nvGraphicFramePr>
          <p:cNvPr id="56334" name="Object 14">
            <a:extLst>
              <a:ext uri="{FF2B5EF4-FFF2-40B4-BE49-F238E27FC236}">
                <a16:creationId xmlns:a16="http://schemas.microsoft.com/office/drawing/2014/main" id="{66498C86-D53E-E3DC-B1E7-974C380BB9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1" y="4724400"/>
          <a:ext cx="35099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152280" progId="Equation.3">
                  <p:embed/>
                </p:oleObj>
              </mc:Choice>
              <mc:Fallback>
                <p:oleObj name="Equation" r:id="rId2" imgW="977760" imgH="152280" progId="Equation.3">
                  <p:embed/>
                  <p:pic>
                    <p:nvPicPr>
                      <p:cNvPr id="56334" name="Object 14">
                        <a:extLst>
                          <a:ext uri="{FF2B5EF4-FFF2-40B4-BE49-F238E27FC236}">
                            <a16:creationId xmlns:a16="http://schemas.microsoft.com/office/drawing/2014/main" id="{66498C86-D53E-E3DC-B1E7-974C380BB9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4724400"/>
                        <a:ext cx="35099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5" name="Text Box 15">
            <a:extLst>
              <a:ext uri="{FF2B5EF4-FFF2-40B4-BE49-F238E27FC236}">
                <a16:creationId xmlns:a16="http://schemas.microsoft.com/office/drawing/2014/main" id="{474A4EAC-3AC3-7CD2-CEAA-6259BE426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562600"/>
            <a:ext cx="320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Actual </a:t>
            </a:r>
            <a:r>
              <a:rPr lang="en-US" altLang="ko-KR" sz="3200" b="1" i="1">
                <a:solidFill>
                  <a:srgbClr val="333333"/>
                </a:solidFill>
                <a:ea typeface="굴림" panose="020B0600000101010101" pitchFamily="34" charset="-127"/>
              </a:rPr>
              <a:t>s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 = 10.73</a:t>
            </a:r>
          </a:p>
        </p:txBody>
      </p:sp>
      <p:grpSp>
        <p:nvGrpSpPr>
          <p:cNvPr id="13320" name="Group 18">
            <a:extLst>
              <a:ext uri="{FF2B5EF4-FFF2-40B4-BE49-F238E27FC236}">
                <a16:creationId xmlns:a16="http://schemas.microsoft.com/office/drawing/2014/main" id="{7FC1DC87-0427-B4D5-873D-1F4B8BA5BC0F}"/>
              </a:ext>
            </a:extLst>
          </p:cNvPr>
          <p:cNvGrpSpPr>
            <a:grpSpLocks/>
          </p:cNvGrpSpPr>
          <p:nvPr/>
        </p:nvGrpSpPr>
        <p:grpSpPr bwMode="auto">
          <a:xfrm>
            <a:off x="10210800" y="0"/>
            <a:ext cx="1981200" cy="1600200"/>
            <a:chOff x="4416" y="96"/>
            <a:chExt cx="1248" cy="1008"/>
          </a:xfrm>
        </p:grpSpPr>
        <p:sp>
          <p:nvSpPr>
            <p:cNvPr id="56339" name="Rectangle 19">
              <a:extLst>
                <a:ext uri="{FF2B5EF4-FFF2-40B4-BE49-F238E27FC236}">
                  <a16:creationId xmlns:a16="http://schemas.microsoft.com/office/drawing/2014/main" id="{F3231149-53F3-E56E-DFEA-CA1247F29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"/>
              <a:ext cx="1248" cy="1008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3325" name="Picture 20" descr="faculty">
              <a:extLst>
                <a:ext uri="{FF2B5EF4-FFF2-40B4-BE49-F238E27FC236}">
                  <a16:creationId xmlns:a16="http://schemas.microsoft.com/office/drawing/2014/main" id="{3C323AEF-0131-C3D4-DA39-6956DCF2F7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192"/>
              <a:ext cx="1080" cy="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321" name="Group 22">
            <a:extLst>
              <a:ext uri="{FF2B5EF4-FFF2-40B4-BE49-F238E27FC236}">
                <a16:creationId xmlns:a16="http://schemas.microsoft.com/office/drawing/2014/main" id="{CA1E9371-8263-7DEE-A54D-8305663AB65A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065323"/>
            <a:ext cx="8001000" cy="3048000"/>
            <a:chOff x="336" y="576"/>
            <a:chExt cx="5040" cy="1920"/>
          </a:xfrm>
        </p:grpSpPr>
        <p:sp>
          <p:nvSpPr>
            <p:cNvPr id="13322" name="Rectangle 16">
              <a:extLst>
                <a:ext uri="{FF2B5EF4-FFF2-40B4-BE49-F238E27FC236}">
                  <a16:creationId xmlns:a16="http://schemas.microsoft.com/office/drawing/2014/main" id="{FE0C3BED-CC61-F84A-6705-EDF48E991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576"/>
              <a:ext cx="5040" cy="1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ko-KR" sz="3200" dirty="0">
                  <a:solidFill>
                    <a:srgbClr val="339933"/>
                  </a:solidFill>
                  <a:ea typeface="굴림" panose="020B0600000101010101" pitchFamily="34" charset="-127"/>
                </a:rPr>
                <a:t>The ages of 50 tenured faculty at a </a:t>
              </a:r>
            </a:p>
            <a:p>
              <a:pPr eaLnBrk="1" hangingPunct="1"/>
              <a:r>
                <a:rPr lang="en-US" altLang="ko-KR" sz="3200" dirty="0">
                  <a:solidFill>
                    <a:srgbClr val="339933"/>
                  </a:solidFill>
                  <a:ea typeface="굴림" panose="020B0600000101010101" pitchFamily="34" charset="-127"/>
                </a:rPr>
                <a:t>state university.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ko-KR" dirty="0">
                  <a:solidFill>
                    <a:srgbClr val="CC0066"/>
                  </a:solidFill>
                  <a:ea typeface="굴림" panose="020B0600000101010101" pitchFamily="34" charset="-127"/>
                </a:rPr>
                <a:t>34   48   </a:t>
              </a:r>
              <a:r>
                <a:rPr lang="en-US" altLang="ko-KR" b="1" dirty="0">
                  <a:solidFill>
                    <a:srgbClr val="339933"/>
                  </a:solidFill>
                  <a:ea typeface="굴림" panose="020B0600000101010101" pitchFamily="34" charset="-127"/>
                </a:rPr>
                <a:t>70</a:t>
              </a:r>
              <a:r>
                <a:rPr lang="en-US" altLang="ko-KR" dirty="0">
                  <a:solidFill>
                    <a:srgbClr val="CC0066"/>
                  </a:solidFill>
                  <a:ea typeface="굴림" panose="020B0600000101010101" pitchFamily="34" charset="-127"/>
                </a:rPr>
                <a:t>   63   52   52   35   50   37   43   53   43   52   44  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ko-KR" dirty="0">
                  <a:solidFill>
                    <a:srgbClr val="CC0066"/>
                  </a:solidFill>
                  <a:ea typeface="굴림" panose="020B0600000101010101" pitchFamily="34" charset="-127"/>
                </a:rPr>
                <a:t>42   31   36   48   43  </a:t>
              </a:r>
              <a:r>
                <a:rPr lang="en-US" altLang="ko-KR" b="1" dirty="0">
                  <a:solidFill>
                    <a:srgbClr val="CC0066"/>
                  </a:solidFill>
                  <a:ea typeface="굴림" panose="020B0600000101010101" pitchFamily="34" charset="-127"/>
                </a:rPr>
                <a:t> </a:t>
              </a:r>
              <a:r>
                <a:rPr lang="en-US" altLang="ko-KR" b="1" dirty="0">
                  <a:solidFill>
                    <a:srgbClr val="339933"/>
                  </a:solidFill>
                  <a:ea typeface="굴림" panose="020B0600000101010101" pitchFamily="34" charset="-127"/>
                </a:rPr>
                <a:t>26</a:t>
              </a:r>
              <a:r>
                <a:rPr lang="en-US" altLang="ko-KR" b="1" dirty="0">
                  <a:solidFill>
                    <a:srgbClr val="CC0066"/>
                  </a:solidFill>
                  <a:ea typeface="굴림" panose="020B0600000101010101" pitchFamily="34" charset="-127"/>
                </a:rPr>
                <a:t> </a:t>
              </a:r>
              <a:r>
                <a:rPr lang="en-US" altLang="ko-KR" dirty="0">
                  <a:solidFill>
                    <a:srgbClr val="CC0066"/>
                  </a:solidFill>
                  <a:ea typeface="굴림" panose="020B0600000101010101" pitchFamily="34" charset="-127"/>
                </a:rPr>
                <a:t>  58   62   49   34   48   53   39	45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ko-KR" dirty="0">
                  <a:solidFill>
                    <a:srgbClr val="CC0066"/>
                  </a:solidFill>
                  <a:ea typeface="굴림" panose="020B0600000101010101" pitchFamily="34" charset="-127"/>
                </a:rPr>
                <a:t>34   59   34   66   40   59   36   41   35   36   62   34   38   28</a:t>
              </a:r>
            </a:p>
            <a:p>
              <a:pPr eaLnBrk="1" hangingPunct="1">
                <a:spcBef>
                  <a:spcPct val="20000"/>
                </a:spcBef>
                <a:buFontTx/>
                <a:buChar char="•"/>
              </a:pPr>
              <a:r>
                <a:rPr lang="en-US" altLang="ko-KR" dirty="0">
                  <a:solidFill>
                    <a:srgbClr val="CC0066"/>
                  </a:solidFill>
                  <a:ea typeface="굴림" panose="020B0600000101010101" pitchFamily="34" charset="-127"/>
                </a:rPr>
                <a:t>43   50   30   43   32   44   58   53</a:t>
              </a:r>
            </a:p>
          </p:txBody>
        </p:sp>
        <p:sp>
          <p:nvSpPr>
            <p:cNvPr id="13323" name="Rectangle 21">
              <a:extLst>
                <a:ext uri="{FF2B5EF4-FFF2-40B4-BE49-F238E27FC236}">
                  <a16:creationId xmlns:a16="http://schemas.microsoft.com/office/drawing/2014/main" id="{91974C57-9E52-3012-FE63-302313320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00"/>
              <a:ext cx="4992" cy="1152"/>
            </a:xfrm>
            <a:prstGeom prst="rect">
              <a:avLst/>
            </a:prstGeom>
            <a:noFill/>
            <a:ln w="9525">
              <a:solidFill>
                <a:srgbClr val="3399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5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1FB3407-4009-E51A-51DE-8A0C3199D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9118" y="190501"/>
            <a:ext cx="77724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altLang="ko-KR" dirty="0">
                <a:ea typeface="굴림" charset="-127"/>
              </a:rPr>
              <a:t>Measures of Relative Standing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7A5A3B4-E3AD-6058-6A5B-59C568D07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5999" y="1295400"/>
            <a:ext cx="8828843" cy="2514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Where does one particular measurement stand in relation to the other measurements in the data set?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How many standard deviations away from the mean does the measurement lie? This is measured by the </a:t>
            </a:r>
            <a:r>
              <a:rPr lang="en-US" altLang="ko-KR" sz="3200" i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z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-score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</a:t>
            </a:r>
            <a:endParaRPr lang="en-US" altLang="ko-KR" sz="3200" dirty="0">
              <a:ea typeface="굴림" charset="-127"/>
            </a:endParaRPr>
          </a:p>
        </p:txBody>
      </p:sp>
      <p:graphicFrame>
        <p:nvGraphicFramePr>
          <p:cNvPr id="57405" name="Object 61">
            <a:extLst>
              <a:ext uri="{FF2B5EF4-FFF2-40B4-BE49-F238E27FC236}">
                <a16:creationId xmlns:a16="http://schemas.microsoft.com/office/drawing/2014/main" id="{142034DE-014A-26AA-9106-58C727A045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191001"/>
          <a:ext cx="324008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317160" progId="Equation.3">
                  <p:embed/>
                </p:oleObj>
              </mc:Choice>
              <mc:Fallback>
                <p:oleObj name="Equation" r:id="rId2" imgW="774360" imgH="317160" progId="Equation.3">
                  <p:embed/>
                  <p:pic>
                    <p:nvPicPr>
                      <p:cNvPr id="57405" name="Object 61">
                        <a:extLst>
                          <a:ext uri="{FF2B5EF4-FFF2-40B4-BE49-F238E27FC236}">
                            <a16:creationId xmlns:a16="http://schemas.microsoft.com/office/drawing/2014/main" id="{142034DE-014A-26AA-9106-58C727A04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91001"/>
                        <a:ext cx="3240088" cy="132556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9">
            <a:extLst>
              <a:ext uri="{FF2B5EF4-FFF2-40B4-BE49-F238E27FC236}">
                <a16:creationId xmlns:a16="http://schemas.microsoft.com/office/drawing/2014/main" id="{5FDDE0FB-4048-7137-D1B0-2EAD0D161037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5029200"/>
            <a:ext cx="3810000" cy="762000"/>
            <a:chOff x="2928" y="3168"/>
            <a:chExt cx="2400" cy="480"/>
          </a:xfrm>
        </p:grpSpPr>
        <p:sp>
          <p:nvSpPr>
            <p:cNvPr id="14359" name="Line 64">
              <a:extLst>
                <a:ext uri="{FF2B5EF4-FFF2-40B4-BE49-F238E27FC236}">
                  <a16:creationId xmlns:a16="http://schemas.microsoft.com/office/drawing/2014/main" id="{712AF2A7-B64B-2DA5-3BD9-8B3AAE7C7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1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grpSp>
          <p:nvGrpSpPr>
            <p:cNvPr id="14360" name="Group 88">
              <a:extLst>
                <a:ext uri="{FF2B5EF4-FFF2-40B4-BE49-F238E27FC236}">
                  <a16:creationId xmlns:a16="http://schemas.microsoft.com/office/drawing/2014/main" id="{81875B95-513C-62A6-2BE4-2E4ADB92B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168"/>
              <a:ext cx="2400" cy="480"/>
              <a:chOff x="2928" y="3168"/>
              <a:chExt cx="2400" cy="480"/>
            </a:xfrm>
          </p:grpSpPr>
          <p:sp>
            <p:nvSpPr>
              <p:cNvPr id="14361" name="Line 63">
                <a:extLst>
                  <a:ext uri="{FF2B5EF4-FFF2-40B4-BE49-F238E27FC236}">
                    <a16:creationId xmlns:a16="http://schemas.microsoft.com/office/drawing/2014/main" id="{3A37B858-07FA-52BF-6BFA-06431134F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1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grpSp>
            <p:nvGrpSpPr>
              <p:cNvPr id="14362" name="Group 87">
                <a:extLst>
                  <a:ext uri="{FF2B5EF4-FFF2-40B4-BE49-F238E27FC236}">
                    <a16:creationId xmlns:a16="http://schemas.microsoft.com/office/drawing/2014/main" id="{F9DB4069-2895-C629-CE90-1AF67E7468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3264"/>
                <a:ext cx="2400" cy="384"/>
                <a:chOff x="2928" y="3264"/>
                <a:chExt cx="2400" cy="384"/>
              </a:xfrm>
            </p:grpSpPr>
            <p:sp>
              <p:nvSpPr>
                <p:cNvPr id="14363" name="Line 62">
                  <a:extLst>
                    <a:ext uri="{FF2B5EF4-FFF2-40B4-BE49-F238E27FC236}">
                      <a16:creationId xmlns:a16="http://schemas.microsoft.com/office/drawing/2014/main" id="{A4A7BC4E-8AA1-6BCB-A3F6-12CC25BCE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8" y="3264"/>
                  <a:ext cx="24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  <p:graphicFrame>
              <p:nvGraphicFramePr>
                <p:cNvPr id="14339" name="Object 65">
                  <a:extLst>
                    <a:ext uri="{FF2B5EF4-FFF2-40B4-BE49-F238E27FC236}">
                      <a16:creationId xmlns:a16="http://schemas.microsoft.com/office/drawing/2014/main" id="{1BFD3489-32CC-933C-6EE6-7AE271A0FBA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96" y="3360"/>
                <a:ext cx="52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279360" imgH="152280" progId="Equation.3">
                        <p:embed/>
                      </p:oleObj>
                    </mc:Choice>
                    <mc:Fallback>
                      <p:oleObj name="Equation" r:id="rId4" imgW="279360" imgH="152280" progId="Equation.3">
                        <p:embed/>
                        <p:pic>
                          <p:nvPicPr>
                            <p:cNvPr id="14339" name="Object 65">
                              <a:extLst>
                                <a:ext uri="{FF2B5EF4-FFF2-40B4-BE49-F238E27FC236}">
                                  <a16:creationId xmlns:a16="http://schemas.microsoft.com/office/drawing/2014/main" id="{1BFD3489-32CC-933C-6EE6-7AE271A0FBA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96" y="3360"/>
                              <a:ext cx="528" cy="28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40" name="Object 66">
                  <a:extLst>
                    <a:ext uri="{FF2B5EF4-FFF2-40B4-BE49-F238E27FC236}">
                      <a16:creationId xmlns:a16="http://schemas.microsoft.com/office/drawing/2014/main" id="{933DB0AA-2FA7-C8EF-8B4C-68A8284A575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12" y="3360"/>
                <a:ext cx="480" cy="2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279360" imgH="152280" progId="Equation.3">
                        <p:embed/>
                      </p:oleObj>
                    </mc:Choice>
                    <mc:Fallback>
                      <p:oleObj name="Equation" r:id="rId6" imgW="279360" imgH="152280" progId="Equation.3">
                        <p:embed/>
                        <p:pic>
                          <p:nvPicPr>
                            <p:cNvPr id="14340" name="Object 66">
                              <a:extLst>
                                <a:ext uri="{FF2B5EF4-FFF2-40B4-BE49-F238E27FC236}">
                                  <a16:creationId xmlns:a16="http://schemas.microsoft.com/office/drawing/2014/main" id="{933DB0AA-2FA7-C8EF-8B4C-68A8284A575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2" y="3360"/>
                              <a:ext cx="480" cy="2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5" name="Group 69">
            <a:extLst>
              <a:ext uri="{FF2B5EF4-FFF2-40B4-BE49-F238E27FC236}">
                <a16:creationId xmlns:a16="http://schemas.microsoft.com/office/drawing/2014/main" id="{A60F6FC5-7E2A-86E6-98C1-696090BA0C3F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4724400"/>
            <a:ext cx="609600" cy="457200"/>
            <a:chOff x="3552" y="2496"/>
            <a:chExt cx="384" cy="288"/>
          </a:xfrm>
        </p:grpSpPr>
        <p:sp>
          <p:nvSpPr>
            <p:cNvPr id="14357" name="Line 67">
              <a:extLst>
                <a:ext uri="{FF2B5EF4-FFF2-40B4-BE49-F238E27FC236}">
                  <a16:creationId xmlns:a16="http://schemas.microsoft.com/office/drawing/2014/main" id="{2D3E4DE9-C1AD-3A6F-365F-159FA2D83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784"/>
              <a:ext cx="384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 type="diamond" w="med" len="med"/>
              <a:tailEnd type="diamond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14358" name="Text Box 68">
              <a:extLst>
                <a:ext uri="{FF2B5EF4-FFF2-40B4-BE49-F238E27FC236}">
                  <a16:creationId xmlns:a16="http://schemas.microsoft.com/office/drawing/2014/main" id="{190B23EC-02A8-5758-DE7A-5123CA228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9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i="1">
                  <a:solidFill>
                    <a:srgbClr val="CC0066"/>
                  </a:solidFill>
                  <a:ea typeface="굴림" panose="020B0600000101010101" pitchFamily="34" charset="-127"/>
                </a:rPr>
                <a:t>s</a:t>
              </a:r>
            </a:p>
          </p:txBody>
        </p:sp>
      </p:grpSp>
      <p:grpSp>
        <p:nvGrpSpPr>
          <p:cNvPr id="6" name="Group 70">
            <a:extLst>
              <a:ext uri="{FF2B5EF4-FFF2-40B4-BE49-F238E27FC236}">
                <a16:creationId xmlns:a16="http://schemas.microsoft.com/office/drawing/2014/main" id="{CAC6E710-10CB-6DEC-1375-6B2897586149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4724400"/>
            <a:ext cx="609600" cy="457200"/>
            <a:chOff x="3552" y="2496"/>
            <a:chExt cx="384" cy="288"/>
          </a:xfrm>
        </p:grpSpPr>
        <p:sp>
          <p:nvSpPr>
            <p:cNvPr id="14355" name="Line 71">
              <a:extLst>
                <a:ext uri="{FF2B5EF4-FFF2-40B4-BE49-F238E27FC236}">
                  <a16:creationId xmlns:a16="http://schemas.microsoft.com/office/drawing/2014/main" id="{CFD71069-163C-D14F-093E-45DB417BC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784"/>
              <a:ext cx="384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 type="diamond" w="med" len="med"/>
              <a:tailEnd type="diamond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14356" name="Text Box 72">
              <a:extLst>
                <a:ext uri="{FF2B5EF4-FFF2-40B4-BE49-F238E27FC236}">
                  <a16:creationId xmlns:a16="http://schemas.microsoft.com/office/drawing/2014/main" id="{DDA31CB0-52B3-9F7B-445F-E6B1AC281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9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i="1">
                  <a:solidFill>
                    <a:srgbClr val="CC0066"/>
                  </a:solidFill>
                  <a:ea typeface="굴림" panose="020B0600000101010101" pitchFamily="34" charset="-127"/>
                </a:rPr>
                <a:t>s</a:t>
              </a:r>
            </a:p>
          </p:txBody>
        </p:sp>
      </p:grpSp>
      <p:sp>
        <p:nvSpPr>
          <p:cNvPr id="57420" name="Line 76">
            <a:extLst>
              <a:ext uri="{FF2B5EF4-FFF2-40B4-BE49-F238E27FC236}">
                <a16:creationId xmlns:a16="http://schemas.microsoft.com/office/drawing/2014/main" id="{B06A29E3-729E-6DC8-9AA9-ADC46750AF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724400"/>
            <a:ext cx="1295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57421" name="Text Box 77">
            <a:extLst>
              <a:ext uri="{FF2B5EF4-FFF2-40B4-BE49-F238E27FC236}">
                <a16:creationId xmlns:a16="http://schemas.microsoft.com/office/drawing/2014/main" id="{03A65C68-A00A-AB83-EC61-0265B276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4343401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000">
                <a:ea typeface="굴림" panose="020B0600000101010101" pitchFamily="34" charset="-127"/>
              </a:rPr>
              <a:t>4</a:t>
            </a:r>
          </a:p>
        </p:txBody>
      </p:sp>
      <p:grpSp>
        <p:nvGrpSpPr>
          <p:cNvPr id="7" name="Group 85">
            <a:extLst>
              <a:ext uri="{FF2B5EF4-FFF2-40B4-BE49-F238E27FC236}">
                <a16:creationId xmlns:a16="http://schemas.microsoft.com/office/drawing/2014/main" id="{3832F419-73A5-371F-7F51-7A145FE5A0D4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3810000"/>
            <a:ext cx="2667000" cy="533400"/>
            <a:chOff x="3648" y="2352"/>
            <a:chExt cx="1680" cy="336"/>
          </a:xfrm>
        </p:grpSpPr>
        <p:sp>
          <p:nvSpPr>
            <p:cNvPr id="14351" name="Text Box 78">
              <a:extLst>
                <a:ext uri="{FF2B5EF4-FFF2-40B4-BE49-F238E27FC236}">
                  <a16:creationId xmlns:a16="http://schemas.microsoft.com/office/drawing/2014/main" id="{AC28157A-C567-63FE-5D68-53CC18CB5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00"/>
              <a:ext cx="13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Suppose </a:t>
              </a:r>
              <a:r>
                <a:rPr lang="en-US" altLang="ko-KR" i="1">
                  <a:solidFill>
                    <a:srgbClr val="CC0066"/>
                  </a:solidFill>
                  <a:ea typeface="굴림" panose="020B0600000101010101" pitchFamily="34" charset="-127"/>
                </a:rPr>
                <a:t>s</a:t>
              </a: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 = 2.</a:t>
              </a:r>
            </a:p>
          </p:txBody>
        </p:sp>
        <p:grpSp>
          <p:nvGrpSpPr>
            <p:cNvPr id="14352" name="Group 82">
              <a:extLst>
                <a:ext uri="{FF2B5EF4-FFF2-40B4-BE49-F238E27FC236}">
                  <a16:creationId xmlns:a16="http://schemas.microsoft.com/office/drawing/2014/main" id="{546D7A75-6D2B-D138-4B54-69E790073B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2352"/>
              <a:ext cx="384" cy="288"/>
              <a:chOff x="3552" y="2496"/>
              <a:chExt cx="384" cy="288"/>
            </a:xfrm>
          </p:grpSpPr>
          <p:sp>
            <p:nvSpPr>
              <p:cNvPr id="14353" name="Line 83">
                <a:extLst>
                  <a:ext uri="{FF2B5EF4-FFF2-40B4-BE49-F238E27FC236}">
                    <a16:creationId xmlns:a16="http://schemas.microsoft.com/office/drawing/2014/main" id="{3CE840FB-F47C-21BD-C60D-83F331738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784"/>
                <a:ext cx="384" cy="0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 type="diamond" w="med" len="med"/>
                <a:tailEnd type="diamond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  <p:sp>
            <p:nvSpPr>
              <p:cNvPr id="14354" name="Text Box 84">
                <a:extLst>
                  <a:ext uri="{FF2B5EF4-FFF2-40B4-BE49-F238E27FC236}">
                    <a16:creationId xmlns:a16="http://schemas.microsoft.com/office/drawing/2014/main" id="{E2C5D7FC-15D9-33BF-87E7-C14F409AB5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8" y="2496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i="1">
                    <a:solidFill>
                      <a:srgbClr val="CC0066"/>
                    </a:solidFill>
                    <a:ea typeface="굴림" panose="020B0600000101010101" pitchFamily="34" charset="-127"/>
                  </a:rPr>
                  <a:t>s</a:t>
                </a:r>
              </a:p>
            </p:txBody>
          </p:sp>
        </p:grpSp>
      </p:grpSp>
      <p:sp>
        <p:nvSpPr>
          <p:cNvPr id="57430" name="Text Box 86">
            <a:extLst>
              <a:ext uri="{FF2B5EF4-FFF2-40B4-BE49-F238E27FC236}">
                <a16:creationId xmlns:a16="http://schemas.microsoft.com/office/drawing/2014/main" id="{82FDD805-F678-F345-F692-000177604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715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i="1">
                <a:solidFill>
                  <a:srgbClr val="CC0066"/>
                </a:solidFill>
                <a:ea typeface="굴림" panose="020B0600000101010101" pitchFamily="34" charset="-127"/>
              </a:rPr>
              <a:t>x = </a:t>
            </a:r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9 lies</a:t>
            </a:r>
            <a:r>
              <a:rPr lang="en-US" altLang="ko-KR" i="1">
                <a:solidFill>
                  <a:srgbClr val="CC0066"/>
                </a:solidFill>
                <a:ea typeface="굴림" panose="020B0600000101010101" pitchFamily="34" charset="-127"/>
              </a:rPr>
              <a:t> z =</a:t>
            </a:r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2 std dev from the mean</a:t>
            </a:r>
            <a:r>
              <a:rPr lang="en-US" altLang="ko-KR" i="1">
                <a:solidFill>
                  <a:srgbClr val="CC0066"/>
                </a:solidFill>
                <a:ea typeface="굴림" panose="020B0600000101010101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autoUpdateAnimBg="0"/>
      <p:bldP spid="57421" grpId="0" autoUpdateAnimBg="0"/>
      <p:bldP spid="57430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8">
            <a:extLst>
              <a:ext uri="{FF2B5EF4-FFF2-40B4-BE49-F238E27FC236}">
                <a16:creationId xmlns:a16="http://schemas.microsoft.com/office/drawing/2014/main" id="{E5DB74C9-415B-CEF5-E3EE-2BF342E5E31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614914"/>
            <a:ext cx="2438400" cy="1143000"/>
            <a:chOff x="1920" y="2784"/>
            <a:chExt cx="1536" cy="720"/>
          </a:xfrm>
        </p:grpSpPr>
        <p:sp>
          <p:nvSpPr>
            <p:cNvPr id="33821" name="Rectangle 39">
              <a:extLst>
                <a:ext uri="{FF2B5EF4-FFF2-40B4-BE49-F238E27FC236}">
                  <a16:creationId xmlns:a16="http://schemas.microsoft.com/office/drawing/2014/main" id="{22B491B7-BCEA-5CF6-24B6-6189F8757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784"/>
              <a:ext cx="1536" cy="72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822" name="Text Box 40">
              <a:extLst>
                <a:ext uri="{FF2B5EF4-FFF2-40B4-BE49-F238E27FC236}">
                  <a16:creationId xmlns:a16="http://schemas.microsoft.com/office/drawing/2014/main" id="{F50AC80B-1F02-A54C-127D-94EC11095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928"/>
              <a:ext cx="1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Not unusual</a:t>
              </a:r>
            </a:p>
          </p:txBody>
        </p:sp>
      </p:grpSp>
      <p:grpSp>
        <p:nvGrpSpPr>
          <p:cNvPr id="3" name="Group 49">
            <a:extLst>
              <a:ext uri="{FF2B5EF4-FFF2-40B4-BE49-F238E27FC236}">
                <a16:creationId xmlns:a16="http://schemas.microsoft.com/office/drawing/2014/main" id="{4A779AE0-A4CD-8E11-9442-1E2CE3D8F32C}"/>
              </a:ext>
            </a:extLst>
          </p:cNvPr>
          <p:cNvGrpSpPr>
            <a:grpSpLocks/>
          </p:cNvGrpSpPr>
          <p:nvPr/>
        </p:nvGrpSpPr>
        <p:grpSpPr bwMode="auto">
          <a:xfrm>
            <a:off x="2684756" y="4606034"/>
            <a:ext cx="6324600" cy="1143000"/>
            <a:chOff x="720" y="2784"/>
            <a:chExt cx="3984" cy="720"/>
          </a:xfrm>
        </p:grpSpPr>
        <p:sp>
          <p:nvSpPr>
            <p:cNvPr id="33817" name="Rectangle 45">
              <a:extLst>
                <a:ext uri="{FF2B5EF4-FFF2-40B4-BE49-F238E27FC236}">
                  <a16:creationId xmlns:a16="http://schemas.microsoft.com/office/drawing/2014/main" id="{22A4E82F-10E9-D9BF-0EB2-A1DA7E161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784"/>
              <a:ext cx="816" cy="720"/>
            </a:xfrm>
            <a:prstGeom prst="rect">
              <a:avLst/>
            </a:prstGeom>
            <a:solidFill>
              <a:srgbClr val="CC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818" name="Rectangle 44">
              <a:extLst>
                <a:ext uri="{FF2B5EF4-FFF2-40B4-BE49-F238E27FC236}">
                  <a16:creationId xmlns:a16="http://schemas.microsoft.com/office/drawing/2014/main" id="{7BD1C630-DACD-8B93-BF55-0F755F188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784"/>
              <a:ext cx="816" cy="720"/>
            </a:xfrm>
            <a:prstGeom prst="rect">
              <a:avLst/>
            </a:prstGeom>
            <a:solidFill>
              <a:srgbClr val="CC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819" name="Text Box 46">
              <a:extLst>
                <a:ext uri="{FF2B5EF4-FFF2-40B4-BE49-F238E27FC236}">
                  <a16:creationId xmlns:a16="http://schemas.microsoft.com/office/drawing/2014/main" id="{2D33F481-EBB8-1779-985C-DF3687F92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928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chemeClr val="bg1"/>
                  </a:solidFill>
                  <a:ea typeface="굴림" panose="020B0600000101010101" pitchFamily="34" charset="-127"/>
                </a:rPr>
                <a:t>Outlier</a:t>
              </a:r>
            </a:p>
          </p:txBody>
        </p:sp>
        <p:sp>
          <p:nvSpPr>
            <p:cNvPr id="33820" name="Text Box 47">
              <a:extLst>
                <a:ext uri="{FF2B5EF4-FFF2-40B4-BE49-F238E27FC236}">
                  <a16:creationId xmlns:a16="http://schemas.microsoft.com/office/drawing/2014/main" id="{3D69AFBB-11F2-54E4-10D5-000194738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928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chemeClr val="bg1"/>
                  </a:solidFill>
                  <a:ea typeface="굴림" panose="020B0600000101010101" pitchFamily="34" charset="-127"/>
                </a:rPr>
                <a:t>Outlier</a:t>
              </a:r>
            </a:p>
          </p:txBody>
        </p:sp>
      </p:grpSp>
      <p:grpSp>
        <p:nvGrpSpPr>
          <p:cNvPr id="4" name="Group 50">
            <a:extLst>
              <a:ext uri="{FF2B5EF4-FFF2-40B4-BE49-F238E27FC236}">
                <a16:creationId xmlns:a16="http://schemas.microsoft.com/office/drawing/2014/main" id="{6EAA4912-58A9-B402-D87E-E50A33ECD955}"/>
              </a:ext>
            </a:extLst>
          </p:cNvPr>
          <p:cNvGrpSpPr>
            <a:grpSpLocks/>
          </p:cNvGrpSpPr>
          <p:nvPr/>
        </p:nvGrpSpPr>
        <p:grpSpPr bwMode="auto">
          <a:xfrm>
            <a:off x="3980156" y="4606034"/>
            <a:ext cx="3733800" cy="1143000"/>
            <a:chOff x="1536" y="2784"/>
            <a:chExt cx="2352" cy="720"/>
          </a:xfrm>
        </p:grpSpPr>
        <p:sp>
          <p:nvSpPr>
            <p:cNvPr id="33815" name="Rectangle 41">
              <a:extLst>
                <a:ext uri="{FF2B5EF4-FFF2-40B4-BE49-F238E27FC236}">
                  <a16:creationId xmlns:a16="http://schemas.microsoft.com/office/drawing/2014/main" id="{47A4974D-A01F-72CD-26F2-2C93D7182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784"/>
              <a:ext cx="384" cy="720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816" name="Rectangle 42">
              <a:extLst>
                <a:ext uri="{FF2B5EF4-FFF2-40B4-BE49-F238E27FC236}">
                  <a16:creationId xmlns:a16="http://schemas.microsoft.com/office/drawing/2014/main" id="{E4FEBE49-E6B0-7D03-C7CA-8171C1650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784"/>
              <a:ext cx="432" cy="720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58370" name="Rectangle 2">
            <a:extLst>
              <a:ext uri="{FF2B5EF4-FFF2-40B4-BE49-F238E27FC236}">
                <a16:creationId xmlns:a16="http://schemas.microsoft.com/office/drawing/2014/main" id="{A37A2FCF-3B0B-637C-924F-2C983B5A2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71313" y="-38100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ko-KR" sz="4400" i="1" dirty="0">
                <a:ea typeface="굴림" charset="-127"/>
              </a:rPr>
              <a:t>z</a:t>
            </a:r>
            <a:r>
              <a:rPr lang="en-US" altLang="ko-KR" sz="4400" dirty="0">
                <a:ea typeface="굴림" charset="-127"/>
              </a:rPr>
              <a:t>-Scores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CEFA709-7EA0-DE08-1D39-BF043CCD0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1355" y="1024634"/>
            <a:ext cx="9025627" cy="3352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400" dirty="0">
                <a:ea typeface="굴림" charset="-127"/>
              </a:rPr>
              <a:t>From </a:t>
            </a:r>
            <a:r>
              <a:rPr lang="en-US" altLang="ko-KR" sz="2400" dirty="0" err="1">
                <a:ea typeface="굴림" charset="-127"/>
              </a:rPr>
              <a:t>Tchebysheff’s</a:t>
            </a:r>
            <a:r>
              <a:rPr lang="en-US" altLang="ko-KR" sz="2400" dirty="0">
                <a:ea typeface="굴림" charset="-127"/>
              </a:rPr>
              <a:t> Theorem and the Empirical Rule</a:t>
            </a:r>
          </a:p>
          <a:p>
            <a:pPr lvl="1" eaLnBrk="1" hangingPunct="1">
              <a:defRPr/>
            </a:pPr>
            <a:r>
              <a:rPr lang="en-US" altLang="ko-KR" dirty="0">
                <a:ea typeface="굴림" charset="-127"/>
              </a:rPr>
              <a:t>At least 3/4 and more likely 95% of measurements lie within 2 standard deviations of the mean.</a:t>
            </a:r>
          </a:p>
          <a:p>
            <a:pPr lvl="1" eaLnBrk="1" hangingPunct="1">
              <a:defRPr/>
            </a:pPr>
            <a:r>
              <a:rPr lang="en-US" altLang="ko-KR" dirty="0">
                <a:ea typeface="굴림" charset="-127"/>
              </a:rPr>
              <a:t>At least 8/9 and more likely 99.7% of measurements lie within 3 standard deviations of the mean.</a:t>
            </a:r>
          </a:p>
          <a:p>
            <a:pPr eaLnBrk="1" hangingPunct="1">
              <a:defRPr/>
            </a:pPr>
            <a:r>
              <a:rPr lang="en-US" altLang="ko-KR" sz="2400" i="1" dirty="0">
                <a:ea typeface="굴림" charset="-127"/>
              </a:rPr>
              <a:t>z</a:t>
            </a:r>
            <a:r>
              <a:rPr lang="en-US" altLang="ko-KR" sz="2400" dirty="0">
                <a:ea typeface="굴림" charset="-127"/>
              </a:rPr>
              <a:t>-scores between –2 and 2 are not unusual. </a:t>
            </a:r>
            <a:r>
              <a:rPr lang="en-US" altLang="ko-KR" sz="2400" i="1" dirty="0">
                <a:ea typeface="굴림" charset="-127"/>
              </a:rPr>
              <a:t>z</a:t>
            </a:r>
            <a:r>
              <a:rPr lang="en-US" altLang="ko-KR" sz="2400" dirty="0">
                <a:ea typeface="굴림" charset="-127"/>
              </a:rPr>
              <a:t>-scores should not be more than 3 in absolute value. </a:t>
            </a:r>
            <a:r>
              <a:rPr lang="en-US" altLang="ko-KR" sz="2400" i="1" dirty="0">
                <a:ea typeface="굴림" charset="-127"/>
              </a:rPr>
              <a:t>z-</a:t>
            </a:r>
            <a:r>
              <a:rPr lang="en-US" altLang="ko-KR" sz="2400" dirty="0">
                <a:ea typeface="굴림" charset="-127"/>
              </a:rPr>
              <a:t>scores larger than 3 in absolute value would indicate a possible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outlier</a:t>
            </a:r>
            <a:r>
              <a:rPr lang="en-US" altLang="ko-KR" sz="24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</a:t>
            </a:r>
          </a:p>
        </p:txBody>
      </p:sp>
      <p:grpSp>
        <p:nvGrpSpPr>
          <p:cNvPr id="5" name="Group 38">
            <a:extLst>
              <a:ext uri="{FF2B5EF4-FFF2-40B4-BE49-F238E27FC236}">
                <a16:creationId xmlns:a16="http://schemas.microsoft.com/office/drawing/2014/main" id="{4C52DEE6-0F2F-93FF-5E67-3DF3D8EB87E6}"/>
              </a:ext>
            </a:extLst>
          </p:cNvPr>
          <p:cNvGrpSpPr>
            <a:grpSpLocks/>
          </p:cNvGrpSpPr>
          <p:nvPr/>
        </p:nvGrpSpPr>
        <p:grpSpPr bwMode="auto">
          <a:xfrm>
            <a:off x="3065756" y="5139434"/>
            <a:ext cx="6477000" cy="1066800"/>
            <a:chOff x="960" y="3120"/>
            <a:chExt cx="4080" cy="672"/>
          </a:xfrm>
        </p:grpSpPr>
        <p:sp>
          <p:nvSpPr>
            <p:cNvPr id="33805" name="Line 28">
              <a:extLst>
                <a:ext uri="{FF2B5EF4-FFF2-40B4-BE49-F238E27FC236}">
                  <a16:creationId xmlns:a16="http://schemas.microsoft.com/office/drawing/2014/main" id="{32CF77CE-DC74-BF9A-72AD-A58668916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3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06" name="Text Box 29">
              <a:extLst>
                <a:ext uri="{FF2B5EF4-FFF2-40B4-BE49-F238E27FC236}">
                  <a16:creationId xmlns:a16="http://schemas.microsoft.com/office/drawing/2014/main" id="{B5FA9416-5CB6-B255-F07C-E0B45DC14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1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i="1">
                  <a:ea typeface="굴림" panose="020B0600000101010101" pitchFamily="34" charset="-127"/>
                </a:rPr>
                <a:t>z</a:t>
              </a:r>
            </a:p>
          </p:txBody>
        </p:sp>
        <p:sp>
          <p:nvSpPr>
            <p:cNvPr id="33807" name="Line 30">
              <a:extLst>
                <a:ext uri="{FF2B5EF4-FFF2-40B4-BE49-F238E27FC236}">
                  <a16:creationId xmlns:a16="http://schemas.microsoft.com/office/drawing/2014/main" id="{77EA2B6E-247D-3AE6-1AC6-54F7772DD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08" name="Line 31">
              <a:extLst>
                <a:ext uri="{FF2B5EF4-FFF2-40B4-BE49-F238E27FC236}">
                  <a16:creationId xmlns:a16="http://schemas.microsoft.com/office/drawing/2014/main" id="{43295520-314E-3863-61D6-76574A72F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09" name="Line 32">
              <a:extLst>
                <a:ext uri="{FF2B5EF4-FFF2-40B4-BE49-F238E27FC236}">
                  <a16:creationId xmlns:a16="http://schemas.microsoft.com/office/drawing/2014/main" id="{C46840E9-387F-EBA0-06BD-F85D4DCBB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10" name="Line 33">
              <a:extLst>
                <a:ext uri="{FF2B5EF4-FFF2-40B4-BE49-F238E27FC236}">
                  <a16:creationId xmlns:a16="http://schemas.microsoft.com/office/drawing/2014/main" id="{AD2F58BD-F453-581E-3137-B648C8EC5F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11" name="Line 34">
              <a:extLst>
                <a:ext uri="{FF2B5EF4-FFF2-40B4-BE49-F238E27FC236}">
                  <a16:creationId xmlns:a16="http://schemas.microsoft.com/office/drawing/2014/main" id="{A5E42798-02FC-5FDA-7DAE-9C25594BB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12" name="Line 35">
              <a:extLst>
                <a:ext uri="{FF2B5EF4-FFF2-40B4-BE49-F238E27FC236}">
                  <a16:creationId xmlns:a16="http://schemas.microsoft.com/office/drawing/2014/main" id="{04924185-3DE9-C9F1-7C77-99DF3095B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13" name="Line 36">
              <a:extLst>
                <a:ext uri="{FF2B5EF4-FFF2-40B4-BE49-F238E27FC236}">
                  <a16:creationId xmlns:a16="http://schemas.microsoft.com/office/drawing/2014/main" id="{8929C481-9ED0-41FC-6BF4-83A7DED88B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3814" name="Text Box 37">
              <a:extLst>
                <a:ext uri="{FF2B5EF4-FFF2-40B4-BE49-F238E27FC236}">
                  <a16:creationId xmlns:a16="http://schemas.microsoft.com/office/drawing/2014/main" id="{C15E6974-71D8-4772-6B31-59CC027B3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504"/>
              <a:ext cx="27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ea typeface="굴림" panose="020B0600000101010101" pitchFamily="34" charset="-127"/>
                </a:rPr>
                <a:t>-3     -2    -1      0      1      2       3</a:t>
              </a:r>
            </a:p>
          </p:txBody>
        </p:sp>
      </p:grpSp>
      <p:grpSp>
        <p:nvGrpSpPr>
          <p:cNvPr id="6" name="Group 54">
            <a:extLst>
              <a:ext uri="{FF2B5EF4-FFF2-40B4-BE49-F238E27FC236}">
                <a16:creationId xmlns:a16="http://schemas.microsoft.com/office/drawing/2014/main" id="{ED5813BB-3262-417B-A0A4-280239A0C80F}"/>
              </a:ext>
            </a:extLst>
          </p:cNvPr>
          <p:cNvGrpSpPr>
            <a:grpSpLocks/>
          </p:cNvGrpSpPr>
          <p:nvPr/>
        </p:nvGrpSpPr>
        <p:grpSpPr bwMode="auto">
          <a:xfrm>
            <a:off x="4284956" y="5749034"/>
            <a:ext cx="3086100" cy="990600"/>
            <a:chOff x="1728" y="3504"/>
            <a:chExt cx="1944" cy="624"/>
          </a:xfrm>
        </p:grpSpPr>
        <p:sp>
          <p:nvSpPr>
            <p:cNvPr id="33802" name="Text Box 51">
              <a:extLst>
                <a:ext uri="{FF2B5EF4-FFF2-40B4-BE49-F238E27FC236}">
                  <a16:creationId xmlns:a16="http://schemas.microsoft.com/office/drawing/2014/main" id="{1521EC59-43EC-BEEC-948F-B7F356D5A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840"/>
              <a:ext cx="1680" cy="288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Somewhat unusual</a:t>
              </a:r>
            </a:p>
          </p:txBody>
        </p:sp>
        <p:cxnSp>
          <p:nvCxnSpPr>
            <p:cNvPr id="33803" name="AutoShape 52">
              <a:extLst>
                <a:ext uri="{FF2B5EF4-FFF2-40B4-BE49-F238E27FC236}">
                  <a16:creationId xmlns:a16="http://schemas.microsoft.com/office/drawing/2014/main" id="{E42DA77E-D596-2C8B-B12F-F2D5544E3CDA}"/>
                </a:ext>
              </a:extLst>
            </p:cNvPr>
            <p:cNvCxnSpPr>
              <a:cxnSpLocks noChangeShapeType="1"/>
              <a:stCxn id="33802" idx="1"/>
              <a:endCxn id="33815" idx="2"/>
            </p:cNvCxnSpPr>
            <p:nvPr/>
          </p:nvCxnSpPr>
          <p:spPr bwMode="auto">
            <a:xfrm flipH="1" flipV="1">
              <a:off x="1728" y="3504"/>
              <a:ext cx="96" cy="480"/>
            </a:xfrm>
            <a:prstGeom prst="straightConnector1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04" name="AutoShape 53">
              <a:extLst>
                <a:ext uri="{FF2B5EF4-FFF2-40B4-BE49-F238E27FC236}">
                  <a16:creationId xmlns:a16="http://schemas.microsoft.com/office/drawing/2014/main" id="{76DD5ADF-7F36-AE5B-7141-C53C6D542A82}"/>
                </a:ext>
              </a:extLst>
            </p:cNvPr>
            <p:cNvCxnSpPr>
              <a:cxnSpLocks noChangeShapeType="1"/>
              <a:stCxn id="33802" idx="3"/>
              <a:endCxn id="33816" idx="2"/>
            </p:cNvCxnSpPr>
            <p:nvPr/>
          </p:nvCxnSpPr>
          <p:spPr bwMode="auto">
            <a:xfrm flipV="1">
              <a:off x="3504" y="3504"/>
              <a:ext cx="168" cy="480"/>
            </a:xfrm>
            <a:prstGeom prst="straightConnector1">
              <a:avLst/>
            </a:prstGeom>
            <a:noFill/>
            <a:ln w="19050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3B3ED48-5CFE-53F4-1FEB-7C5BDBC8C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90500"/>
            <a:ext cx="77724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Measures of Relative Standing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011EAC3-79DB-DD1C-E503-192DA4A63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543976"/>
            <a:ext cx="8313938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ea typeface="굴림" charset="-127"/>
              </a:rPr>
              <a:t>How many measurements lie below the measurement of interest? This is measured by the </a:t>
            </a:r>
            <a:r>
              <a:rPr lang="en-US" altLang="ko-KR" b="1" i="1" dirty="0" err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</a:t>
            </a:r>
            <a:r>
              <a:rPr lang="en-US" altLang="ko-KR" b="1" baseline="30000" dirty="0" err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th</a:t>
            </a:r>
            <a:r>
              <a:rPr lang="en-US" altLang="ko-KR" b="1" baseline="30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percentile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34821" name="Rectangle 38">
            <a:extLst>
              <a:ext uri="{FF2B5EF4-FFF2-40B4-BE49-F238E27FC236}">
                <a16:creationId xmlns:a16="http://schemas.microsoft.com/office/drawing/2014/main" id="{02DE061B-6A9D-C850-0A3F-98ABC1B0D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200400"/>
            <a:ext cx="4953000" cy="25146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" name="Group 44">
            <a:extLst>
              <a:ext uri="{FF2B5EF4-FFF2-40B4-BE49-F238E27FC236}">
                <a16:creationId xmlns:a16="http://schemas.microsoft.com/office/drawing/2014/main" id="{D224B9C7-F635-5465-20D6-17AB56F5E8E5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572000"/>
            <a:ext cx="2362200" cy="762000"/>
            <a:chOff x="1872" y="2880"/>
            <a:chExt cx="1488" cy="480"/>
          </a:xfrm>
        </p:grpSpPr>
        <p:sp>
          <p:nvSpPr>
            <p:cNvPr id="34832" name="Text Box 36">
              <a:extLst>
                <a:ext uri="{FF2B5EF4-FFF2-40B4-BE49-F238E27FC236}">
                  <a16:creationId xmlns:a16="http://schemas.microsoft.com/office/drawing/2014/main" id="{EDF2C792-D8BE-ABFD-8209-E129AA676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072"/>
              <a:ext cx="14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i="1">
                  <a:solidFill>
                    <a:srgbClr val="CC0066"/>
                  </a:solidFill>
                  <a:ea typeface="굴림" panose="020B0600000101010101" pitchFamily="34" charset="-127"/>
                </a:rPr>
                <a:t>p</a:t>
              </a:r>
              <a:r>
                <a:rPr lang="en-US" altLang="ko-KR">
                  <a:solidFill>
                    <a:srgbClr val="CC0066"/>
                  </a:solidFill>
                  <a:ea typeface="굴림" panose="020B0600000101010101" pitchFamily="34" charset="-127"/>
                </a:rPr>
                <a:t>-th percentile</a:t>
              </a:r>
            </a:p>
          </p:txBody>
        </p:sp>
        <p:cxnSp>
          <p:nvCxnSpPr>
            <p:cNvPr id="34833" name="AutoShape 37">
              <a:extLst>
                <a:ext uri="{FF2B5EF4-FFF2-40B4-BE49-F238E27FC236}">
                  <a16:creationId xmlns:a16="http://schemas.microsoft.com/office/drawing/2014/main" id="{8DDFAFDE-39FF-BCDE-025B-9B3600849733}"/>
                </a:ext>
              </a:extLst>
            </p:cNvPr>
            <p:cNvCxnSpPr>
              <a:cxnSpLocks noChangeShapeType="1"/>
              <a:stCxn id="34832" idx="0"/>
            </p:cNvCxnSpPr>
            <p:nvPr/>
          </p:nvCxnSpPr>
          <p:spPr bwMode="auto">
            <a:xfrm flipV="1">
              <a:off x="2616" y="2880"/>
              <a:ext cx="72" cy="192"/>
            </a:xfrm>
            <a:prstGeom prst="straightConnector1">
              <a:avLst/>
            </a:prstGeom>
            <a:noFill/>
            <a:ln w="952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9432" name="Text Box 40">
            <a:extLst>
              <a:ext uri="{FF2B5EF4-FFF2-40B4-BE49-F238E27FC236}">
                <a16:creationId xmlns:a16="http://schemas.microsoft.com/office/drawing/2014/main" id="{BD1F0B6F-D6F2-2BA9-D70B-8576AFB9E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962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9933"/>
                </a:solidFill>
                <a:ea typeface="굴림" panose="020B0600000101010101" pitchFamily="34" charset="-127"/>
              </a:rPr>
              <a:t>(100-</a:t>
            </a:r>
            <a:r>
              <a:rPr lang="en-US" altLang="ko-KR" b="1" i="1">
                <a:solidFill>
                  <a:srgbClr val="339933"/>
                </a:solidFill>
                <a:ea typeface="굴림" panose="020B0600000101010101" pitchFamily="34" charset="-127"/>
              </a:rPr>
              <a:t>p</a:t>
            </a:r>
            <a:r>
              <a:rPr lang="en-US" altLang="ko-KR" b="1">
                <a:solidFill>
                  <a:srgbClr val="339933"/>
                </a:solidFill>
                <a:ea typeface="굴림" panose="020B0600000101010101" pitchFamily="34" charset="-127"/>
              </a:rPr>
              <a:t>) %</a:t>
            </a:r>
          </a:p>
        </p:txBody>
      </p:sp>
      <p:grpSp>
        <p:nvGrpSpPr>
          <p:cNvPr id="3" name="Group 46">
            <a:extLst>
              <a:ext uri="{FF2B5EF4-FFF2-40B4-BE49-F238E27FC236}">
                <a16:creationId xmlns:a16="http://schemas.microsoft.com/office/drawing/2014/main" id="{6FA73928-99E7-7823-EBE8-B5941DE2C992}"/>
              </a:ext>
            </a:extLst>
          </p:cNvPr>
          <p:cNvGrpSpPr>
            <a:grpSpLocks/>
          </p:cNvGrpSpPr>
          <p:nvPr/>
        </p:nvGrpSpPr>
        <p:grpSpPr bwMode="auto">
          <a:xfrm>
            <a:off x="3937000" y="3440114"/>
            <a:ext cx="4400550" cy="1284287"/>
            <a:chOff x="1520" y="2167"/>
            <a:chExt cx="2772" cy="809"/>
          </a:xfrm>
        </p:grpSpPr>
        <p:sp>
          <p:nvSpPr>
            <p:cNvPr id="34826" name="Line 30">
              <a:extLst>
                <a:ext uri="{FF2B5EF4-FFF2-40B4-BE49-F238E27FC236}">
                  <a16:creationId xmlns:a16="http://schemas.microsoft.com/office/drawing/2014/main" id="{A9BAFAE2-43EA-C3A3-4846-DB888835D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grpSp>
          <p:nvGrpSpPr>
            <p:cNvPr id="34827" name="Group 45">
              <a:extLst>
                <a:ext uri="{FF2B5EF4-FFF2-40B4-BE49-F238E27FC236}">
                  <a16:creationId xmlns:a16="http://schemas.microsoft.com/office/drawing/2014/main" id="{7A1CCC75-33E8-2DC1-6FCB-D081019290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0" y="2167"/>
              <a:ext cx="2772" cy="809"/>
              <a:chOff x="1520" y="2167"/>
              <a:chExt cx="2772" cy="809"/>
            </a:xfrm>
          </p:grpSpPr>
          <p:sp>
            <p:nvSpPr>
              <p:cNvPr id="34828" name="Text Box 33">
                <a:extLst>
                  <a:ext uri="{FF2B5EF4-FFF2-40B4-BE49-F238E27FC236}">
                    <a16:creationId xmlns:a16="http://schemas.microsoft.com/office/drawing/2014/main" id="{A44C168A-E59F-6CFE-57BA-51E7C6EDF4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6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ko-KR" b="1" i="1">
                    <a:ea typeface="굴림" panose="020B0600000101010101" pitchFamily="34" charset="-127"/>
                  </a:rPr>
                  <a:t>x</a:t>
                </a:r>
              </a:p>
            </p:txBody>
          </p:sp>
          <p:grpSp>
            <p:nvGrpSpPr>
              <p:cNvPr id="34829" name="Group 43">
                <a:extLst>
                  <a:ext uri="{FF2B5EF4-FFF2-40B4-BE49-F238E27FC236}">
                    <a16:creationId xmlns:a16="http://schemas.microsoft.com/office/drawing/2014/main" id="{E2B56087-E4E1-1DF2-92EC-AA8256F15D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0" y="2167"/>
                <a:ext cx="2402" cy="713"/>
                <a:chOff x="1520" y="2167"/>
                <a:chExt cx="2402" cy="713"/>
              </a:xfrm>
            </p:grpSpPr>
            <p:sp>
              <p:nvSpPr>
                <p:cNvPr id="34830" name="Freeform 32">
                  <a:extLst>
                    <a:ext uri="{FF2B5EF4-FFF2-40B4-BE49-F238E27FC236}">
                      <a16:creationId xmlns:a16="http://schemas.microsoft.com/office/drawing/2014/main" id="{6643FDBE-2291-8E62-A27F-ACAE21F7CB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20" y="2167"/>
                  <a:ext cx="2402" cy="713"/>
                </a:xfrm>
                <a:custGeom>
                  <a:avLst/>
                  <a:gdLst>
                    <a:gd name="T0" fmla="*/ 0 w 2402"/>
                    <a:gd name="T1" fmla="*/ 676 h 713"/>
                    <a:gd name="T2" fmla="*/ 98 w 2402"/>
                    <a:gd name="T3" fmla="*/ 603 h 713"/>
                    <a:gd name="T4" fmla="*/ 331 w 2402"/>
                    <a:gd name="T5" fmla="*/ 296 h 713"/>
                    <a:gd name="T6" fmla="*/ 392 w 2402"/>
                    <a:gd name="T7" fmla="*/ 223 h 713"/>
                    <a:gd name="T8" fmla="*/ 429 w 2402"/>
                    <a:gd name="T9" fmla="*/ 198 h 713"/>
                    <a:gd name="T10" fmla="*/ 465 w 2402"/>
                    <a:gd name="T11" fmla="*/ 162 h 713"/>
                    <a:gd name="T12" fmla="*/ 539 w 2402"/>
                    <a:gd name="T13" fmla="*/ 137 h 713"/>
                    <a:gd name="T14" fmla="*/ 576 w 2402"/>
                    <a:gd name="T15" fmla="*/ 125 h 713"/>
                    <a:gd name="T16" fmla="*/ 625 w 2402"/>
                    <a:gd name="T17" fmla="*/ 137 h 713"/>
                    <a:gd name="T18" fmla="*/ 674 w 2402"/>
                    <a:gd name="T19" fmla="*/ 211 h 713"/>
                    <a:gd name="T20" fmla="*/ 821 w 2402"/>
                    <a:gd name="T21" fmla="*/ 345 h 713"/>
                    <a:gd name="T22" fmla="*/ 1041 w 2402"/>
                    <a:gd name="T23" fmla="*/ 296 h 713"/>
                    <a:gd name="T24" fmla="*/ 1262 w 2402"/>
                    <a:gd name="T25" fmla="*/ 125 h 713"/>
                    <a:gd name="T26" fmla="*/ 1299 w 2402"/>
                    <a:gd name="T27" fmla="*/ 112 h 713"/>
                    <a:gd name="T28" fmla="*/ 1372 w 2402"/>
                    <a:gd name="T29" fmla="*/ 63 h 713"/>
                    <a:gd name="T30" fmla="*/ 1470 w 2402"/>
                    <a:gd name="T31" fmla="*/ 39 h 713"/>
                    <a:gd name="T32" fmla="*/ 1679 w 2402"/>
                    <a:gd name="T33" fmla="*/ 14 h 713"/>
                    <a:gd name="T34" fmla="*/ 1789 w 2402"/>
                    <a:gd name="T35" fmla="*/ 137 h 713"/>
                    <a:gd name="T36" fmla="*/ 1801 w 2402"/>
                    <a:gd name="T37" fmla="*/ 174 h 713"/>
                    <a:gd name="T38" fmla="*/ 1826 w 2402"/>
                    <a:gd name="T39" fmla="*/ 211 h 713"/>
                    <a:gd name="T40" fmla="*/ 1838 w 2402"/>
                    <a:gd name="T41" fmla="*/ 260 h 713"/>
                    <a:gd name="T42" fmla="*/ 1875 w 2402"/>
                    <a:gd name="T43" fmla="*/ 296 h 713"/>
                    <a:gd name="T44" fmla="*/ 1973 w 2402"/>
                    <a:gd name="T45" fmla="*/ 382 h 713"/>
                    <a:gd name="T46" fmla="*/ 2010 w 2402"/>
                    <a:gd name="T47" fmla="*/ 407 h 713"/>
                    <a:gd name="T48" fmla="*/ 2034 w 2402"/>
                    <a:gd name="T49" fmla="*/ 443 h 713"/>
                    <a:gd name="T50" fmla="*/ 2291 w 2402"/>
                    <a:gd name="T51" fmla="*/ 492 h 713"/>
                    <a:gd name="T52" fmla="*/ 2340 w 2402"/>
                    <a:gd name="T53" fmla="*/ 566 h 713"/>
                    <a:gd name="T54" fmla="*/ 2365 w 2402"/>
                    <a:gd name="T55" fmla="*/ 639 h 713"/>
                    <a:gd name="T56" fmla="*/ 2389 w 2402"/>
                    <a:gd name="T57" fmla="*/ 676 h 713"/>
                    <a:gd name="T58" fmla="*/ 2402 w 2402"/>
                    <a:gd name="T59" fmla="*/ 713 h 71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2402"/>
                    <a:gd name="T91" fmla="*/ 0 h 713"/>
                    <a:gd name="T92" fmla="*/ 2402 w 2402"/>
                    <a:gd name="T93" fmla="*/ 713 h 713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2402" h="713">
                      <a:moveTo>
                        <a:pt x="0" y="676"/>
                      </a:moveTo>
                      <a:cubicBezTo>
                        <a:pt x="51" y="659"/>
                        <a:pt x="53" y="632"/>
                        <a:pt x="98" y="603"/>
                      </a:cubicBezTo>
                      <a:cubicBezTo>
                        <a:pt x="171" y="493"/>
                        <a:pt x="247" y="397"/>
                        <a:pt x="331" y="296"/>
                      </a:cubicBezTo>
                      <a:cubicBezTo>
                        <a:pt x="375" y="243"/>
                        <a:pt x="332" y="274"/>
                        <a:pt x="392" y="223"/>
                      </a:cubicBezTo>
                      <a:cubicBezTo>
                        <a:pt x="403" y="213"/>
                        <a:pt x="418" y="208"/>
                        <a:pt x="429" y="198"/>
                      </a:cubicBezTo>
                      <a:cubicBezTo>
                        <a:pt x="442" y="187"/>
                        <a:pt x="450" y="170"/>
                        <a:pt x="465" y="162"/>
                      </a:cubicBezTo>
                      <a:cubicBezTo>
                        <a:pt x="488" y="149"/>
                        <a:pt x="514" y="145"/>
                        <a:pt x="539" y="137"/>
                      </a:cubicBezTo>
                      <a:cubicBezTo>
                        <a:pt x="551" y="133"/>
                        <a:pt x="576" y="125"/>
                        <a:pt x="576" y="125"/>
                      </a:cubicBezTo>
                      <a:cubicBezTo>
                        <a:pt x="592" y="129"/>
                        <a:pt x="612" y="126"/>
                        <a:pt x="625" y="137"/>
                      </a:cubicBezTo>
                      <a:cubicBezTo>
                        <a:pt x="647" y="157"/>
                        <a:pt x="674" y="211"/>
                        <a:pt x="674" y="211"/>
                      </a:cubicBezTo>
                      <a:cubicBezTo>
                        <a:pt x="699" y="285"/>
                        <a:pt x="748" y="321"/>
                        <a:pt x="821" y="345"/>
                      </a:cubicBezTo>
                      <a:cubicBezTo>
                        <a:pt x="902" y="336"/>
                        <a:pt x="966" y="323"/>
                        <a:pt x="1041" y="296"/>
                      </a:cubicBezTo>
                      <a:cubicBezTo>
                        <a:pt x="1108" y="231"/>
                        <a:pt x="1188" y="181"/>
                        <a:pt x="1262" y="125"/>
                      </a:cubicBezTo>
                      <a:cubicBezTo>
                        <a:pt x="1272" y="117"/>
                        <a:pt x="1288" y="118"/>
                        <a:pt x="1299" y="112"/>
                      </a:cubicBezTo>
                      <a:cubicBezTo>
                        <a:pt x="1325" y="98"/>
                        <a:pt x="1344" y="70"/>
                        <a:pt x="1372" y="63"/>
                      </a:cubicBezTo>
                      <a:cubicBezTo>
                        <a:pt x="1405" y="55"/>
                        <a:pt x="1470" y="39"/>
                        <a:pt x="1470" y="39"/>
                      </a:cubicBezTo>
                      <a:cubicBezTo>
                        <a:pt x="1546" y="0"/>
                        <a:pt x="1594" y="2"/>
                        <a:pt x="1679" y="14"/>
                      </a:cubicBezTo>
                      <a:cubicBezTo>
                        <a:pt x="1755" y="42"/>
                        <a:pt x="1749" y="78"/>
                        <a:pt x="1789" y="137"/>
                      </a:cubicBezTo>
                      <a:cubicBezTo>
                        <a:pt x="1793" y="149"/>
                        <a:pt x="1795" y="162"/>
                        <a:pt x="1801" y="174"/>
                      </a:cubicBezTo>
                      <a:cubicBezTo>
                        <a:pt x="1808" y="187"/>
                        <a:pt x="1820" y="197"/>
                        <a:pt x="1826" y="211"/>
                      </a:cubicBezTo>
                      <a:cubicBezTo>
                        <a:pt x="1833" y="226"/>
                        <a:pt x="1830" y="245"/>
                        <a:pt x="1838" y="260"/>
                      </a:cubicBezTo>
                      <a:cubicBezTo>
                        <a:pt x="1847" y="275"/>
                        <a:pt x="1864" y="283"/>
                        <a:pt x="1875" y="296"/>
                      </a:cubicBezTo>
                      <a:cubicBezTo>
                        <a:pt x="1909" y="337"/>
                        <a:pt x="1920" y="365"/>
                        <a:pt x="1973" y="382"/>
                      </a:cubicBezTo>
                      <a:cubicBezTo>
                        <a:pt x="1985" y="390"/>
                        <a:pt x="1999" y="396"/>
                        <a:pt x="2010" y="407"/>
                      </a:cubicBezTo>
                      <a:cubicBezTo>
                        <a:pt x="2020" y="417"/>
                        <a:pt x="2023" y="434"/>
                        <a:pt x="2034" y="443"/>
                      </a:cubicBezTo>
                      <a:cubicBezTo>
                        <a:pt x="2096" y="495"/>
                        <a:pt x="2228" y="487"/>
                        <a:pt x="2291" y="492"/>
                      </a:cubicBezTo>
                      <a:cubicBezTo>
                        <a:pt x="2307" y="517"/>
                        <a:pt x="2330" y="538"/>
                        <a:pt x="2340" y="566"/>
                      </a:cubicBezTo>
                      <a:cubicBezTo>
                        <a:pt x="2348" y="590"/>
                        <a:pt x="2351" y="617"/>
                        <a:pt x="2365" y="639"/>
                      </a:cubicBezTo>
                      <a:cubicBezTo>
                        <a:pt x="2373" y="651"/>
                        <a:pt x="2382" y="663"/>
                        <a:pt x="2389" y="676"/>
                      </a:cubicBezTo>
                      <a:cubicBezTo>
                        <a:pt x="2395" y="688"/>
                        <a:pt x="2402" y="713"/>
                        <a:pt x="2402" y="713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4831" name="Line 34">
                  <a:extLst>
                    <a:ext uri="{FF2B5EF4-FFF2-40B4-BE49-F238E27FC236}">
                      <a16:creationId xmlns:a16="http://schemas.microsoft.com/office/drawing/2014/main" id="{D385F8A0-8DB0-C386-8533-B0235E13AC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88" y="2400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D"/>
                </a:p>
              </p:txBody>
            </p:sp>
          </p:grpSp>
        </p:grpSp>
      </p:grpSp>
      <p:sp>
        <p:nvSpPr>
          <p:cNvPr id="59431" name="Text Box 39">
            <a:extLst>
              <a:ext uri="{FF2B5EF4-FFF2-40B4-BE49-F238E27FC236}">
                <a16:creationId xmlns:a16="http://schemas.microsoft.com/office/drawing/2014/main" id="{2AFE4CBC-FE56-9896-804F-1A69D7438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0386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b="1" i="1">
                <a:solidFill>
                  <a:srgbClr val="339933"/>
                </a:solidFill>
                <a:ea typeface="굴림" panose="020B0600000101010101" pitchFamily="34" charset="-127"/>
              </a:rPr>
              <a:t>p </a:t>
            </a:r>
            <a:r>
              <a:rPr lang="en-US" altLang="ko-KR" b="1">
                <a:solidFill>
                  <a:srgbClr val="339933"/>
                </a:solidFill>
                <a:ea typeface="굴림" panose="020B0600000101010101" pitchFamily="34" charset="-127"/>
              </a:rPr>
              <a:t>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2" grpId="0" autoUpdateAnimBg="0"/>
      <p:bldP spid="59431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5" name="Rectangle 9">
            <a:extLst>
              <a:ext uri="{FF2B5EF4-FFF2-40B4-BE49-F238E27FC236}">
                <a16:creationId xmlns:a16="http://schemas.microsoft.com/office/drawing/2014/main" id="{020E1EAB-C7F4-96C3-D31C-14A7F2971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Examples</a:t>
            </a:r>
          </a:p>
        </p:txBody>
      </p:sp>
      <p:sp>
        <p:nvSpPr>
          <p:cNvPr id="35843" name="Rectangle 10">
            <a:extLst>
              <a:ext uri="{FF2B5EF4-FFF2-40B4-BE49-F238E27FC236}">
                <a16:creationId xmlns:a16="http://schemas.microsoft.com/office/drawing/2014/main" id="{00BC1B41-63BF-B1AD-03E9-25F2B0C53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295400"/>
            <a:ext cx="7696200" cy="1219200"/>
          </a:xfrm>
        </p:spPr>
        <p:txBody>
          <a:bodyPr/>
          <a:lstStyle/>
          <a:p>
            <a:pPr eaLnBrk="1" hangingPunct="1"/>
            <a:r>
              <a:rPr lang="en-US" altLang="ko-KR">
                <a:ea typeface="굴림" panose="020B0600000101010101" pitchFamily="34" charset="-127"/>
              </a:rPr>
              <a:t>90% of all men (16 and older) earn more than $319 per week.</a:t>
            </a:r>
          </a:p>
        </p:txBody>
      </p:sp>
      <p:sp>
        <p:nvSpPr>
          <p:cNvPr id="35845" name="Text Box 15">
            <a:extLst>
              <a:ext uri="{FF2B5EF4-FFF2-40B4-BE49-F238E27FC236}">
                <a16:creationId xmlns:a16="http://schemas.microsoft.com/office/drawing/2014/main" id="{30D764F2-D4B9-23F7-EB55-4A3EF9716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438401"/>
            <a:ext cx="3657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1000">
                <a:ea typeface="굴림" panose="020B0600000101010101" pitchFamily="34" charset="-127"/>
              </a:rPr>
              <a:t>BUREAU OF LABOR STATISTICS 2002</a:t>
            </a: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0B415030-ED6A-2C7B-30F6-B25A3D25F665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124200"/>
            <a:ext cx="4495800" cy="457200"/>
            <a:chOff x="912" y="1968"/>
            <a:chExt cx="2832" cy="288"/>
          </a:xfrm>
        </p:grpSpPr>
        <p:sp>
          <p:nvSpPr>
            <p:cNvPr id="35860" name="Line 16">
              <a:extLst>
                <a:ext uri="{FF2B5EF4-FFF2-40B4-BE49-F238E27FC236}">
                  <a16:creationId xmlns:a16="http://schemas.microsoft.com/office/drawing/2014/main" id="{12163530-D61D-AC0A-B8F8-B24B5D5C8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968"/>
              <a:ext cx="28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35861" name="Text Box 18">
              <a:extLst>
                <a:ext uri="{FF2B5EF4-FFF2-40B4-BE49-F238E27FC236}">
                  <a16:creationId xmlns:a16="http://schemas.microsoft.com/office/drawing/2014/main" id="{BA770F38-372B-0E4C-248A-205FB0DF3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96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$319</a:t>
              </a:r>
            </a:p>
          </p:txBody>
        </p:sp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57BA2E63-D6A4-2E94-B67F-DC1181DE58AD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667000"/>
            <a:ext cx="1371600" cy="457200"/>
            <a:chOff x="2064" y="1680"/>
            <a:chExt cx="864" cy="288"/>
          </a:xfrm>
        </p:grpSpPr>
        <p:sp>
          <p:nvSpPr>
            <p:cNvPr id="35858" name="Text Box 20">
              <a:extLst>
                <a:ext uri="{FF2B5EF4-FFF2-40B4-BE49-F238E27FC236}">
                  <a16:creationId xmlns:a16="http://schemas.microsoft.com/office/drawing/2014/main" id="{47F05305-874D-8267-E5BE-522FD1DEFE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680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90%</a:t>
              </a:r>
            </a:p>
          </p:txBody>
        </p:sp>
        <p:cxnSp>
          <p:nvCxnSpPr>
            <p:cNvPr id="35859" name="AutoShape 22">
              <a:extLst>
                <a:ext uri="{FF2B5EF4-FFF2-40B4-BE49-F238E27FC236}">
                  <a16:creationId xmlns:a16="http://schemas.microsoft.com/office/drawing/2014/main" id="{13A71D9D-D99C-009C-2000-0F8B44A26D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2112" y="1728"/>
              <a:ext cx="192" cy="28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B1A91535-5530-4F24-3990-7C4FF7C48B7C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667000"/>
            <a:ext cx="1371600" cy="457200"/>
            <a:chOff x="1200" y="1680"/>
            <a:chExt cx="864" cy="288"/>
          </a:xfrm>
        </p:grpSpPr>
        <p:sp>
          <p:nvSpPr>
            <p:cNvPr id="35856" name="Text Box 19">
              <a:extLst>
                <a:ext uri="{FF2B5EF4-FFF2-40B4-BE49-F238E27FC236}">
                  <a16:creationId xmlns:a16="http://schemas.microsoft.com/office/drawing/2014/main" id="{FB63A677-B099-2DBC-3EFD-35477B026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68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CC0066"/>
                  </a:solidFill>
                  <a:ea typeface="굴림" panose="020B0600000101010101" pitchFamily="34" charset="-127"/>
                </a:rPr>
                <a:t>10%</a:t>
              </a:r>
            </a:p>
          </p:txBody>
        </p:sp>
        <p:cxnSp>
          <p:nvCxnSpPr>
            <p:cNvPr id="35857" name="AutoShape 25">
              <a:extLst>
                <a:ext uri="{FF2B5EF4-FFF2-40B4-BE49-F238E27FC236}">
                  <a16:creationId xmlns:a16="http://schemas.microsoft.com/office/drawing/2014/main" id="{00C8C8F4-5F9C-4464-B09D-89B94020D6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>
              <a:off x="1752" y="1656"/>
              <a:ext cx="192" cy="432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36">
            <a:extLst>
              <a:ext uri="{FF2B5EF4-FFF2-40B4-BE49-F238E27FC236}">
                <a16:creationId xmlns:a16="http://schemas.microsoft.com/office/drawing/2014/main" id="{00BA8BB0-EA0C-CEA5-56CF-3BB7EB522E2C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962400"/>
            <a:ext cx="6629400" cy="2209800"/>
            <a:chOff x="720" y="2496"/>
            <a:chExt cx="4176" cy="1392"/>
          </a:xfrm>
        </p:grpSpPr>
        <p:sp>
          <p:nvSpPr>
            <p:cNvPr id="60445" name="Rectangle 29">
              <a:extLst>
                <a:ext uri="{FF2B5EF4-FFF2-40B4-BE49-F238E27FC236}">
                  <a16:creationId xmlns:a16="http://schemas.microsoft.com/office/drawing/2014/main" id="{4CD8342E-97E7-0BC1-D5F8-EA4504BFE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496"/>
              <a:ext cx="4176" cy="139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855" name="Text Box 30">
              <a:extLst>
                <a:ext uri="{FF2B5EF4-FFF2-40B4-BE49-F238E27FC236}">
                  <a16:creationId xmlns:a16="http://schemas.microsoft.com/office/drawing/2014/main" id="{E75FF7FA-B71C-7D0A-A1EA-B10864678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544"/>
              <a:ext cx="1824" cy="1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3200">
                  <a:solidFill>
                    <a:srgbClr val="339933"/>
                  </a:solidFill>
                  <a:ea typeface="굴림" panose="020B0600000101010101" pitchFamily="34" charset="-127"/>
                </a:rPr>
                <a:t>50</a:t>
              </a:r>
              <a:r>
                <a:rPr lang="en-US" altLang="ko-KR" sz="3200" baseline="30000">
                  <a:solidFill>
                    <a:srgbClr val="339933"/>
                  </a:solidFill>
                  <a:ea typeface="굴림" panose="020B0600000101010101" pitchFamily="34" charset="-127"/>
                </a:rPr>
                <a:t>th</a:t>
              </a:r>
              <a:r>
                <a:rPr lang="en-US" altLang="ko-KR" sz="3200">
                  <a:solidFill>
                    <a:srgbClr val="339933"/>
                  </a:solidFill>
                  <a:ea typeface="굴림" panose="020B0600000101010101" pitchFamily="34" charset="-127"/>
                </a:rPr>
                <a:t> Percentile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ko-KR" sz="3200">
                  <a:solidFill>
                    <a:srgbClr val="339933"/>
                  </a:solidFill>
                  <a:ea typeface="굴림" panose="020B0600000101010101" pitchFamily="34" charset="-127"/>
                </a:rPr>
                <a:t>25</a:t>
              </a:r>
              <a:r>
                <a:rPr lang="en-US" altLang="ko-KR" sz="3200" baseline="30000">
                  <a:solidFill>
                    <a:srgbClr val="339933"/>
                  </a:solidFill>
                  <a:ea typeface="굴림" panose="020B0600000101010101" pitchFamily="34" charset="-127"/>
                </a:rPr>
                <a:t>th</a:t>
              </a:r>
              <a:r>
                <a:rPr lang="en-US" altLang="ko-KR" sz="3200">
                  <a:solidFill>
                    <a:srgbClr val="339933"/>
                  </a:solidFill>
                  <a:ea typeface="굴림" panose="020B0600000101010101" pitchFamily="34" charset="-127"/>
                </a:rPr>
                <a:t> Percentile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ko-KR" sz="3200">
                  <a:solidFill>
                    <a:srgbClr val="339933"/>
                  </a:solidFill>
                  <a:ea typeface="굴림" panose="020B0600000101010101" pitchFamily="34" charset="-127"/>
                </a:rPr>
                <a:t>75</a:t>
              </a:r>
              <a:r>
                <a:rPr lang="en-US" altLang="ko-KR" sz="3200" baseline="30000">
                  <a:solidFill>
                    <a:srgbClr val="339933"/>
                  </a:solidFill>
                  <a:ea typeface="굴림" panose="020B0600000101010101" pitchFamily="34" charset="-127"/>
                </a:rPr>
                <a:t>th</a:t>
              </a:r>
              <a:r>
                <a:rPr lang="en-US" altLang="ko-KR" sz="3200">
                  <a:solidFill>
                    <a:srgbClr val="339933"/>
                  </a:solidFill>
                  <a:ea typeface="굴림" panose="020B0600000101010101" pitchFamily="34" charset="-127"/>
                </a:rPr>
                <a:t> Percentile</a:t>
              </a:r>
            </a:p>
          </p:txBody>
        </p:sp>
      </p:grpSp>
      <p:sp>
        <p:nvSpPr>
          <p:cNvPr id="60447" name="Text Box 31">
            <a:extLst>
              <a:ext uri="{FF2B5EF4-FFF2-40B4-BE49-F238E27FC236}">
                <a16:creationId xmlns:a16="http://schemas.microsoft.com/office/drawing/2014/main" id="{B1FCB81E-8A62-9319-2757-35CCA799A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62400"/>
            <a:ext cx="243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32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  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Median</a:t>
            </a:r>
          </a:p>
        </p:txBody>
      </p:sp>
      <p:sp>
        <p:nvSpPr>
          <p:cNvPr id="60448" name="Text Box 32">
            <a:extLst>
              <a:ext uri="{FF2B5EF4-FFF2-40B4-BE49-F238E27FC236}">
                <a16:creationId xmlns:a16="http://schemas.microsoft.com/office/drawing/2014/main" id="{7DAE6980-E134-0F5F-B00C-BFA8987B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678364"/>
            <a:ext cx="3810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32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 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Lower Quartile (Q</a:t>
            </a:r>
            <a:r>
              <a:rPr lang="en-US" altLang="ko-KR" sz="3200" baseline="-25000">
                <a:solidFill>
                  <a:srgbClr val="CC0066"/>
                </a:solidFill>
                <a:ea typeface="굴림" panose="020B0600000101010101" pitchFamily="34" charset="-127"/>
              </a:rPr>
              <a:t>1)</a:t>
            </a:r>
          </a:p>
        </p:txBody>
      </p:sp>
      <p:sp>
        <p:nvSpPr>
          <p:cNvPr id="60450" name="Text Box 34">
            <a:extLst>
              <a:ext uri="{FF2B5EF4-FFF2-40B4-BE49-F238E27FC236}">
                <a16:creationId xmlns:a16="http://schemas.microsoft.com/office/drawing/2014/main" id="{5E9134A5-2735-96F9-E7A9-8CE3D4581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440364"/>
            <a:ext cx="3886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32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 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Upper Quartile (Q</a:t>
            </a:r>
            <a:r>
              <a:rPr lang="en-US" altLang="ko-KR" sz="3200" baseline="-25000">
                <a:solidFill>
                  <a:srgbClr val="CC0066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)</a:t>
            </a:r>
            <a:endParaRPr lang="en-US" altLang="ko-KR" sz="3200" baseline="-25000">
              <a:solidFill>
                <a:srgbClr val="CC0066"/>
              </a:solidFill>
              <a:ea typeface="굴림" panose="020B0600000101010101" pitchFamily="34" charset="-127"/>
            </a:endParaRPr>
          </a:p>
        </p:txBody>
      </p:sp>
      <p:sp>
        <p:nvSpPr>
          <p:cNvPr id="60451" name="Text Box 35">
            <a:extLst>
              <a:ext uri="{FF2B5EF4-FFF2-40B4-BE49-F238E27FC236}">
                <a16:creationId xmlns:a16="http://schemas.microsoft.com/office/drawing/2014/main" id="{0EE27810-339C-8931-D8C7-E27767B41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819401"/>
            <a:ext cx="2514600" cy="646331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>
                <a:solidFill>
                  <a:srgbClr val="333333"/>
                </a:solidFill>
                <a:ea typeface="굴림" charset="-127"/>
              </a:rPr>
              <a:t>$319 is the 10</a:t>
            </a:r>
            <a:r>
              <a:rPr lang="en-US" altLang="ko-KR" baseline="30000">
                <a:solidFill>
                  <a:srgbClr val="333333"/>
                </a:solidFill>
                <a:ea typeface="굴림" charset="-127"/>
              </a:rPr>
              <a:t>th</a:t>
            </a:r>
            <a:r>
              <a:rPr lang="en-US" altLang="ko-KR">
                <a:solidFill>
                  <a:srgbClr val="333333"/>
                </a:solidFill>
                <a:ea typeface="굴림" charset="-127"/>
              </a:rPr>
              <a:t> percentile.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0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0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0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47" grpId="0" autoUpdateAnimBg="0"/>
      <p:bldP spid="60448" grpId="0" autoUpdateAnimBg="0"/>
      <p:bldP spid="60450" grpId="0" autoUpdateAnimBg="0"/>
      <p:bldP spid="60451" grpId="0" animBg="1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A2B84CC-F4B3-F3A4-686E-30642FD44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086778"/>
            <a:ext cx="9241654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lower quartile (Q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) 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is the value of </a:t>
            </a:r>
            <a:r>
              <a:rPr lang="en-US" altLang="ko-KR" sz="3600" i="1" dirty="0">
                <a:solidFill>
                  <a:srgbClr val="339933"/>
                </a:solidFill>
                <a:ea typeface="굴림" charset="-127"/>
              </a:rPr>
              <a:t>x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 which is larger than 25% and less than 75% of the ordered measurements.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upper quartile (Q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3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) 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is the value of </a:t>
            </a:r>
            <a:r>
              <a:rPr lang="en-US" altLang="ko-KR" sz="3600" i="1" dirty="0">
                <a:solidFill>
                  <a:srgbClr val="339933"/>
                </a:solidFill>
                <a:ea typeface="굴림" charset="-127"/>
              </a:rPr>
              <a:t>x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 which is larger than 75% and less than 25% of the ordered measurements.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The range of the “middle 50%” of the measurements is the</a:t>
            </a:r>
            <a:r>
              <a:rPr lang="en-US" altLang="ko-KR" sz="3600" dirty="0">
                <a:solidFill>
                  <a:srgbClr val="3399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interquartile range, 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en-US" altLang="ko-KR" sz="4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IQR =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3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– 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</a:t>
            </a:r>
            <a:endParaRPr lang="en-US" altLang="ko-KR" sz="400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77EDD49A-0F54-A33D-6258-E6C75C23C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Quartiles and the IQR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4A525D8-615F-7EDE-7D5C-EEB559D8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319077"/>
            <a:ext cx="852848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lower and upper quartiles (Q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and 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3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), 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can be calculated as follows: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Q</a:t>
            </a:r>
            <a:r>
              <a:rPr lang="en-US" altLang="ko-KR" sz="36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</a:t>
            </a:r>
            <a:r>
              <a:rPr lang="en-US" altLang="ko-KR" sz="3600" b="1" dirty="0">
                <a:solidFill>
                  <a:schemeClr val="bg1"/>
                </a:solidFill>
                <a:ea typeface="굴림" charset="-127"/>
              </a:rPr>
              <a:t> 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is                                       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49CE360-3A3B-486F-1CDE-FD5D5D06F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-19975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ko-KR" sz="4400" dirty="0">
                <a:ea typeface="굴림" charset="-127"/>
              </a:rPr>
              <a:t>Calculating Sample Quartiles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12BFBB67-50CD-842D-74E4-74D9ADA5A87B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452677"/>
            <a:ext cx="2514600" cy="762000"/>
            <a:chOff x="2400" y="2832"/>
            <a:chExt cx="1488" cy="480"/>
          </a:xfrm>
        </p:grpSpPr>
        <p:sp>
          <p:nvSpPr>
            <p:cNvPr id="62470" name="Rectangle 6">
              <a:extLst>
                <a:ext uri="{FF2B5EF4-FFF2-40B4-BE49-F238E27FC236}">
                  <a16:creationId xmlns:a16="http://schemas.microsoft.com/office/drawing/2014/main" id="{43A7A148-4A60-3EB0-E840-3E148697B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832"/>
              <a:ext cx="1488" cy="48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471" name="Text Box 7">
              <a:extLst>
                <a:ext uri="{FF2B5EF4-FFF2-40B4-BE49-F238E27FC236}">
                  <a16:creationId xmlns:a16="http://schemas.microsoft.com/office/drawing/2014/main" id="{A7CDA692-112F-7C0C-32E9-5083C75D1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0"/>
              <a:ext cx="124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36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.75(</a:t>
              </a:r>
              <a:r>
                <a:rPr lang="en-US" altLang="ko-KR" sz="3600" b="1" i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n</a:t>
              </a:r>
              <a:r>
                <a:rPr lang="en-US" altLang="ko-KR" sz="36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+ 1)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9BE0BADE-77E5-3AE2-577A-C1C78D4BADAD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462077"/>
            <a:ext cx="2514600" cy="762000"/>
            <a:chOff x="2400" y="2832"/>
            <a:chExt cx="1488" cy="480"/>
          </a:xfrm>
        </p:grpSpPr>
        <p:sp>
          <p:nvSpPr>
            <p:cNvPr id="62473" name="Rectangle 9">
              <a:extLst>
                <a:ext uri="{FF2B5EF4-FFF2-40B4-BE49-F238E27FC236}">
                  <a16:creationId xmlns:a16="http://schemas.microsoft.com/office/drawing/2014/main" id="{E646E46D-759A-C0FF-868B-0FCB554C1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832"/>
              <a:ext cx="1488" cy="48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2474" name="Text Box 10">
              <a:extLst>
                <a:ext uri="{FF2B5EF4-FFF2-40B4-BE49-F238E27FC236}">
                  <a16:creationId xmlns:a16="http://schemas.microsoft.com/office/drawing/2014/main" id="{D538F366-B76E-ABCD-1845-1A1901AE5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0"/>
              <a:ext cx="124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36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.25(</a:t>
              </a:r>
              <a:r>
                <a:rPr lang="en-US" altLang="ko-KR" sz="3600" b="1" i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n</a:t>
              </a:r>
              <a:r>
                <a:rPr lang="en-US" altLang="ko-KR" sz="36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+ 1)</a:t>
              </a:r>
            </a:p>
          </p:txBody>
        </p:sp>
      </p:grpSp>
      <p:sp>
        <p:nvSpPr>
          <p:cNvPr id="62475" name="Text Box 11">
            <a:extLst>
              <a:ext uri="{FF2B5EF4-FFF2-40B4-BE49-F238E27FC236}">
                <a16:creationId xmlns:a16="http://schemas.microsoft.com/office/drawing/2014/main" id="{8AF88A22-1989-0877-1921-B2EE9105B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28877"/>
            <a:ext cx="4495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Q</a:t>
            </a:r>
            <a:r>
              <a:rPr lang="en-US" altLang="ko-KR" sz="3600" b="1" baseline="-2500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3</a:t>
            </a:r>
            <a:r>
              <a:rPr lang="en-US" altLang="ko-KR" sz="3600" b="1">
                <a:solidFill>
                  <a:schemeClr val="bg1"/>
                </a:solidFill>
                <a:ea typeface="굴림" charset="-127"/>
              </a:rPr>
              <a:t> </a:t>
            </a: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is</a:t>
            </a:r>
            <a:endParaRPr lang="en-US" altLang="ko-KR">
              <a:ea typeface="굴림" charset="-127"/>
            </a:endParaRPr>
          </a:p>
        </p:txBody>
      </p:sp>
      <p:sp>
        <p:nvSpPr>
          <p:cNvPr id="62476" name="Text Box 12">
            <a:extLst>
              <a:ext uri="{FF2B5EF4-FFF2-40B4-BE49-F238E27FC236}">
                <a16:creationId xmlns:a16="http://schemas.microsoft.com/office/drawing/2014/main" id="{C2D3B175-E4DD-FE76-1FE3-D84F56B81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519477"/>
            <a:ext cx="81134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once the measurements have been ordered. If the positions are not integers, find the quartiles by interpolation.</a:t>
            </a:r>
            <a:endParaRPr lang="en-US" altLang="ko-KR" dirty="0"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build="p" autoUpdateAnimBg="0"/>
      <p:bldP spid="62475" grpId="0" autoUpdateAnimBg="0"/>
      <p:bldP spid="62476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6C03847-D5C3-032A-9845-33D662E09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-76200"/>
            <a:ext cx="441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ea typeface="굴림" charset="-127"/>
              </a:rPr>
              <a:t>Example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3B75BA88-2FFF-F5E0-E5A1-01AE372B5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296143"/>
            <a:ext cx="68580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dirty="0">
                <a:solidFill>
                  <a:srgbClr val="339933"/>
                </a:solidFill>
                <a:ea typeface="굴림" panose="020B0600000101010101" pitchFamily="34" charset="-127"/>
              </a:rPr>
              <a:t>The prices ($) of 18 brands of walking shoes:</a:t>
            </a:r>
          </a:p>
          <a:p>
            <a:pPr eaLnBrk="1" hangingPunct="1">
              <a:spcBef>
                <a:spcPct val="20000"/>
              </a:spcBef>
              <a:buFontTx/>
              <a:buAutoNum type="arabicPlain" startAt="40"/>
            </a:pPr>
            <a:r>
              <a:rPr lang="en-US" altLang="ko-KR" sz="2800" dirty="0">
                <a:solidFill>
                  <a:srgbClr val="339933"/>
                </a:solidFill>
                <a:ea typeface="굴림" panose="020B0600000101010101" pitchFamily="34" charset="-127"/>
              </a:rPr>
              <a:t>60   65   65   65   68   68   70   70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800" dirty="0">
                <a:solidFill>
                  <a:srgbClr val="339933"/>
                </a:solidFill>
                <a:ea typeface="굴림" panose="020B0600000101010101" pitchFamily="34" charset="-127"/>
              </a:rPr>
              <a:t>70   70   70   70   74   75   75   90   95</a:t>
            </a:r>
          </a:p>
        </p:txBody>
      </p:sp>
      <p:grpSp>
        <p:nvGrpSpPr>
          <p:cNvPr id="38916" name="Group 13">
            <a:extLst>
              <a:ext uri="{FF2B5EF4-FFF2-40B4-BE49-F238E27FC236}">
                <a16:creationId xmlns:a16="http://schemas.microsoft.com/office/drawing/2014/main" id="{49829964-C980-8128-880A-51BF6A6C96BA}"/>
              </a:ext>
            </a:extLst>
          </p:cNvPr>
          <p:cNvGrpSpPr>
            <a:grpSpLocks/>
          </p:cNvGrpSpPr>
          <p:nvPr/>
        </p:nvGrpSpPr>
        <p:grpSpPr bwMode="auto">
          <a:xfrm>
            <a:off x="10346929" y="95433"/>
            <a:ext cx="1752600" cy="1219200"/>
            <a:chOff x="4128" y="48"/>
            <a:chExt cx="1440" cy="1104"/>
          </a:xfrm>
        </p:grpSpPr>
        <p:sp>
          <p:nvSpPr>
            <p:cNvPr id="63502" name="Rectangle 14">
              <a:extLst>
                <a:ext uri="{FF2B5EF4-FFF2-40B4-BE49-F238E27FC236}">
                  <a16:creationId xmlns:a16="http://schemas.microsoft.com/office/drawing/2014/main" id="{9DBDAB09-1DC5-EAE3-CD2A-E4706DBFB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48"/>
              <a:ext cx="1440" cy="1104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38925" name="Picture 15" descr="shoes">
              <a:extLst>
                <a:ext uri="{FF2B5EF4-FFF2-40B4-BE49-F238E27FC236}">
                  <a16:creationId xmlns:a16="http://schemas.microsoft.com/office/drawing/2014/main" id="{DECD5EEB-75FB-1DDF-B6F3-E9C6F105F8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144"/>
              <a:ext cx="1248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3511" name="Rectangle 23">
            <a:extLst>
              <a:ext uri="{FF2B5EF4-FFF2-40B4-BE49-F238E27FC236}">
                <a16:creationId xmlns:a16="http://schemas.microsoft.com/office/drawing/2014/main" id="{4B6D0741-C353-01BF-789A-B3E6F095E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820143"/>
            <a:ext cx="5943600" cy="1447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3512" name="Text Box 24">
            <a:extLst>
              <a:ext uri="{FF2B5EF4-FFF2-40B4-BE49-F238E27FC236}">
                <a16:creationId xmlns:a16="http://schemas.microsoft.com/office/drawing/2014/main" id="{B291A91D-AAF0-B89D-9714-345C3D89E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963667"/>
            <a:ext cx="56388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Q</a:t>
            </a:r>
            <a:r>
              <a:rPr lang="en-US" altLang="ko-KR" sz="28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</a:t>
            </a: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= .25(18 + 1) = 4.75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Q</a:t>
            </a:r>
            <a:r>
              <a:rPr lang="en-US" altLang="ko-KR" sz="2800" b="1" baseline="-25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3</a:t>
            </a: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= .75(18 + 1) = 14.25</a:t>
            </a:r>
          </a:p>
        </p:txBody>
      </p:sp>
      <p:sp>
        <p:nvSpPr>
          <p:cNvPr id="63514" name="Text Box 26">
            <a:extLst>
              <a:ext uri="{FF2B5EF4-FFF2-40B4-BE49-F238E27FC236}">
                <a16:creationId xmlns:a16="http://schemas.microsoft.com/office/drawing/2014/main" id="{DA95EB0D-E156-E45D-FA1B-E50BCCF61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344143"/>
            <a:ext cx="8001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is 3/4 of the way between the 4</a:t>
            </a:r>
            <a:r>
              <a:rPr lang="en-US" altLang="ko-KR" sz="3200" baseline="30000">
                <a:solidFill>
                  <a:srgbClr val="339933"/>
                </a:solidFill>
                <a:ea typeface="굴림" panose="020B0600000101010101" pitchFamily="34" charset="-127"/>
              </a:rPr>
              <a:t>th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 and 5</a:t>
            </a:r>
            <a:r>
              <a:rPr lang="en-US" altLang="ko-KR" sz="3200" baseline="30000">
                <a:solidFill>
                  <a:srgbClr val="339933"/>
                </a:solidFill>
                <a:ea typeface="굴림" panose="020B0600000101010101" pitchFamily="34" charset="-127"/>
              </a:rPr>
              <a:t>th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 ordered measurements, or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Q</a:t>
            </a:r>
            <a:r>
              <a:rPr lang="en-US" altLang="ko-KR" sz="3200" baseline="-25000">
                <a:solidFill>
                  <a:srgbClr val="CC0066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 = 65 + .75(65 - 65) = 65.</a:t>
            </a:r>
          </a:p>
        </p:txBody>
      </p:sp>
      <p:grpSp>
        <p:nvGrpSpPr>
          <p:cNvPr id="3" name="Group 35">
            <a:extLst>
              <a:ext uri="{FF2B5EF4-FFF2-40B4-BE49-F238E27FC236}">
                <a16:creationId xmlns:a16="http://schemas.microsoft.com/office/drawing/2014/main" id="{919A2986-DD9C-7168-A893-1324A65A11CB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677143"/>
            <a:ext cx="6261100" cy="3886200"/>
            <a:chOff x="1392" y="816"/>
            <a:chExt cx="3944" cy="2448"/>
          </a:xfrm>
        </p:grpSpPr>
        <p:sp>
          <p:nvSpPr>
            <p:cNvPr id="38922" name="Freeform 28">
              <a:extLst>
                <a:ext uri="{FF2B5EF4-FFF2-40B4-BE49-F238E27FC236}">
                  <a16:creationId xmlns:a16="http://schemas.microsoft.com/office/drawing/2014/main" id="{5BE553DA-6849-14BF-A44F-B34434205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816"/>
              <a:ext cx="3080" cy="2448"/>
            </a:xfrm>
            <a:custGeom>
              <a:avLst/>
              <a:gdLst>
                <a:gd name="T0" fmla="*/ 1824 w 3272"/>
                <a:gd name="T1" fmla="*/ 2328 h 2328"/>
                <a:gd name="T2" fmla="*/ 2928 w 3272"/>
                <a:gd name="T3" fmla="*/ 2040 h 2328"/>
                <a:gd name="T4" fmla="*/ 3264 w 3272"/>
                <a:gd name="T5" fmla="*/ 1560 h 2328"/>
                <a:gd name="T6" fmla="*/ 2880 w 3272"/>
                <a:gd name="T7" fmla="*/ 600 h 2328"/>
                <a:gd name="T8" fmla="*/ 1392 w 3272"/>
                <a:gd name="T9" fmla="*/ 72 h 2328"/>
                <a:gd name="T10" fmla="*/ 0 w 3272"/>
                <a:gd name="T11" fmla="*/ 168 h 23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72"/>
                <a:gd name="T19" fmla="*/ 0 h 2328"/>
                <a:gd name="T20" fmla="*/ 3272 w 3272"/>
                <a:gd name="T21" fmla="*/ 2328 h 23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72" h="2328">
                  <a:moveTo>
                    <a:pt x="1824" y="2328"/>
                  </a:moveTo>
                  <a:cubicBezTo>
                    <a:pt x="2256" y="2248"/>
                    <a:pt x="2688" y="2168"/>
                    <a:pt x="2928" y="2040"/>
                  </a:cubicBezTo>
                  <a:cubicBezTo>
                    <a:pt x="3168" y="1912"/>
                    <a:pt x="3272" y="1800"/>
                    <a:pt x="3264" y="1560"/>
                  </a:cubicBezTo>
                  <a:cubicBezTo>
                    <a:pt x="3256" y="1320"/>
                    <a:pt x="3192" y="848"/>
                    <a:pt x="2880" y="600"/>
                  </a:cubicBezTo>
                  <a:cubicBezTo>
                    <a:pt x="2568" y="352"/>
                    <a:pt x="1872" y="144"/>
                    <a:pt x="1392" y="72"/>
                  </a:cubicBezTo>
                  <a:cubicBezTo>
                    <a:pt x="912" y="0"/>
                    <a:pt x="456" y="84"/>
                    <a:pt x="0" y="168"/>
                  </a:cubicBezTo>
                </a:path>
              </a:pathLst>
            </a:cu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923" name="Oval 30">
              <a:extLst>
                <a:ext uri="{FF2B5EF4-FFF2-40B4-BE49-F238E27FC236}">
                  <a16:creationId xmlns:a16="http://schemas.microsoft.com/office/drawing/2014/main" id="{C135D278-82C9-E94B-227C-94B4CA1A3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864"/>
              <a:ext cx="816" cy="432"/>
            </a:xfrm>
            <a:prstGeom prst="ellips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3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12" grpId="0" build="p" autoUpdateAnimBg="0"/>
      <p:bldP spid="63514" grpId="0" build="p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A0ABAED-3108-7C6C-FEC0-D04549365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-76200"/>
            <a:ext cx="441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ea typeface="굴림" charset="-127"/>
              </a:rPr>
              <a:t>Example</a:t>
            </a:r>
          </a:p>
        </p:txBody>
      </p:sp>
      <p:sp>
        <p:nvSpPr>
          <p:cNvPr id="39939" name="Text Box 3">
            <a:extLst>
              <a:ext uri="{FF2B5EF4-FFF2-40B4-BE49-F238E27FC236}">
                <a16:creationId xmlns:a16="http://schemas.microsoft.com/office/drawing/2014/main" id="{AD8BB0D5-D0BD-9F8D-223D-E3AAD3467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000" y="1145221"/>
            <a:ext cx="68580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dirty="0">
                <a:solidFill>
                  <a:srgbClr val="339933"/>
                </a:solidFill>
                <a:ea typeface="굴림" panose="020B0600000101010101" pitchFamily="34" charset="-127"/>
              </a:rPr>
              <a:t>The prices ($) of 18 brands of walking shoes:</a:t>
            </a:r>
          </a:p>
          <a:p>
            <a:pPr eaLnBrk="1" hangingPunct="1">
              <a:spcBef>
                <a:spcPct val="20000"/>
              </a:spcBef>
              <a:buFontTx/>
              <a:buAutoNum type="arabicPlain" startAt="40"/>
            </a:pPr>
            <a:r>
              <a:rPr lang="en-US" altLang="ko-KR" sz="2800" dirty="0">
                <a:solidFill>
                  <a:srgbClr val="339933"/>
                </a:solidFill>
                <a:ea typeface="굴림" panose="020B0600000101010101" pitchFamily="34" charset="-127"/>
              </a:rPr>
              <a:t>60   65   65   65   68   68   70   70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sz="2800" dirty="0">
                <a:solidFill>
                  <a:srgbClr val="339933"/>
                </a:solidFill>
                <a:ea typeface="굴림" panose="020B0600000101010101" pitchFamily="34" charset="-127"/>
              </a:rPr>
              <a:t>70   70   70   70   74   75   75   90   95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44E86BA4-4FF8-6468-AA35-B9C2C9341F80}"/>
              </a:ext>
            </a:extLst>
          </p:cNvPr>
          <p:cNvGrpSpPr>
            <a:grpSpLocks/>
          </p:cNvGrpSpPr>
          <p:nvPr/>
        </p:nvGrpSpPr>
        <p:grpSpPr bwMode="auto">
          <a:xfrm>
            <a:off x="10346927" y="86554"/>
            <a:ext cx="1752600" cy="1219200"/>
            <a:chOff x="4128" y="48"/>
            <a:chExt cx="1440" cy="1104"/>
          </a:xfrm>
        </p:grpSpPr>
        <p:sp>
          <p:nvSpPr>
            <p:cNvPr id="67589" name="Rectangle 5">
              <a:extLst>
                <a:ext uri="{FF2B5EF4-FFF2-40B4-BE49-F238E27FC236}">
                  <a16:creationId xmlns:a16="http://schemas.microsoft.com/office/drawing/2014/main" id="{9F0C23DB-1EC1-FDC4-B9B3-7B9442FB0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48"/>
              <a:ext cx="1440" cy="1104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/>
            </a:p>
          </p:txBody>
        </p:sp>
        <p:pic>
          <p:nvPicPr>
            <p:cNvPr id="39950" name="Picture 6" descr="shoes">
              <a:extLst>
                <a:ext uri="{FF2B5EF4-FFF2-40B4-BE49-F238E27FC236}">
                  <a16:creationId xmlns:a16="http://schemas.microsoft.com/office/drawing/2014/main" id="{AB011E9B-A9E7-E2A0-576D-354022579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144"/>
              <a:ext cx="1248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7592" name="Rectangle 8">
            <a:extLst>
              <a:ext uri="{FF2B5EF4-FFF2-40B4-BE49-F238E27FC236}">
                <a16:creationId xmlns:a16="http://schemas.microsoft.com/office/drawing/2014/main" id="{8F645F21-E5EF-070A-C21D-8F044C40A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5800" y="2669221"/>
            <a:ext cx="5943600" cy="1447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7593" name="Text Box 9">
            <a:extLst>
              <a:ext uri="{FF2B5EF4-FFF2-40B4-BE49-F238E27FC236}">
                <a16:creationId xmlns:a16="http://schemas.microsoft.com/office/drawing/2014/main" id="{031C91CB-5E53-B35D-B2D0-B9DB02ABB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000" y="2821622"/>
            <a:ext cx="56388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Q</a:t>
            </a:r>
            <a:r>
              <a:rPr lang="en-US" altLang="ko-KR" sz="2800" b="1" baseline="-2500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= .25(18 + 1) = 4.75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Position of Q</a:t>
            </a:r>
            <a:r>
              <a:rPr lang="en-US" altLang="ko-KR" sz="2800" b="1" baseline="-2500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3</a:t>
            </a: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= .75(18 + 1) = 14.25</a:t>
            </a:r>
          </a:p>
        </p:txBody>
      </p:sp>
      <p:sp>
        <p:nvSpPr>
          <p:cNvPr id="67594" name="Text Box 10">
            <a:extLst>
              <a:ext uri="{FF2B5EF4-FFF2-40B4-BE49-F238E27FC236}">
                <a16:creationId xmlns:a16="http://schemas.microsoft.com/office/drawing/2014/main" id="{6780FABF-44F9-EE89-2ED9-F65AAE8E1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9600" y="4193221"/>
            <a:ext cx="8001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3 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is 1/4 of the way between the 14</a:t>
            </a:r>
            <a:r>
              <a:rPr lang="en-US" altLang="ko-KR" sz="3200" baseline="30000">
                <a:solidFill>
                  <a:srgbClr val="339933"/>
                </a:solidFill>
                <a:ea typeface="굴림" panose="020B0600000101010101" pitchFamily="34" charset="-127"/>
              </a:rPr>
              <a:t>th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 and 15</a:t>
            </a:r>
            <a:r>
              <a:rPr lang="en-US" altLang="ko-KR" sz="3200" baseline="30000">
                <a:solidFill>
                  <a:srgbClr val="339933"/>
                </a:solidFill>
                <a:ea typeface="굴림" panose="020B0600000101010101" pitchFamily="34" charset="-127"/>
              </a:rPr>
              <a:t>th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 ordered measurements, or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Q</a:t>
            </a:r>
            <a:r>
              <a:rPr lang="en-US" altLang="ko-KR" sz="3200" baseline="-25000">
                <a:solidFill>
                  <a:srgbClr val="CC0066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 = 75 + .25(75 - 74) = 75.25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12BC54A7-63FD-E010-1324-2ABBFAC9181A}"/>
              </a:ext>
            </a:extLst>
          </p:cNvPr>
          <p:cNvGrpSpPr>
            <a:grpSpLocks/>
          </p:cNvGrpSpPr>
          <p:nvPr/>
        </p:nvGrpSpPr>
        <p:grpSpPr bwMode="auto">
          <a:xfrm>
            <a:off x="4579400" y="1983421"/>
            <a:ext cx="5346700" cy="3429000"/>
            <a:chOff x="1968" y="1104"/>
            <a:chExt cx="3368" cy="2160"/>
          </a:xfrm>
        </p:grpSpPr>
        <p:sp>
          <p:nvSpPr>
            <p:cNvPr id="39947" name="Freeform 12">
              <a:extLst>
                <a:ext uri="{FF2B5EF4-FFF2-40B4-BE49-F238E27FC236}">
                  <a16:creationId xmlns:a16="http://schemas.microsoft.com/office/drawing/2014/main" id="{E5FA34D5-AF79-5072-96A3-2EF7E0442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104"/>
              <a:ext cx="2552" cy="2160"/>
            </a:xfrm>
            <a:custGeom>
              <a:avLst/>
              <a:gdLst>
                <a:gd name="T0" fmla="*/ 1824 w 3272"/>
                <a:gd name="T1" fmla="*/ 2328 h 2328"/>
                <a:gd name="T2" fmla="*/ 2928 w 3272"/>
                <a:gd name="T3" fmla="*/ 2040 h 2328"/>
                <a:gd name="T4" fmla="*/ 3264 w 3272"/>
                <a:gd name="T5" fmla="*/ 1560 h 2328"/>
                <a:gd name="T6" fmla="*/ 2880 w 3272"/>
                <a:gd name="T7" fmla="*/ 600 h 2328"/>
                <a:gd name="T8" fmla="*/ 1392 w 3272"/>
                <a:gd name="T9" fmla="*/ 72 h 2328"/>
                <a:gd name="T10" fmla="*/ 0 w 3272"/>
                <a:gd name="T11" fmla="*/ 168 h 23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72"/>
                <a:gd name="T19" fmla="*/ 0 h 2328"/>
                <a:gd name="T20" fmla="*/ 3272 w 3272"/>
                <a:gd name="T21" fmla="*/ 2328 h 23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72" h="2328">
                  <a:moveTo>
                    <a:pt x="1824" y="2328"/>
                  </a:moveTo>
                  <a:cubicBezTo>
                    <a:pt x="2256" y="2248"/>
                    <a:pt x="2688" y="2168"/>
                    <a:pt x="2928" y="2040"/>
                  </a:cubicBezTo>
                  <a:cubicBezTo>
                    <a:pt x="3168" y="1912"/>
                    <a:pt x="3272" y="1800"/>
                    <a:pt x="3264" y="1560"/>
                  </a:cubicBezTo>
                  <a:cubicBezTo>
                    <a:pt x="3256" y="1320"/>
                    <a:pt x="3192" y="848"/>
                    <a:pt x="2880" y="600"/>
                  </a:cubicBezTo>
                  <a:cubicBezTo>
                    <a:pt x="2568" y="352"/>
                    <a:pt x="1872" y="144"/>
                    <a:pt x="1392" y="72"/>
                  </a:cubicBezTo>
                  <a:cubicBezTo>
                    <a:pt x="912" y="0"/>
                    <a:pt x="456" y="84"/>
                    <a:pt x="0" y="168"/>
                  </a:cubicBezTo>
                </a:path>
              </a:pathLst>
            </a:cu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48" name="Oval 13">
              <a:extLst>
                <a:ext uri="{FF2B5EF4-FFF2-40B4-BE49-F238E27FC236}">
                  <a16:creationId xmlns:a16="http://schemas.microsoft.com/office/drawing/2014/main" id="{0BE3781B-03A9-B3D0-A5CF-7AFD87AAD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152"/>
              <a:ext cx="816" cy="432"/>
            </a:xfrm>
            <a:prstGeom prst="ellips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67598" name="Text Box 14">
            <a:extLst>
              <a:ext uri="{FF2B5EF4-FFF2-40B4-BE49-F238E27FC236}">
                <a16:creationId xmlns:a16="http://schemas.microsoft.com/office/drawing/2014/main" id="{7DC35CFE-C147-2DEA-6ED3-531689BBC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8600" y="5564821"/>
            <a:ext cx="838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and 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IQR = Q</a:t>
            </a:r>
            <a:r>
              <a:rPr lang="en-US" altLang="ko-KR" sz="3200" baseline="-25000">
                <a:solidFill>
                  <a:srgbClr val="CC0066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 – Q</a:t>
            </a:r>
            <a:r>
              <a:rPr lang="en-US" altLang="ko-KR" sz="3200" baseline="-25000">
                <a:solidFill>
                  <a:srgbClr val="CC0066"/>
                </a:solidFill>
                <a:ea typeface="굴림" panose="020B0600000101010101" pitchFamily="34" charset="-127"/>
              </a:rPr>
              <a:t>1 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= 75.25 - 65 = 10.25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7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7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4" grpId="0" build="p" autoUpdateAnimBg="0"/>
      <p:bldP spid="67598" grpId="0" build="p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0A9E495-34CE-1C4A-1D96-B5CF2F5E4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2839" y="350838"/>
            <a:ext cx="8686800" cy="8382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altLang="ko-KR" dirty="0">
                <a:ea typeface="굴림" charset="-127"/>
              </a:rPr>
              <a:t>Using Measures of Center and Spread: The Box Plot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6A74C84D-164C-7FDD-177B-F921A6E94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524000"/>
            <a:ext cx="7696200" cy="1189038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a typeface="굴림" charset="-127"/>
              </a:rPr>
              <a:t>The Five-Number Summary: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a typeface="굴림" charset="-127"/>
              </a:rPr>
              <a:t>Min	     Q</a:t>
            </a:r>
            <a:r>
              <a:rPr lang="en-US" altLang="ko-KR" sz="2800" b="1" baseline="-25000">
                <a:solidFill>
                  <a:srgbClr val="333333"/>
                </a:solidFill>
                <a:ea typeface="굴림" charset="-127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charset="-127"/>
              </a:rPr>
              <a:t>		Median	 Q</a:t>
            </a:r>
            <a:r>
              <a:rPr lang="en-US" altLang="ko-KR" sz="2800" b="1" baseline="-25000">
                <a:solidFill>
                  <a:srgbClr val="333333"/>
                </a:solidFill>
                <a:ea typeface="굴림" charset="-127"/>
              </a:rPr>
              <a:t>3</a:t>
            </a:r>
            <a:r>
              <a:rPr lang="en-US" altLang="ko-KR" sz="2800" b="1">
                <a:solidFill>
                  <a:srgbClr val="333333"/>
                </a:solidFill>
                <a:ea typeface="굴림" charset="-127"/>
              </a:rPr>
              <a:t> 		Max</a:t>
            </a:r>
            <a:endParaRPr lang="en-US" altLang="ko-KR" sz="2800" b="1" baseline="-25000">
              <a:solidFill>
                <a:srgbClr val="333333"/>
              </a:solidFill>
              <a:ea typeface="굴림" charset="-127"/>
            </a:endParaRPr>
          </a:p>
        </p:txBody>
      </p:sp>
      <p:sp>
        <p:nvSpPr>
          <p:cNvPr id="64519" name="Text Box 7">
            <a:extLst>
              <a:ext uri="{FF2B5EF4-FFF2-40B4-BE49-F238E27FC236}">
                <a16:creationId xmlns:a16="http://schemas.microsoft.com/office/drawing/2014/main" id="{C5D9373B-8A15-3CC8-2758-A8975435A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48000"/>
            <a:ext cx="7772400" cy="301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Divides the data into 4 sets containing an equal number of measurements.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A quick summary of the data distribution.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Use to form a </a:t>
            </a: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box plot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 to describe the </a:t>
            </a: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shape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 of the distribution and to detect </a:t>
            </a: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outliers</a:t>
            </a:r>
            <a:r>
              <a:rPr lang="en-US" altLang="ko-KR" sz="3200" b="1">
                <a:solidFill>
                  <a:srgbClr val="339933"/>
                </a:solidFill>
                <a:ea typeface="굴림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5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5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build="p" animBg="1" autoUpdateAnimBg="0"/>
      <p:bldP spid="64519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0D98ED9-64AB-91A2-5DC1-E677F2A60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4600" y="152400"/>
            <a:ext cx="86868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Constructing a Box Plot</a:t>
            </a: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6BE27E81-927A-FFAD-C17A-28E5DD1DA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19201"/>
            <a:ext cx="77724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Calculate 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, the median, 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 and IQR.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Draw a horizontal line to represent the scale of measurement.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Draw a box using 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, the median, 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.</a:t>
            </a:r>
          </a:p>
        </p:txBody>
      </p:sp>
      <p:sp>
        <p:nvSpPr>
          <p:cNvPr id="68615" name="Line 7">
            <a:extLst>
              <a:ext uri="{FF2B5EF4-FFF2-40B4-BE49-F238E27FC236}">
                <a16:creationId xmlns:a16="http://schemas.microsoft.com/office/drawing/2014/main" id="{9AF1E690-F4D9-8338-50BF-3DFA0F1D5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029200"/>
            <a:ext cx="5943600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E2B8D9B6-23A7-BEEB-677C-0EE3324EFB9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4038600"/>
            <a:ext cx="1981200" cy="685800"/>
            <a:chOff x="2112" y="2544"/>
            <a:chExt cx="1248" cy="432"/>
          </a:xfrm>
        </p:grpSpPr>
        <p:sp>
          <p:nvSpPr>
            <p:cNvPr id="42000" name="Rectangle 8">
              <a:extLst>
                <a:ext uri="{FF2B5EF4-FFF2-40B4-BE49-F238E27FC236}">
                  <a16:creationId xmlns:a16="http://schemas.microsoft.com/office/drawing/2014/main" id="{B3A1DB96-68DE-715A-A50E-63532230F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44"/>
              <a:ext cx="1248" cy="432"/>
            </a:xfrm>
            <a:prstGeom prst="rect">
              <a:avLst/>
            </a:prstGeom>
            <a:noFill/>
            <a:ln w="2857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1" name="Line 9">
              <a:extLst>
                <a:ext uri="{FF2B5EF4-FFF2-40B4-BE49-F238E27FC236}">
                  <a16:creationId xmlns:a16="http://schemas.microsoft.com/office/drawing/2014/main" id="{77B5EF93-F626-1F57-ABBD-625C799B9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544"/>
              <a:ext cx="0" cy="432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FEF58B63-4EEA-9207-22D6-91CAF7C2958B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724404"/>
            <a:ext cx="914400" cy="674688"/>
            <a:chOff x="1968" y="2976"/>
            <a:chExt cx="576" cy="425"/>
          </a:xfrm>
        </p:grpSpPr>
        <p:sp>
          <p:nvSpPr>
            <p:cNvPr id="68619" name="Text Box 11">
              <a:extLst>
                <a:ext uri="{FF2B5EF4-FFF2-40B4-BE49-F238E27FC236}">
                  <a16:creationId xmlns:a16="http://schemas.microsoft.com/office/drawing/2014/main" id="{615983C2-843E-5E55-AE0F-E71E24F39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168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Q</a:t>
              </a:r>
              <a:r>
                <a:rPr lang="en-US" altLang="ko-KR" b="1" baseline="-25000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1</a:t>
              </a:r>
              <a:endParaRPr lang="en-US" altLang="ko-KR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endParaRPr>
            </a:p>
          </p:txBody>
        </p:sp>
        <p:sp>
          <p:nvSpPr>
            <p:cNvPr id="41999" name="Line 16">
              <a:extLst>
                <a:ext uri="{FF2B5EF4-FFF2-40B4-BE49-F238E27FC236}">
                  <a16:creationId xmlns:a16="http://schemas.microsoft.com/office/drawing/2014/main" id="{252403D3-E187-EC67-F9FC-0138B371B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8A85A755-4A2D-1B19-2C67-E528CD98BF3E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724404"/>
            <a:ext cx="914400" cy="674688"/>
            <a:chOff x="2448" y="2976"/>
            <a:chExt cx="576" cy="425"/>
          </a:xfrm>
        </p:grpSpPr>
        <p:sp>
          <p:nvSpPr>
            <p:cNvPr id="68621" name="Text Box 13">
              <a:extLst>
                <a:ext uri="{FF2B5EF4-FFF2-40B4-BE49-F238E27FC236}">
                  <a16:creationId xmlns:a16="http://schemas.microsoft.com/office/drawing/2014/main" id="{A905D18A-3634-EE15-54BE-5E31E0CFAE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168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m</a:t>
              </a:r>
            </a:p>
          </p:txBody>
        </p:sp>
        <p:sp>
          <p:nvSpPr>
            <p:cNvPr id="41997" name="Line 17">
              <a:extLst>
                <a:ext uri="{FF2B5EF4-FFF2-40B4-BE49-F238E27FC236}">
                  <a16:creationId xmlns:a16="http://schemas.microsoft.com/office/drawing/2014/main" id="{4CB8F5E5-B97A-EA1A-C0AA-1498BCA42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3830A6A4-EA60-AB22-7A4A-59A5FBF525AB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4724404"/>
            <a:ext cx="914400" cy="674688"/>
            <a:chOff x="3216" y="2976"/>
            <a:chExt cx="576" cy="425"/>
          </a:xfrm>
        </p:grpSpPr>
        <p:sp>
          <p:nvSpPr>
            <p:cNvPr id="68620" name="Text Box 12">
              <a:extLst>
                <a:ext uri="{FF2B5EF4-FFF2-40B4-BE49-F238E27FC236}">
                  <a16:creationId xmlns:a16="http://schemas.microsoft.com/office/drawing/2014/main" id="{2C0BA2AB-9E5B-1F0A-AE28-07EE2509A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168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Q</a:t>
              </a:r>
              <a:r>
                <a:rPr lang="en-US" altLang="ko-KR" b="1" baseline="-25000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3</a:t>
              </a:r>
              <a:endParaRPr lang="en-US" altLang="ko-KR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endParaRPr>
            </a:p>
          </p:txBody>
        </p:sp>
        <p:sp>
          <p:nvSpPr>
            <p:cNvPr id="41995" name="Line 18">
              <a:extLst>
                <a:ext uri="{FF2B5EF4-FFF2-40B4-BE49-F238E27FC236}">
                  <a16:creationId xmlns:a16="http://schemas.microsoft.com/office/drawing/2014/main" id="{4E38DE8A-D599-9DA2-2245-E724D2D5A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build="p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1BF3D41-3DAA-6DC2-44FC-F9F09B705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257317"/>
            <a:ext cx="86868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Constructing a Box Plot</a:t>
            </a:r>
          </a:p>
        </p:txBody>
      </p:sp>
      <p:grpSp>
        <p:nvGrpSpPr>
          <p:cNvPr id="43012" name="Group 23">
            <a:extLst>
              <a:ext uri="{FF2B5EF4-FFF2-40B4-BE49-F238E27FC236}">
                <a16:creationId xmlns:a16="http://schemas.microsoft.com/office/drawing/2014/main" id="{C474173C-8B61-F0F3-323C-EBA18D08D104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4038601"/>
            <a:ext cx="5943600" cy="1360488"/>
            <a:chOff x="912" y="2544"/>
            <a:chExt cx="3744" cy="857"/>
          </a:xfrm>
        </p:grpSpPr>
        <p:sp>
          <p:nvSpPr>
            <p:cNvPr id="43018" name="Line 5">
              <a:extLst>
                <a:ext uri="{FF2B5EF4-FFF2-40B4-BE49-F238E27FC236}">
                  <a16:creationId xmlns:a16="http://schemas.microsoft.com/office/drawing/2014/main" id="{9EFE45C9-0FFA-A9DF-8E75-9516E7086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168"/>
              <a:ext cx="3744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grpSp>
          <p:nvGrpSpPr>
            <p:cNvPr id="43019" name="Group 6">
              <a:extLst>
                <a:ext uri="{FF2B5EF4-FFF2-40B4-BE49-F238E27FC236}">
                  <a16:creationId xmlns:a16="http://schemas.microsoft.com/office/drawing/2014/main" id="{1AC56956-1DFE-C1A8-4E64-97DFE17EF3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544"/>
              <a:ext cx="1248" cy="432"/>
              <a:chOff x="2112" y="2544"/>
              <a:chExt cx="1248" cy="432"/>
            </a:xfrm>
          </p:grpSpPr>
          <p:sp>
            <p:nvSpPr>
              <p:cNvPr id="43029" name="Rectangle 7">
                <a:extLst>
                  <a:ext uri="{FF2B5EF4-FFF2-40B4-BE49-F238E27FC236}">
                    <a16:creationId xmlns:a16="http://schemas.microsoft.com/office/drawing/2014/main" id="{4A8C3ED6-39E2-E6A4-D362-A72030A09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544"/>
                <a:ext cx="1248" cy="432"/>
              </a:xfrm>
              <a:prstGeom prst="rect">
                <a:avLst/>
              </a:prstGeom>
              <a:noFill/>
              <a:ln w="28575">
                <a:solidFill>
                  <a:srgbClr val="CC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030" name="Line 8">
                <a:extLst>
                  <a:ext uri="{FF2B5EF4-FFF2-40B4-BE49-F238E27FC236}">
                    <a16:creationId xmlns:a16="http://schemas.microsoft.com/office/drawing/2014/main" id="{D3008833-5457-05D2-FDCC-6926BB7E0A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54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3020" name="Group 9">
              <a:extLst>
                <a:ext uri="{FF2B5EF4-FFF2-40B4-BE49-F238E27FC236}">
                  <a16:creationId xmlns:a16="http://schemas.microsoft.com/office/drawing/2014/main" id="{2E9FF6E7-6A47-AE8C-8B1D-9B55ACAFB5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976"/>
              <a:ext cx="576" cy="425"/>
              <a:chOff x="1968" y="2976"/>
              <a:chExt cx="576" cy="425"/>
            </a:xfrm>
          </p:grpSpPr>
          <p:sp>
            <p:nvSpPr>
              <p:cNvPr id="71690" name="Text Box 10">
                <a:extLst>
                  <a:ext uri="{FF2B5EF4-FFF2-40B4-BE49-F238E27FC236}">
                    <a16:creationId xmlns:a16="http://schemas.microsoft.com/office/drawing/2014/main" id="{487BA3A7-16F1-D92E-2750-622B1B54D4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3168"/>
                <a:ext cx="5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Q</a:t>
                </a:r>
                <a:r>
                  <a:rPr lang="en-US" altLang="ko-KR" b="1" baseline="-2500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1</a:t>
                </a:r>
                <a:endPara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endParaRPr>
              </a:p>
            </p:txBody>
          </p:sp>
          <p:sp>
            <p:nvSpPr>
              <p:cNvPr id="43028" name="Line 11">
                <a:extLst>
                  <a:ext uri="{FF2B5EF4-FFF2-40B4-BE49-F238E27FC236}">
                    <a16:creationId xmlns:a16="http://schemas.microsoft.com/office/drawing/2014/main" id="{6929947F-A622-1101-E641-9BBCDED49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3021" name="Group 12">
              <a:extLst>
                <a:ext uri="{FF2B5EF4-FFF2-40B4-BE49-F238E27FC236}">
                  <a16:creationId xmlns:a16="http://schemas.microsoft.com/office/drawing/2014/main" id="{EAE9D9DD-11B7-E523-F062-BD5DC4E608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976"/>
              <a:ext cx="576" cy="425"/>
              <a:chOff x="2448" y="2976"/>
              <a:chExt cx="576" cy="425"/>
            </a:xfrm>
          </p:grpSpPr>
          <p:sp>
            <p:nvSpPr>
              <p:cNvPr id="71693" name="Text Box 13">
                <a:extLst>
                  <a:ext uri="{FF2B5EF4-FFF2-40B4-BE49-F238E27FC236}">
                    <a16:creationId xmlns:a16="http://schemas.microsoft.com/office/drawing/2014/main" id="{743C839F-3A8E-99FF-58FC-17FC7D3C5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168"/>
                <a:ext cx="5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m</a:t>
                </a:r>
              </a:p>
            </p:txBody>
          </p:sp>
          <p:sp>
            <p:nvSpPr>
              <p:cNvPr id="43026" name="Line 14">
                <a:extLst>
                  <a:ext uri="{FF2B5EF4-FFF2-40B4-BE49-F238E27FC236}">
                    <a16:creationId xmlns:a16="http://schemas.microsoft.com/office/drawing/2014/main" id="{31B3F05C-AF30-4CE6-792E-0C6B0140D6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3022" name="Group 15">
              <a:extLst>
                <a:ext uri="{FF2B5EF4-FFF2-40B4-BE49-F238E27FC236}">
                  <a16:creationId xmlns:a16="http://schemas.microsoft.com/office/drawing/2014/main" id="{B58095E1-2B8D-BFD5-9805-93042AD9DB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976"/>
              <a:ext cx="576" cy="425"/>
              <a:chOff x="3216" y="2976"/>
              <a:chExt cx="576" cy="425"/>
            </a:xfrm>
          </p:grpSpPr>
          <p:sp>
            <p:nvSpPr>
              <p:cNvPr id="71696" name="Text Box 16">
                <a:extLst>
                  <a:ext uri="{FF2B5EF4-FFF2-40B4-BE49-F238E27FC236}">
                    <a16:creationId xmlns:a16="http://schemas.microsoft.com/office/drawing/2014/main" id="{C8929F12-5F44-61D9-B7DB-E781F6F69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3168"/>
                <a:ext cx="5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Q</a:t>
                </a:r>
                <a:r>
                  <a:rPr lang="en-US" altLang="ko-KR" b="1" baseline="-2500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3</a:t>
                </a:r>
                <a:endPara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endParaRPr>
              </a:p>
            </p:txBody>
          </p:sp>
          <p:sp>
            <p:nvSpPr>
              <p:cNvPr id="43024" name="Line 17">
                <a:extLst>
                  <a:ext uri="{FF2B5EF4-FFF2-40B4-BE49-F238E27FC236}">
                    <a16:creationId xmlns:a16="http://schemas.microsoft.com/office/drawing/2014/main" id="{039FBAFF-4EE4-ABE7-E4DB-1B1A1D175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</p:grpSp>
      <p:sp>
        <p:nvSpPr>
          <p:cNvPr id="71698" name="Text Box 18">
            <a:extLst>
              <a:ext uri="{FF2B5EF4-FFF2-40B4-BE49-F238E27FC236}">
                <a16:creationId xmlns:a16="http://schemas.microsoft.com/office/drawing/2014/main" id="{78631DD7-CE63-E0E8-6470-B2128E6C7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19201"/>
            <a:ext cx="77724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Isolate outliers by calculating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Lower fence: 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-1.5 IQR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Upper fence: Q</a:t>
            </a:r>
            <a:r>
              <a:rPr lang="en-US" altLang="ko-KR" sz="3200" baseline="-25000">
                <a:solidFill>
                  <a:srgbClr val="339933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+1.5 IQR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Measurements beyond the upper or lower fence is are outliers and are marked (*).</a:t>
            </a:r>
          </a:p>
        </p:txBody>
      </p:sp>
      <p:sp>
        <p:nvSpPr>
          <p:cNvPr id="43014" name="Text Box 19">
            <a:extLst>
              <a:ext uri="{FF2B5EF4-FFF2-40B4-BE49-F238E27FC236}">
                <a16:creationId xmlns:a16="http://schemas.microsoft.com/office/drawing/2014/main" id="{598AA5E7-36CA-422F-A64C-895AB1ABB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114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71700" name="Line 20">
            <a:extLst>
              <a:ext uri="{FF2B5EF4-FFF2-40B4-BE49-F238E27FC236}">
                <a16:creationId xmlns:a16="http://schemas.microsoft.com/office/drawing/2014/main" id="{87DE0022-6A8D-D29C-D1F1-CDF0EAB02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962400"/>
            <a:ext cx="0" cy="1600200"/>
          </a:xfrm>
          <a:prstGeom prst="line">
            <a:avLst/>
          </a:prstGeom>
          <a:noFill/>
          <a:ln w="38100">
            <a:solidFill>
              <a:srgbClr val="3399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71701" name="Line 21">
            <a:extLst>
              <a:ext uri="{FF2B5EF4-FFF2-40B4-BE49-F238E27FC236}">
                <a16:creationId xmlns:a16="http://schemas.microsoft.com/office/drawing/2014/main" id="{3B13FE85-F52B-E88C-3F7E-BC4BA973F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3962400"/>
            <a:ext cx="0" cy="1600200"/>
          </a:xfrm>
          <a:prstGeom prst="line">
            <a:avLst/>
          </a:prstGeom>
          <a:noFill/>
          <a:ln w="38100">
            <a:solidFill>
              <a:srgbClr val="3399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71702" name="Text Box 22">
            <a:extLst>
              <a:ext uri="{FF2B5EF4-FFF2-40B4-BE49-F238E27FC236}">
                <a16:creationId xmlns:a16="http://schemas.microsoft.com/office/drawing/2014/main" id="{B2C149F9-EC7A-B98E-D9E9-7E5FFC4DE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038601"/>
            <a:ext cx="685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 sz="4000" b="1">
                <a:ea typeface="굴림" panose="020B0600000101010101" pitchFamily="34" charset="-127"/>
              </a:rPr>
              <a:t>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8" grpId="0" build="p" autoUpdateAnimBg="0"/>
      <p:bldP spid="71702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2CF61D4-D674-BC2E-0D97-186F2DBCC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5903" y="304800"/>
            <a:ext cx="86868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Constructing a Box Plot</a:t>
            </a:r>
          </a:p>
        </p:txBody>
      </p:sp>
      <p:sp>
        <p:nvSpPr>
          <p:cNvPr id="44036" name="Text Box 18">
            <a:extLst>
              <a:ext uri="{FF2B5EF4-FFF2-40B4-BE49-F238E27FC236}">
                <a16:creationId xmlns:a16="http://schemas.microsoft.com/office/drawing/2014/main" id="{965998E6-C1E4-948A-E383-9F3D0779B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114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ko-KR" altLang="en-US">
              <a:ea typeface="굴림" panose="020B0600000101010101" pitchFamily="34" charset="-127"/>
            </a:endParaRPr>
          </a:p>
        </p:txBody>
      </p:sp>
      <p:grpSp>
        <p:nvGrpSpPr>
          <p:cNvPr id="44037" name="Group 25">
            <a:extLst>
              <a:ext uri="{FF2B5EF4-FFF2-40B4-BE49-F238E27FC236}">
                <a16:creationId xmlns:a16="http://schemas.microsoft.com/office/drawing/2014/main" id="{E69CF5A5-8F0D-3740-48C3-A0B8CFFFC5EA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962400"/>
            <a:ext cx="6248400" cy="1600200"/>
            <a:chOff x="912" y="2496"/>
            <a:chExt cx="3936" cy="1008"/>
          </a:xfrm>
        </p:grpSpPr>
        <p:sp>
          <p:nvSpPr>
            <p:cNvPr id="44041" name="Line 4">
              <a:extLst>
                <a:ext uri="{FF2B5EF4-FFF2-40B4-BE49-F238E27FC236}">
                  <a16:creationId xmlns:a16="http://schemas.microsoft.com/office/drawing/2014/main" id="{861A5074-C02A-F883-24C1-1B8314782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168"/>
              <a:ext cx="3744" cy="0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grpSp>
          <p:nvGrpSpPr>
            <p:cNvPr id="44042" name="Group 5">
              <a:extLst>
                <a:ext uri="{FF2B5EF4-FFF2-40B4-BE49-F238E27FC236}">
                  <a16:creationId xmlns:a16="http://schemas.microsoft.com/office/drawing/2014/main" id="{FCE48A03-63EF-F857-EDAD-B3D09D6454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2544"/>
              <a:ext cx="1248" cy="432"/>
              <a:chOff x="2112" y="2544"/>
              <a:chExt cx="1248" cy="432"/>
            </a:xfrm>
          </p:grpSpPr>
          <p:sp>
            <p:nvSpPr>
              <p:cNvPr id="44055" name="Rectangle 6">
                <a:extLst>
                  <a:ext uri="{FF2B5EF4-FFF2-40B4-BE49-F238E27FC236}">
                    <a16:creationId xmlns:a16="http://schemas.microsoft.com/office/drawing/2014/main" id="{31BF330A-5AE4-FAB0-DF0A-9D0179E39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544"/>
                <a:ext cx="1248" cy="432"/>
              </a:xfrm>
              <a:prstGeom prst="rect">
                <a:avLst/>
              </a:prstGeom>
              <a:noFill/>
              <a:ln w="28575">
                <a:solidFill>
                  <a:srgbClr val="CC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4056" name="Line 7">
                <a:extLst>
                  <a:ext uri="{FF2B5EF4-FFF2-40B4-BE49-F238E27FC236}">
                    <a16:creationId xmlns:a16="http://schemas.microsoft.com/office/drawing/2014/main" id="{B0E56D49-8CB8-9E28-AE3B-8F8FECA348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544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4043" name="Group 8">
              <a:extLst>
                <a:ext uri="{FF2B5EF4-FFF2-40B4-BE49-F238E27FC236}">
                  <a16:creationId xmlns:a16="http://schemas.microsoft.com/office/drawing/2014/main" id="{1F9D5D2A-AB29-BA75-AD96-E17CBB3B36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976"/>
              <a:ext cx="576" cy="425"/>
              <a:chOff x="1968" y="2976"/>
              <a:chExt cx="576" cy="425"/>
            </a:xfrm>
          </p:grpSpPr>
          <p:sp>
            <p:nvSpPr>
              <p:cNvPr id="72713" name="Text Box 9">
                <a:extLst>
                  <a:ext uri="{FF2B5EF4-FFF2-40B4-BE49-F238E27FC236}">
                    <a16:creationId xmlns:a16="http://schemas.microsoft.com/office/drawing/2014/main" id="{DD2C835F-D806-45B8-146C-823FC42E13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3168"/>
                <a:ext cx="5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Q</a:t>
                </a:r>
                <a:r>
                  <a:rPr lang="en-US" altLang="ko-KR" b="1" baseline="-2500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1</a:t>
                </a:r>
                <a:endPara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endParaRPr>
              </a:p>
            </p:txBody>
          </p:sp>
          <p:sp>
            <p:nvSpPr>
              <p:cNvPr id="44054" name="Line 10">
                <a:extLst>
                  <a:ext uri="{FF2B5EF4-FFF2-40B4-BE49-F238E27FC236}">
                    <a16:creationId xmlns:a16="http://schemas.microsoft.com/office/drawing/2014/main" id="{AADB0D5C-AF2D-D0F1-240B-EB3090D85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4044" name="Group 11">
              <a:extLst>
                <a:ext uri="{FF2B5EF4-FFF2-40B4-BE49-F238E27FC236}">
                  <a16:creationId xmlns:a16="http://schemas.microsoft.com/office/drawing/2014/main" id="{DF12BA47-C224-6CDF-2FDA-E887E7EB3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976"/>
              <a:ext cx="576" cy="425"/>
              <a:chOff x="2448" y="2976"/>
              <a:chExt cx="576" cy="425"/>
            </a:xfrm>
          </p:grpSpPr>
          <p:sp>
            <p:nvSpPr>
              <p:cNvPr id="72716" name="Text Box 12">
                <a:extLst>
                  <a:ext uri="{FF2B5EF4-FFF2-40B4-BE49-F238E27FC236}">
                    <a16:creationId xmlns:a16="http://schemas.microsoft.com/office/drawing/2014/main" id="{33EF84F3-1A3D-9A3A-058E-2AB1B9508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168"/>
                <a:ext cx="5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m</a:t>
                </a:r>
              </a:p>
            </p:txBody>
          </p:sp>
          <p:sp>
            <p:nvSpPr>
              <p:cNvPr id="44052" name="Line 13">
                <a:extLst>
                  <a:ext uri="{FF2B5EF4-FFF2-40B4-BE49-F238E27FC236}">
                    <a16:creationId xmlns:a16="http://schemas.microsoft.com/office/drawing/2014/main" id="{018A0620-CD2D-AEDE-6C91-405F9DF57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4045" name="Group 14">
              <a:extLst>
                <a:ext uri="{FF2B5EF4-FFF2-40B4-BE49-F238E27FC236}">
                  <a16:creationId xmlns:a16="http://schemas.microsoft.com/office/drawing/2014/main" id="{D2740095-7882-8DDC-787B-537DA33B28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976"/>
              <a:ext cx="576" cy="425"/>
              <a:chOff x="3216" y="2976"/>
              <a:chExt cx="576" cy="425"/>
            </a:xfrm>
          </p:grpSpPr>
          <p:sp>
            <p:nvSpPr>
              <p:cNvPr id="72719" name="Text Box 15">
                <a:extLst>
                  <a:ext uri="{FF2B5EF4-FFF2-40B4-BE49-F238E27FC236}">
                    <a16:creationId xmlns:a16="http://schemas.microsoft.com/office/drawing/2014/main" id="{44CB77DC-A5E2-8050-C58C-10634480A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3168"/>
                <a:ext cx="57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Q</a:t>
                </a:r>
                <a:r>
                  <a:rPr lang="en-US" altLang="ko-KR" b="1" baseline="-2500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3</a:t>
                </a:r>
                <a:endPara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endParaRPr>
              </a:p>
            </p:txBody>
          </p:sp>
          <p:sp>
            <p:nvSpPr>
              <p:cNvPr id="44050" name="Line 16">
                <a:extLst>
                  <a:ext uri="{FF2B5EF4-FFF2-40B4-BE49-F238E27FC236}">
                    <a16:creationId xmlns:a16="http://schemas.microsoft.com/office/drawing/2014/main" id="{B4BEC388-8858-555D-8041-6266C09CB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4046" name="Line 19">
              <a:extLst>
                <a:ext uri="{FF2B5EF4-FFF2-40B4-BE49-F238E27FC236}">
                  <a16:creationId xmlns:a16="http://schemas.microsoft.com/office/drawing/2014/main" id="{00F9F361-433C-5D80-CF94-820FC2037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496"/>
              <a:ext cx="0" cy="1008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4047" name="Line 20">
              <a:extLst>
                <a:ext uri="{FF2B5EF4-FFF2-40B4-BE49-F238E27FC236}">
                  <a16:creationId xmlns:a16="http://schemas.microsoft.com/office/drawing/2014/main" id="{D76A943E-DE71-DC00-D6B3-A25D731A0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496"/>
              <a:ext cx="0" cy="1008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4048" name="Text Box 21">
              <a:extLst>
                <a:ext uri="{FF2B5EF4-FFF2-40B4-BE49-F238E27FC236}">
                  <a16:creationId xmlns:a16="http://schemas.microsoft.com/office/drawing/2014/main" id="{7733DEA5-C4E7-59C3-1B58-CAE0BCF74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44"/>
              <a:ext cx="43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ko-KR" altLang="en-US" sz="4000" b="1">
                  <a:ea typeface="굴림" panose="020B0600000101010101" pitchFamily="34" charset="-127"/>
                </a:rPr>
                <a:t>*</a:t>
              </a:r>
            </a:p>
          </p:txBody>
        </p:sp>
      </p:grpSp>
      <p:sp>
        <p:nvSpPr>
          <p:cNvPr id="72726" name="Text Box 22">
            <a:extLst>
              <a:ext uri="{FF2B5EF4-FFF2-40B4-BE49-F238E27FC236}">
                <a16:creationId xmlns:a16="http://schemas.microsoft.com/office/drawing/2014/main" id="{559FCF2A-3696-B74B-7343-9225B2B8A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524000"/>
            <a:ext cx="7772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Draw “whiskers” connecting the largest and smallest measurements that are NOT outliers to the box. </a:t>
            </a:r>
          </a:p>
        </p:txBody>
      </p:sp>
      <p:sp>
        <p:nvSpPr>
          <p:cNvPr id="72727" name="Line 23">
            <a:extLst>
              <a:ext uri="{FF2B5EF4-FFF2-40B4-BE49-F238E27FC236}">
                <a16:creationId xmlns:a16="http://schemas.microsoft.com/office/drawing/2014/main" id="{01C7898C-9004-5DFB-4166-715743CE1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419600"/>
            <a:ext cx="1143000" cy="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72728" name="Line 24">
            <a:extLst>
              <a:ext uri="{FF2B5EF4-FFF2-40B4-BE49-F238E27FC236}">
                <a16:creationId xmlns:a16="http://schemas.microsoft.com/office/drawing/2014/main" id="{D5F74A48-CC1F-73EF-F0D6-5875A793E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419600"/>
            <a:ext cx="685800" cy="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26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566E9B0-E671-8392-8C35-35E366AEE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5715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Example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388AB58A-4E05-1AEE-272C-E32EE477D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143001"/>
            <a:ext cx="7010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Amt of sodium in 8 brands of cheese: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260   290   300   320   330   340   340   520 </a:t>
            </a:r>
          </a:p>
        </p:txBody>
      </p:sp>
      <p:grpSp>
        <p:nvGrpSpPr>
          <p:cNvPr id="45061" name="Group 7">
            <a:extLst>
              <a:ext uri="{FF2B5EF4-FFF2-40B4-BE49-F238E27FC236}">
                <a16:creationId xmlns:a16="http://schemas.microsoft.com/office/drawing/2014/main" id="{6B5F9E3D-A799-8B6B-FDC6-BDB559262C64}"/>
              </a:ext>
            </a:extLst>
          </p:cNvPr>
          <p:cNvGrpSpPr>
            <a:grpSpLocks/>
          </p:cNvGrpSpPr>
          <p:nvPr/>
        </p:nvGrpSpPr>
        <p:grpSpPr bwMode="auto">
          <a:xfrm>
            <a:off x="9906000" y="0"/>
            <a:ext cx="2286000" cy="1524000"/>
            <a:chOff x="4176" y="192"/>
            <a:chExt cx="1440" cy="960"/>
          </a:xfrm>
        </p:grpSpPr>
        <p:sp>
          <p:nvSpPr>
            <p:cNvPr id="70662" name="Rectangle 6">
              <a:extLst>
                <a:ext uri="{FF2B5EF4-FFF2-40B4-BE49-F238E27FC236}">
                  <a16:creationId xmlns:a16="http://schemas.microsoft.com/office/drawing/2014/main" id="{FBCEEBF1-002B-FD1C-F2F9-DAA2845A0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92"/>
              <a:ext cx="1440" cy="960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45088" name="Picture 5" descr="cheese">
              <a:extLst>
                <a:ext uri="{FF2B5EF4-FFF2-40B4-BE49-F238E27FC236}">
                  <a16:creationId xmlns:a16="http://schemas.microsoft.com/office/drawing/2014/main" id="{24CC692C-442B-73F1-5FD9-6AF4232D75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" y="240"/>
              <a:ext cx="1253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F6F6B7D9-EA4D-88A9-5831-CEDCB36C86D8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362202"/>
            <a:ext cx="1676400" cy="598488"/>
            <a:chOff x="1872" y="1392"/>
            <a:chExt cx="1056" cy="377"/>
          </a:xfrm>
        </p:grpSpPr>
        <p:sp>
          <p:nvSpPr>
            <p:cNvPr id="70670" name="Text Box 14">
              <a:extLst>
                <a:ext uri="{FF2B5EF4-FFF2-40B4-BE49-F238E27FC236}">
                  <a16:creationId xmlns:a16="http://schemas.microsoft.com/office/drawing/2014/main" id="{211634E3-5E78-4A3B-5534-CB8CAA5D1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536"/>
              <a:ext cx="10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m = 325</a:t>
              </a:r>
            </a:p>
          </p:txBody>
        </p:sp>
        <p:sp>
          <p:nvSpPr>
            <p:cNvPr id="45086" name="Line 15">
              <a:extLst>
                <a:ext uri="{FF2B5EF4-FFF2-40B4-BE49-F238E27FC236}">
                  <a16:creationId xmlns:a16="http://schemas.microsoft.com/office/drawing/2014/main" id="{72F8455C-49A6-83D0-6D33-0BBEA62FC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2D146601-2137-4C5C-982B-37934EAF0F9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362202"/>
            <a:ext cx="1676400" cy="598488"/>
            <a:chOff x="1872" y="1392"/>
            <a:chExt cx="1056" cy="377"/>
          </a:xfrm>
        </p:grpSpPr>
        <p:sp>
          <p:nvSpPr>
            <p:cNvPr id="70673" name="Text Box 17">
              <a:extLst>
                <a:ext uri="{FF2B5EF4-FFF2-40B4-BE49-F238E27FC236}">
                  <a16:creationId xmlns:a16="http://schemas.microsoft.com/office/drawing/2014/main" id="{ADD79130-333F-9457-BE00-5104A2CEB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536"/>
              <a:ext cx="10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Q</a:t>
              </a:r>
              <a:r>
                <a:rPr lang="en-US" altLang="ko-KR" b="1" baseline="-25000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3</a:t>
              </a: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= 340</a:t>
              </a:r>
            </a:p>
          </p:txBody>
        </p:sp>
        <p:sp>
          <p:nvSpPr>
            <p:cNvPr id="45084" name="Line 18">
              <a:extLst>
                <a:ext uri="{FF2B5EF4-FFF2-40B4-BE49-F238E27FC236}">
                  <a16:creationId xmlns:a16="http://schemas.microsoft.com/office/drawing/2014/main" id="{43F66C1D-42E5-8FB3-8BA6-EBC3AF76E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5065" name="Group 21">
            <a:extLst>
              <a:ext uri="{FF2B5EF4-FFF2-40B4-BE49-F238E27FC236}">
                <a16:creationId xmlns:a16="http://schemas.microsoft.com/office/drawing/2014/main" id="{29B7C882-2A06-93F5-32C7-17736976A0CB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352800"/>
            <a:ext cx="6019800" cy="2286000"/>
            <a:chOff x="624" y="2112"/>
            <a:chExt cx="3792" cy="1440"/>
          </a:xfrm>
        </p:grpSpPr>
        <p:sp>
          <p:nvSpPr>
            <p:cNvPr id="70676" name="Rectangle 20">
              <a:extLst>
                <a:ext uri="{FF2B5EF4-FFF2-40B4-BE49-F238E27FC236}">
                  <a16:creationId xmlns:a16="http://schemas.microsoft.com/office/drawing/2014/main" id="{7272B072-6A6B-17DD-FFE6-D419945E5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112"/>
              <a:ext cx="3792" cy="1440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45082" name="Picture 19" descr="cheese2">
              <a:extLst>
                <a:ext uri="{FF2B5EF4-FFF2-40B4-BE49-F238E27FC236}">
                  <a16:creationId xmlns:a16="http://schemas.microsoft.com/office/drawing/2014/main" id="{1A4F1E57-568D-9289-4922-50F579A0E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" y="2208"/>
              <a:ext cx="3592" cy="1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33">
            <a:extLst>
              <a:ext uri="{FF2B5EF4-FFF2-40B4-BE49-F238E27FC236}">
                <a16:creationId xmlns:a16="http://schemas.microsoft.com/office/drawing/2014/main" id="{CDA08462-D7F0-15AB-D29C-3555CD9EA5B5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876804"/>
            <a:ext cx="609600" cy="649288"/>
            <a:chOff x="1728" y="3072"/>
            <a:chExt cx="384" cy="409"/>
          </a:xfrm>
        </p:grpSpPr>
        <p:sp>
          <p:nvSpPr>
            <p:cNvPr id="70679" name="Text Box 23">
              <a:extLst>
                <a:ext uri="{FF2B5EF4-FFF2-40B4-BE49-F238E27FC236}">
                  <a16:creationId xmlns:a16="http://schemas.microsoft.com/office/drawing/2014/main" id="{808CD7CA-788B-4CAF-F1CB-FA449573F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248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m</a:t>
              </a:r>
            </a:p>
          </p:txBody>
        </p:sp>
        <p:sp>
          <p:nvSpPr>
            <p:cNvPr id="45080" name="Line 24">
              <a:extLst>
                <a:ext uri="{FF2B5EF4-FFF2-40B4-BE49-F238E27FC236}">
                  <a16:creationId xmlns:a16="http://schemas.microsoft.com/office/drawing/2014/main" id="{1F9733E6-DCAC-EB66-C021-1FC19BD3B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072"/>
              <a:ext cx="0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D5B9B538-EB9A-2B17-935C-FEC2671E57F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362202"/>
            <a:ext cx="1676400" cy="598488"/>
            <a:chOff x="1872" y="1392"/>
            <a:chExt cx="1056" cy="377"/>
          </a:xfrm>
        </p:grpSpPr>
        <p:sp>
          <p:nvSpPr>
            <p:cNvPr id="70682" name="Text Box 26">
              <a:extLst>
                <a:ext uri="{FF2B5EF4-FFF2-40B4-BE49-F238E27FC236}">
                  <a16:creationId xmlns:a16="http://schemas.microsoft.com/office/drawing/2014/main" id="{78AC4AF2-0B3E-A80F-510D-16A0BDD31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536"/>
              <a:ext cx="10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Q</a:t>
              </a:r>
              <a:r>
                <a:rPr lang="en-US" altLang="ko-KR" b="1" baseline="-25000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1</a:t>
              </a: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= 292.5</a:t>
              </a:r>
            </a:p>
          </p:txBody>
        </p:sp>
        <p:sp>
          <p:nvSpPr>
            <p:cNvPr id="45078" name="Line 27">
              <a:extLst>
                <a:ext uri="{FF2B5EF4-FFF2-40B4-BE49-F238E27FC236}">
                  <a16:creationId xmlns:a16="http://schemas.microsoft.com/office/drawing/2014/main" id="{93662D1D-CFBE-B2DB-8BEB-88B1DD886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9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8" name="Group 34">
            <a:extLst>
              <a:ext uri="{FF2B5EF4-FFF2-40B4-BE49-F238E27FC236}">
                <a16:creationId xmlns:a16="http://schemas.microsoft.com/office/drawing/2014/main" id="{32EA30CC-8B3A-C139-1E1F-11378E277092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953002"/>
            <a:ext cx="609600" cy="1131888"/>
            <a:chOff x="2064" y="3120"/>
            <a:chExt cx="384" cy="713"/>
          </a:xfrm>
        </p:grpSpPr>
        <p:sp>
          <p:nvSpPr>
            <p:cNvPr id="70664" name="Text Box 8">
              <a:extLst>
                <a:ext uri="{FF2B5EF4-FFF2-40B4-BE49-F238E27FC236}">
                  <a16:creationId xmlns:a16="http://schemas.microsoft.com/office/drawing/2014/main" id="{EBBE8B43-FE20-90E6-E1D9-C4F2B936B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600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Q</a:t>
              </a:r>
              <a:r>
                <a:rPr lang="en-US" altLang="ko-KR" b="1" baseline="-25000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3</a:t>
              </a:r>
              <a:endParaRPr lang="en-US" altLang="ko-KR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endParaRPr>
            </a:p>
          </p:txBody>
        </p:sp>
        <p:sp>
          <p:nvSpPr>
            <p:cNvPr id="45076" name="Line 9">
              <a:extLst>
                <a:ext uri="{FF2B5EF4-FFF2-40B4-BE49-F238E27FC236}">
                  <a16:creationId xmlns:a16="http://schemas.microsoft.com/office/drawing/2014/main" id="{6A48F56E-0D5C-90B9-B4CB-74ACA9965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1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9" name="Group 32">
            <a:extLst>
              <a:ext uri="{FF2B5EF4-FFF2-40B4-BE49-F238E27FC236}">
                <a16:creationId xmlns:a16="http://schemas.microsoft.com/office/drawing/2014/main" id="{CAC8EF07-F7CD-4D32-C180-DEA6BB9F7262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4876802"/>
            <a:ext cx="609600" cy="1131888"/>
            <a:chOff x="1632" y="3216"/>
            <a:chExt cx="384" cy="713"/>
          </a:xfrm>
        </p:grpSpPr>
        <p:sp>
          <p:nvSpPr>
            <p:cNvPr id="70686" name="Text Box 30">
              <a:extLst>
                <a:ext uri="{FF2B5EF4-FFF2-40B4-BE49-F238E27FC236}">
                  <a16:creationId xmlns:a16="http://schemas.microsoft.com/office/drawing/2014/main" id="{B9A1EDE0-A340-EA46-87BF-38951A4D5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696"/>
              <a:ext cx="38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Q</a:t>
              </a:r>
              <a:r>
                <a:rPr lang="en-US" altLang="ko-KR" b="1" baseline="-25000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1</a:t>
              </a: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</a:t>
              </a:r>
            </a:p>
          </p:txBody>
        </p:sp>
        <p:sp>
          <p:nvSpPr>
            <p:cNvPr id="45074" name="Line 31">
              <a:extLst>
                <a:ext uri="{FF2B5EF4-FFF2-40B4-BE49-F238E27FC236}">
                  <a16:creationId xmlns:a16="http://schemas.microsoft.com/office/drawing/2014/main" id="{87C3F310-884D-A436-D945-C42B51FD3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216"/>
              <a:ext cx="1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0" name="Group 37">
            <a:extLst>
              <a:ext uri="{FF2B5EF4-FFF2-40B4-BE49-F238E27FC236}">
                <a16:creationId xmlns:a16="http://schemas.microsoft.com/office/drawing/2014/main" id="{927F9FEA-03E1-507B-5807-21DE4DD01A05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3886200"/>
            <a:ext cx="914400" cy="609600"/>
            <a:chOff x="1680" y="2448"/>
            <a:chExt cx="576" cy="384"/>
          </a:xfrm>
        </p:grpSpPr>
        <p:sp>
          <p:nvSpPr>
            <p:cNvPr id="45071" name="Rectangle 35">
              <a:extLst>
                <a:ext uri="{FF2B5EF4-FFF2-40B4-BE49-F238E27FC236}">
                  <a16:creationId xmlns:a16="http://schemas.microsoft.com/office/drawing/2014/main" id="{788DD9EB-6C0D-7A40-A61A-3EE6FB0A1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448"/>
              <a:ext cx="576" cy="384"/>
            </a:xfrm>
            <a:prstGeom prst="rect">
              <a:avLst/>
            </a:prstGeom>
            <a:noFill/>
            <a:ln w="2857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72" name="Line 36">
              <a:extLst>
                <a:ext uri="{FF2B5EF4-FFF2-40B4-BE49-F238E27FC236}">
                  <a16:creationId xmlns:a16="http://schemas.microsoft.com/office/drawing/2014/main" id="{055893C8-FF23-417B-E447-52BC573F99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48"/>
              <a:ext cx="0" cy="384"/>
            </a:xfrm>
            <a:prstGeom prst="line">
              <a:avLst/>
            </a:prstGeom>
            <a:noFill/>
            <a:ln w="38100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E1D7392-4C71-DFC6-D482-28EA8ADE4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5600" y="304800"/>
            <a:ext cx="57150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3C685609-7A1D-3FE2-3049-2BB7D68E2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143000"/>
            <a:ext cx="70104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IQR = 340-292.5 = 47.5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Lower fence = 292.5-1.5(47.5) = 221.25  </a:t>
            </a: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Upper fence = 340 + 1.5(47.5) = 411.25</a:t>
            </a:r>
          </a:p>
        </p:txBody>
      </p:sp>
      <p:grpSp>
        <p:nvGrpSpPr>
          <p:cNvPr id="46085" name="Group 5">
            <a:extLst>
              <a:ext uri="{FF2B5EF4-FFF2-40B4-BE49-F238E27FC236}">
                <a16:creationId xmlns:a16="http://schemas.microsoft.com/office/drawing/2014/main" id="{B2459588-FEFC-31A3-57EF-C5FE61D54647}"/>
              </a:ext>
            </a:extLst>
          </p:cNvPr>
          <p:cNvGrpSpPr>
            <a:grpSpLocks/>
          </p:cNvGrpSpPr>
          <p:nvPr/>
        </p:nvGrpSpPr>
        <p:grpSpPr bwMode="auto">
          <a:xfrm>
            <a:off x="9906000" y="0"/>
            <a:ext cx="2286000" cy="1524000"/>
            <a:chOff x="4176" y="192"/>
            <a:chExt cx="1440" cy="960"/>
          </a:xfrm>
        </p:grpSpPr>
        <p:sp>
          <p:nvSpPr>
            <p:cNvPr id="73734" name="Rectangle 6">
              <a:extLst>
                <a:ext uri="{FF2B5EF4-FFF2-40B4-BE49-F238E27FC236}">
                  <a16:creationId xmlns:a16="http://schemas.microsoft.com/office/drawing/2014/main" id="{560046D5-9778-DF63-2A64-02BCA306F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92"/>
              <a:ext cx="1440" cy="960"/>
            </a:xfrm>
            <a:prstGeom prst="rect">
              <a:avLst/>
            </a:prstGeom>
            <a:solidFill>
              <a:srgbClr val="F0D27E"/>
            </a:soli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46113" name="Picture 7" descr="cheese">
              <a:extLst>
                <a:ext uri="{FF2B5EF4-FFF2-40B4-BE49-F238E27FC236}">
                  <a16:creationId xmlns:a16="http://schemas.microsoft.com/office/drawing/2014/main" id="{4F42C643-5FE9-126B-D874-A7185F495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" y="240"/>
              <a:ext cx="1253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6087" name="Group 45">
            <a:extLst>
              <a:ext uri="{FF2B5EF4-FFF2-40B4-BE49-F238E27FC236}">
                <a16:creationId xmlns:a16="http://schemas.microsoft.com/office/drawing/2014/main" id="{D26B79E0-99CD-329C-2200-52CD111AC03C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352801"/>
            <a:ext cx="6019800" cy="2732088"/>
            <a:chOff x="960" y="2112"/>
            <a:chExt cx="3792" cy="1721"/>
          </a:xfrm>
        </p:grpSpPr>
        <p:grpSp>
          <p:nvGrpSpPr>
            <p:cNvPr id="46097" name="Group 15">
              <a:extLst>
                <a:ext uri="{FF2B5EF4-FFF2-40B4-BE49-F238E27FC236}">
                  <a16:creationId xmlns:a16="http://schemas.microsoft.com/office/drawing/2014/main" id="{B32166EE-3943-B2C3-FAA7-4FCD5383FD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2112"/>
              <a:ext cx="3792" cy="1440"/>
              <a:chOff x="624" y="2112"/>
              <a:chExt cx="3792" cy="1440"/>
            </a:xfrm>
          </p:grpSpPr>
          <p:sp>
            <p:nvSpPr>
              <p:cNvPr id="73744" name="Rectangle 16">
                <a:extLst>
                  <a:ext uri="{FF2B5EF4-FFF2-40B4-BE49-F238E27FC236}">
                    <a16:creationId xmlns:a16="http://schemas.microsoft.com/office/drawing/2014/main" id="{661939E1-F317-2093-32AD-224FAB796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112"/>
                <a:ext cx="3792" cy="1440"/>
              </a:xfrm>
              <a:prstGeom prst="rect">
                <a:avLst/>
              </a:prstGeom>
              <a:solidFill>
                <a:srgbClr val="F0D27E"/>
              </a:solidFill>
              <a:ln w="9525">
                <a:noFill/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pic>
            <p:nvPicPr>
              <p:cNvPr id="46111" name="Picture 17" descr="cheese2">
                <a:extLst>
                  <a:ext uri="{FF2B5EF4-FFF2-40B4-BE49-F238E27FC236}">
                    <a16:creationId xmlns:a16="http://schemas.microsoft.com/office/drawing/2014/main" id="{72AFCF82-FB3F-47BB-1841-EE4365AE22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0" y="2208"/>
                <a:ext cx="3592" cy="1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6098" name="Group 18">
              <a:extLst>
                <a:ext uri="{FF2B5EF4-FFF2-40B4-BE49-F238E27FC236}">
                  <a16:creationId xmlns:a16="http://schemas.microsoft.com/office/drawing/2014/main" id="{59CD289F-1974-FEEA-9E65-22658A5DBE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072"/>
              <a:ext cx="384" cy="409"/>
              <a:chOff x="1728" y="3072"/>
              <a:chExt cx="384" cy="409"/>
            </a:xfrm>
          </p:grpSpPr>
          <p:sp>
            <p:nvSpPr>
              <p:cNvPr id="73747" name="Text Box 19">
                <a:extLst>
                  <a:ext uri="{FF2B5EF4-FFF2-40B4-BE49-F238E27FC236}">
                    <a16:creationId xmlns:a16="http://schemas.microsoft.com/office/drawing/2014/main" id="{13A51118-D9A1-7A33-3845-27A458FBF3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3248"/>
                <a:ext cx="38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m</a:t>
                </a:r>
              </a:p>
            </p:txBody>
          </p:sp>
          <p:sp>
            <p:nvSpPr>
              <p:cNvPr id="46109" name="Line 20">
                <a:extLst>
                  <a:ext uri="{FF2B5EF4-FFF2-40B4-BE49-F238E27FC236}">
                    <a16:creationId xmlns:a16="http://schemas.microsoft.com/office/drawing/2014/main" id="{AAECCE28-891E-0FBB-1E7E-6449A68E3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072"/>
                <a:ext cx="0" cy="2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6099" name="Group 24">
              <a:extLst>
                <a:ext uri="{FF2B5EF4-FFF2-40B4-BE49-F238E27FC236}">
                  <a16:creationId xmlns:a16="http://schemas.microsoft.com/office/drawing/2014/main" id="{C5C74D17-9EAD-EB16-63DB-3C12CCE3D5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3120"/>
              <a:ext cx="384" cy="713"/>
              <a:chOff x="2064" y="3120"/>
              <a:chExt cx="384" cy="713"/>
            </a:xfrm>
          </p:grpSpPr>
          <p:sp>
            <p:nvSpPr>
              <p:cNvPr id="73753" name="Text Box 25">
                <a:extLst>
                  <a:ext uri="{FF2B5EF4-FFF2-40B4-BE49-F238E27FC236}">
                    <a16:creationId xmlns:a16="http://schemas.microsoft.com/office/drawing/2014/main" id="{98EA106F-D874-0F3C-5848-2729E4340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3600"/>
                <a:ext cx="38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Q</a:t>
                </a:r>
                <a:r>
                  <a:rPr lang="en-US" altLang="ko-KR" b="1" baseline="-2500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3</a:t>
                </a:r>
                <a:endPara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endParaRPr>
              </a:p>
            </p:txBody>
          </p:sp>
          <p:sp>
            <p:nvSpPr>
              <p:cNvPr id="46107" name="Line 26">
                <a:extLst>
                  <a:ext uri="{FF2B5EF4-FFF2-40B4-BE49-F238E27FC236}">
                    <a16:creationId xmlns:a16="http://schemas.microsoft.com/office/drawing/2014/main" id="{BAF35368-1775-F6E7-361A-E18E1DD23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12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6100" name="Group 27">
              <a:extLst>
                <a:ext uri="{FF2B5EF4-FFF2-40B4-BE49-F238E27FC236}">
                  <a16:creationId xmlns:a16="http://schemas.microsoft.com/office/drawing/2014/main" id="{9E9558C1-44B0-F3E4-E3CE-73E6A7573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3072"/>
              <a:ext cx="384" cy="713"/>
              <a:chOff x="1632" y="3216"/>
              <a:chExt cx="384" cy="713"/>
            </a:xfrm>
          </p:grpSpPr>
          <p:sp>
            <p:nvSpPr>
              <p:cNvPr id="73756" name="Text Box 28">
                <a:extLst>
                  <a:ext uri="{FF2B5EF4-FFF2-40B4-BE49-F238E27FC236}">
                    <a16:creationId xmlns:a16="http://schemas.microsoft.com/office/drawing/2014/main" id="{DA15B769-F9A6-6391-8424-DD69977BE5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3696"/>
                <a:ext cx="38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Q</a:t>
                </a:r>
                <a:r>
                  <a:rPr lang="en-US" altLang="ko-KR" b="1" baseline="-25000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1</a:t>
                </a:r>
                <a:r>
                  <a:rPr lang="en-US" altLang="ko-KR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 </a:t>
                </a:r>
              </a:p>
            </p:txBody>
          </p:sp>
          <p:sp>
            <p:nvSpPr>
              <p:cNvPr id="46105" name="Line 29">
                <a:extLst>
                  <a:ext uri="{FF2B5EF4-FFF2-40B4-BE49-F238E27FC236}">
                    <a16:creationId xmlns:a16="http://schemas.microsoft.com/office/drawing/2014/main" id="{B33BDEC1-53D6-C5AA-86ED-7A5573CB3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3216"/>
                <a:ext cx="1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grpSp>
          <p:nvGrpSpPr>
            <p:cNvPr id="46101" name="Group 30">
              <a:extLst>
                <a:ext uri="{FF2B5EF4-FFF2-40B4-BE49-F238E27FC236}">
                  <a16:creationId xmlns:a16="http://schemas.microsoft.com/office/drawing/2014/main" id="{857810A8-643D-BCAA-D71E-9CFD65EAB3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2448"/>
              <a:ext cx="576" cy="384"/>
              <a:chOff x="1680" y="2448"/>
              <a:chExt cx="576" cy="384"/>
            </a:xfrm>
          </p:grpSpPr>
          <p:sp>
            <p:nvSpPr>
              <p:cNvPr id="46102" name="Rectangle 31">
                <a:extLst>
                  <a:ext uri="{FF2B5EF4-FFF2-40B4-BE49-F238E27FC236}">
                    <a16:creationId xmlns:a16="http://schemas.microsoft.com/office/drawing/2014/main" id="{6F84E293-0315-028B-A0BE-368538EB0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" y="2448"/>
                <a:ext cx="576" cy="384"/>
              </a:xfrm>
              <a:prstGeom prst="rect">
                <a:avLst/>
              </a:prstGeom>
              <a:noFill/>
              <a:ln w="28575">
                <a:solidFill>
                  <a:srgbClr val="CC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6103" name="Line 32">
                <a:extLst>
                  <a:ext uri="{FF2B5EF4-FFF2-40B4-BE49-F238E27FC236}">
                    <a16:creationId xmlns:a16="http://schemas.microsoft.com/office/drawing/2014/main" id="{3493FB8D-251F-D27C-5F75-1FA121D1C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448"/>
                <a:ext cx="0" cy="384"/>
              </a:xfrm>
              <a:prstGeom prst="line">
                <a:avLst/>
              </a:prstGeom>
              <a:noFill/>
              <a:ln w="38100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</p:grpSp>
      <p:grpSp>
        <p:nvGrpSpPr>
          <p:cNvPr id="9" name="Group 46">
            <a:extLst>
              <a:ext uri="{FF2B5EF4-FFF2-40B4-BE49-F238E27FC236}">
                <a16:creationId xmlns:a16="http://schemas.microsoft.com/office/drawing/2014/main" id="{CD9B0FA1-D9E5-C222-A1A7-E0CA0CB635A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733800"/>
            <a:ext cx="3733800" cy="1828800"/>
            <a:chOff x="768" y="2352"/>
            <a:chExt cx="2352" cy="1152"/>
          </a:xfrm>
        </p:grpSpPr>
        <p:sp>
          <p:nvSpPr>
            <p:cNvPr id="46095" name="Line 34">
              <a:extLst>
                <a:ext uri="{FF2B5EF4-FFF2-40B4-BE49-F238E27FC236}">
                  <a16:creationId xmlns:a16="http://schemas.microsoft.com/office/drawing/2014/main" id="{DC05C2B3-1C75-E760-BE3B-9143951D9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352"/>
              <a:ext cx="0" cy="1152"/>
            </a:xfrm>
            <a:prstGeom prst="line">
              <a:avLst/>
            </a:prstGeom>
            <a:noFill/>
            <a:ln w="28575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6096" name="Line 35">
              <a:extLst>
                <a:ext uri="{FF2B5EF4-FFF2-40B4-BE49-F238E27FC236}">
                  <a16:creationId xmlns:a16="http://schemas.microsoft.com/office/drawing/2014/main" id="{FEF1EA66-02BE-AD6C-5FAB-148993287E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352"/>
              <a:ext cx="0" cy="1152"/>
            </a:xfrm>
            <a:prstGeom prst="line">
              <a:avLst/>
            </a:prstGeom>
            <a:noFill/>
            <a:ln w="28575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73765" name="Line 37">
            <a:extLst>
              <a:ext uri="{FF2B5EF4-FFF2-40B4-BE49-F238E27FC236}">
                <a16:creationId xmlns:a16="http://schemas.microsoft.com/office/drawing/2014/main" id="{FC7987F2-8CDE-73EC-42B9-6FCE32BF5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191000"/>
            <a:ext cx="685800" cy="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73771" name="Line 43">
            <a:extLst>
              <a:ext uri="{FF2B5EF4-FFF2-40B4-BE49-F238E27FC236}">
                <a16:creationId xmlns:a16="http://schemas.microsoft.com/office/drawing/2014/main" id="{8127BB63-4008-F681-5BEE-14C5588A42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grpSp>
        <p:nvGrpSpPr>
          <p:cNvPr id="10" name="Group 47">
            <a:extLst>
              <a:ext uri="{FF2B5EF4-FFF2-40B4-BE49-F238E27FC236}">
                <a16:creationId xmlns:a16="http://schemas.microsoft.com/office/drawing/2014/main" id="{8672C2EF-2477-3D9F-0803-B1D5129C1341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4038601"/>
            <a:ext cx="381000" cy="701675"/>
            <a:chOff x="4320" y="2544"/>
            <a:chExt cx="240" cy="442"/>
          </a:xfrm>
        </p:grpSpPr>
        <p:sp>
          <p:nvSpPr>
            <p:cNvPr id="46093" name="Text Box 36">
              <a:extLst>
                <a:ext uri="{FF2B5EF4-FFF2-40B4-BE49-F238E27FC236}">
                  <a16:creationId xmlns:a16="http://schemas.microsoft.com/office/drawing/2014/main" id="{E74FEE79-F9FC-C57B-93AD-0120114EC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544"/>
              <a:ext cx="24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ko-KR" altLang="en-US" sz="4000" b="1">
                  <a:ea typeface="굴림" panose="020B0600000101010101" pitchFamily="34" charset="-127"/>
                </a:rPr>
                <a:t>*</a:t>
              </a:r>
            </a:p>
          </p:txBody>
        </p:sp>
        <p:sp>
          <p:nvSpPr>
            <p:cNvPr id="46094" name="Line 44">
              <a:extLst>
                <a:ext uri="{FF2B5EF4-FFF2-40B4-BE49-F238E27FC236}">
                  <a16:creationId xmlns:a16="http://schemas.microsoft.com/office/drawing/2014/main" id="{1AF037FD-BB83-F5BD-1518-CC492B343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27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73776" name="Text Box 48">
            <a:extLst>
              <a:ext uri="{FF2B5EF4-FFF2-40B4-BE49-F238E27FC236}">
                <a16:creationId xmlns:a16="http://schemas.microsoft.com/office/drawing/2014/main" id="{592A775A-DBD0-E0E9-708D-6495D9075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743201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Outlier: </a:t>
            </a:r>
            <a:r>
              <a:rPr lang="en-US" altLang="ko-KR" sz="2800" i="1">
                <a:solidFill>
                  <a:srgbClr val="339933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 = 520</a:t>
            </a:r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3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3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build="p" autoUpdateAnimBg="0"/>
      <p:bldP spid="73776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4E47BE1-1DB5-8C01-B6FA-4EF8D203B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2334" y="262467"/>
            <a:ext cx="8686800" cy="838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400">
                <a:ea typeface="굴림" charset="-127"/>
              </a:rPr>
              <a:t>Interpreting Box Plots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3C530E74-A68B-6B07-EFA8-C41E95352BAA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4876800"/>
            <a:ext cx="2057400" cy="533400"/>
            <a:chOff x="432" y="3072"/>
            <a:chExt cx="1440" cy="432"/>
          </a:xfrm>
        </p:grpSpPr>
        <p:grpSp>
          <p:nvGrpSpPr>
            <p:cNvPr id="47122" name="Group 25">
              <a:extLst>
                <a:ext uri="{FF2B5EF4-FFF2-40B4-BE49-F238E27FC236}">
                  <a16:creationId xmlns:a16="http://schemas.microsoft.com/office/drawing/2014/main" id="{3219B28B-CB5B-EA2F-0236-0406EBF3F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3072"/>
              <a:ext cx="960" cy="432"/>
              <a:chOff x="960" y="3120"/>
              <a:chExt cx="960" cy="432"/>
            </a:xfrm>
          </p:grpSpPr>
          <p:sp>
            <p:nvSpPr>
              <p:cNvPr id="47125" name="Rectangle 26">
                <a:extLst>
                  <a:ext uri="{FF2B5EF4-FFF2-40B4-BE49-F238E27FC236}">
                    <a16:creationId xmlns:a16="http://schemas.microsoft.com/office/drawing/2014/main" id="{AF183DDD-E488-5D7D-F852-0E1A6A7BD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120"/>
                <a:ext cx="960" cy="432"/>
              </a:xfrm>
              <a:prstGeom prst="rect">
                <a:avLst/>
              </a:prstGeom>
              <a:noFill/>
              <a:ln w="28575">
                <a:solidFill>
                  <a:srgbClr val="CC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7126" name="Line 27">
                <a:extLst>
                  <a:ext uri="{FF2B5EF4-FFF2-40B4-BE49-F238E27FC236}">
                    <a16:creationId xmlns:a16="http://schemas.microsoft.com/office/drawing/2014/main" id="{312D14F7-9411-63AD-9D32-8438CA4D9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120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7123" name="Line 33">
              <a:extLst>
                <a:ext uri="{FF2B5EF4-FFF2-40B4-BE49-F238E27FC236}">
                  <a16:creationId xmlns:a16="http://schemas.microsoft.com/office/drawing/2014/main" id="{BA752623-5803-9BFC-EDE7-94E4656C1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64"/>
              <a:ext cx="240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7124" name="Line 36">
              <a:extLst>
                <a:ext uri="{FF2B5EF4-FFF2-40B4-BE49-F238E27FC236}">
                  <a16:creationId xmlns:a16="http://schemas.microsoft.com/office/drawing/2014/main" id="{324F4BD2-2989-33A7-9A51-9B7BCC96B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264"/>
              <a:ext cx="240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2E15E1D2-E882-5639-AC2D-46250C4F3481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876800"/>
            <a:ext cx="2590800" cy="533400"/>
            <a:chOff x="2064" y="3072"/>
            <a:chExt cx="1776" cy="432"/>
          </a:xfrm>
        </p:grpSpPr>
        <p:grpSp>
          <p:nvGrpSpPr>
            <p:cNvPr id="47117" name="Group 31">
              <a:extLst>
                <a:ext uri="{FF2B5EF4-FFF2-40B4-BE49-F238E27FC236}">
                  <a16:creationId xmlns:a16="http://schemas.microsoft.com/office/drawing/2014/main" id="{6A3E9437-DFC4-A6EB-1DBA-9F6C1ABAE0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072"/>
              <a:ext cx="960" cy="432"/>
              <a:chOff x="2304" y="3072"/>
              <a:chExt cx="960" cy="432"/>
            </a:xfrm>
          </p:grpSpPr>
          <p:sp>
            <p:nvSpPr>
              <p:cNvPr id="47120" name="Rectangle 6">
                <a:extLst>
                  <a:ext uri="{FF2B5EF4-FFF2-40B4-BE49-F238E27FC236}">
                    <a16:creationId xmlns:a16="http://schemas.microsoft.com/office/drawing/2014/main" id="{054B9B72-5FD8-8104-499E-B4E8A1AE1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3072"/>
                <a:ext cx="960" cy="432"/>
              </a:xfrm>
              <a:prstGeom prst="rect">
                <a:avLst/>
              </a:prstGeom>
              <a:noFill/>
              <a:ln w="28575">
                <a:solidFill>
                  <a:srgbClr val="CC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7121" name="Line 22">
                <a:extLst>
                  <a:ext uri="{FF2B5EF4-FFF2-40B4-BE49-F238E27FC236}">
                    <a16:creationId xmlns:a16="http://schemas.microsoft.com/office/drawing/2014/main" id="{22ACDFFB-DF39-8C89-4B3D-001D74230C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072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7118" name="Line 35">
              <a:extLst>
                <a:ext uri="{FF2B5EF4-FFF2-40B4-BE49-F238E27FC236}">
                  <a16:creationId xmlns:a16="http://schemas.microsoft.com/office/drawing/2014/main" id="{EC318989-34AE-E8C6-BF28-944021D7F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264"/>
              <a:ext cx="240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7119" name="Line 38">
              <a:extLst>
                <a:ext uri="{FF2B5EF4-FFF2-40B4-BE49-F238E27FC236}">
                  <a16:creationId xmlns:a16="http://schemas.microsoft.com/office/drawing/2014/main" id="{102C9908-3352-1C8F-6F5D-DB3E4CFE7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264"/>
              <a:ext cx="576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6" name="Group 40">
            <a:extLst>
              <a:ext uri="{FF2B5EF4-FFF2-40B4-BE49-F238E27FC236}">
                <a16:creationId xmlns:a16="http://schemas.microsoft.com/office/drawing/2014/main" id="{3B466DB5-F545-562E-D7C2-81A4C9D3E837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876800"/>
            <a:ext cx="2514600" cy="533400"/>
            <a:chOff x="3312" y="3072"/>
            <a:chExt cx="1824" cy="432"/>
          </a:xfrm>
        </p:grpSpPr>
        <p:grpSp>
          <p:nvGrpSpPr>
            <p:cNvPr id="47112" name="Group 32">
              <a:extLst>
                <a:ext uri="{FF2B5EF4-FFF2-40B4-BE49-F238E27FC236}">
                  <a16:creationId xmlns:a16="http://schemas.microsoft.com/office/drawing/2014/main" id="{6BA4CAE2-D434-EBDF-761E-9B6639B456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072"/>
              <a:ext cx="960" cy="432"/>
              <a:chOff x="3888" y="3072"/>
              <a:chExt cx="960" cy="432"/>
            </a:xfrm>
          </p:grpSpPr>
          <p:sp>
            <p:nvSpPr>
              <p:cNvPr id="47115" name="Rectangle 29">
                <a:extLst>
                  <a:ext uri="{FF2B5EF4-FFF2-40B4-BE49-F238E27FC236}">
                    <a16:creationId xmlns:a16="http://schemas.microsoft.com/office/drawing/2014/main" id="{812A5E7E-9307-4A3D-27B8-84590C1CA7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960" cy="432"/>
              </a:xfrm>
              <a:prstGeom prst="rect">
                <a:avLst/>
              </a:prstGeom>
              <a:noFill/>
              <a:ln w="28575">
                <a:solidFill>
                  <a:srgbClr val="CC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7116" name="Line 30">
                <a:extLst>
                  <a:ext uri="{FF2B5EF4-FFF2-40B4-BE49-F238E27FC236}">
                    <a16:creationId xmlns:a16="http://schemas.microsoft.com/office/drawing/2014/main" id="{AADAD527-90CE-9598-36EA-E40195925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3072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D"/>
              </a:p>
            </p:txBody>
          </p:sp>
        </p:grpSp>
        <p:sp>
          <p:nvSpPr>
            <p:cNvPr id="47113" name="Line 34">
              <a:extLst>
                <a:ext uri="{FF2B5EF4-FFF2-40B4-BE49-F238E27FC236}">
                  <a16:creationId xmlns:a16="http://schemas.microsoft.com/office/drawing/2014/main" id="{BC41283D-0629-EC83-008D-9F212D802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3312"/>
              <a:ext cx="288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47114" name="Line 39">
              <a:extLst>
                <a:ext uri="{FF2B5EF4-FFF2-40B4-BE49-F238E27FC236}">
                  <a16:creationId xmlns:a16="http://schemas.microsoft.com/office/drawing/2014/main" id="{D5218A83-3ED7-8AE0-249D-519CCDFE3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312"/>
              <a:ext cx="576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47111" name="Text Box 17">
            <a:extLst>
              <a:ext uri="{FF2B5EF4-FFF2-40B4-BE49-F238E27FC236}">
                <a16:creationId xmlns:a16="http://schemas.microsoft.com/office/drawing/2014/main" id="{B464098F-7E13-0349-76DB-9BCF00A2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2683" y="1219200"/>
            <a:ext cx="8776317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Median line in center of box and whiskers of equal length—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symmetric distribution</a:t>
            </a:r>
            <a:endParaRPr lang="en-US" altLang="ko-KR" sz="3200" dirty="0">
              <a:solidFill>
                <a:srgbClr val="3399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Median line left of center and long right whisker—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skewed right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Median line right of center and long left whisker—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skewed left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A666-5D64-25FA-199F-C09C11F5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2C89-6D93-179A-DC33-5D60E1BD6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Februay</a:t>
            </a:r>
            <a:r>
              <a:rPr lang="en-US" dirty="0"/>
              <a:t> 2023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27" b="1" dirty="0"/>
              <a:t>References</a:t>
            </a:r>
            <a:endParaRPr lang="id-ID" sz="3627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452" y="1684270"/>
            <a:ext cx="8722212" cy="452593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Jay L. Devore. (2020).  Probability and Statistics for Engineering and the Sciences, 9E. 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Cancage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Learning, Boston USA.  ISBN-13: 978-0-538-73352-6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B4D3-2CC6-422C-AB6C-48DBF974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72171" fontAlgn="base">
              <a:spcBef>
                <a:spcPct val="0"/>
              </a:spcBef>
              <a:spcAft>
                <a:spcPct val="0"/>
              </a:spcAft>
              <a:defRPr/>
            </a:pPr>
            <a:fld id="{9D7FA9F5-F61B-45A1-B5E1-F65A5889B2EE}" type="slidenum">
              <a:rPr lang="en-US">
                <a:latin typeface="Calibri" pitchFamily="34" charset="0"/>
                <a:ea typeface="MS PGothic" pitchFamily="34" charset="-128"/>
              </a:rPr>
              <a:pPr defTabSz="472171" fontAlgn="base">
                <a:spcBef>
                  <a:spcPct val="0"/>
                </a:spcBef>
                <a:spcAft>
                  <a:spcPct val="0"/>
                </a:spcAft>
                <a:defRPr/>
              </a:pPr>
              <a:t>81</a:t>
            </a:fld>
            <a:endParaRPr lang="en-US" dirty="0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124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_BinusUniv2020" id="{BB71FDE9-5590-7241-AD30-26BA3BE2C6EF}" vid="{B26298DA-AF57-E443-8668-F8C525559925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3.xml><?xml version="1.0" encoding="utf-8"?>
<a:theme xmlns:a="http://schemas.openxmlformats.org/drawingml/2006/main" name="PPT Binus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1 02 Introduction to Probability" id="{AF1F3BAD-8B99-4C27-98FE-D8F949401A54}" vid="{1377BE40-1F7A-40D2-8DE3-6F9C8F5420D3}"/>
    </a:ext>
  </a:extLst>
</a:theme>
</file>

<file path=ppt/theme/theme4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FA0C811F0C3D48BDCB205A962F4A59" ma:contentTypeVersion="14" ma:contentTypeDescription="Create a new document." ma:contentTypeScope="" ma:versionID="502f2ff06f1543483a8631b36ee67c9e">
  <xsd:schema xmlns:xsd="http://www.w3.org/2001/XMLSchema" xmlns:xs="http://www.w3.org/2001/XMLSchema" xmlns:p="http://schemas.microsoft.com/office/2006/metadata/properties" xmlns:ns2="0d74340d-e769-4076-8861-375fbda00925" xmlns:ns3="515f7901-314b-493a-81b6-750129d910ac" targetNamespace="http://schemas.microsoft.com/office/2006/metadata/properties" ma:root="true" ma:fieldsID="156cd1d0774824496a93273b46755050" ns2:_="" ns3:_="">
    <xsd:import namespace="0d74340d-e769-4076-8861-375fbda00925"/>
    <xsd:import namespace="515f7901-314b-493a-81b6-750129d910a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4340d-e769-4076-8861-375fbda009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7819506-eb3d-43ef-a204-12bb1ef31144}" ma:internalName="TaxCatchAll" ma:showField="CatchAllData" ma:web="0d74340d-e769-4076-8861-375fbda009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5f7901-314b-493a-81b6-750129d91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5f7901-314b-493a-81b6-750129d910ac">
      <Terms xmlns="http://schemas.microsoft.com/office/infopath/2007/PartnerControls"/>
    </lcf76f155ced4ddcb4097134ff3c332f>
    <TaxCatchAll xmlns="0d74340d-e769-4076-8861-375fbda00925" xsi:nil="true"/>
  </documentManagement>
</p:properties>
</file>

<file path=customXml/itemProps1.xml><?xml version="1.0" encoding="utf-8"?>
<ds:datastoreItem xmlns:ds="http://schemas.openxmlformats.org/officeDocument/2006/customXml" ds:itemID="{C98A9463-AB87-4B7D-A220-76A2D1483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70EE3E-1C57-4879-A5DC-6F34CD9EB9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74340d-e769-4076-8861-375fbda00925"/>
    <ds:schemaRef ds:uri="515f7901-314b-493a-81b6-750129d91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2CB40B-FAEB-4318-955F-64485A31D38F}">
  <ds:schemaRefs>
    <ds:schemaRef ds:uri="http://schemas.microsoft.com/office/2006/metadata/properties"/>
    <ds:schemaRef ds:uri="http://schemas.microsoft.com/office/infopath/2007/PartnerControls"/>
    <ds:schemaRef ds:uri="515f7901-314b-493a-81b6-750129d910ac"/>
    <ds:schemaRef ds:uri="0d74340d-e769-4076-8861-375fbda0092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</TotalTime>
  <Words>4044</Words>
  <Application>Microsoft Office PowerPoint</Application>
  <PresentationFormat>Widescreen</PresentationFormat>
  <Paragraphs>674</Paragraphs>
  <Slides>81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Office Theme</vt:lpstr>
      <vt:lpstr>21_BasicWhite</vt:lpstr>
      <vt:lpstr>PPT Binus Template</vt:lpstr>
      <vt:lpstr>Template PPT 2015</vt:lpstr>
      <vt:lpstr>Overview and Descriptive Statistics</vt:lpstr>
      <vt:lpstr>Jay L. Devore. (2020).  Probability and Statistics for Engineering and the Sciences, 9E.  Cancage Learning, Boston USA.  ISBN-13: 978-0-538-73352-6 </vt:lpstr>
      <vt:lpstr>PowerPoint Presentation</vt:lpstr>
      <vt:lpstr>PowerPoint Presentation</vt:lpstr>
      <vt:lpstr>What is Statistics?</vt:lpstr>
      <vt:lpstr>PowerPoint Presentation</vt:lpstr>
      <vt:lpstr>PowerPoint Presentation</vt:lpstr>
      <vt:lpstr>Variables and Data</vt:lpstr>
      <vt:lpstr>Definitions</vt:lpstr>
      <vt:lpstr>Basic Concept</vt:lpstr>
      <vt:lpstr>Example</vt:lpstr>
      <vt:lpstr>Example</vt:lpstr>
      <vt:lpstr>How many variables have you measured?</vt:lpstr>
      <vt:lpstr>How many variables have you measured?</vt:lpstr>
      <vt:lpstr>Types of Variables</vt:lpstr>
      <vt:lpstr>Types of Variables</vt:lpstr>
      <vt:lpstr>Types of Variables</vt:lpstr>
      <vt:lpstr>Examples</vt:lpstr>
      <vt:lpstr>PowerPoint Presentation</vt:lpstr>
      <vt:lpstr>Graphing Qualitative Variables</vt:lpstr>
      <vt:lpstr>Example</vt:lpstr>
      <vt:lpstr>Graphs</vt:lpstr>
      <vt:lpstr>Graphing Quantitative Variables</vt:lpstr>
      <vt:lpstr>PowerPoint Presentation</vt:lpstr>
      <vt:lpstr>Dotplots</vt:lpstr>
      <vt:lpstr>Stem and Leaf Plots</vt:lpstr>
      <vt:lpstr>Example</vt:lpstr>
      <vt:lpstr>Interpreting Graphs: Location and Spread</vt:lpstr>
      <vt:lpstr>Interpreting Graphs: Location and Spread</vt:lpstr>
      <vt:lpstr>Interpreting Graphs: Shapes</vt:lpstr>
      <vt:lpstr>Interpreting Graphs: Outliers</vt:lpstr>
      <vt:lpstr>Example</vt:lpstr>
      <vt:lpstr>Relative Frequency Histograms</vt:lpstr>
      <vt:lpstr>Relative Frequency Histograms</vt:lpstr>
      <vt:lpstr>Relative Frequency Histograms</vt:lpstr>
      <vt:lpstr>Example</vt:lpstr>
      <vt:lpstr>PowerPoint Presentation</vt:lpstr>
      <vt:lpstr>PowerPoint Presentation</vt:lpstr>
      <vt:lpstr>PowerPoint Presentation</vt:lpstr>
      <vt:lpstr>Measures of Center</vt:lpstr>
      <vt:lpstr>Arithmetic Mean or Average</vt:lpstr>
      <vt:lpstr>Example</vt:lpstr>
      <vt:lpstr>Median</vt:lpstr>
      <vt:lpstr>Example</vt:lpstr>
      <vt:lpstr>Mode</vt:lpstr>
      <vt:lpstr>Example</vt:lpstr>
      <vt:lpstr>Extreme Values</vt:lpstr>
      <vt:lpstr>Extreme Values</vt:lpstr>
      <vt:lpstr>PowerPoint Presentation</vt:lpstr>
      <vt:lpstr>Measures of Variability</vt:lpstr>
      <vt:lpstr>The Range</vt:lpstr>
      <vt:lpstr>The Variance</vt:lpstr>
      <vt:lpstr>The Variance</vt:lpstr>
      <vt:lpstr>The Standard Deviation</vt:lpstr>
      <vt:lpstr>Two Ways to Calculate the Sample Variance</vt:lpstr>
      <vt:lpstr>Two Ways to Calculate the Sample Variance</vt:lpstr>
      <vt:lpstr>Some Notes</vt:lpstr>
      <vt:lpstr>Using Measures of Center and Spread: Tchebysheff’s Theorem</vt:lpstr>
      <vt:lpstr>Using Measures of  Center and Spread:  The Empirical Rule</vt:lpstr>
      <vt:lpstr>Example</vt:lpstr>
      <vt:lpstr>PowerPoint Presentation</vt:lpstr>
      <vt:lpstr>Example</vt:lpstr>
      <vt:lpstr>Approximating s</vt:lpstr>
      <vt:lpstr>Approximating s</vt:lpstr>
      <vt:lpstr>Measures of Relative Standing</vt:lpstr>
      <vt:lpstr>z-Scores</vt:lpstr>
      <vt:lpstr>Measures of Relative Standing</vt:lpstr>
      <vt:lpstr>Examples</vt:lpstr>
      <vt:lpstr>Quartiles and the IQR</vt:lpstr>
      <vt:lpstr>Calculating Sample Quartiles</vt:lpstr>
      <vt:lpstr>Example</vt:lpstr>
      <vt:lpstr>Example</vt:lpstr>
      <vt:lpstr>Using Measures of Center and Spread: The Box Plot</vt:lpstr>
      <vt:lpstr>Constructing a Box Plot</vt:lpstr>
      <vt:lpstr>Constructing a Box Plot</vt:lpstr>
      <vt:lpstr>Constructing a Box Plot</vt:lpstr>
      <vt:lpstr>Example</vt:lpstr>
      <vt:lpstr>Example</vt:lpstr>
      <vt:lpstr>Interpreting Box Plots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Pramudya Munadi</dc:creator>
  <cp:lastModifiedBy>Dr. Ir. I G.A. Anom Yudistira, M.Si.</cp:lastModifiedBy>
  <cp:revision>22</cp:revision>
  <dcterms:created xsi:type="dcterms:W3CDTF">2021-09-17T03:16:30Z</dcterms:created>
  <dcterms:modified xsi:type="dcterms:W3CDTF">2023-12-20T09:07:29Z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0x0101000CFA0C811F0C3D48BDCB205A962F4A59</vt:lpwstr>
  </property>
  <property fmtid="{D5CDD505-2E9C-101B-9397-08002B2CF9AE}" pid="3" name="MediaServiceImageTags">
    <vt:lpwstr/>
  </property>
</Properties>
</file>